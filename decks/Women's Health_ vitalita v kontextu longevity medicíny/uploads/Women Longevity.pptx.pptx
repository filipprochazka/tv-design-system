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x="18288000" cy="10287000"/>
  <p:notesSz cx="6858000" cy="9144000"/>
  <p:embeddedFontLst>
    <p:embeddedFont>
      <p:font typeface="Arimo" charset="1" panose="020B0604020202020204"/>
      <p:regular r:id="rId56"/>
    </p:embeddedFont>
    <p:embeddedFont>
      <p:font typeface="Arimo Bold" charset="1" panose="020B0704020202020204"/>
      <p:regular r:id="rId59"/>
    </p:embeddedFont>
    <p:embeddedFont>
      <p:font typeface="Arimo Italics" charset="1" panose="020B0604020202090204"/>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43.xml" Type="http://schemas.openxmlformats.org/officeDocument/2006/relationships/notesSlide"/><Relationship Id="rId101" Target="notesSlides/notesSlide44.xml" Type="http://schemas.openxmlformats.org/officeDocument/2006/relationships/notesSlide"/><Relationship Id="rId102" Target="notesSlides/notesSlide45.xml" Type="http://schemas.openxmlformats.org/officeDocument/2006/relationships/notesSlide"/><Relationship Id="rId103" Target="notesSlides/notesSlide46.xml" Type="http://schemas.openxmlformats.org/officeDocument/2006/relationships/notesSlide"/><Relationship Id="rId104" Target="notesSlides/notesSlide47.xml" Type="http://schemas.openxmlformats.org/officeDocument/2006/relationships/note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notesMasters/notesMaster1.xml" Type="http://schemas.openxmlformats.org/officeDocument/2006/relationships/notesMaster"/><Relationship Id="rId54" Target="theme/theme2.xml" Type="http://schemas.openxmlformats.org/officeDocument/2006/relationships/theme"/><Relationship Id="rId55" Target="notesSlides/notesSlide1.xml" Type="http://schemas.openxmlformats.org/officeDocument/2006/relationships/notesSlide"/><Relationship Id="rId56" Target="fonts/font56.fntdata" Type="http://schemas.openxmlformats.org/officeDocument/2006/relationships/font"/><Relationship Id="rId57" Target="notesSlides/notesSlide2.xml" Type="http://schemas.openxmlformats.org/officeDocument/2006/relationships/notesSlide"/><Relationship Id="rId58" Target="notesSlides/notesSlide3.xml" Type="http://schemas.openxmlformats.org/officeDocument/2006/relationships/notesSlide"/><Relationship Id="rId59" Target="fonts/font59.fntdata" Type="http://schemas.openxmlformats.org/officeDocument/2006/relationships/font"/><Relationship Id="rId6" Target="slides/slide1.xml" Type="http://schemas.openxmlformats.org/officeDocument/2006/relationships/slide"/><Relationship Id="rId60" Target="notesSlides/notesSlide4.xml" Type="http://schemas.openxmlformats.org/officeDocument/2006/relationships/notesSlide"/><Relationship Id="rId61" Target="fonts/font61.fntdata" Type="http://schemas.openxmlformats.org/officeDocument/2006/relationships/font"/><Relationship Id="rId62" Target="notesSlides/notesSlide5.xml" Type="http://schemas.openxmlformats.org/officeDocument/2006/relationships/notesSlide"/><Relationship Id="rId63" Target="notesSlides/notesSlide6.xml" Type="http://schemas.openxmlformats.org/officeDocument/2006/relationships/notesSlide"/><Relationship Id="rId64" Target="notesSlides/notesSlide7.xml" Type="http://schemas.openxmlformats.org/officeDocument/2006/relationships/notesSlide"/><Relationship Id="rId65" Target="notesSlides/notesSlide8.xml" Type="http://schemas.openxmlformats.org/officeDocument/2006/relationships/notesSlide"/><Relationship Id="rId66" Target="notesSlides/notesSlide9.xml" Type="http://schemas.openxmlformats.org/officeDocument/2006/relationships/notesSlide"/><Relationship Id="rId67" Target="notesSlides/notesSlide10.xml" Type="http://schemas.openxmlformats.org/officeDocument/2006/relationships/notesSlide"/><Relationship Id="rId68" Target="notesSlides/notesSlide11.xml" Type="http://schemas.openxmlformats.org/officeDocument/2006/relationships/notesSlide"/><Relationship Id="rId69" Target="notesSlides/notesSlide12.xml" Type="http://schemas.openxmlformats.org/officeDocument/2006/relationships/notesSlide"/><Relationship Id="rId7" Target="slides/slide2.xml" Type="http://schemas.openxmlformats.org/officeDocument/2006/relationships/slide"/><Relationship Id="rId70" Target="notesSlides/notesSlide13.xml" Type="http://schemas.openxmlformats.org/officeDocument/2006/relationships/notesSlide"/><Relationship Id="rId71" Target="notesSlides/notesSlide14.xml" Type="http://schemas.openxmlformats.org/officeDocument/2006/relationships/notesSlide"/><Relationship Id="rId72" Target="notesSlides/notesSlide15.xml" Type="http://schemas.openxmlformats.org/officeDocument/2006/relationships/notesSlide"/><Relationship Id="rId73" Target="notesSlides/notesSlide16.xml" Type="http://schemas.openxmlformats.org/officeDocument/2006/relationships/notesSlide"/><Relationship Id="rId74" Target="notesSlides/notesSlide17.xml" Type="http://schemas.openxmlformats.org/officeDocument/2006/relationships/notesSlide"/><Relationship Id="rId75" Target="notesSlides/notesSlide18.xml" Type="http://schemas.openxmlformats.org/officeDocument/2006/relationships/notesSlide"/><Relationship Id="rId76" Target="notesSlides/notesSlide19.xml" Type="http://schemas.openxmlformats.org/officeDocument/2006/relationships/notesSlide"/><Relationship Id="rId77" Target="notesSlides/notesSlide20.xml" Type="http://schemas.openxmlformats.org/officeDocument/2006/relationships/notesSlide"/><Relationship Id="rId78" Target="notesSlides/notesSlide21.xml" Type="http://schemas.openxmlformats.org/officeDocument/2006/relationships/notesSlide"/><Relationship Id="rId79" Target="notesSlides/notesSlide22.xml" Type="http://schemas.openxmlformats.org/officeDocument/2006/relationships/notesSlide"/><Relationship Id="rId8" Target="slides/slide3.xml" Type="http://schemas.openxmlformats.org/officeDocument/2006/relationships/slide"/><Relationship Id="rId80" Target="notesSlides/notesSlide23.xml" Type="http://schemas.openxmlformats.org/officeDocument/2006/relationships/notesSlide"/><Relationship Id="rId81" Target="notesSlides/notesSlide24.xml" Type="http://schemas.openxmlformats.org/officeDocument/2006/relationships/notesSlide"/><Relationship Id="rId82" Target="notesSlides/notesSlide25.xml" Type="http://schemas.openxmlformats.org/officeDocument/2006/relationships/notesSlide"/><Relationship Id="rId83" Target="notesSlides/notesSlide26.xml" Type="http://schemas.openxmlformats.org/officeDocument/2006/relationships/notesSlide"/><Relationship Id="rId84" Target="notesSlides/notesSlide27.xml" Type="http://schemas.openxmlformats.org/officeDocument/2006/relationships/notesSlide"/><Relationship Id="rId85" Target="notesSlides/notesSlide28.xml" Type="http://schemas.openxmlformats.org/officeDocument/2006/relationships/notesSlide"/><Relationship Id="rId86" Target="notesSlides/notesSlide29.xml" Type="http://schemas.openxmlformats.org/officeDocument/2006/relationships/notesSlide"/><Relationship Id="rId87" Target="notesSlides/notesSlide30.xml" Type="http://schemas.openxmlformats.org/officeDocument/2006/relationships/notesSlide"/><Relationship Id="rId88" Target="notesSlides/notesSlide31.xml" Type="http://schemas.openxmlformats.org/officeDocument/2006/relationships/notesSlide"/><Relationship Id="rId89" Target="notesSlides/notesSlide32.xml" Type="http://schemas.openxmlformats.org/officeDocument/2006/relationships/notesSlide"/><Relationship Id="rId9" Target="slides/slide4.xml" Type="http://schemas.openxmlformats.org/officeDocument/2006/relationships/slide"/><Relationship Id="rId90" Target="notesSlides/notesSlide33.xml" Type="http://schemas.openxmlformats.org/officeDocument/2006/relationships/notesSlide"/><Relationship Id="rId91" Target="notesSlides/notesSlide34.xml" Type="http://schemas.openxmlformats.org/officeDocument/2006/relationships/notesSlide"/><Relationship Id="rId92" Target="notesSlides/notesSlide35.xml" Type="http://schemas.openxmlformats.org/officeDocument/2006/relationships/notesSlide"/><Relationship Id="rId93" Target="notesSlides/notesSlide36.xml" Type="http://schemas.openxmlformats.org/officeDocument/2006/relationships/notesSlide"/><Relationship Id="rId94" Target="notesSlides/notesSlide37.xml" Type="http://schemas.openxmlformats.org/officeDocument/2006/relationships/notesSlide"/><Relationship Id="rId95" Target="notesSlides/notesSlide38.xml" Type="http://schemas.openxmlformats.org/officeDocument/2006/relationships/notesSlide"/><Relationship Id="rId96" Target="notesSlides/notesSlide39.xml" Type="http://schemas.openxmlformats.org/officeDocument/2006/relationships/notesSlide"/><Relationship Id="rId97" Target="notesSlides/notesSlide40.xml" Type="http://schemas.openxmlformats.org/officeDocument/2006/relationships/notesSlide"/><Relationship Id="rId98" Target="notesSlides/notesSlide41.xml" Type="http://schemas.openxmlformats.org/officeDocument/2006/relationships/notesSlide"/><Relationship Id="rId99" Target="notesSlides/notesSlide42.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Přivítání. Rámec dneška: nebudeme mluvit o menopauze jako o hormonální krizi. Budeme mluvit o středním věku jako o období, kdy se zdravotní trajektorie stávají viditelnými a zároveň ovlivnitelnými. Postup: co se děje, co je medicínsky důležité, co skutečně funguje, co můžete začít zítra. Otázky na konci.</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Tohle je slib pro dnešek. Pět otázek, pět částí, na konci každé části dostanete odpověď jednou větou. U každého tvrzení uvidíte vpravo nahoře, jak jisté to je, a co to písmeno znamená, vysvětlím hned na dalším slidu.</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Tenhle slide je klíč k celé přednášce. Většina zmatku ve veřejné debatě o menopauze vzniká tím, že se tyto tři věci míchají. Hormonální léčba je léčba příznaků, ne prevence chronických nemocí. Pohyb je prevence, ale na návaly horka podle přehledů nefunguje. Porce podle ruky je koučovací nástroj, ne doporučený postup. Tvary u každého nadpisu se budou opakovat v celé přednášce, takže poznáte, ve které ze tří kategorií právě jsme.</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Tohle je moje pojistka proti tomu, abych všechno tvrdila stejně silně. Značka je v pravém horním rohu každého slidu. A znamená doporučený postup nebo vysoká jistota. B střední. C vznikající nebo nejisté, tedy zajímavé, ale nic, na čem bych stavěla rozhodnutí. P vůbec není důkaz, je to praktický nástroj. Když na slidu chybí značka, jde o rámec nebo o definici, ne o tvrzení.</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Přechod do první části. Klíčová věta: trajektorie se ve středním věku nezakládá, ona se zviditelní. Rizikový profil se ve čtyřicátých letech začíná měřitelně rozbíhat a právě proto je to nejlepší období, kdy zasáhnout.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Fáze podle stagingu: pozdní reprodukční období, kdy se cyklus ještě jeví pravidelný, ale mění se jeho délka a kvalita luteální fáze. Časná perimenopauza, definovaná změnou délky cyklu o 7 a více dní mezi po sobě jdoucími cykly. Pozdní perimenopauza, tedy interval bez menstruace 60 a více dní. Menopauza je retrospektivní diagnóza, 12 měsíců po poslední menstruaci. Postmenopauza je zbytek života. Pointa: pacientka přichází obvykle v časné perimenopauze a v tu dobu ještě neví, že v ní je.</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Vlevo premenopauzální cyklus: estrogen roste k ovulačnímu vrcholu, progesteron stoupá po ovulaci a drží se do menstruace. Předvídatelný vzorec, na který se dá plánovat zátěž i regenerace. Vpravo perimenopauza: estradiol kolísá nepravidelně, v části cyklů chybí ovulace, takže chybí i progesteronová fáze. FSH stoupá, ale kolísá také, proto jedno laboratorní vyšetření hormonů perimenopauzu nepotvrdí ani nevyloučí. Diagnóza je klinická. Právě nepředvídatelnost, ne nízká hladina, vysvětluje většinu obtíží v tomto období.</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Vazomotorické symptomy, tedy návaly horka a noční pocení, uvádí 75 až 80 procent žen, přesný podíl závisí na kohortě a definici. Dále poruchy spánku, výkyvy nálad, urogenitální obtíže včetně vaginální suchosti a snížené libido, bolesti kloubů, potíže se soustředěním a změna tělesného složení. Důležité pro laické publikum: tohle není seznam nemocí, je to seznam běžných projevů přechodu. Pojmenování obtíže je první krok k tomu, aby se dala léčit.</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První dvojice mýtus a fakt. Tady se dá čekat souhlasné pokyvování, protože náhlý konec je nejrozšířenější představa.</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Shrnutí první části jednou větou. Nechte ji chvíli viset, než přejdete dál.</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Přechod do druhé části. Citace z přehledu v Clinical Nutrition ESPEN 2026: přechod představuje okno zranitelnosti pro akceleraci dlouhodobého rizika chronických nemocí, nezávisle na chronologickém stárnutí. Tohle je nejdůležitější věta celé přednášky z medicínského hlediska. Zranitelnost je totéž jako ovlivnitelnost.</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Prostá aritmetika, ale publikum ji zpravidla nikdy neslyšelo. Medián menopauzy 51,4 let, naděje dožití žen v Česku 82,0 let podle Eurostatu. To je asi 30 let života po menopauze, tedy více než třetina. Zdravá délka života žen v Česku je přitom 63,4 roku, rozdíl 18,6 roku je život s omezením. O to se dnes hraje: ne o přidané roky, ale o roky ve zdraví.</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Mapa druhé části. Pět oblastí, kde se v přechodu mění dlouhodobé riziko: srdce a cévy, metabolismus, kost a sval, mozek a duševní zdraví, urogenitální a sexuální zdraví. Projdeme je v tomto pořadí. Upozorněte publikum, že ani jedna z nich není záležitost jednoho orgánu, všechny se prolínají přes spánek, zátěž a stravu.</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Tady se vyvrací dva mýty v jednom. Metabolismus se v menopauze nezhroutí, klidový energetický výdej klesá v tomto období pozvolna a hlavně kvůli ztrátě svalové hmoty. Co se skutečně mění měřitelně, je složení těla a rozložení tuku: podle studie SWAN ubývá tukuprosté masy průměrně 0,2 kg za rok a tukové hmoty přibývá asi 0,45 kg za rok, k tomu se tuk přesouvá z boků do oblasti pasu. Důsledek pro praxi: váha je špatný ukazatel. Sledujte obvod pasu, sílu a to, co zvládnete.</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Úbytek kostní hmoty má dvě fáze. První v perimenopauze, kdy nedostatek estrogenu zvyšuje kostní resorpci. Druhá 4 až 8 let po tranzici, kdy se zpomaluje novotvorba. Klinický důsledek: první fáze je z hlediska prevence nejcennější a zpravidla se prošvihne, protože v ní nikdo denzitometrii neindikuje. Proto se bavíme o zátěži a o příjmu bílkovin, vápníku a vitaminu D ve čtyřiceti, ne v šedesáti.</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Menopauzu lze chápat i jako neurologický přechod: mozek jinak hospodaří s energií. Estrogen kognitivní funkce chrání a Alzheimerova choroba je u žen častější než u mužů. Zároveň je třeba být opatrná: to, že poruchy spánku jsou popisovány jako rizikový a patogenetický faktor rozvoje demence, neznamená, že jeden špatný rok spánku někomu způsobí demenci. Data jsou observační a spánek je v nich propletený s depresí, stresem a cévním rizikem. Co z toho plyne prakticky: léčit spánek se vyplatí, a to bez ohledu na to, jak silný je ten kognitivní argument.</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Perimenopauza je popisována jako období zvýšené zranitelnosti pro depresivní epizodu, uváděné riziko je 2 až 4krát vyšší, zejména u žen s depresí v anamnéze a s výraznými vazomotorickými symptomy. Důležité rozlišení pro publikum: mírná rozladěnost z nevyspání není depresivní porucha. Pokud ale obtíže trvají a berou funkci, je to diagnóza, která má účinnou léčbu. Kognitivně behaviorální terapie je doporučovaná i na vazomotorické symptomy a na insomnii, takže je v tomto období mimořádně užitečný nástroj.</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Tohle je čerstvá práce z roku 2026 a ženy se na ni budou ptát, protože o ní psala média. V britské kohortě sto osmdesáti tří tisíc žen sledovaných v průměru třináct let bylo užívání hormonální léčby spojeno s nižším rizikem demence, hazard ratio nula devadesát. Silnější byla souvislost u žen po chirurgické menopauze, u nosiček varianty APOE4 a u těch, které měly nižší celoživotní expozici estrogenu. Nejvíc profitovalo zahájení mezi čtyřicátým šestým a padesátým šestým rokem, což sedí s myšlenkou okna. Limit ale říkejte nahlas: je to observační studie. Ženy, které hormonální léčbu užívají, se od ostatních liší i jinak, zdravotně i sociálně. Randomizovaná studie s demencí jako cílem neexistuje a hormonální léčba se kvůli prevenci demence nepředepisuje.</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Tohle je jediná skupina obtíží, která sama neodejde, naopak se bez léčby zhoršuje, a zároveň ta, na kterou se ženy ptají nejmíň. Odborně urogenitální syndrom menopauzy. Postup je stupňovitý: začíná se edukací, lubrikanty a hydratačními přípravky, pokračuje nízkodávkovaným lokálním estrogenem, fyzioterapií pánevního dna a případně psychosexuálním poradenstvím. Sexuální zdraví patří podle EMAS do jádra menopauzální péče, ne mezi nepovinné dodatky. Důležitá věta na závěr: lokální estrogen není totéž co systémová hormonální léčba. Hladina estradiolu po něm stoupne jen do nízkého postmenopauzálního rozmezí a observační data s mediánem užívání do tří let neukázala vyšší riziko nádoru prsu ani dělohy. Mnoho žen ho užívá i současně se systémovou léčbou.</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Druhá dvojice. Tohle je nejčastější stížnost v ordinaci a zároveň místo, kde se dá publikum nejvíc uklidnit.</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Shrnutí druhé části. Tohle je hlavní důvod, proč se o přechodu bavíme v kontextu dlouhověkosti.</a:t>
            </a:r>
          </a:p>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Přechod do třetí části. Zásadní věta: léčba příznaků a prevence nemocí nejsou totéž a nepoužívají stejné nástroje. Pohyb je vynikající prevence a na návaly podle přehledů nefunguje. Hormonální léčba je vynikající na návaly a není nástroj prevence. Když se to mísí, vznikají jak zbytečná zklamání, tak zbytečná rizika.</a:t>
            </a:r>
          </a:p>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Formulace musí být přesná: hormonální léčba je nejúčinnější dostupná léčba vazomotorických symptomů. To není reklama, to je shrnutí guidelines. Zároveň není pro každou: kontraindikace zahrnují hormonálně dependentní karcinom prsu, aktivní tromboembolickou nemoc a některé jaterní stavy, u řady dalších stavů rozhoduje forma a cesta podání. Pro ženy, které ji nemohou nebo nechtějí, existují dnes účinné nehormonální možnosti a to je obsah dalšího slidu.</a:t>
            </a:r>
          </a:p>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Třetí evidenční karta a nejcitlivější téma přednášky. Hormonální léčba je nejúčinnější léčbou vazomotorických symptomů a je účinná i na kost. Indikací jsou příznaky, respektive časná menopauza a ovariální insuficience. Prevence chronických nemocí sama o sobě indikací není, guidelines ji v této roli nedoporučují. Poměr přínosu a rizika je nejpříznivější u žen, které začínají do 60 let věku nebo do 10 let od menopauzy. Riziko závisí na formě, dávce a cestě podání, transdermální estrogen má nižší tromboembolické riziko než perorální. Rozhodnutí je vždy individuální a patří do ordinace, ne na webinář.</a:t>
            </a:r>
          </a:p>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Nejdůležitější slide celé třetí části. Vychází z position statementu The Menopause Society k nehormonální léčbě, doplněného o novější léky. Doporučeno na úrovni I: kognitivně behaviorální terapie, klinická hypnóza, SSRI a SNRI, gabapentin a fezolinetant. Slabší doporučení: oxybutynin, redukce hmotnosti, stelátní blokáda. Nedoporučeno, protože účinek nebyl prokázán: doplňky a bylinné přípravky, sójové extrakty a metabolit equol, dechová cvičení, chladicí techniky, vyhýbání se spouštěčům, jóga, mindfulness, akupunktura a úprava jídelníčku. Zdůrazněte, že nedoporučeno na návaly neznamená nesmyslné obecně. Pohyb, jóga i strava mají výborné důvody, jen ne tento.</a:t>
            </a:r>
          </a:p>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Oddělte tuto skupinu jasně, protože se na ni celá debata o rizicích hormonální léčby nevztahuje. Primární ovariální insuficience je primární hypogonadismus před čtyřicátým rokem. Není vzácná: přibližně jedna z dvou set padesáti žen do třiceti pěti let a jedna ze sta do čtyřiceti let. Časná menopauza je mezi čtyřiceti a čtyřiceti pěti lety. U těchto žen se data z WHI nepoužívají, protože ta studie sledovala ženy nad šedesát let. Léčba se zahajuje v jiném věku a s jiným cílem: nahradit roky estrogenu, které by žena normálně měla, a předejít předčasné ztrátě kosti a kardiovaskulárnímu riziku. Guidelines se shodují, že se pokračuje přibližně do věku průměrné menopauzy, tedy asi do padesáti až padesáti jedna let. Pro tyto ženy je to prevence, ne volba mezi komfortem a rizikem.</a:t>
            </a:r>
          </a:p>
          <a:p>
            <a:r>
              <a:rPr lang="en-US"/>
              <a:t>26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Tenhle slide je jádro celé přednášky a zároveň nejlepší ilustrace tří kategorií. Pohyb podle přehledů nesnižuje frekvenci ani intenzitu návalů, proto je v position statementu v kategorii nedoporučeno pro tuto konkrétní indikaci. Současně je to jedna z nejsilnějších intervencí, které v tomto období máme, ale na jiné cíle: kardiovaskulární riziko, inzulinová senzitivita, kostní hustota, síla a funkce, spánek a nálada. Pointa pro publikum: když vám cvičení nezabralo na návaly, neznamená to, že nefunguje. Znamená to, že jste od něj chtěli něco, co neumí.</a:t>
            </a:r>
          </a:p>
          <a:p>
            <a:r>
              <a:rPr lang="en-US"/>
              <a:t>27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Doporučení WHO pro dospělé: 150 až 300 minut středně intenzivní aerobní aktivity týdně, nebo 75 až 150 minut vysoce intenzivní, nebo kombinace. K tomu posilování velkých svalových skupin alespoň dva dny v týdnu. Pro ženy v tomto období je právě ta druhá věta ta důležitá a nejčastěji vynechávaná. Praktický překlad pro publikum: chůze se počítá, ale chůze nestačí. Odporový trénink není doplněk, je to samostatná povinná složka.</a:t>
            </a:r>
          </a:p>
          <a:p>
            <a:r>
              <a:rPr lang="en-US"/>
              <a:t>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Pokud je hlavním problémem nespavost, první volbou je kognitivně behaviorální terapie insomnie, tedy KBT-I. Účinek je srovnatelný s léky a na rozdíl od nich přetrvává po ukončení. Dostupná je i v digitální podobě. Hypnotika mají místo krátkodobě a cíleně. Melatonin má doloženou roli spíš u poruch cirkadiánního rytmu než u klasické insomnie. A pokud spánek boří noční pocení, pak má smysl léčit primárně ty, tedy vazomotorické symptomy, protože bez toho KBT-I naráží.</a:t>
            </a:r>
          </a:p>
          <a:p>
            <a:r>
              <a:rPr lang="en-US"/>
              <a:t>29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Třetí dvojice a nejcitlivější. Říkejte to pomalu a doplňte, že rozhodnutí je vždy individuální.</a:t>
            </a:r>
          </a:p>
          <a:p>
            <a:r>
              <a:rPr lang="en-US"/>
              <a:t>30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Shrnutí třetí části. Tohle je věta, kterou si publikum má odnést nejvíc.</a:t>
            </a:r>
          </a:p>
          <a:p>
            <a:r>
              <a:rPr lang="en-US"/>
              <a:t>31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Přechod do čtvrté části. Nejdůležitější věta: menopauzální dieta neexistuje. Neexistuje jídelníček, který by cílil na hormony. Existuje strava, která chrání srdce a cévy, udrží sval a kost a pokryje mikronutrienty. To je jiná, méně atraktivní, ale pravdivější nabídka. Vliv stravy na samotné návaly je skromný a nekonzistentní, a právě proto ho nebudu nadsazovat.</a:t>
            </a:r>
          </a:p>
          <a:p>
            <a:r>
              <a:rPr lang="en-US"/>
              <a:t>32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Takhle rámuji výživové poradenství v tomto období. Čtyři cíle: kardiometabolické zdraví, udržení svalu a kosti, tělesné složení a nutriční adekvátnost. Ani jeden z nich nezní jako marketing a každý z nich má měřitelný výstup. Vliv stravy na vazomotorické symptomy do tohoto seznamu nepatří jako hlavní cíl, protože je skromný a nekonzistentní. Tohle je nejlepší ochrana proti tomu, aby klientka utrácela za doplňky.</a:t>
            </a:r>
          </a:p>
          <a:p>
            <a:r>
              <a:rPr lang="en-US"/>
              <a:t>33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Nejlépe podložený je celkový vzorec stravování středomořského typu: zelenina, ovoce, celozrnné obiloviny, luštěniny, olivový olej, ryby, málo ultrazpracovaných potravin a málo červeného masa. Účinek na kardiometabolické ukazatele je konzistentní. Účinek na samotné návaly je skromný a nekonzistentní a nesmí se prezentovat jako řešení. Alkohol je zvláštní kategorie: na návaly je vyhýbání se spouštěčům slabě podloženo, ale alkohol má prokázané riziko pro nádory prsu a pro spánek, takže o něm mluvím z jiného důvodu, ne jako o léčbě návalů.</a:t>
            </a:r>
          </a:p>
          <a:p>
            <a:r>
              <a:rPr lang="en-US"/>
              <a:t>34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Tady je potřeba být poctivá o tom, kde končí guideline a kde začíná rozumný odhad. ESPEN a ESCEO doporučují pro zdravé starší dospělé 1,0 až 1,2 g bílkovin na kilogram hmotnosti denně, s rozložením 20 až 25 g kvalitní bílkoviny na jídlo. To je úroveň A až B. Vyšší cíl 1,2 až 1,6 g na kilogram se v praxi používá u žen, které aktivně posilují a chtějí udržet svalovou hmotu, a to je úroveň B, tedy rozumné, ne prokázané guidelinem. Klíčová je kombinace: bílkovina sama sval neudrží, anabolická odpověď na bílkovinu se zvyšuje odporovým tréninkem. Leucinem bohaté zdroje jsou mléčné výrobky, vejce, luštěniny a ryby.</a:t>
            </a:r>
          </a:p>
          <a:p>
            <a:r>
              <a:rPr lang="en-US"/>
              <a:t>35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 kost: vápník především z jídla, zakysané mléčné výrobky, sýry, sardinky s kostí, mák, sezam, tvrdé minerální vody. Vitamin D suplementovat, protože v našich zeměpisných šířkách se z jídla a ze slunce nedá pokrýt. Bílkoviny a odporový trénink jsou stejně důležité jako minerály. Vitamin K2 ve formě MK-4 a kreatin monohydrát jsou oblasti se slibnými, ale nejistými daty, proto úroveň C, a mluvím o nich jako o možnosti, ne jako o doporučení. Pozor na jednu věc, kterou publikum často nevím: potřeba železa po menopauze klesá, takže rutinní suplementace železa bez vyšetření je chyba.</a:t>
            </a:r>
          </a:p>
          <a:p>
            <a:r>
              <a:rPr lang="en-US"/>
              <a:t>36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Pátá evidenční karta a nejčastější dotaz z publika. Izoflavony ze sóji: efekt na návaly je v metaanalýzách malý a nekonzistentní, sójové extrakty a metabolit equol jsou v position statementu v kategorii nedoporučeno pro léčbu vazomotorických symptomů. To neznamená, že sója je špatná, sójové potraviny jsou naopak dobrým zdrojem bílkoviny v kardioprotektivním jídelníčku. Probiotika: metaanalýza v Clinical Nutrition ESPEN nalezla příznivé efekty na menopauzální symptomy, urogenitální a kostní zdraví, ale sama uvádí vysoké riziko bias a heterogenitu zahrnutých studií, takže výsledek je slibný signál, nikoli podklad k doporučení. Zdůrazněte rozdíl mezi potravinou a extraktem a mezi slibným a prokázaným.</a:t>
            </a:r>
          </a:p>
          <a:p>
            <a:r>
              <a:rPr lang="en-US"/>
              <a:t>37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Shrnutí čtvrté části. Očekávejte dotazy na konkrétní doplňky, vracejte je k tomuto slidu.</a:t>
            </a:r>
          </a:p>
          <a:p>
            <a:r>
              <a:rPr lang="en-US"/>
              <a:t>38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Přechod do poslední části a nejdůležitější disclaimer celé přednášky. To, co teď přijde, nejsou zdravotnická doporučení. Jsou to koučovací nástroje z metodiky Precision Nutrition, tedy pomůcky, jak vůbec začít a jak vydržet. Mají jinou povahu než guideline: neříkají, co je správné, ale jak to zavést. Proto mají svou vlastní značku P a proto jsou až na konci, ne na začátku.</a:t>
            </a:r>
          </a:p>
          <a:p>
            <a:r>
              <a:rPr lang="en-US"/>
              <a:t>39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Tohle je důvod, proč má pátá část decku vůbec smysl. Observační data říkají, že čtyřicet až padesát procent žen, které začnou hormonální léčbu, ji do roka ukončí, a šedesát pět až sedmdesát pět procent do dvou let, často bez konzultace s lékařem. Nejsou to čísla o účinnosti, jsou to čísla o vytrvání. Platí to samozřejmě i pro pohyb, spánkovou hygienu a stravu. Proto nemá cenu mít dokonalé doporučení a nemít nástroj na jeho zavedení.</a:t>
            </a:r>
          </a:p>
          <a:p>
            <a:r>
              <a:rPr lang="en-US"/>
              <a:t>40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Nejúčinnější nástroj z celé metodiky a zároveň nejméně atraktivní: jedna změna v čase, dokud nedrží sama. Typicky dva až čtyři týdny na jeden návyk. Důvod je prozaický: většina lidí nezvládne v lednu změnit spánek, jídlo i trénink, a v únoru je zpátky u ničeho. Praktické vodítko, které používám: vyberte návyk, o kterém si na stupnici od 1 do 10 troufnete říct alespoň 9, že ho zvládnete. Pokud je odpověď 7, návyk je moc velký a je potřeba ho zmenšit, ne se víc snažit.</a:t>
            </a:r>
          </a:p>
          <a:p>
            <a:r>
              <a:rPr lang="en-US"/>
              <a:t>41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Stejný průvodce, jaký máme na webu v sekci Porce podle ruky, jen ve fialové a v deckovém měřítku. Dlaň je míra bílkovinné potraviny, u masa nebo tofu jde o plochu a tloušťku dlaně, prsty se nepočítají. Pěst je objemová míra zeleniny. Hrst, tedy dlaň prohnutá do mističky se spojenými prsty, je míra sacharidové přílohy. Palec od kořene ke špičce je míra tuků. Výhoda je, že ruka roste s tělem a je vždycky s sebou, takže to funguje bez vážení a bez aplikace. Dvě věci řekněte nahlas: ilustrace není kalibrované měřítko a počet kusů jídla na obrázku není návod k odměřování. A pořád jde o koučovací nástroj, ne o doporučený postup ani o individuální jídelníček.</a:t>
            </a:r>
          </a:p>
          <a:p>
            <a:r>
              <a:rPr lang="en-US"/>
              <a:t>42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Tohle téma v českých přednáškách skoro nezaznívá, přitom v přechodu je většina žen zaměstnaná a často na vrcholu kariéry. Návaly, nespavost, únava a potíže se soustředěním se pojí s horším výkonem, s prezentismem, s absencemi a někdy i s předčasným odchodem z trhu práce. Co to zhoršuje: vysoké nároky s malou mírou kontroly, směny, nemožnost ovlivnit teplotu, nepružná pracovní doba a prostředí, kde se o tom nemluví. Co pomáhá: pružná doba, informovaní vedoucí, možnost větrat a regulovat teplotu, klidné místo a otevřená domluva. Řekněte nahlas i tu nerovnost: nejhůř na tom jsou ženy v hůř placených, fyzicky náročných a směnných profesích, které mají nejmenší možnost si podmínky upravit.</a:t>
            </a:r>
          </a:p>
          <a:p>
            <a:r>
              <a:rPr lang="en-US"/>
              <a:t>43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Závěrečné shrnutí páté části a zároveň přechod k závěru přednášky.</a:t>
            </a:r>
          </a:p>
          <a:p>
            <a:r>
              <a:rPr lang="en-US"/>
              <a:t>44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Závěr. Zdravé stárnutí nezačíná po menopauze. Střední věk je prevenční okno pro srdce, metabolismus, kost a sval, psychiku i sexuální zdraví, a to okno je otevřené právě teď. Dvě věty, které chci, aby si publikum odneslo: příznaky se dají léčit a mají se léčit, pokud berou funkci. A dlouhodobé riziko se dá ovlivnit, a to nástroji, které nikdo neprodává v lahvičce.</a:t>
            </a:r>
          </a:p>
          <a:p>
            <a:r>
              <a:rPr lang="en-US"/>
              <a:t>45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Zdroje. Doporučení a position statements vlevo, přehledové práce a klinické zdroje vpravo. Každé tvrzení v decku nese stupeň jistoty podle toho, z čeho pochází, takže když se někdo zeptá na konkrétní číslo, dá se dohledat.</a:t>
            </a:r>
          </a:p>
          <a:p>
            <a:r>
              <a:rPr lang="en-US"/>
              <a:t>46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Děkuji. Prostor pro otázky. Kontakt je na slidu. Pokud se někdo ptá na konkrétní léčbu nebo dávkování, odkazuji do ordinace, na webináři to nejde rozhodovat.</a:t>
            </a:r>
          </a:p>
          <a:p>
            <a:r>
              <a:rPr lang="en-US"/>
              <a:t>47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jpe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2.jpeg" Type="http://schemas.openxmlformats.org/officeDocument/2006/relationships/image"/><Relationship Id="rId4" Target="../media/image3.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3.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3.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3.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3.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3.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3.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3.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3.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3.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4.jpeg" Type="http://schemas.openxmlformats.org/officeDocument/2006/relationships/image"/><Relationship Id="rId4" Target="../media/image3.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3.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3.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5.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3.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3.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3.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3.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3.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16.jpeg" Type="http://schemas.openxmlformats.org/officeDocument/2006/relationships/image"/><Relationship Id="rId4" Target="../media/image3.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3.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3.jpe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 Id="rId3" Target="../media/image3.jpe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 Id="rId3" Target="../media/image3.jpe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4.xml" Type="http://schemas.openxmlformats.org/officeDocument/2006/relationships/notesSlid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5.xml" Type="http://schemas.openxmlformats.org/officeDocument/2006/relationships/notesSlide"/><Relationship Id="rId3" Target="../media/image14.jpe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6.xml" Type="http://schemas.openxmlformats.org/officeDocument/2006/relationships/notesSlid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7.xml" Type="http://schemas.openxmlformats.org/officeDocument/2006/relationships/notesSlide"/><Relationship Id="rId3" Target="../media/image21.jpeg" Type="http://schemas.openxmlformats.org/officeDocument/2006/relationships/image"/><Relationship Id="rId4"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9111" r="0" b="-9111"/>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401252">
                    <a:alpha val="97000"/>
                  </a:srgbClr>
                </a:gs>
                <a:gs pos="36000">
                  <a:srgbClr val="401252">
                    <a:alpha val="92000"/>
                  </a:srgbClr>
                </a:gs>
                <a:gs pos="64000">
                  <a:srgbClr val="401252">
                    <a:alpha val="58000"/>
                  </a:srgbClr>
                </a:gs>
                <a:gs pos="100000">
                  <a:srgbClr val="401252">
                    <a:alpha val="14000"/>
                  </a:srgbClr>
                </a:gs>
              </a:gsLst>
              <a:lin ang="540000"/>
            </a:gradFill>
          </p:spPr>
        </p:sp>
      </p:grpSp>
      <p:grpSp>
        <p:nvGrpSpPr>
          <p:cNvPr name="Group 6" id="6"/>
          <p:cNvGrpSpPr/>
          <p:nvPr/>
        </p:nvGrpSpPr>
        <p:grpSpPr>
          <a:xfrm rot="0">
            <a:off x="1143000" y="914400"/>
            <a:ext cx="1866900" cy="878977"/>
            <a:chOff x="0" y="0"/>
            <a:chExt cx="2489200" cy="1171969"/>
          </a:xfrm>
        </p:grpSpPr>
        <p:sp>
          <p:nvSpPr>
            <p:cNvPr name="Freeform 7" id="7" descr="preencoded.png"/>
            <p:cNvSpPr/>
            <p:nvPr/>
          </p:nvSpPr>
          <p:spPr>
            <a:xfrm flipH="false" flipV="false" rot="0">
              <a:off x="0" y="0"/>
              <a:ext cx="2489200" cy="1171956"/>
            </a:xfrm>
            <a:custGeom>
              <a:avLst/>
              <a:gdLst/>
              <a:ahLst/>
              <a:cxnLst/>
              <a:rect r="r" b="b" t="t" l="l"/>
              <a:pathLst>
                <a:path h="1171956" w="2489200">
                  <a:moveTo>
                    <a:pt x="0" y="0"/>
                  </a:moveTo>
                  <a:lnTo>
                    <a:pt x="2489200" y="0"/>
                  </a:lnTo>
                  <a:lnTo>
                    <a:pt x="2489200" y="1171956"/>
                  </a:lnTo>
                  <a:lnTo>
                    <a:pt x="0" y="1171956"/>
                  </a:lnTo>
                  <a:lnTo>
                    <a:pt x="0" y="0"/>
                  </a:lnTo>
                  <a:close/>
                </a:path>
              </a:pathLst>
            </a:custGeom>
            <a:blipFill>
              <a:blip r:embed="rId4"/>
              <a:stretch>
                <a:fillRect l="0" t="-3" r="0" b="-5"/>
              </a:stretch>
            </a:blipFill>
          </p:spPr>
        </p:sp>
      </p:grpSp>
      <p:sp>
        <p:nvSpPr>
          <p:cNvPr name="TextBox 8" id="8"/>
          <p:cNvSpPr txBox="true"/>
          <p:nvPr/>
        </p:nvSpPr>
        <p:spPr>
          <a:xfrm rot="0">
            <a:off x="1168403" y="5145157"/>
            <a:ext cx="13291823" cy="393383"/>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ŽENSKÉ ZDRAVÍ · DLOUHOVĚKOST</a:t>
            </a:r>
          </a:p>
        </p:txBody>
      </p:sp>
      <p:sp>
        <p:nvSpPr>
          <p:cNvPr name="TextBox 9" id="9"/>
          <p:cNvSpPr txBox="true"/>
          <p:nvPr/>
        </p:nvSpPr>
        <p:spPr>
          <a:xfrm rot="0">
            <a:off x="1168403" y="6046537"/>
            <a:ext cx="13291823" cy="1730673"/>
          </a:xfrm>
          <a:prstGeom prst="rect">
            <a:avLst/>
          </a:prstGeom>
        </p:spPr>
        <p:txBody>
          <a:bodyPr anchor="t" rtlCol="false" tIns="0" lIns="0" bIns="0" rIns="0">
            <a:spAutoFit/>
          </a:bodyPr>
          <a:lstStyle/>
          <a:p>
            <a:pPr algn="l">
              <a:lnSpc>
                <a:spcPts val="6757"/>
              </a:lnSpc>
            </a:pPr>
            <a:r>
              <a:rPr lang="en-US" sz="6900" spc="-192">
                <a:solidFill>
                  <a:srgbClr val="FFFFFF"/>
                </a:solidFill>
                <a:latin typeface="Arimo"/>
                <a:ea typeface="Arimo"/>
                <a:cs typeface="Arimo"/>
                <a:sym typeface="Arimo"/>
              </a:rPr>
              <a:t>Women's Health: vitalita v kontextu longevity medicíny</a:t>
            </a:r>
          </a:p>
        </p:txBody>
      </p:sp>
      <p:sp>
        <p:nvSpPr>
          <p:cNvPr name="TextBox 10" id="10"/>
          <p:cNvSpPr txBox="true"/>
          <p:nvPr/>
        </p:nvSpPr>
        <p:spPr>
          <a:xfrm rot="0">
            <a:off x="1168403" y="8056616"/>
            <a:ext cx="7890647" cy="410201"/>
          </a:xfrm>
          <a:prstGeom prst="rect">
            <a:avLst/>
          </a:prstGeom>
        </p:spPr>
        <p:txBody>
          <a:bodyPr anchor="t" rtlCol="false" tIns="0" lIns="0" bIns="0" rIns="0">
            <a:spAutoFit/>
          </a:bodyPr>
          <a:lstStyle/>
          <a:p>
            <a:pPr algn="l">
              <a:lnSpc>
                <a:spcPts val="3010"/>
              </a:lnSpc>
            </a:pPr>
            <a:r>
              <a:rPr lang="en-US" sz="2700">
                <a:solidFill>
                  <a:srgbClr val="C9AEDA"/>
                </a:solidFill>
                <a:latin typeface="Arimo"/>
                <a:ea typeface="Arimo"/>
                <a:cs typeface="Arimo"/>
                <a:sym typeface="Arimo"/>
              </a:rPr>
              <a:t>Střední věk jako okno příležitosti pro zdravé stárnutí</a:t>
            </a:r>
          </a:p>
        </p:txBody>
      </p:sp>
      <p:sp>
        <p:nvSpPr>
          <p:cNvPr name="TextBox 11" id="11"/>
          <p:cNvSpPr txBox="true"/>
          <p:nvPr/>
        </p:nvSpPr>
        <p:spPr>
          <a:xfrm rot="0">
            <a:off x="1168403" y="8801424"/>
            <a:ext cx="14198603" cy="507682"/>
          </a:xfrm>
          <a:prstGeom prst="rect">
            <a:avLst/>
          </a:prstGeom>
        </p:spPr>
        <p:txBody>
          <a:bodyPr anchor="t" rtlCol="false" tIns="0" lIns="0" bIns="0" rIns="0">
            <a:spAutoFit/>
          </a:bodyPr>
          <a:lstStyle/>
          <a:p>
            <a:pPr algn="l">
              <a:lnSpc>
                <a:spcPts val="3452"/>
              </a:lnSpc>
            </a:pPr>
            <a:r>
              <a:rPr lang="en-US" sz="2550">
                <a:solidFill>
                  <a:srgbClr val="FFFFFF"/>
                </a:solidFill>
                <a:latin typeface="Arimo"/>
                <a:ea typeface="Arimo"/>
                <a:cs typeface="Arimo"/>
                <a:sym typeface="Arimo"/>
              </a:rPr>
              <a:t>Mgr. Ing. Tereza Vágnerová, Ph.D.</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2942854"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CO SI DNES ODNESETE</a:t>
            </a:r>
          </a:p>
        </p:txBody>
      </p:sp>
      <p:sp>
        <p:nvSpPr>
          <p:cNvPr name="TextBox 3" id="3"/>
          <p:cNvSpPr txBox="true"/>
          <p:nvPr/>
        </p:nvSpPr>
        <p:spPr>
          <a:xfrm rot="0">
            <a:off x="1168403" y="1901828"/>
            <a:ext cx="13684253" cy="1488092"/>
          </a:xfrm>
          <a:prstGeom prst="rect">
            <a:avLst/>
          </a:prstGeom>
        </p:spPr>
        <p:txBody>
          <a:bodyPr anchor="t" rtlCol="false" tIns="0" lIns="0" bIns="0" rIns="0">
            <a:spAutoFit/>
          </a:bodyPr>
          <a:lstStyle/>
          <a:p>
            <a:pPr algn="l">
              <a:lnSpc>
                <a:spcPts val="5666"/>
              </a:lnSpc>
            </a:pPr>
            <a:r>
              <a:rPr lang="en-US" sz="5550" spc="-127">
                <a:solidFill>
                  <a:srgbClr val="401252"/>
                </a:solidFill>
                <a:latin typeface="Arimo"/>
                <a:ea typeface="Arimo"/>
                <a:cs typeface="Arimo"/>
                <a:sym typeface="Arimo"/>
              </a:rPr>
              <a:t>Pět klíčových otázek. </a:t>
            </a:r>
          </a:p>
          <a:p>
            <a:pPr algn="l">
              <a:lnSpc>
                <a:spcPts val="5668"/>
              </a:lnSpc>
            </a:pPr>
            <a:r>
              <a:rPr lang="en-US" sz="5550" spc="-133">
                <a:solidFill>
                  <a:srgbClr val="401252"/>
                </a:solidFill>
                <a:latin typeface="Arimo"/>
                <a:ea typeface="Arimo"/>
                <a:cs typeface="Arimo"/>
                <a:sym typeface="Arimo"/>
              </a:rPr>
              <a:t>Odpovědi opřené o aktuální vědecké důkazy.</a:t>
            </a:r>
          </a:p>
        </p:txBody>
      </p:sp>
      <p:sp>
        <p:nvSpPr>
          <p:cNvPr name="TextBox 4" id="4"/>
          <p:cNvSpPr txBox="true"/>
          <p:nvPr/>
        </p:nvSpPr>
        <p:spPr>
          <a:xfrm rot="0">
            <a:off x="1168403" y="3902078"/>
            <a:ext cx="503215" cy="790003"/>
          </a:xfrm>
          <a:prstGeom prst="rect">
            <a:avLst/>
          </a:prstGeom>
        </p:spPr>
        <p:txBody>
          <a:bodyPr anchor="t" rtlCol="false" tIns="0" lIns="0" bIns="0" rIns="0">
            <a:spAutoFit/>
          </a:bodyPr>
          <a:lstStyle/>
          <a:p>
            <a:pPr algn="l">
              <a:lnSpc>
                <a:spcPts val="4952"/>
              </a:lnSpc>
            </a:pPr>
            <a:r>
              <a:rPr lang="en-US" sz="3300" spc="-99">
                <a:solidFill>
                  <a:srgbClr val="6D2A8C"/>
                </a:solidFill>
                <a:latin typeface="Arimo"/>
                <a:ea typeface="Arimo"/>
                <a:cs typeface="Arimo"/>
                <a:sym typeface="Arimo"/>
              </a:rPr>
              <a:t>01</a:t>
            </a:r>
          </a:p>
        </p:txBody>
      </p:sp>
      <p:sp>
        <p:nvSpPr>
          <p:cNvPr name="TextBox 5" id="5"/>
          <p:cNvSpPr txBox="true"/>
          <p:nvPr/>
        </p:nvSpPr>
        <p:spPr>
          <a:xfrm rot="0">
            <a:off x="2035670" y="4070147"/>
            <a:ext cx="16564794" cy="418908"/>
          </a:xfrm>
          <a:prstGeom prst="rect">
            <a:avLst/>
          </a:prstGeom>
        </p:spPr>
        <p:txBody>
          <a:bodyPr anchor="t" rtlCol="false" tIns="0" lIns="0" bIns="0" rIns="0">
            <a:spAutoFit/>
          </a:bodyPr>
          <a:lstStyle/>
          <a:p>
            <a:pPr algn="l">
              <a:lnSpc>
                <a:spcPts val="3316"/>
              </a:lnSpc>
            </a:pPr>
            <a:r>
              <a:rPr lang="en-US" sz="2450">
                <a:solidFill>
                  <a:srgbClr val="401252"/>
                </a:solidFill>
                <a:latin typeface="Arimo"/>
                <a:ea typeface="Arimo"/>
                <a:cs typeface="Arimo"/>
                <a:sym typeface="Arimo"/>
              </a:rPr>
              <a:t>Co se v těle během menopauzální tranzice skutečně mění?</a:t>
            </a:r>
          </a:p>
        </p:txBody>
      </p:sp>
      <p:sp>
        <p:nvSpPr>
          <p:cNvPr name="TextBox 6" id="6"/>
          <p:cNvSpPr txBox="true"/>
          <p:nvPr/>
        </p:nvSpPr>
        <p:spPr>
          <a:xfrm rot="0">
            <a:off x="1168403" y="4866704"/>
            <a:ext cx="503215" cy="790003"/>
          </a:xfrm>
          <a:prstGeom prst="rect">
            <a:avLst/>
          </a:prstGeom>
        </p:spPr>
        <p:txBody>
          <a:bodyPr anchor="t" rtlCol="false" tIns="0" lIns="0" bIns="0" rIns="0">
            <a:spAutoFit/>
          </a:bodyPr>
          <a:lstStyle/>
          <a:p>
            <a:pPr algn="l">
              <a:lnSpc>
                <a:spcPts val="4952"/>
              </a:lnSpc>
            </a:pPr>
            <a:r>
              <a:rPr lang="en-US" sz="3300" spc="-99">
                <a:solidFill>
                  <a:srgbClr val="6D2A8C"/>
                </a:solidFill>
                <a:latin typeface="Arimo"/>
                <a:ea typeface="Arimo"/>
                <a:cs typeface="Arimo"/>
                <a:sym typeface="Arimo"/>
              </a:rPr>
              <a:t>02</a:t>
            </a:r>
          </a:p>
        </p:txBody>
      </p:sp>
      <p:sp>
        <p:nvSpPr>
          <p:cNvPr name="TextBox 7" id="7"/>
          <p:cNvSpPr txBox="true"/>
          <p:nvPr/>
        </p:nvSpPr>
        <p:spPr>
          <a:xfrm rot="0">
            <a:off x="2035670" y="5034773"/>
            <a:ext cx="16564794" cy="418839"/>
          </a:xfrm>
          <a:prstGeom prst="rect">
            <a:avLst/>
          </a:prstGeom>
        </p:spPr>
        <p:txBody>
          <a:bodyPr anchor="t" rtlCol="false" tIns="0" lIns="0" bIns="0" rIns="0">
            <a:spAutoFit/>
          </a:bodyPr>
          <a:lstStyle/>
          <a:p>
            <a:pPr algn="l">
              <a:lnSpc>
                <a:spcPts val="3316"/>
              </a:lnSpc>
            </a:pPr>
            <a:r>
              <a:rPr lang="en-US" sz="2450">
                <a:solidFill>
                  <a:srgbClr val="401252"/>
                </a:solidFill>
                <a:latin typeface="Arimo"/>
                <a:ea typeface="Arimo"/>
                <a:cs typeface="Arimo"/>
                <a:sym typeface="Arimo"/>
              </a:rPr>
              <a:t>Proč na těchto změnách záleží i z pohledu zdraví za deset či dvacet let?</a:t>
            </a:r>
          </a:p>
        </p:txBody>
      </p:sp>
      <p:sp>
        <p:nvSpPr>
          <p:cNvPr name="TextBox 8" id="8"/>
          <p:cNvSpPr txBox="true"/>
          <p:nvPr/>
        </p:nvSpPr>
        <p:spPr>
          <a:xfrm rot="0">
            <a:off x="1168403" y="5831338"/>
            <a:ext cx="503215" cy="790003"/>
          </a:xfrm>
          <a:prstGeom prst="rect">
            <a:avLst/>
          </a:prstGeom>
        </p:spPr>
        <p:txBody>
          <a:bodyPr anchor="t" rtlCol="false" tIns="0" lIns="0" bIns="0" rIns="0">
            <a:spAutoFit/>
          </a:bodyPr>
          <a:lstStyle/>
          <a:p>
            <a:pPr algn="l">
              <a:lnSpc>
                <a:spcPts val="4952"/>
              </a:lnSpc>
            </a:pPr>
            <a:r>
              <a:rPr lang="en-US" sz="3300" spc="-99">
                <a:solidFill>
                  <a:srgbClr val="6D2A8C"/>
                </a:solidFill>
                <a:latin typeface="Arimo"/>
                <a:ea typeface="Arimo"/>
                <a:cs typeface="Arimo"/>
                <a:sym typeface="Arimo"/>
              </a:rPr>
              <a:t>03</a:t>
            </a:r>
          </a:p>
        </p:txBody>
      </p:sp>
      <p:sp>
        <p:nvSpPr>
          <p:cNvPr name="TextBox 9" id="9"/>
          <p:cNvSpPr txBox="true"/>
          <p:nvPr/>
        </p:nvSpPr>
        <p:spPr>
          <a:xfrm rot="0">
            <a:off x="2035670" y="5999398"/>
            <a:ext cx="16564794" cy="418908"/>
          </a:xfrm>
          <a:prstGeom prst="rect">
            <a:avLst/>
          </a:prstGeom>
        </p:spPr>
        <p:txBody>
          <a:bodyPr anchor="t" rtlCol="false" tIns="0" lIns="0" bIns="0" rIns="0">
            <a:spAutoFit/>
          </a:bodyPr>
          <a:lstStyle/>
          <a:p>
            <a:pPr algn="l">
              <a:lnSpc>
                <a:spcPts val="3316"/>
              </a:lnSpc>
            </a:pPr>
            <a:r>
              <a:rPr lang="en-US" sz="2450">
                <a:solidFill>
                  <a:srgbClr val="401252"/>
                </a:solidFill>
                <a:latin typeface="Arimo"/>
                <a:ea typeface="Arimo"/>
                <a:cs typeface="Arimo"/>
                <a:sym typeface="Arimo"/>
              </a:rPr>
              <a:t>Které intervence</a:t>
            </a:r>
            <a:r>
              <a:rPr lang="en-US" sz="2450">
                <a:solidFill>
                  <a:srgbClr val="401252"/>
                </a:solidFill>
                <a:latin typeface="Arimo"/>
                <a:ea typeface="Arimo"/>
                <a:cs typeface="Arimo"/>
                <a:sym typeface="Arimo"/>
              </a:rPr>
              <a:t> mají skutečně prokázaný efekt?</a:t>
            </a:r>
          </a:p>
        </p:txBody>
      </p:sp>
      <p:sp>
        <p:nvSpPr>
          <p:cNvPr name="TextBox 10" id="10"/>
          <p:cNvSpPr txBox="true"/>
          <p:nvPr/>
        </p:nvSpPr>
        <p:spPr>
          <a:xfrm rot="0">
            <a:off x="1168403" y="6795964"/>
            <a:ext cx="503215" cy="790003"/>
          </a:xfrm>
          <a:prstGeom prst="rect">
            <a:avLst/>
          </a:prstGeom>
        </p:spPr>
        <p:txBody>
          <a:bodyPr anchor="t" rtlCol="false" tIns="0" lIns="0" bIns="0" rIns="0">
            <a:spAutoFit/>
          </a:bodyPr>
          <a:lstStyle/>
          <a:p>
            <a:pPr algn="l">
              <a:lnSpc>
                <a:spcPts val="4952"/>
              </a:lnSpc>
            </a:pPr>
            <a:r>
              <a:rPr lang="en-US" sz="3300" spc="-99">
                <a:solidFill>
                  <a:srgbClr val="6D2A8C"/>
                </a:solidFill>
                <a:latin typeface="Arimo"/>
                <a:ea typeface="Arimo"/>
                <a:cs typeface="Arimo"/>
                <a:sym typeface="Arimo"/>
              </a:rPr>
              <a:t>04</a:t>
            </a:r>
          </a:p>
        </p:txBody>
      </p:sp>
      <p:sp>
        <p:nvSpPr>
          <p:cNvPr name="TextBox 11" id="11"/>
          <p:cNvSpPr txBox="true"/>
          <p:nvPr/>
        </p:nvSpPr>
        <p:spPr>
          <a:xfrm rot="0">
            <a:off x="2035670" y="6964033"/>
            <a:ext cx="16564794" cy="418908"/>
          </a:xfrm>
          <a:prstGeom prst="rect">
            <a:avLst/>
          </a:prstGeom>
        </p:spPr>
        <p:txBody>
          <a:bodyPr anchor="t" rtlCol="false" tIns="0" lIns="0" bIns="0" rIns="0">
            <a:spAutoFit/>
          </a:bodyPr>
          <a:lstStyle/>
          <a:p>
            <a:pPr algn="l">
              <a:lnSpc>
                <a:spcPts val="3316"/>
              </a:lnSpc>
            </a:pPr>
            <a:r>
              <a:rPr lang="en-US" sz="2450">
                <a:solidFill>
                  <a:srgbClr val="401252"/>
                </a:solidFill>
                <a:latin typeface="Arimo"/>
                <a:ea typeface="Arimo"/>
                <a:cs typeface="Arimo"/>
                <a:sym typeface="Arimo"/>
              </a:rPr>
              <a:t>Existuje způsob stravování, který může tyto změny významně ovlivnit?</a:t>
            </a:r>
          </a:p>
        </p:txBody>
      </p:sp>
      <p:sp>
        <p:nvSpPr>
          <p:cNvPr name="TextBox 12" id="12"/>
          <p:cNvSpPr txBox="true"/>
          <p:nvPr/>
        </p:nvSpPr>
        <p:spPr>
          <a:xfrm rot="0">
            <a:off x="1168403" y="7760589"/>
            <a:ext cx="503215" cy="790003"/>
          </a:xfrm>
          <a:prstGeom prst="rect">
            <a:avLst/>
          </a:prstGeom>
        </p:spPr>
        <p:txBody>
          <a:bodyPr anchor="t" rtlCol="false" tIns="0" lIns="0" bIns="0" rIns="0">
            <a:spAutoFit/>
          </a:bodyPr>
          <a:lstStyle/>
          <a:p>
            <a:pPr algn="l">
              <a:lnSpc>
                <a:spcPts val="4952"/>
              </a:lnSpc>
            </a:pPr>
            <a:r>
              <a:rPr lang="en-US" sz="3300" spc="-99">
                <a:solidFill>
                  <a:srgbClr val="6D2A8C"/>
                </a:solidFill>
                <a:latin typeface="Arimo"/>
                <a:ea typeface="Arimo"/>
                <a:cs typeface="Arimo"/>
                <a:sym typeface="Arimo"/>
              </a:rPr>
              <a:t>05</a:t>
            </a:r>
          </a:p>
        </p:txBody>
      </p:sp>
      <p:sp>
        <p:nvSpPr>
          <p:cNvPr name="TextBox 13" id="13"/>
          <p:cNvSpPr txBox="true"/>
          <p:nvPr/>
        </p:nvSpPr>
        <p:spPr>
          <a:xfrm rot="0">
            <a:off x="2035670" y="7928658"/>
            <a:ext cx="16564794" cy="418908"/>
          </a:xfrm>
          <a:prstGeom prst="rect">
            <a:avLst/>
          </a:prstGeom>
        </p:spPr>
        <p:txBody>
          <a:bodyPr anchor="t" rtlCol="false" tIns="0" lIns="0" bIns="0" rIns="0">
            <a:spAutoFit/>
          </a:bodyPr>
          <a:lstStyle/>
          <a:p>
            <a:pPr algn="l">
              <a:lnSpc>
                <a:spcPts val="3316"/>
              </a:lnSpc>
            </a:pPr>
            <a:r>
              <a:rPr lang="en-US" sz="2450">
                <a:solidFill>
                  <a:srgbClr val="401252"/>
                </a:solidFill>
                <a:latin typeface="Arimo"/>
                <a:ea typeface="Arimo"/>
                <a:cs typeface="Arimo"/>
                <a:sym typeface="Arimo"/>
              </a:rPr>
              <a:t>Co</a:t>
            </a:r>
            <a:r>
              <a:rPr lang="en-US" sz="2450">
                <a:solidFill>
                  <a:srgbClr val="401252"/>
                </a:solidFill>
                <a:latin typeface="Arimo"/>
                <a:ea typeface="Arimo"/>
                <a:cs typeface="Arimo"/>
                <a:sym typeface="Arimo"/>
              </a:rPr>
              <a:t> má smysl začít dělat už zítra?</a:t>
            </a:r>
          </a:p>
        </p:txBody>
      </p:sp>
      <p:sp>
        <p:nvSpPr>
          <p:cNvPr name="TextBox 14" id="14"/>
          <p:cNvSpPr txBox="true"/>
          <p:nvPr/>
        </p:nvSpPr>
        <p:spPr>
          <a:xfrm rot="0">
            <a:off x="1168403" y="9116568"/>
            <a:ext cx="13569953" cy="284035"/>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Každá část končí jasnou odpovědí na danou otázku a hodnocením síly dostupných důkazů.</a:t>
            </a:r>
          </a:p>
        </p:txBody>
      </p:sp>
      <p:sp>
        <p:nvSpPr>
          <p:cNvPr name="TextBox 15" id="15"/>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02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953350" cy="317979"/>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RÁMEC</a:t>
            </a:r>
          </a:p>
        </p:txBody>
      </p:sp>
      <p:sp>
        <p:nvSpPr>
          <p:cNvPr name="TextBox 3" id="3"/>
          <p:cNvSpPr txBox="true"/>
          <p:nvPr/>
        </p:nvSpPr>
        <p:spPr>
          <a:xfrm rot="0">
            <a:off x="1168403" y="1873253"/>
            <a:ext cx="14246600" cy="646364"/>
          </a:xfrm>
          <a:prstGeom prst="rect">
            <a:avLst/>
          </a:prstGeom>
        </p:spPr>
        <p:txBody>
          <a:bodyPr anchor="t" rtlCol="false" tIns="0" lIns="0" bIns="0" rIns="0">
            <a:spAutoFit/>
          </a:bodyPr>
          <a:lstStyle/>
          <a:p>
            <a:pPr algn="l">
              <a:lnSpc>
                <a:spcPts val="4735"/>
              </a:lnSpc>
            </a:pPr>
            <a:r>
              <a:rPr lang="en-US" sz="4500" spc="-81">
                <a:solidFill>
                  <a:srgbClr val="401252"/>
                </a:solidFill>
                <a:latin typeface="Arimo"/>
                <a:ea typeface="Arimo"/>
                <a:cs typeface="Arimo"/>
                <a:sym typeface="Arimo"/>
              </a:rPr>
              <a:t>Tři roviny, které se v debatě o menopauze často zaměňují.</a:t>
            </a:r>
          </a:p>
        </p:txBody>
      </p:sp>
      <p:grpSp>
        <p:nvGrpSpPr>
          <p:cNvPr name="Group 4" id="4"/>
          <p:cNvGrpSpPr/>
          <p:nvPr/>
        </p:nvGrpSpPr>
        <p:grpSpPr>
          <a:xfrm rot="0">
            <a:off x="1138238" y="4757738"/>
            <a:ext cx="4987900" cy="3753069"/>
            <a:chOff x="0" y="0"/>
            <a:chExt cx="6650533" cy="5004092"/>
          </a:xfrm>
        </p:grpSpPr>
        <p:sp>
          <p:nvSpPr>
            <p:cNvPr name="Freeform 5" id="5"/>
            <p:cNvSpPr/>
            <p:nvPr/>
          </p:nvSpPr>
          <p:spPr>
            <a:xfrm flipH="false" flipV="false" rot="0">
              <a:off x="0" y="0"/>
              <a:ext cx="6650482" cy="5004054"/>
            </a:xfrm>
            <a:custGeom>
              <a:avLst/>
              <a:gdLst/>
              <a:ahLst/>
              <a:cxnLst/>
              <a:rect r="r" b="b" t="t" l="l"/>
              <a:pathLst>
                <a:path h="5004054" w="6650482">
                  <a:moveTo>
                    <a:pt x="0" y="203708"/>
                  </a:moveTo>
                  <a:cubicBezTo>
                    <a:pt x="0" y="91186"/>
                    <a:pt x="91186" y="0"/>
                    <a:pt x="203708" y="0"/>
                  </a:cubicBezTo>
                  <a:lnTo>
                    <a:pt x="6446774" y="0"/>
                  </a:lnTo>
                  <a:cubicBezTo>
                    <a:pt x="6559296" y="0"/>
                    <a:pt x="6650482" y="91186"/>
                    <a:pt x="6650482" y="203708"/>
                  </a:cubicBezTo>
                  <a:lnTo>
                    <a:pt x="6650482" y="4800346"/>
                  </a:lnTo>
                  <a:cubicBezTo>
                    <a:pt x="6650482" y="4912868"/>
                    <a:pt x="6559296" y="5004054"/>
                    <a:pt x="6446774" y="5004054"/>
                  </a:cubicBezTo>
                  <a:lnTo>
                    <a:pt x="203708" y="5004054"/>
                  </a:lnTo>
                  <a:cubicBezTo>
                    <a:pt x="91186" y="5004054"/>
                    <a:pt x="0" y="4912868"/>
                    <a:pt x="0" y="4800346"/>
                  </a:cubicBezTo>
                  <a:close/>
                </a:path>
              </a:pathLst>
            </a:custGeom>
            <a:solidFill>
              <a:srgbClr val="FFFFFF"/>
            </a:solidFill>
            <a:ln w="9525" cap="sq">
              <a:solidFill>
                <a:srgbClr val="CDB3DC"/>
              </a:solidFill>
              <a:prstDash val="solid"/>
              <a:miter/>
            </a:ln>
          </p:spPr>
        </p:sp>
      </p:grpSp>
      <p:sp>
        <p:nvSpPr>
          <p:cNvPr name="TextBox 6" id="6"/>
          <p:cNvSpPr txBox="true"/>
          <p:nvPr/>
        </p:nvSpPr>
        <p:spPr>
          <a:xfrm rot="0">
            <a:off x="1597028" y="5149853"/>
            <a:ext cx="4193962"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LÉČBA PŘÍZNAKŮ</a:t>
            </a:r>
          </a:p>
        </p:txBody>
      </p:sp>
      <p:sp>
        <p:nvSpPr>
          <p:cNvPr name="TextBox 7" id="7"/>
          <p:cNvSpPr txBox="true"/>
          <p:nvPr/>
        </p:nvSpPr>
        <p:spPr>
          <a:xfrm rot="0">
            <a:off x="1597028" y="5803582"/>
            <a:ext cx="4193962" cy="791345"/>
          </a:xfrm>
          <a:prstGeom prst="rect">
            <a:avLst/>
          </a:prstGeom>
        </p:spPr>
        <p:txBody>
          <a:bodyPr anchor="t" rtlCol="false" tIns="0" lIns="0" bIns="0" rIns="0">
            <a:spAutoFit/>
          </a:bodyPr>
          <a:lstStyle/>
          <a:p>
            <a:pPr algn="l">
              <a:lnSpc>
                <a:spcPts val="3007"/>
              </a:lnSpc>
            </a:pPr>
            <a:r>
              <a:rPr lang="en-US" sz="2700">
                <a:solidFill>
                  <a:srgbClr val="401252"/>
                </a:solidFill>
                <a:latin typeface="Arimo"/>
                <a:ea typeface="Arimo"/>
                <a:cs typeface="Arimo"/>
                <a:sym typeface="Arimo"/>
              </a:rPr>
              <a:t>Zmírnit aktuální obtíže</a:t>
            </a:r>
          </a:p>
          <a:p>
            <a:pPr algn="l">
              <a:lnSpc>
                <a:spcPts val="3010"/>
              </a:lnSpc>
            </a:pPr>
          </a:p>
        </p:txBody>
      </p:sp>
      <p:sp>
        <p:nvSpPr>
          <p:cNvPr name="TextBox 8" id="8"/>
          <p:cNvSpPr txBox="true"/>
          <p:nvPr/>
        </p:nvSpPr>
        <p:spPr>
          <a:xfrm rot="0">
            <a:off x="1645078" y="6759797"/>
            <a:ext cx="4193962" cy="1175926"/>
          </a:xfrm>
          <a:prstGeom prst="rect">
            <a:avLst/>
          </a:prstGeom>
        </p:spPr>
        <p:txBody>
          <a:bodyPr anchor="t" rtlCol="false" tIns="0" lIns="0" bIns="0" rIns="0">
            <a:spAutoFit/>
          </a:bodyPr>
          <a:lstStyle/>
          <a:p>
            <a:pPr algn="l">
              <a:lnSpc>
                <a:spcPts val="3113"/>
              </a:lnSpc>
            </a:pPr>
            <a:r>
              <a:rPr lang="en-US" sz="2250">
                <a:solidFill>
                  <a:srgbClr val="6B4B7D"/>
                </a:solidFill>
                <a:latin typeface="Arimo"/>
                <a:ea typeface="Arimo"/>
                <a:cs typeface="Arimo"/>
                <a:sym typeface="Arimo"/>
              </a:rPr>
              <a:t>Návaly, spánek, vaginální suchost, nálada.</a:t>
            </a:r>
          </a:p>
          <a:p>
            <a:pPr algn="l">
              <a:lnSpc>
                <a:spcPts val="3115"/>
              </a:lnSpc>
            </a:pPr>
            <a:r>
              <a:rPr lang="en-US" sz="2250" b="true">
                <a:solidFill>
                  <a:srgbClr val="6B4B7D"/>
                </a:solidFill>
                <a:latin typeface="Arimo Bold"/>
                <a:ea typeface="Arimo Bold"/>
                <a:cs typeface="Arimo Bold"/>
                <a:sym typeface="Arimo Bold"/>
              </a:rPr>
              <a:t>Cíl - lepší kvalita života teď</a:t>
            </a:r>
            <a:r>
              <a:rPr lang="en-US" sz="2250">
                <a:solidFill>
                  <a:srgbClr val="6B4B7D"/>
                </a:solidFill>
                <a:latin typeface="Arimo"/>
                <a:ea typeface="Arimo"/>
                <a:cs typeface="Arimo"/>
                <a:sym typeface="Arimo"/>
              </a:rPr>
              <a:t>.</a:t>
            </a:r>
          </a:p>
        </p:txBody>
      </p:sp>
      <p:grpSp>
        <p:nvGrpSpPr>
          <p:cNvPr name="Group 9" id="9"/>
          <p:cNvGrpSpPr/>
          <p:nvPr/>
        </p:nvGrpSpPr>
        <p:grpSpPr>
          <a:xfrm rot="0">
            <a:off x="6650012" y="4757738"/>
            <a:ext cx="4987900" cy="3753069"/>
            <a:chOff x="0" y="0"/>
            <a:chExt cx="6650533" cy="5004092"/>
          </a:xfrm>
        </p:grpSpPr>
        <p:sp>
          <p:nvSpPr>
            <p:cNvPr name="Freeform 10" id="10"/>
            <p:cNvSpPr/>
            <p:nvPr/>
          </p:nvSpPr>
          <p:spPr>
            <a:xfrm flipH="false" flipV="false" rot="0">
              <a:off x="0" y="0"/>
              <a:ext cx="6650482" cy="5004054"/>
            </a:xfrm>
            <a:custGeom>
              <a:avLst/>
              <a:gdLst/>
              <a:ahLst/>
              <a:cxnLst/>
              <a:rect r="r" b="b" t="t" l="l"/>
              <a:pathLst>
                <a:path h="5004054" w="6650482">
                  <a:moveTo>
                    <a:pt x="0" y="203708"/>
                  </a:moveTo>
                  <a:cubicBezTo>
                    <a:pt x="0" y="91186"/>
                    <a:pt x="91186" y="0"/>
                    <a:pt x="203708" y="0"/>
                  </a:cubicBezTo>
                  <a:lnTo>
                    <a:pt x="6446774" y="0"/>
                  </a:lnTo>
                  <a:cubicBezTo>
                    <a:pt x="6559296" y="0"/>
                    <a:pt x="6650482" y="91186"/>
                    <a:pt x="6650482" y="203708"/>
                  </a:cubicBezTo>
                  <a:lnTo>
                    <a:pt x="6650482" y="4800346"/>
                  </a:lnTo>
                  <a:cubicBezTo>
                    <a:pt x="6650482" y="4912868"/>
                    <a:pt x="6559296" y="5004054"/>
                    <a:pt x="6446774" y="5004054"/>
                  </a:cubicBezTo>
                  <a:lnTo>
                    <a:pt x="203708" y="5004054"/>
                  </a:lnTo>
                  <a:cubicBezTo>
                    <a:pt x="91186" y="5004054"/>
                    <a:pt x="0" y="4912868"/>
                    <a:pt x="0" y="4800346"/>
                  </a:cubicBezTo>
                  <a:close/>
                </a:path>
              </a:pathLst>
            </a:custGeom>
            <a:solidFill>
              <a:srgbClr val="FFFFFF"/>
            </a:solidFill>
            <a:ln w="9525" cap="sq">
              <a:solidFill>
                <a:srgbClr val="CDB3DC"/>
              </a:solidFill>
              <a:prstDash val="solid"/>
              <a:miter/>
            </a:ln>
          </p:spPr>
        </p:sp>
      </p:grpSp>
      <p:sp>
        <p:nvSpPr>
          <p:cNvPr name="TextBox 11" id="11"/>
          <p:cNvSpPr txBox="true"/>
          <p:nvPr/>
        </p:nvSpPr>
        <p:spPr>
          <a:xfrm rot="0">
            <a:off x="7108803" y="5149853"/>
            <a:ext cx="4193962" cy="317979"/>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NEMOCÍ</a:t>
            </a:r>
          </a:p>
        </p:txBody>
      </p:sp>
      <p:sp>
        <p:nvSpPr>
          <p:cNvPr name="TextBox 12" id="12"/>
          <p:cNvSpPr txBox="true"/>
          <p:nvPr/>
        </p:nvSpPr>
        <p:spPr>
          <a:xfrm rot="0">
            <a:off x="7108803" y="5803582"/>
            <a:ext cx="4193962" cy="410201"/>
          </a:xfrm>
          <a:prstGeom prst="rect">
            <a:avLst/>
          </a:prstGeom>
        </p:spPr>
        <p:txBody>
          <a:bodyPr anchor="t" rtlCol="false" tIns="0" lIns="0" bIns="0" rIns="0">
            <a:spAutoFit/>
          </a:bodyPr>
          <a:lstStyle/>
          <a:p>
            <a:pPr algn="l">
              <a:lnSpc>
                <a:spcPts val="3010"/>
              </a:lnSpc>
            </a:pPr>
            <a:r>
              <a:rPr lang="en-US" sz="2700">
                <a:solidFill>
                  <a:srgbClr val="401252"/>
                </a:solidFill>
                <a:latin typeface="Arimo"/>
                <a:ea typeface="Arimo"/>
                <a:cs typeface="Arimo"/>
                <a:sym typeface="Arimo"/>
              </a:rPr>
              <a:t>Vliv na zdraví v letech</a:t>
            </a:r>
          </a:p>
        </p:txBody>
      </p:sp>
      <p:sp>
        <p:nvSpPr>
          <p:cNvPr name="TextBox 13" id="13"/>
          <p:cNvSpPr txBox="true"/>
          <p:nvPr/>
        </p:nvSpPr>
        <p:spPr>
          <a:xfrm rot="0">
            <a:off x="7108803" y="6759797"/>
            <a:ext cx="4193962" cy="1175926"/>
          </a:xfrm>
          <a:prstGeom prst="rect">
            <a:avLst/>
          </a:prstGeom>
        </p:spPr>
        <p:txBody>
          <a:bodyPr anchor="t" rtlCol="false" tIns="0" lIns="0" bIns="0" rIns="0">
            <a:spAutoFit/>
          </a:bodyPr>
          <a:lstStyle/>
          <a:p>
            <a:pPr algn="l">
              <a:lnSpc>
                <a:spcPts val="3113"/>
              </a:lnSpc>
            </a:pPr>
            <a:r>
              <a:rPr lang="en-US" sz="2250">
                <a:solidFill>
                  <a:srgbClr val="6B4B7D"/>
                </a:solidFill>
                <a:latin typeface="Arimo"/>
                <a:ea typeface="Arimo"/>
                <a:cs typeface="Arimo"/>
                <a:sym typeface="Arimo"/>
              </a:rPr>
              <a:t>Srdce, metabolismus, kosti, svaly, mozek.</a:t>
            </a:r>
          </a:p>
          <a:p>
            <a:pPr algn="l">
              <a:lnSpc>
                <a:spcPts val="3115"/>
              </a:lnSpc>
            </a:pPr>
            <a:r>
              <a:rPr lang="en-US" sz="2250" b="true">
                <a:solidFill>
                  <a:srgbClr val="6B4B7D"/>
                </a:solidFill>
                <a:latin typeface="Arimo Bold"/>
                <a:ea typeface="Arimo Bold"/>
                <a:cs typeface="Arimo Bold"/>
                <a:sym typeface="Arimo Bold"/>
              </a:rPr>
              <a:t>Cíl - více let ve zdraví.</a:t>
            </a:r>
          </a:p>
        </p:txBody>
      </p:sp>
      <p:grpSp>
        <p:nvGrpSpPr>
          <p:cNvPr name="Group 14" id="14"/>
          <p:cNvGrpSpPr/>
          <p:nvPr/>
        </p:nvGrpSpPr>
        <p:grpSpPr>
          <a:xfrm rot="0">
            <a:off x="12161787" y="4757738"/>
            <a:ext cx="4987976" cy="3753069"/>
            <a:chOff x="0" y="0"/>
            <a:chExt cx="6650634" cy="5004092"/>
          </a:xfrm>
        </p:grpSpPr>
        <p:sp>
          <p:nvSpPr>
            <p:cNvPr name="Freeform 15" id="15"/>
            <p:cNvSpPr/>
            <p:nvPr/>
          </p:nvSpPr>
          <p:spPr>
            <a:xfrm flipH="false" flipV="false" rot="0">
              <a:off x="0" y="0"/>
              <a:ext cx="6650609" cy="5004054"/>
            </a:xfrm>
            <a:custGeom>
              <a:avLst/>
              <a:gdLst/>
              <a:ahLst/>
              <a:cxnLst/>
              <a:rect r="r" b="b" t="t" l="l"/>
              <a:pathLst>
                <a:path h="5004054" w="6650609">
                  <a:moveTo>
                    <a:pt x="0" y="203708"/>
                  </a:moveTo>
                  <a:cubicBezTo>
                    <a:pt x="0" y="91186"/>
                    <a:pt x="91186" y="0"/>
                    <a:pt x="203708" y="0"/>
                  </a:cubicBezTo>
                  <a:lnTo>
                    <a:pt x="6446901" y="0"/>
                  </a:lnTo>
                  <a:cubicBezTo>
                    <a:pt x="6559423" y="0"/>
                    <a:pt x="6650609" y="91186"/>
                    <a:pt x="6650609" y="203708"/>
                  </a:cubicBezTo>
                  <a:lnTo>
                    <a:pt x="6650609" y="4800346"/>
                  </a:lnTo>
                  <a:cubicBezTo>
                    <a:pt x="6650609" y="4912868"/>
                    <a:pt x="6559423" y="5004054"/>
                    <a:pt x="6446901" y="5004054"/>
                  </a:cubicBezTo>
                  <a:lnTo>
                    <a:pt x="203708" y="5004054"/>
                  </a:lnTo>
                  <a:cubicBezTo>
                    <a:pt x="91186" y="5004054"/>
                    <a:pt x="0" y="4912868"/>
                    <a:pt x="0" y="4800346"/>
                  </a:cubicBezTo>
                  <a:close/>
                </a:path>
              </a:pathLst>
            </a:custGeom>
            <a:solidFill>
              <a:srgbClr val="FFFFFF"/>
            </a:solidFill>
            <a:ln w="9525" cap="sq">
              <a:solidFill>
                <a:srgbClr val="CDB3DC"/>
              </a:solidFill>
              <a:prstDash val="solid"/>
              <a:miter/>
            </a:ln>
          </p:spPr>
        </p:sp>
      </p:grpSp>
      <p:sp>
        <p:nvSpPr>
          <p:cNvPr name="TextBox 16" id="16"/>
          <p:cNvSpPr txBox="true"/>
          <p:nvPr/>
        </p:nvSpPr>
        <p:spPr>
          <a:xfrm rot="0">
            <a:off x="12620577" y="5149853"/>
            <a:ext cx="4194038" cy="317979"/>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PODPORA ZMĚ</a:t>
            </a:r>
            <a:r>
              <a:rPr lang="en-US" sz="1650" spc="214">
                <a:solidFill>
                  <a:srgbClr val="6D2A8C"/>
                </a:solidFill>
                <a:latin typeface="Arimo"/>
                <a:ea typeface="Arimo"/>
                <a:cs typeface="Arimo"/>
                <a:sym typeface="Arimo"/>
              </a:rPr>
              <a:t>NY CHOVÁNÍ</a:t>
            </a:r>
          </a:p>
        </p:txBody>
      </p:sp>
      <p:sp>
        <p:nvSpPr>
          <p:cNvPr name="TextBox 17" id="17"/>
          <p:cNvSpPr txBox="true"/>
          <p:nvPr/>
        </p:nvSpPr>
        <p:spPr>
          <a:xfrm rot="0">
            <a:off x="12620577" y="5803582"/>
            <a:ext cx="3202561" cy="410201"/>
          </a:xfrm>
          <a:prstGeom prst="rect">
            <a:avLst/>
          </a:prstGeom>
        </p:spPr>
        <p:txBody>
          <a:bodyPr anchor="t" rtlCol="false" tIns="0" lIns="0" bIns="0" rIns="0">
            <a:spAutoFit/>
          </a:bodyPr>
          <a:lstStyle/>
          <a:p>
            <a:pPr algn="l">
              <a:lnSpc>
                <a:spcPts val="3010"/>
              </a:lnSpc>
            </a:pPr>
            <a:r>
              <a:rPr lang="en-US" sz="2700">
                <a:solidFill>
                  <a:srgbClr val="401252"/>
                </a:solidFill>
                <a:latin typeface="Arimo"/>
                <a:ea typeface="Arimo"/>
                <a:cs typeface="Arimo"/>
                <a:sym typeface="Arimo"/>
              </a:rPr>
              <a:t>D</a:t>
            </a:r>
            <a:r>
              <a:rPr lang="en-US" sz="2700">
                <a:solidFill>
                  <a:srgbClr val="401252"/>
                </a:solidFill>
                <a:latin typeface="Arimo"/>
                <a:ea typeface="Arimo"/>
                <a:cs typeface="Arimo"/>
                <a:sym typeface="Arimo"/>
              </a:rPr>
              <a:t>oporučení do praxe</a:t>
            </a:r>
          </a:p>
        </p:txBody>
      </p:sp>
      <p:sp>
        <p:nvSpPr>
          <p:cNvPr name="TextBox 18" id="18"/>
          <p:cNvSpPr txBox="true"/>
          <p:nvPr/>
        </p:nvSpPr>
        <p:spPr>
          <a:xfrm rot="0">
            <a:off x="12620577" y="6759797"/>
            <a:ext cx="4194038" cy="1175926"/>
          </a:xfrm>
          <a:prstGeom prst="rect">
            <a:avLst/>
          </a:prstGeom>
        </p:spPr>
        <p:txBody>
          <a:bodyPr anchor="t" rtlCol="false" tIns="0" lIns="0" bIns="0" rIns="0">
            <a:spAutoFit/>
          </a:bodyPr>
          <a:lstStyle/>
          <a:p>
            <a:pPr algn="l">
              <a:lnSpc>
                <a:spcPts val="3113"/>
              </a:lnSpc>
            </a:pPr>
            <a:r>
              <a:rPr lang="en-US" sz="2250">
                <a:solidFill>
                  <a:srgbClr val="6B4B7D"/>
                </a:solidFill>
                <a:latin typeface="Arimo"/>
                <a:ea typeface="Arimo"/>
                <a:cs typeface="Arimo"/>
                <a:sym typeface="Arimo"/>
              </a:rPr>
              <a:t>Návyky, pr</a:t>
            </a:r>
            <a:r>
              <a:rPr lang="en-US" sz="2250">
                <a:solidFill>
                  <a:srgbClr val="6B4B7D"/>
                </a:solidFill>
                <a:latin typeface="Arimo"/>
                <a:ea typeface="Arimo"/>
                <a:cs typeface="Arimo"/>
                <a:sym typeface="Arimo"/>
              </a:rPr>
              <a:t>ostředí, motivace, plánování.</a:t>
            </a:r>
          </a:p>
          <a:p>
            <a:pPr algn="l">
              <a:lnSpc>
                <a:spcPts val="3115"/>
              </a:lnSpc>
            </a:pPr>
            <a:r>
              <a:rPr lang="en-US" sz="2250" b="true">
                <a:solidFill>
                  <a:srgbClr val="6B4B7D"/>
                </a:solidFill>
                <a:latin typeface="Arimo Bold"/>
                <a:ea typeface="Arimo Bold"/>
                <a:cs typeface="Arimo Bold"/>
                <a:sym typeface="Arimo Bold"/>
              </a:rPr>
              <a:t>Cíl - změnu skutečně udržet.</a:t>
            </a:r>
          </a:p>
        </p:txBody>
      </p:sp>
      <p:sp>
        <p:nvSpPr>
          <p:cNvPr name="TextBox 19" id="19"/>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997818" cy="317979"/>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RÁMEC</a:t>
            </a:r>
          </a:p>
        </p:txBody>
      </p:sp>
      <p:sp>
        <p:nvSpPr>
          <p:cNvPr name="TextBox 3" id="3"/>
          <p:cNvSpPr txBox="true"/>
          <p:nvPr/>
        </p:nvSpPr>
        <p:spPr>
          <a:xfrm rot="0">
            <a:off x="1168403" y="1892303"/>
            <a:ext cx="13314202" cy="625884"/>
          </a:xfrm>
          <a:prstGeom prst="rect">
            <a:avLst/>
          </a:prstGeom>
        </p:spPr>
        <p:txBody>
          <a:bodyPr anchor="t" rtlCol="false" tIns="0" lIns="0" bIns="0" rIns="0">
            <a:spAutoFit/>
          </a:bodyPr>
          <a:lstStyle/>
          <a:p>
            <a:pPr algn="l">
              <a:lnSpc>
                <a:spcPts val="4596"/>
              </a:lnSpc>
            </a:pPr>
            <a:r>
              <a:rPr lang="en-US" sz="4499" spc="-107">
                <a:solidFill>
                  <a:srgbClr val="401252"/>
                </a:solidFill>
                <a:latin typeface="Arimo"/>
                <a:ea typeface="Arimo"/>
                <a:cs typeface="Arimo"/>
                <a:sym typeface="Arimo"/>
              </a:rPr>
              <a:t>U k</a:t>
            </a:r>
            <a:r>
              <a:rPr lang="en-US" sz="4499" spc="-107">
                <a:solidFill>
                  <a:srgbClr val="401252"/>
                </a:solidFill>
                <a:latin typeface="Arimo"/>
                <a:ea typeface="Arimo"/>
                <a:cs typeface="Arimo"/>
                <a:sym typeface="Arimo"/>
              </a:rPr>
              <a:t>aždého tvrzení uvedena jistotu důkazů.</a:t>
            </a:r>
          </a:p>
        </p:txBody>
      </p:sp>
      <p:grpSp>
        <p:nvGrpSpPr>
          <p:cNvPr name="Group 4" id="4"/>
          <p:cNvGrpSpPr/>
          <p:nvPr/>
        </p:nvGrpSpPr>
        <p:grpSpPr>
          <a:xfrm rot="0">
            <a:off x="1143000" y="5372100"/>
            <a:ext cx="16002000" cy="9525"/>
            <a:chOff x="0" y="0"/>
            <a:chExt cx="21336000" cy="12700"/>
          </a:xfrm>
        </p:grpSpPr>
        <p:sp>
          <p:nvSpPr>
            <p:cNvPr name="Freeform 5" id="5"/>
            <p:cNvSpPr/>
            <p:nvPr/>
          </p:nvSpPr>
          <p:spPr>
            <a:xfrm flipH="false" flipV="false" rot="0">
              <a:off x="0" y="0"/>
              <a:ext cx="21336000" cy="12700"/>
            </a:xfrm>
            <a:custGeom>
              <a:avLst/>
              <a:gdLst/>
              <a:ahLst/>
              <a:cxnLst/>
              <a:rect r="r" b="b" t="t" l="l"/>
              <a:pathLst>
                <a:path h="12700" w="21336000">
                  <a:moveTo>
                    <a:pt x="0" y="0"/>
                  </a:moveTo>
                  <a:lnTo>
                    <a:pt x="21336000" y="0"/>
                  </a:lnTo>
                  <a:lnTo>
                    <a:pt x="21336000" y="12700"/>
                  </a:lnTo>
                  <a:lnTo>
                    <a:pt x="0" y="12700"/>
                  </a:lnTo>
                  <a:close/>
                </a:path>
              </a:pathLst>
            </a:custGeom>
            <a:solidFill>
              <a:srgbClr val="CDB3DC"/>
            </a:solidFill>
          </p:spPr>
        </p:sp>
      </p:grpSp>
      <p:grpSp>
        <p:nvGrpSpPr>
          <p:cNvPr name="Group 6" id="6"/>
          <p:cNvGrpSpPr/>
          <p:nvPr/>
        </p:nvGrpSpPr>
        <p:grpSpPr>
          <a:xfrm rot="0">
            <a:off x="1143000" y="4476750"/>
            <a:ext cx="685800" cy="685800"/>
            <a:chOff x="0" y="0"/>
            <a:chExt cx="914400" cy="914400"/>
          </a:xfrm>
        </p:grpSpPr>
        <p:sp>
          <p:nvSpPr>
            <p:cNvPr name="Freeform 7" id="7"/>
            <p:cNvSpPr/>
            <p:nvPr/>
          </p:nvSpPr>
          <p:spPr>
            <a:xfrm flipH="false" flipV="false" rot="0">
              <a:off x="0" y="0"/>
              <a:ext cx="914400" cy="914400"/>
            </a:xfrm>
            <a:custGeom>
              <a:avLst/>
              <a:gdLst/>
              <a:ahLst/>
              <a:cxnLst/>
              <a:rect r="r" b="b" t="t" l="l"/>
              <a:pathLst>
                <a:path h="914400" w="914400">
                  <a:moveTo>
                    <a:pt x="0" y="177800"/>
                  </a:moveTo>
                  <a:cubicBezTo>
                    <a:pt x="0" y="79629"/>
                    <a:pt x="79629" y="0"/>
                    <a:pt x="177800" y="0"/>
                  </a:cubicBezTo>
                  <a:lnTo>
                    <a:pt x="736600" y="0"/>
                  </a:lnTo>
                  <a:cubicBezTo>
                    <a:pt x="834771" y="0"/>
                    <a:pt x="914400" y="79629"/>
                    <a:pt x="914400" y="177800"/>
                  </a:cubicBezTo>
                  <a:lnTo>
                    <a:pt x="914400" y="736600"/>
                  </a:lnTo>
                  <a:cubicBezTo>
                    <a:pt x="914400" y="834771"/>
                    <a:pt x="834771" y="914400"/>
                    <a:pt x="736600" y="914400"/>
                  </a:cubicBezTo>
                  <a:lnTo>
                    <a:pt x="177800" y="914400"/>
                  </a:lnTo>
                  <a:cubicBezTo>
                    <a:pt x="79629" y="914400"/>
                    <a:pt x="0" y="834771"/>
                    <a:pt x="0" y="736600"/>
                  </a:cubicBezTo>
                  <a:close/>
                </a:path>
              </a:pathLst>
            </a:custGeom>
            <a:solidFill>
              <a:srgbClr val="6D2A8C"/>
            </a:solidFill>
          </p:spPr>
        </p:sp>
      </p:grpSp>
      <p:grpSp>
        <p:nvGrpSpPr>
          <p:cNvPr name="Group 8" id="8"/>
          <p:cNvGrpSpPr/>
          <p:nvPr/>
        </p:nvGrpSpPr>
        <p:grpSpPr>
          <a:xfrm rot="0">
            <a:off x="1104900" y="4476750"/>
            <a:ext cx="762000" cy="723900"/>
            <a:chOff x="0" y="0"/>
            <a:chExt cx="1016000" cy="965200"/>
          </a:xfrm>
        </p:grpSpPr>
        <p:sp>
          <p:nvSpPr>
            <p:cNvPr name="Freeform 9" id="9"/>
            <p:cNvSpPr/>
            <p:nvPr/>
          </p:nvSpPr>
          <p:spPr>
            <a:xfrm flipH="false" flipV="false" rot="0">
              <a:off x="0" y="0"/>
              <a:ext cx="1016000" cy="965200"/>
            </a:xfrm>
            <a:custGeom>
              <a:avLst/>
              <a:gdLst/>
              <a:ahLst/>
              <a:cxnLst/>
              <a:rect r="r" b="b" t="t" l="l"/>
              <a:pathLst>
                <a:path h="965200" w="1016000">
                  <a:moveTo>
                    <a:pt x="0" y="0"/>
                  </a:moveTo>
                  <a:lnTo>
                    <a:pt x="1016000" y="0"/>
                  </a:lnTo>
                  <a:lnTo>
                    <a:pt x="1016000" y="965200"/>
                  </a:lnTo>
                  <a:lnTo>
                    <a:pt x="0" y="965200"/>
                  </a:lnTo>
                  <a:close/>
                </a:path>
              </a:pathLst>
            </a:custGeom>
            <a:blipFill>
              <a:blip r:embed="rId3">
                <a:alphaModFix amt="0"/>
              </a:blip>
              <a:stretch>
                <a:fillRect l="-71888" t="0" r="-71888" b="0"/>
              </a:stretch>
            </a:blipFill>
          </p:spPr>
        </p:sp>
        <p:sp>
          <p:nvSpPr>
            <p:cNvPr name="TextBox 10" id="10"/>
            <p:cNvSpPr txBox="true"/>
            <p:nvPr/>
          </p:nvSpPr>
          <p:spPr>
            <a:xfrm>
              <a:off x="0" y="-85725"/>
              <a:ext cx="1016000" cy="1050925"/>
            </a:xfrm>
            <a:prstGeom prst="rect">
              <a:avLst/>
            </a:prstGeom>
          </p:spPr>
          <p:txBody>
            <a:bodyPr anchor="ctr" rtlCol="false" tIns="0" lIns="0" bIns="0" rIns="0"/>
            <a:lstStyle/>
            <a:p>
              <a:pPr algn="ctr">
                <a:lnSpc>
                  <a:spcPts val="3830"/>
                </a:lnSpc>
              </a:pPr>
              <a:r>
                <a:rPr lang="en-US" sz="2550">
                  <a:solidFill>
                    <a:srgbClr val="FFFFFF"/>
                  </a:solidFill>
                  <a:latin typeface="Arimo"/>
                  <a:ea typeface="Arimo"/>
                  <a:cs typeface="Arimo"/>
                  <a:sym typeface="Arimo"/>
                </a:rPr>
                <a:t>A</a:t>
              </a:r>
            </a:p>
          </p:txBody>
        </p:sp>
      </p:grpSp>
      <p:sp>
        <p:nvSpPr>
          <p:cNvPr name="TextBox 11" id="11"/>
          <p:cNvSpPr txBox="true"/>
          <p:nvPr/>
        </p:nvSpPr>
        <p:spPr>
          <a:xfrm rot="0">
            <a:off x="2501903" y="4671670"/>
            <a:ext cx="1880085" cy="351172"/>
          </a:xfrm>
          <a:prstGeom prst="rect">
            <a:avLst/>
          </a:prstGeom>
        </p:spPr>
        <p:txBody>
          <a:bodyPr anchor="t" rtlCol="false" tIns="0" lIns="0" bIns="0" rIns="0">
            <a:spAutoFit/>
          </a:bodyPr>
          <a:lstStyle/>
          <a:p>
            <a:pPr algn="l">
              <a:lnSpc>
                <a:spcPts val="2664"/>
              </a:lnSpc>
            </a:pPr>
            <a:r>
              <a:rPr lang="en-US" sz="2400">
                <a:solidFill>
                  <a:srgbClr val="401252"/>
                </a:solidFill>
                <a:latin typeface="Arimo"/>
                <a:ea typeface="Arimo"/>
                <a:cs typeface="Arimo"/>
                <a:sym typeface="Arimo"/>
              </a:rPr>
              <a:t>Vysoká jistota</a:t>
            </a:r>
          </a:p>
        </p:txBody>
      </p:sp>
      <p:sp>
        <p:nvSpPr>
          <p:cNvPr name="TextBox 12" id="12"/>
          <p:cNvSpPr txBox="true"/>
          <p:nvPr/>
        </p:nvSpPr>
        <p:spPr>
          <a:xfrm rot="0">
            <a:off x="7302503" y="4604547"/>
            <a:ext cx="10803893" cy="351577"/>
          </a:xfrm>
          <a:prstGeom prst="rect">
            <a:avLst/>
          </a:prstGeom>
        </p:spPr>
        <p:txBody>
          <a:bodyPr anchor="t" rtlCol="false" tIns="0" lIns="0" bIns="0" rIns="0">
            <a:spAutoFit/>
          </a:bodyPr>
          <a:lstStyle/>
          <a:p>
            <a:pPr algn="l">
              <a:lnSpc>
                <a:spcPts val="2811"/>
              </a:lnSpc>
            </a:pPr>
            <a:r>
              <a:rPr lang="en-US" sz="2025">
                <a:solidFill>
                  <a:srgbClr val="6B4B7D"/>
                </a:solidFill>
                <a:latin typeface="Arimo"/>
                <a:ea typeface="Arimo"/>
                <a:cs typeface="Arimo"/>
                <a:sym typeface="Arimo"/>
              </a:rPr>
              <a:t>Kv</a:t>
            </a:r>
            <a:r>
              <a:rPr lang="en-US" sz="2025">
                <a:solidFill>
                  <a:srgbClr val="6B4B7D"/>
                </a:solidFill>
                <a:latin typeface="Arimo"/>
                <a:ea typeface="Arimo"/>
                <a:cs typeface="Arimo"/>
                <a:sym typeface="Arimo"/>
              </a:rPr>
              <a:t>alitní a konzistentní důkazy. </a:t>
            </a:r>
            <a:r>
              <a:rPr lang="en-US" sz="2025" b="true">
                <a:solidFill>
                  <a:srgbClr val="6B4B7D"/>
                </a:solidFill>
                <a:latin typeface="Arimo Bold"/>
                <a:ea typeface="Arimo Bold"/>
                <a:cs typeface="Arimo Bold"/>
                <a:sym typeface="Arimo Bold"/>
              </a:rPr>
              <a:t>Závěr je velmi spolehlivý.</a:t>
            </a:r>
          </a:p>
        </p:txBody>
      </p:sp>
      <p:grpSp>
        <p:nvGrpSpPr>
          <p:cNvPr name="Group 13" id="13"/>
          <p:cNvGrpSpPr/>
          <p:nvPr/>
        </p:nvGrpSpPr>
        <p:grpSpPr>
          <a:xfrm rot="0">
            <a:off x="1143000" y="6657975"/>
            <a:ext cx="16002000" cy="9525"/>
            <a:chOff x="0" y="0"/>
            <a:chExt cx="21336000" cy="12700"/>
          </a:xfrm>
        </p:grpSpPr>
        <p:sp>
          <p:nvSpPr>
            <p:cNvPr name="Freeform 14" id="14"/>
            <p:cNvSpPr/>
            <p:nvPr/>
          </p:nvSpPr>
          <p:spPr>
            <a:xfrm flipH="false" flipV="false" rot="0">
              <a:off x="0" y="0"/>
              <a:ext cx="21336000" cy="12700"/>
            </a:xfrm>
            <a:custGeom>
              <a:avLst/>
              <a:gdLst/>
              <a:ahLst/>
              <a:cxnLst/>
              <a:rect r="r" b="b" t="t" l="l"/>
              <a:pathLst>
                <a:path h="12700" w="21336000">
                  <a:moveTo>
                    <a:pt x="0" y="0"/>
                  </a:moveTo>
                  <a:lnTo>
                    <a:pt x="21336000" y="0"/>
                  </a:lnTo>
                  <a:lnTo>
                    <a:pt x="21336000" y="12700"/>
                  </a:lnTo>
                  <a:lnTo>
                    <a:pt x="0" y="12700"/>
                  </a:lnTo>
                  <a:close/>
                </a:path>
              </a:pathLst>
            </a:custGeom>
            <a:solidFill>
              <a:srgbClr val="CDB3DC"/>
            </a:solidFill>
          </p:spPr>
        </p:sp>
      </p:grpSp>
      <p:grpSp>
        <p:nvGrpSpPr>
          <p:cNvPr name="Group 15" id="15"/>
          <p:cNvGrpSpPr/>
          <p:nvPr/>
        </p:nvGrpSpPr>
        <p:grpSpPr>
          <a:xfrm rot="0">
            <a:off x="1133475" y="5753100"/>
            <a:ext cx="704850" cy="704850"/>
            <a:chOff x="0" y="0"/>
            <a:chExt cx="939800" cy="939800"/>
          </a:xfrm>
        </p:grpSpPr>
        <p:sp>
          <p:nvSpPr>
            <p:cNvPr name="Freeform 16" id="16"/>
            <p:cNvSpPr/>
            <p:nvPr/>
          </p:nvSpPr>
          <p:spPr>
            <a:xfrm flipH="false" flipV="false" rot="0">
              <a:off x="0" y="0"/>
              <a:ext cx="939800" cy="939800"/>
            </a:xfrm>
            <a:custGeom>
              <a:avLst/>
              <a:gdLst/>
              <a:ahLst/>
              <a:cxnLst/>
              <a:rect r="r" b="b" t="t" l="l"/>
              <a:pathLst>
                <a:path h="939800" w="939800">
                  <a:moveTo>
                    <a:pt x="0" y="182753"/>
                  </a:moveTo>
                  <a:cubicBezTo>
                    <a:pt x="0" y="81788"/>
                    <a:pt x="81788" y="0"/>
                    <a:pt x="182753" y="0"/>
                  </a:cubicBezTo>
                  <a:lnTo>
                    <a:pt x="757047" y="0"/>
                  </a:lnTo>
                  <a:cubicBezTo>
                    <a:pt x="858012" y="0"/>
                    <a:pt x="939800" y="81788"/>
                    <a:pt x="939800" y="182753"/>
                  </a:cubicBezTo>
                  <a:lnTo>
                    <a:pt x="939800" y="757047"/>
                  </a:lnTo>
                  <a:cubicBezTo>
                    <a:pt x="939800" y="858012"/>
                    <a:pt x="858012" y="939800"/>
                    <a:pt x="757047" y="939800"/>
                  </a:cubicBezTo>
                  <a:lnTo>
                    <a:pt x="182753" y="939800"/>
                  </a:lnTo>
                  <a:cubicBezTo>
                    <a:pt x="81788" y="939800"/>
                    <a:pt x="0" y="858012"/>
                    <a:pt x="0" y="757047"/>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17" id="17"/>
          <p:cNvGrpSpPr/>
          <p:nvPr/>
        </p:nvGrpSpPr>
        <p:grpSpPr>
          <a:xfrm rot="0">
            <a:off x="1123950" y="5781675"/>
            <a:ext cx="723900" cy="685800"/>
            <a:chOff x="0" y="0"/>
            <a:chExt cx="965200" cy="914400"/>
          </a:xfrm>
        </p:grpSpPr>
        <p:sp>
          <p:nvSpPr>
            <p:cNvPr name="Freeform 18" id="18"/>
            <p:cNvSpPr/>
            <p:nvPr/>
          </p:nvSpPr>
          <p:spPr>
            <a:xfrm flipH="false" flipV="false" rot="0">
              <a:off x="0" y="0"/>
              <a:ext cx="965200" cy="914400"/>
            </a:xfrm>
            <a:custGeom>
              <a:avLst/>
              <a:gdLst/>
              <a:ahLst/>
              <a:cxnLst/>
              <a:rect r="r" b="b" t="t" l="l"/>
              <a:pathLst>
                <a:path h="914400" w="965200">
                  <a:moveTo>
                    <a:pt x="0" y="0"/>
                  </a:moveTo>
                  <a:lnTo>
                    <a:pt x="965200" y="0"/>
                  </a:lnTo>
                  <a:lnTo>
                    <a:pt x="965200" y="914400"/>
                  </a:lnTo>
                  <a:lnTo>
                    <a:pt x="0" y="914400"/>
                  </a:lnTo>
                  <a:close/>
                </a:path>
              </a:pathLst>
            </a:custGeom>
            <a:blipFill>
              <a:blip r:embed="rId3">
                <a:alphaModFix amt="0"/>
              </a:blip>
              <a:stretch>
                <a:fillRect l="-71550" t="0" r="-71550" b="0"/>
              </a:stretch>
            </a:blipFill>
          </p:spPr>
        </p:sp>
        <p:sp>
          <p:nvSpPr>
            <p:cNvPr name="TextBox 19" id="19"/>
            <p:cNvSpPr txBox="true"/>
            <p:nvPr/>
          </p:nvSpPr>
          <p:spPr>
            <a:xfrm>
              <a:off x="0" y="-85725"/>
              <a:ext cx="965200" cy="1000125"/>
            </a:xfrm>
            <a:prstGeom prst="rect">
              <a:avLst/>
            </a:prstGeom>
          </p:spPr>
          <p:txBody>
            <a:bodyPr anchor="ctr" rtlCol="false" tIns="0" lIns="0" bIns="0" rIns="0"/>
            <a:lstStyle/>
            <a:p>
              <a:pPr algn="ctr">
                <a:lnSpc>
                  <a:spcPts val="3830"/>
                </a:lnSpc>
              </a:pPr>
              <a:r>
                <a:rPr lang="en-US" sz="2550">
                  <a:solidFill>
                    <a:srgbClr val="6D2A8C"/>
                  </a:solidFill>
                  <a:latin typeface="Arimo"/>
                  <a:ea typeface="Arimo"/>
                  <a:cs typeface="Arimo"/>
                  <a:sym typeface="Arimo"/>
                </a:rPr>
                <a:t>B</a:t>
              </a:r>
            </a:p>
          </p:txBody>
        </p:sp>
      </p:grpSp>
      <p:sp>
        <p:nvSpPr>
          <p:cNvPr name="TextBox 20" id="20"/>
          <p:cNvSpPr txBox="true"/>
          <p:nvPr/>
        </p:nvSpPr>
        <p:spPr>
          <a:xfrm rot="0">
            <a:off x="2501903" y="5957545"/>
            <a:ext cx="1863218" cy="351172"/>
          </a:xfrm>
          <a:prstGeom prst="rect">
            <a:avLst/>
          </a:prstGeom>
        </p:spPr>
        <p:txBody>
          <a:bodyPr anchor="t" rtlCol="false" tIns="0" lIns="0" bIns="0" rIns="0">
            <a:spAutoFit/>
          </a:bodyPr>
          <a:lstStyle/>
          <a:p>
            <a:pPr algn="l">
              <a:lnSpc>
                <a:spcPts val="2664"/>
              </a:lnSpc>
            </a:pPr>
            <a:r>
              <a:rPr lang="en-US" sz="2400">
                <a:solidFill>
                  <a:srgbClr val="401252"/>
                </a:solidFill>
                <a:latin typeface="Arimo"/>
                <a:ea typeface="Arimo"/>
                <a:cs typeface="Arimo"/>
                <a:sym typeface="Arimo"/>
              </a:rPr>
              <a:t>Střední jistota</a:t>
            </a:r>
          </a:p>
        </p:txBody>
      </p:sp>
      <p:sp>
        <p:nvSpPr>
          <p:cNvPr name="TextBox 21" id="21"/>
          <p:cNvSpPr txBox="true"/>
          <p:nvPr/>
        </p:nvSpPr>
        <p:spPr>
          <a:xfrm rot="0">
            <a:off x="7302503" y="5890422"/>
            <a:ext cx="10803893" cy="351577"/>
          </a:xfrm>
          <a:prstGeom prst="rect">
            <a:avLst/>
          </a:prstGeom>
        </p:spPr>
        <p:txBody>
          <a:bodyPr anchor="t" rtlCol="false" tIns="0" lIns="0" bIns="0" rIns="0">
            <a:spAutoFit/>
          </a:bodyPr>
          <a:lstStyle/>
          <a:p>
            <a:pPr algn="l">
              <a:lnSpc>
                <a:spcPts val="2811"/>
              </a:lnSpc>
            </a:pPr>
            <a:r>
              <a:rPr lang="en-US" sz="2025">
                <a:solidFill>
                  <a:srgbClr val="6B4B7D"/>
                </a:solidFill>
                <a:latin typeface="Arimo"/>
                <a:ea typeface="Arimo"/>
                <a:cs typeface="Arimo"/>
                <a:sym typeface="Arimo"/>
              </a:rPr>
              <a:t>Důka</a:t>
            </a:r>
            <a:r>
              <a:rPr lang="en-US" sz="2025">
                <a:solidFill>
                  <a:srgbClr val="6B4B7D"/>
                </a:solidFill>
                <a:latin typeface="Arimo"/>
                <a:ea typeface="Arimo"/>
                <a:cs typeface="Arimo"/>
                <a:sym typeface="Arimo"/>
              </a:rPr>
              <a:t>zy jsou přesvědčivé, ale mají určitá omezení. </a:t>
            </a:r>
            <a:r>
              <a:rPr lang="en-US" sz="2025" b="true">
                <a:solidFill>
                  <a:srgbClr val="6B4B7D"/>
                </a:solidFill>
                <a:latin typeface="Arimo Bold"/>
                <a:ea typeface="Arimo Bold"/>
                <a:cs typeface="Arimo Bold"/>
                <a:sym typeface="Arimo Bold"/>
              </a:rPr>
              <a:t>Závěr je pravděpodobný.</a:t>
            </a:r>
          </a:p>
        </p:txBody>
      </p:sp>
      <p:grpSp>
        <p:nvGrpSpPr>
          <p:cNvPr name="Group 22" id="22"/>
          <p:cNvGrpSpPr/>
          <p:nvPr/>
        </p:nvGrpSpPr>
        <p:grpSpPr>
          <a:xfrm rot="0">
            <a:off x="1143000" y="7943850"/>
            <a:ext cx="16002000" cy="9525"/>
            <a:chOff x="0" y="0"/>
            <a:chExt cx="21336000" cy="12700"/>
          </a:xfrm>
        </p:grpSpPr>
        <p:sp>
          <p:nvSpPr>
            <p:cNvPr name="Freeform 23" id="23"/>
            <p:cNvSpPr/>
            <p:nvPr/>
          </p:nvSpPr>
          <p:spPr>
            <a:xfrm flipH="false" flipV="false" rot="0">
              <a:off x="0" y="0"/>
              <a:ext cx="21336000" cy="12700"/>
            </a:xfrm>
            <a:custGeom>
              <a:avLst/>
              <a:gdLst/>
              <a:ahLst/>
              <a:cxnLst/>
              <a:rect r="r" b="b" t="t" l="l"/>
              <a:pathLst>
                <a:path h="12700" w="21336000">
                  <a:moveTo>
                    <a:pt x="0" y="0"/>
                  </a:moveTo>
                  <a:lnTo>
                    <a:pt x="21336000" y="0"/>
                  </a:lnTo>
                  <a:lnTo>
                    <a:pt x="21336000" y="12700"/>
                  </a:lnTo>
                  <a:lnTo>
                    <a:pt x="0" y="12700"/>
                  </a:lnTo>
                  <a:close/>
                </a:path>
              </a:pathLst>
            </a:custGeom>
            <a:solidFill>
              <a:srgbClr val="CDB3DC"/>
            </a:solidFill>
          </p:spPr>
        </p:sp>
      </p:grpSp>
      <p:grpSp>
        <p:nvGrpSpPr>
          <p:cNvPr name="Group 24" id="24"/>
          <p:cNvGrpSpPr/>
          <p:nvPr/>
        </p:nvGrpSpPr>
        <p:grpSpPr>
          <a:xfrm rot="0">
            <a:off x="1133475" y="7038975"/>
            <a:ext cx="704850" cy="704850"/>
            <a:chOff x="0" y="0"/>
            <a:chExt cx="939800" cy="939800"/>
          </a:xfrm>
        </p:grpSpPr>
        <p:sp>
          <p:nvSpPr>
            <p:cNvPr name="Freeform 25" id="25"/>
            <p:cNvSpPr/>
            <p:nvPr/>
          </p:nvSpPr>
          <p:spPr>
            <a:xfrm flipH="false" flipV="false" rot="0">
              <a:off x="0" y="0"/>
              <a:ext cx="939800" cy="939800"/>
            </a:xfrm>
            <a:custGeom>
              <a:avLst/>
              <a:gdLst/>
              <a:ahLst/>
              <a:cxnLst/>
              <a:rect r="r" b="b" t="t" l="l"/>
              <a:pathLst>
                <a:path h="939800" w="939800">
                  <a:moveTo>
                    <a:pt x="0" y="182753"/>
                  </a:moveTo>
                  <a:cubicBezTo>
                    <a:pt x="0" y="81788"/>
                    <a:pt x="81788" y="0"/>
                    <a:pt x="182753" y="0"/>
                  </a:cubicBezTo>
                  <a:lnTo>
                    <a:pt x="757047" y="0"/>
                  </a:lnTo>
                  <a:cubicBezTo>
                    <a:pt x="858012" y="0"/>
                    <a:pt x="939800" y="81788"/>
                    <a:pt x="939800" y="182753"/>
                  </a:cubicBezTo>
                  <a:lnTo>
                    <a:pt x="939800" y="757047"/>
                  </a:lnTo>
                  <a:cubicBezTo>
                    <a:pt x="939800" y="858012"/>
                    <a:pt x="858012" y="939800"/>
                    <a:pt x="757047" y="939800"/>
                  </a:cubicBezTo>
                  <a:lnTo>
                    <a:pt x="182753" y="939800"/>
                  </a:lnTo>
                  <a:cubicBezTo>
                    <a:pt x="81788" y="939800"/>
                    <a:pt x="0" y="858012"/>
                    <a:pt x="0" y="757047"/>
                  </a:cubicBezTo>
                  <a:close/>
                </a:path>
              </a:pathLst>
            </a:custGeom>
            <a:blipFill>
              <a:blip r:embed="rId3">
                <a:alphaModFix amt="0"/>
              </a:blip>
              <a:stretch>
                <a:fillRect l="-78303" t="0" r="-78303" b="0"/>
              </a:stretch>
            </a:blipFill>
            <a:ln w="19050" cap="sq">
              <a:solidFill>
                <a:srgbClr val="6B4B7D"/>
              </a:solidFill>
              <a:prstDash val="dash"/>
              <a:miter/>
            </a:ln>
          </p:spPr>
        </p:sp>
      </p:grpSp>
      <p:grpSp>
        <p:nvGrpSpPr>
          <p:cNvPr name="Group 26" id="26"/>
          <p:cNvGrpSpPr/>
          <p:nvPr/>
        </p:nvGrpSpPr>
        <p:grpSpPr>
          <a:xfrm rot="0">
            <a:off x="1123950" y="7067550"/>
            <a:ext cx="723900" cy="685800"/>
            <a:chOff x="0" y="0"/>
            <a:chExt cx="965200" cy="914400"/>
          </a:xfrm>
        </p:grpSpPr>
        <p:sp>
          <p:nvSpPr>
            <p:cNvPr name="Freeform 27" id="27"/>
            <p:cNvSpPr/>
            <p:nvPr/>
          </p:nvSpPr>
          <p:spPr>
            <a:xfrm flipH="false" flipV="false" rot="0">
              <a:off x="0" y="0"/>
              <a:ext cx="965200" cy="914400"/>
            </a:xfrm>
            <a:custGeom>
              <a:avLst/>
              <a:gdLst/>
              <a:ahLst/>
              <a:cxnLst/>
              <a:rect r="r" b="b" t="t" l="l"/>
              <a:pathLst>
                <a:path h="914400" w="965200">
                  <a:moveTo>
                    <a:pt x="0" y="0"/>
                  </a:moveTo>
                  <a:lnTo>
                    <a:pt x="965200" y="0"/>
                  </a:lnTo>
                  <a:lnTo>
                    <a:pt x="965200" y="914400"/>
                  </a:lnTo>
                  <a:lnTo>
                    <a:pt x="0" y="914400"/>
                  </a:lnTo>
                  <a:close/>
                </a:path>
              </a:pathLst>
            </a:custGeom>
            <a:blipFill>
              <a:blip r:embed="rId3">
                <a:alphaModFix amt="0"/>
              </a:blip>
              <a:stretch>
                <a:fillRect l="-71550" t="0" r="-71550" b="0"/>
              </a:stretch>
            </a:blipFill>
          </p:spPr>
        </p:sp>
        <p:sp>
          <p:nvSpPr>
            <p:cNvPr name="TextBox 28" id="28"/>
            <p:cNvSpPr txBox="true"/>
            <p:nvPr/>
          </p:nvSpPr>
          <p:spPr>
            <a:xfrm>
              <a:off x="0" y="-85725"/>
              <a:ext cx="965200" cy="1000125"/>
            </a:xfrm>
            <a:prstGeom prst="rect">
              <a:avLst/>
            </a:prstGeom>
          </p:spPr>
          <p:txBody>
            <a:bodyPr anchor="ctr" rtlCol="false" tIns="0" lIns="0" bIns="0" rIns="0"/>
            <a:lstStyle/>
            <a:p>
              <a:pPr algn="ctr">
                <a:lnSpc>
                  <a:spcPts val="3830"/>
                </a:lnSpc>
              </a:pPr>
              <a:r>
                <a:rPr lang="en-US" sz="2550">
                  <a:solidFill>
                    <a:srgbClr val="6B4B7D"/>
                  </a:solidFill>
                  <a:latin typeface="Arimo"/>
                  <a:ea typeface="Arimo"/>
                  <a:cs typeface="Arimo"/>
                  <a:sym typeface="Arimo"/>
                </a:rPr>
                <a:t>C</a:t>
              </a:r>
            </a:p>
          </p:txBody>
        </p:sp>
      </p:grpSp>
      <p:sp>
        <p:nvSpPr>
          <p:cNvPr name="TextBox 29" id="29"/>
          <p:cNvSpPr txBox="true"/>
          <p:nvPr/>
        </p:nvSpPr>
        <p:spPr>
          <a:xfrm rot="0">
            <a:off x="2501903" y="7243420"/>
            <a:ext cx="3437820" cy="351172"/>
          </a:xfrm>
          <a:prstGeom prst="rect">
            <a:avLst/>
          </a:prstGeom>
        </p:spPr>
        <p:txBody>
          <a:bodyPr anchor="t" rtlCol="false" tIns="0" lIns="0" bIns="0" rIns="0">
            <a:spAutoFit/>
          </a:bodyPr>
          <a:lstStyle/>
          <a:p>
            <a:pPr algn="l">
              <a:lnSpc>
                <a:spcPts val="2664"/>
              </a:lnSpc>
            </a:pPr>
            <a:r>
              <a:rPr lang="en-US" sz="2400">
                <a:solidFill>
                  <a:srgbClr val="6B4B7D"/>
                </a:solidFill>
                <a:latin typeface="Arimo"/>
                <a:ea typeface="Arimo"/>
                <a:cs typeface="Arimo"/>
                <a:sym typeface="Arimo"/>
              </a:rPr>
              <a:t>Nízká / velmi nízká jistota</a:t>
            </a:r>
          </a:p>
        </p:txBody>
      </p:sp>
      <p:sp>
        <p:nvSpPr>
          <p:cNvPr name="TextBox 30" id="30"/>
          <p:cNvSpPr txBox="true"/>
          <p:nvPr/>
        </p:nvSpPr>
        <p:spPr>
          <a:xfrm rot="0">
            <a:off x="7302503" y="7176297"/>
            <a:ext cx="10803893" cy="351577"/>
          </a:xfrm>
          <a:prstGeom prst="rect">
            <a:avLst/>
          </a:prstGeom>
        </p:spPr>
        <p:txBody>
          <a:bodyPr anchor="t" rtlCol="false" tIns="0" lIns="0" bIns="0" rIns="0">
            <a:spAutoFit/>
          </a:bodyPr>
          <a:lstStyle/>
          <a:p>
            <a:pPr algn="l">
              <a:lnSpc>
                <a:spcPts val="2811"/>
              </a:lnSpc>
            </a:pPr>
            <a:r>
              <a:rPr lang="en-US" sz="2025">
                <a:solidFill>
                  <a:srgbClr val="6B4B7D"/>
                </a:solidFill>
                <a:latin typeface="Arimo"/>
                <a:ea typeface="Arimo"/>
                <a:cs typeface="Arimo"/>
                <a:sym typeface="Arimo"/>
              </a:rPr>
              <a:t>Důk</a:t>
            </a:r>
            <a:r>
              <a:rPr lang="en-US" sz="2025">
                <a:solidFill>
                  <a:srgbClr val="6B4B7D"/>
                </a:solidFill>
                <a:latin typeface="Arimo"/>
                <a:ea typeface="Arimo"/>
                <a:cs typeface="Arimo"/>
                <a:sym typeface="Arimo"/>
              </a:rPr>
              <a:t>azy jsou omezené, nepřesné nebo nekonzistentní. </a:t>
            </a:r>
            <a:r>
              <a:rPr lang="en-US" sz="2025" b="true">
                <a:solidFill>
                  <a:srgbClr val="6B4B7D"/>
                </a:solidFill>
                <a:latin typeface="Arimo Bold"/>
                <a:ea typeface="Arimo Bold"/>
                <a:cs typeface="Arimo Bold"/>
                <a:sym typeface="Arimo Bold"/>
              </a:rPr>
              <a:t>Závěr zůstává nejistý.</a:t>
            </a:r>
          </a:p>
        </p:txBody>
      </p:sp>
      <p:grpSp>
        <p:nvGrpSpPr>
          <p:cNvPr name="Group 31" id="31"/>
          <p:cNvGrpSpPr/>
          <p:nvPr/>
        </p:nvGrpSpPr>
        <p:grpSpPr>
          <a:xfrm rot="0">
            <a:off x="1143000" y="8334375"/>
            <a:ext cx="685800" cy="685800"/>
            <a:chOff x="0" y="0"/>
            <a:chExt cx="914400" cy="914400"/>
          </a:xfrm>
        </p:grpSpPr>
        <p:sp>
          <p:nvSpPr>
            <p:cNvPr name="Freeform 32" id="32"/>
            <p:cNvSpPr/>
            <p:nvPr/>
          </p:nvSpPr>
          <p:spPr>
            <a:xfrm flipH="false" flipV="false" rot="0">
              <a:off x="0" y="0"/>
              <a:ext cx="914400" cy="914400"/>
            </a:xfrm>
            <a:custGeom>
              <a:avLst/>
              <a:gdLst/>
              <a:ahLst/>
              <a:cxnLst/>
              <a:rect r="r" b="b" t="t" l="l"/>
              <a:pathLst>
                <a:path h="914400" w="914400">
                  <a:moveTo>
                    <a:pt x="0" y="177800"/>
                  </a:moveTo>
                  <a:cubicBezTo>
                    <a:pt x="0" y="79629"/>
                    <a:pt x="79629" y="0"/>
                    <a:pt x="177800" y="0"/>
                  </a:cubicBezTo>
                  <a:lnTo>
                    <a:pt x="736600" y="0"/>
                  </a:lnTo>
                  <a:cubicBezTo>
                    <a:pt x="834771" y="0"/>
                    <a:pt x="914400" y="79629"/>
                    <a:pt x="914400" y="177800"/>
                  </a:cubicBezTo>
                  <a:lnTo>
                    <a:pt x="914400" y="736600"/>
                  </a:lnTo>
                  <a:cubicBezTo>
                    <a:pt x="914400" y="834771"/>
                    <a:pt x="834771" y="914400"/>
                    <a:pt x="736600" y="914400"/>
                  </a:cubicBezTo>
                  <a:lnTo>
                    <a:pt x="177800" y="914400"/>
                  </a:lnTo>
                  <a:cubicBezTo>
                    <a:pt x="79629" y="914400"/>
                    <a:pt x="0" y="834771"/>
                    <a:pt x="0" y="736600"/>
                  </a:cubicBezTo>
                  <a:close/>
                </a:path>
              </a:pathLst>
            </a:custGeom>
            <a:solidFill>
              <a:srgbClr val="F4ECFA"/>
            </a:solidFill>
          </p:spPr>
        </p:sp>
      </p:grpSp>
      <p:grpSp>
        <p:nvGrpSpPr>
          <p:cNvPr name="Group 33" id="33"/>
          <p:cNvGrpSpPr/>
          <p:nvPr/>
        </p:nvGrpSpPr>
        <p:grpSpPr>
          <a:xfrm rot="0">
            <a:off x="1104900" y="8334375"/>
            <a:ext cx="762000" cy="723900"/>
            <a:chOff x="0" y="0"/>
            <a:chExt cx="1016000" cy="965200"/>
          </a:xfrm>
        </p:grpSpPr>
        <p:sp>
          <p:nvSpPr>
            <p:cNvPr name="Freeform 34" id="34"/>
            <p:cNvSpPr/>
            <p:nvPr/>
          </p:nvSpPr>
          <p:spPr>
            <a:xfrm flipH="false" flipV="false" rot="0">
              <a:off x="0" y="0"/>
              <a:ext cx="1016000" cy="965200"/>
            </a:xfrm>
            <a:custGeom>
              <a:avLst/>
              <a:gdLst/>
              <a:ahLst/>
              <a:cxnLst/>
              <a:rect r="r" b="b" t="t" l="l"/>
              <a:pathLst>
                <a:path h="965200" w="1016000">
                  <a:moveTo>
                    <a:pt x="0" y="0"/>
                  </a:moveTo>
                  <a:lnTo>
                    <a:pt x="1016000" y="0"/>
                  </a:lnTo>
                  <a:lnTo>
                    <a:pt x="1016000" y="965200"/>
                  </a:lnTo>
                  <a:lnTo>
                    <a:pt x="0" y="965200"/>
                  </a:lnTo>
                  <a:close/>
                </a:path>
              </a:pathLst>
            </a:custGeom>
            <a:blipFill>
              <a:blip r:embed="rId3">
                <a:alphaModFix amt="0"/>
              </a:blip>
              <a:stretch>
                <a:fillRect l="-71888" t="0" r="-71888" b="0"/>
              </a:stretch>
            </a:blipFill>
          </p:spPr>
        </p:sp>
        <p:sp>
          <p:nvSpPr>
            <p:cNvPr name="TextBox 35" id="35"/>
            <p:cNvSpPr txBox="true"/>
            <p:nvPr/>
          </p:nvSpPr>
          <p:spPr>
            <a:xfrm>
              <a:off x="0" y="-85725"/>
              <a:ext cx="1016000" cy="1050925"/>
            </a:xfrm>
            <a:prstGeom prst="rect">
              <a:avLst/>
            </a:prstGeom>
          </p:spPr>
          <p:txBody>
            <a:bodyPr anchor="ctr" rtlCol="false" tIns="0" lIns="0" bIns="0" rIns="0"/>
            <a:lstStyle/>
            <a:p>
              <a:pPr algn="ctr">
                <a:lnSpc>
                  <a:spcPts val="3830"/>
                </a:lnSpc>
              </a:pPr>
              <a:r>
                <a:rPr lang="en-US" sz="2550">
                  <a:solidFill>
                    <a:srgbClr val="401252"/>
                  </a:solidFill>
                  <a:latin typeface="Arimo"/>
                  <a:ea typeface="Arimo"/>
                  <a:cs typeface="Arimo"/>
                  <a:sym typeface="Arimo"/>
                </a:rPr>
                <a:t>P</a:t>
              </a:r>
            </a:p>
          </p:txBody>
        </p:sp>
      </p:grpSp>
      <p:sp>
        <p:nvSpPr>
          <p:cNvPr name="TextBox 36" id="36"/>
          <p:cNvSpPr txBox="true"/>
          <p:nvPr/>
        </p:nvSpPr>
        <p:spPr>
          <a:xfrm rot="0">
            <a:off x="2501903" y="8529295"/>
            <a:ext cx="4768853" cy="343519"/>
          </a:xfrm>
          <a:prstGeom prst="rect">
            <a:avLst/>
          </a:prstGeom>
        </p:spPr>
        <p:txBody>
          <a:bodyPr anchor="t" rtlCol="false" tIns="0" lIns="0" bIns="0" rIns="0">
            <a:spAutoFit/>
          </a:bodyPr>
          <a:lstStyle/>
          <a:p>
            <a:pPr algn="l">
              <a:lnSpc>
                <a:spcPts val="2664"/>
              </a:lnSpc>
            </a:pPr>
            <a:r>
              <a:rPr lang="en-US" sz="2400" i="true">
                <a:solidFill>
                  <a:srgbClr val="401252"/>
                </a:solidFill>
                <a:latin typeface="Arimo Italics"/>
                <a:ea typeface="Arimo Italics"/>
                <a:cs typeface="Arimo Italics"/>
                <a:sym typeface="Arimo Italics"/>
              </a:rPr>
              <a:t>Praktický nástroj</a:t>
            </a:r>
          </a:p>
        </p:txBody>
      </p:sp>
      <p:sp>
        <p:nvSpPr>
          <p:cNvPr name="TextBox 37" id="37"/>
          <p:cNvSpPr txBox="true"/>
          <p:nvPr/>
        </p:nvSpPr>
        <p:spPr>
          <a:xfrm rot="0">
            <a:off x="7302503" y="8462172"/>
            <a:ext cx="10803893" cy="351577"/>
          </a:xfrm>
          <a:prstGeom prst="rect">
            <a:avLst/>
          </a:prstGeom>
        </p:spPr>
        <p:txBody>
          <a:bodyPr anchor="t" rtlCol="false" tIns="0" lIns="0" bIns="0" rIns="0">
            <a:spAutoFit/>
          </a:bodyPr>
          <a:lstStyle/>
          <a:p>
            <a:pPr algn="l">
              <a:lnSpc>
                <a:spcPts val="2811"/>
              </a:lnSpc>
            </a:pPr>
            <a:r>
              <a:rPr lang="en-US" sz="2025">
                <a:solidFill>
                  <a:srgbClr val="6B4B7D"/>
                </a:solidFill>
                <a:latin typeface="Arimo"/>
                <a:ea typeface="Arimo"/>
                <a:cs typeface="Arimo"/>
                <a:sym typeface="Arimo"/>
              </a:rPr>
              <a:t>P</a:t>
            </a:r>
            <a:r>
              <a:rPr lang="en-US" sz="2025">
                <a:solidFill>
                  <a:srgbClr val="6B4B7D"/>
                </a:solidFill>
                <a:latin typeface="Arimo"/>
                <a:ea typeface="Arimo"/>
                <a:cs typeface="Arimo"/>
                <a:sym typeface="Arimo"/>
              </a:rPr>
              <a:t>omůcka pro zavedení doporučení do praxe. </a:t>
            </a:r>
            <a:r>
              <a:rPr lang="en-US" sz="2025" i="true">
                <a:solidFill>
                  <a:srgbClr val="6B4B7D"/>
                </a:solidFill>
                <a:latin typeface="Arimo Italics"/>
                <a:ea typeface="Arimo Italics"/>
                <a:cs typeface="Arimo Italics"/>
                <a:sym typeface="Arimo Italics"/>
              </a:rPr>
              <a:t>Nejde o hodnocení důkazů.</a:t>
            </a:r>
          </a:p>
        </p:txBody>
      </p:sp>
      <p:sp>
        <p:nvSpPr>
          <p:cNvPr name="TextBox 38" id="38"/>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9276386" cy="10287000"/>
            <a:chOff x="0" y="0"/>
            <a:chExt cx="27875346" cy="14875905"/>
          </a:xfrm>
        </p:grpSpPr>
        <p:sp>
          <p:nvSpPr>
            <p:cNvPr name="Freeform 3" id="3"/>
            <p:cNvSpPr/>
            <p:nvPr/>
          </p:nvSpPr>
          <p:spPr>
            <a:xfrm flipH="true" flipV="false" rot="0">
              <a:off x="0" y="0"/>
              <a:ext cx="27875347" cy="14875904"/>
            </a:xfrm>
            <a:custGeom>
              <a:avLst/>
              <a:gdLst/>
              <a:ahLst/>
              <a:cxnLst/>
              <a:rect r="r" b="b" t="t" l="l"/>
              <a:pathLst>
                <a:path h="14875904" w="27875347">
                  <a:moveTo>
                    <a:pt x="27875347" y="0"/>
                  </a:moveTo>
                  <a:lnTo>
                    <a:pt x="0" y="0"/>
                  </a:lnTo>
                  <a:lnTo>
                    <a:pt x="0" y="14875904"/>
                  </a:lnTo>
                  <a:lnTo>
                    <a:pt x="27875347" y="14875904"/>
                  </a:lnTo>
                  <a:lnTo>
                    <a:pt x="27875347" y="0"/>
                  </a:lnTo>
                  <a:close/>
                </a:path>
              </a:pathLst>
            </a:custGeom>
            <a:blipFill>
              <a:blip r:embed="rId3"/>
              <a:stretch>
                <a:fillRect l="0" t="-17458" r="0" b="-17458"/>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401252">
                    <a:alpha val="97000"/>
                  </a:srgbClr>
                </a:gs>
                <a:gs pos="48000">
                  <a:srgbClr val="401252">
                    <a:alpha val="91000"/>
                  </a:srgbClr>
                </a:gs>
                <a:gs pos="80000">
                  <a:srgbClr val="401252">
                    <a:alpha val="42000"/>
                  </a:srgbClr>
                </a:gs>
                <a:gs pos="100000">
                  <a:srgbClr val="401252">
                    <a:alpha val="14000"/>
                  </a:srgbClr>
                </a:gs>
              </a:gsLst>
              <a:lin ang="0"/>
            </a:gradFill>
          </p:spPr>
        </p:sp>
      </p:grpSp>
      <p:sp>
        <p:nvSpPr>
          <p:cNvPr name="TextBox 6" id="6"/>
          <p:cNvSpPr txBox="true"/>
          <p:nvPr/>
        </p:nvSpPr>
        <p:spPr>
          <a:xfrm rot="0">
            <a:off x="1168403" y="1292228"/>
            <a:ext cx="8583236" cy="317979"/>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ČÁST PRVNÍ · FYZIOLOGIE PŘECHODU</a:t>
            </a:r>
          </a:p>
        </p:txBody>
      </p:sp>
      <p:sp>
        <p:nvSpPr>
          <p:cNvPr name="TextBox 7" id="7"/>
          <p:cNvSpPr txBox="true"/>
          <p:nvPr/>
        </p:nvSpPr>
        <p:spPr>
          <a:xfrm rot="0">
            <a:off x="1168403" y="5057499"/>
            <a:ext cx="10418851" cy="1024187"/>
          </a:xfrm>
          <a:prstGeom prst="rect">
            <a:avLst/>
          </a:prstGeom>
        </p:spPr>
        <p:txBody>
          <a:bodyPr anchor="t" rtlCol="false" tIns="0" lIns="0" bIns="0" rIns="0">
            <a:spAutoFit/>
          </a:bodyPr>
          <a:lstStyle/>
          <a:p>
            <a:pPr algn="l">
              <a:lnSpc>
                <a:spcPts val="7490"/>
              </a:lnSpc>
            </a:pPr>
            <a:r>
              <a:rPr lang="en-US" sz="7650" spc="-214">
                <a:solidFill>
                  <a:srgbClr val="FFFFFF"/>
                </a:solidFill>
                <a:latin typeface="Arimo"/>
                <a:ea typeface="Arimo"/>
                <a:cs typeface="Arimo"/>
                <a:sym typeface="Arimo"/>
              </a:rPr>
              <a:t>Co se vlastně v těle děje?</a:t>
            </a:r>
          </a:p>
        </p:txBody>
      </p:sp>
      <p:sp>
        <p:nvSpPr>
          <p:cNvPr name="TextBox 8" id="8"/>
          <p:cNvSpPr txBox="true"/>
          <p:nvPr/>
        </p:nvSpPr>
        <p:spPr>
          <a:xfrm rot="0">
            <a:off x="1168403" y="6325448"/>
            <a:ext cx="11722103" cy="874293"/>
          </a:xfrm>
          <a:prstGeom prst="rect">
            <a:avLst/>
          </a:prstGeom>
        </p:spPr>
        <p:txBody>
          <a:bodyPr anchor="t" rtlCol="false" tIns="0" lIns="0" bIns="0" rIns="0">
            <a:spAutoFit/>
          </a:bodyPr>
          <a:lstStyle/>
          <a:p>
            <a:pPr algn="l">
              <a:lnSpc>
                <a:spcPts val="3450"/>
              </a:lnSpc>
            </a:pPr>
            <a:r>
              <a:rPr lang="en-US" sz="2550" b="true">
                <a:solidFill>
                  <a:srgbClr val="C9AEDA"/>
                </a:solidFill>
                <a:latin typeface="Arimo Bold"/>
                <a:ea typeface="Arimo Bold"/>
                <a:cs typeface="Arimo Bold"/>
                <a:sym typeface="Arimo Bold"/>
              </a:rPr>
              <a:t>Bi</a:t>
            </a:r>
            <a:r>
              <a:rPr lang="en-US" sz="2550" b="true">
                <a:solidFill>
                  <a:srgbClr val="C9AEDA"/>
                </a:solidFill>
                <a:latin typeface="Arimo Bold"/>
                <a:ea typeface="Arimo Bold"/>
                <a:cs typeface="Arimo Bold"/>
                <a:sym typeface="Arimo Bold"/>
              </a:rPr>
              <a:t>ologické změny jsou reálné. </a:t>
            </a:r>
          </a:p>
          <a:p>
            <a:pPr algn="l">
              <a:lnSpc>
                <a:spcPts val="3452"/>
              </a:lnSpc>
            </a:pPr>
            <a:r>
              <a:rPr lang="en-US" sz="2550">
                <a:solidFill>
                  <a:srgbClr val="C9AEDA"/>
                </a:solidFill>
                <a:latin typeface="Arimo"/>
                <a:ea typeface="Arimo"/>
                <a:cs typeface="Arimo"/>
                <a:sym typeface="Arimo"/>
              </a:rPr>
              <a:t>Střední věk je ale zároveň obdobím, kdy lze ovlivnit další trajektorii zdraví.</a:t>
            </a:r>
          </a:p>
        </p:txBody>
      </p:sp>
      <p:sp>
        <p:nvSpPr>
          <p:cNvPr name="TextBox 9" id="9"/>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05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4815065" cy="317951"/>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STAGING STRAW+10</a:t>
            </a:r>
          </a:p>
        </p:txBody>
      </p:sp>
      <p:sp>
        <p:nvSpPr>
          <p:cNvPr name="TextBox 3" id="3"/>
          <p:cNvSpPr txBox="true"/>
          <p:nvPr/>
        </p:nvSpPr>
        <p:spPr>
          <a:xfrm rot="0">
            <a:off x="1111253" y="1858023"/>
            <a:ext cx="13684253" cy="1487940"/>
          </a:xfrm>
          <a:prstGeom prst="rect">
            <a:avLst/>
          </a:prstGeom>
        </p:spPr>
        <p:txBody>
          <a:bodyPr anchor="t" rtlCol="false" tIns="0" lIns="0" bIns="0" rIns="0">
            <a:spAutoFit/>
          </a:bodyPr>
          <a:lstStyle/>
          <a:p>
            <a:pPr algn="l">
              <a:lnSpc>
                <a:spcPts val="5666"/>
              </a:lnSpc>
            </a:pPr>
            <a:r>
              <a:rPr lang="en-US" sz="5550" spc="-127">
                <a:solidFill>
                  <a:srgbClr val="401252"/>
                </a:solidFill>
                <a:latin typeface="Arimo"/>
                <a:ea typeface="Arimo"/>
                <a:cs typeface="Arimo"/>
                <a:sym typeface="Arimo"/>
              </a:rPr>
              <a:t>Menopauza je konkrétní bod v čase. </a:t>
            </a:r>
          </a:p>
          <a:p>
            <a:pPr algn="l">
              <a:lnSpc>
                <a:spcPts val="5668"/>
              </a:lnSpc>
            </a:pPr>
            <a:r>
              <a:rPr lang="en-US" sz="5550" spc="-133">
                <a:solidFill>
                  <a:srgbClr val="401252"/>
                </a:solidFill>
                <a:latin typeface="Arimo"/>
                <a:ea typeface="Arimo"/>
                <a:cs typeface="Arimo"/>
                <a:sym typeface="Arimo"/>
              </a:rPr>
              <a:t>Přechod trvá několik let.</a:t>
            </a:r>
          </a:p>
        </p:txBody>
      </p:sp>
      <p:grpSp>
        <p:nvGrpSpPr>
          <p:cNvPr name="Group 4" id="4"/>
          <p:cNvGrpSpPr/>
          <p:nvPr/>
        </p:nvGrpSpPr>
        <p:grpSpPr>
          <a:xfrm rot="0">
            <a:off x="14239875" y="123155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26012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STAGING PODLE KLINICKÝCH KRITÉRIÍ</a:t>
            </a:r>
          </a:p>
        </p:txBody>
      </p:sp>
      <p:grpSp>
        <p:nvGrpSpPr>
          <p:cNvPr name="Group 10" id="10"/>
          <p:cNvGrpSpPr/>
          <p:nvPr/>
        </p:nvGrpSpPr>
        <p:grpSpPr>
          <a:xfrm rot="0">
            <a:off x="1143000" y="5991225"/>
            <a:ext cx="4101551" cy="762000"/>
            <a:chOff x="0" y="0"/>
            <a:chExt cx="5468734" cy="1016000"/>
          </a:xfrm>
        </p:grpSpPr>
        <p:sp>
          <p:nvSpPr>
            <p:cNvPr name="Freeform 11" id="11"/>
            <p:cNvSpPr/>
            <p:nvPr/>
          </p:nvSpPr>
          <p:spPr>
            <a:xfrm flipH="false" flipV="false" rot="0">
              <a:off x="0" y="0"/>
              <a:ext cx="5468747" cy="1016000"/>
            </a:xfrm>
            <a:custGeom>
              <a:avLst/>
              <a:gdLst/>
              <a:ahLst/>
              <a:cxnLst/>
              <a:rect r="r" b="b" t="t" l="l"/>
              <a:pathLst>
                <a:path h="1016000" w="5468747">
                  <a:moveTo>
                    <a:pt x="0" y="76200"/>
                  </a:moveTo>
                  <a:cubicBezTo>
                    <a:pt x="0" y="34163"/>
                    <a:pt x="34163" y="0"/>
                    <a:pt x="76200" y="0"/>
                  </a:cubicBezTo>
                  <a:lnTo>
                    <a:pt x="5392547" y="0"/>
                  </a:lnTo>
                  <a:cubicBezTo>
                    <a:pt x="5434584" y="0"/>
                    <a:pt x="5468747" y="34163"/>
                    <a:pt x="5468747" y="76200"/>
                  </a:cubicBezTo>
                  <a:lnTo>
                    <a:pt x="5468747" y="939800"/>
                  </a:lnTo>
                  <a:cubicBezTo>
                    <a:pt x="5468747" y="981837"/>
                    <a:pt x="5434584" y="1016000"/>
                    <a:pt x="5392547" y="1016000"/>
                  </a:cubicBezTo>
                  <a:lnTo>
                    <a:pt x="76200" y="1016000"/>
                  </a:lnTo>
                  <a:cubicBezTo>
                    <a:pt x="34163" y="1016000"/>
                    <a:pt x="0" y="981837"/>
                    <a:pt x="0" y="939800"/>
                  </a:cubicBezTo>
                  <a:close/>
                </a:path>
              </a:pathLst>
            </a:custGeom>
            <a:solidFill>
              <a:srgbClr val="6C2C8B">
                <a:alpha val="5882"/>
              </a:srgbClr>
            </a:solidFill>
          </p:spPr>
        </p:sp>
      </p:grpSp>
      <p:sp>
        <p:nvSpPr>
          <p:cNvPr name="TextBox 12" id="12"/>
          <p:cNvSpPr txBox="true"/>
          <p:nvPr/>
        </p:nvSpPr>
        <p:spPr>
          <a:xfrm rot="0">
            <a:off x="1416053" y="6178477"/>
            <a:ext cx="2822134" cy="289973"/>
          </a:xfrm>
          <a:prstGeom prst="rect">
            <a:avLst/>
          </a:prstGeom>
        </p:spPr>
        <p:txBody>
          <a:bodyPr anchor="t" rtlCol="false" tIns="0" lIns="0" bIns="0" rIns="0">
            <a:spAutoFit/>
          </a:bodyPr>
          <a:lstStyle/>
          <a:p>
            <a:pPr algn="l">
              <a:lnSpc>
                <a:spcPts val="2381"/>
              </a:lnSpc>
            </a:pPr>
            <a:r>
              <a:rPr lang="en-US" sz="1575" spc="205">
                <a:solidFill>
                  <a:srgbClr val="401252"/>
                </a:solidFill>
                <a:latin typeface="Arimo"/>
                <a:ea typeface="Arimo"/>
                <a:cs typeface="Arimo"/>
                <a:sym typeface="Arimo"/>
              </a:rPr>
              <a:t>POZDNÍ REPRO</a:t>
            </a:r>
          </a:p>
        </p:txBody>
      </p:sp>
      <p:grpSp>
        <p:nvGrpSpPr>
          <p:cNvPr name="Group 13" id="13"/>
          <p:cNvGrpSpPr/>
          <p:nvPr/>
        </p:nvGrpSpPr>
        <p:grpSpPr>
          <a:xfrm rot="0">
            <a:off x="5320751" y="5762625"/>
            <a:ext cx="2682183" cy="990600"/>
            <a:chOff x="0" y="0"/>
            <a:chExt cx="3576244" cy="1320800"/>
          </a:xfrm>
        </p:grpSpPr>
        <p:sp>
          <p:nvSpPr>
            <p:cNvPr name="Freeform 14" id="14"/>
            <p:cNvSpPr/>
            <p:nvPr/>
          </p:nvSpPr>
          <p:spPr>
            <a:xfrm flipH="false" flipV="false" rot="0">
              <a:off x="0" y="0"/>
              <a:ext cx="3576193" cy="1320800"/>
            </a:xfrm>
            <a:custGeom>
              <a:avLst/>
              <a:gdLst/>
              <a:ahLst/>
              <a:cxnLst/>
              <a:rect r="r" b="b" t="t" l="l"/>
              <a:pathLst>
                <a:path h="1320800" w="3576193">
                  <a:moveTo>
                    <a:pt x="0" y="76200"/>
                  </a:moveTo>
                  <a:cubicBezTo>
                    <a:pt x="0" y="34163"/>
                    <a:pt x="34163" y="0"/>
                    <a:pt x="76200" y="0"/>
                  </a:cubicBezTo>
                  <a:lnTo>
                    <a:pt x="3499993" y="0"/>
                  </a:lnTo>
                  <a:cubicBezTo>
                    <a:pt x="3542030" y="0"/>
                    <a:pt x="3576193" y="34163"/>
                    <a:pt x="3576193" y="76200"/>
                  </a:cubicBezTo>
                  <a:lnTo>
                    <a:pt x="3576193" y="1244600"/>
                  </a:lnTo>
                  <a:cubicBezTo>
                    <a:pt x="3576193" y="1286637"/>
                    <a:pt x="3542030" y="1320800"/>
                    <a:pt x="3499993" y="1320800"/>
                  </a:cubicBezTo>
                  <a:lnTo>
                    <a:pt x="76200" y="1320800"/>
                  </a:lnTo>
                  <a:cubicBezTo>
                    <a:pt x="34163" y="1320800"/>
                    <a:pt x="0" y="1286637"/>
                    <a:pt x="0" y="1244600"/>
                  </a:cubicBezTo>
                  <a:close/>
                </a:path>
              </a:pathLst>
            </a:custGeom>
            <a:solidFill>
              <a:srgbClr val="6E2A8B">
                <a:alpha val="24706"/>
              </a:srgbClr>
            </a:solidFill>
          </p:spPr>
        </p:sp>
      </p:grpSp>
      <p:sp>
        <p:nvSpPr>
          <p:cNvPr name="TextBox 15" id="15"/>
          <p:cNvSpPr txBox="true"/>
          <p:nvPr/>
        </p:nvSpPr>
        <p:spPr>
          <a:xfrm rot="0">
            <a:off x="5536654" y="6071845"/>
            <a:ext cx="1416053" cy="353044"/>
          </a:xfrm>
          <a:prstGeom prst="rect">
            <a:avLst/>
          </a:prstGeom>
        </p:spPr>
        <p:txBody>
          <a:bodyPr anchor="t" rtlCol="false" tIns="0" lIns="0" bIns="0" rIns="0">
            <a:spAutoFit/>
          </a:bodyPr>
          <a:lstStyle/>
          <a:p>
            <a:pPr algn="l">
              <a:lnSpc>
                <a:spcPts val="2243"/>
              </a:lnSpc>
            </a:pPr>
            <a:r>
              <a:rPr lang="en-US" sz="1500" spc="195">
                <a:solidFill>
                  <a:srgbClr val="401252"/>
                </a:solidFill>
                <a:latin typeface="Arimo"/>
                <a:ea typeface="Arimo"/>
                <a:cs typeface="Arimo"/>
                <a:sym typeface="Arimo"/>
              </a:rPr>
              <a:t>ČASNÁ PERI</a:t>
            </a:r>
          </a:p>
        </p:txBody>
      </p:sp>
      <p:grpSp>
        <p:nvGrpSpPr>
          <p:cNvPr name="Group 16" id="16"/>
          <p:cNvGrpSpPr/>
          <p:nvPr/>
        </p:nvGrpSpPr>
        <p:grpSpPr>
          <a:xfrm rot="0">
            <a:off x="8079134" y="5572125"/>
            <a:ext cx="1735931" cy="1181100"/>
            <a:chOff x="0" y="0"/>
            <a:chExt cx="2314575" cy="1574800"/>
          </a:xfrm>
        </p:grpSpPr>
        <p:sp>
          <p:nvSpPr>
            <p:cNvPr name="Freeform 17" id="17"/>
            <p:cNvSpPr/>
            <p:nvPr/>
          </p:nvSpPr>
          <p:spPr>
            <a:xfrm flipH="false" flipV="false" rot="0">
              <a:off x="0" y="0"/>
              <a:ext cx="2314575" cy="1574800"/>
            </a:xfrm>
            <a:custGeom>
              <a:avLst/>
              <a:gdLst/>
              <a:ahLst/>
              <a:cxnLst/>
              <a:rect r="r" b="b" t="t" l="l"/>
              <a:pathLst>
                <a:path h="1574800" w="2314575">
                  <a:moveTo>
                    <a:pt x="0" y="76200"/>
                  </a:moveTo>
                  <a:cubicBezTo>
                    <a:pt x="0" y="34163"/>
                    <a:pt x="34163" y="0"/>
                    <a:pt x="76200" y="0"/>
                  </a:cubicBezTo>
                  <a:lnTo>
                    <a:pt x="2238375" y="0"/>
                  </a:lnTo>
                  <a:cubicBezTo>
                    <a:pt x="2280412" y="0"/>
                    <a:pt x="2314575" y="34163"/>
                    <a:pt x="2314575" y="76200"/>
                  </a:cubicBezTo>
                  <a:lnTo>
                    <a:pt x="2314575" y="1498600"/>
                  </a:lnTo>
                  <a:cubicBezTo>
                    <a:pt x="2314575" y="1540637"/>
                    <a:pt x="2280412" y="1574800"/>
                    <a:pt x="2238375" y="1574800"/>
                  </a:cubicBezTo>
                  <a:lnTo>
                    <a:pt x="76200" y="1574800"/>
                  </a:lnTo>
                  <a:cubicBezTo>
                    <a:pt x="34163" y="1574800"/>
                    <a:pt x="0" y="1540637"/>
                    <a:pt x="0" y="1498600"/>
                  </a:cubicBezTo>
                  <a:close/>
                </a:path>
              </a:pathLst>
            </a:custGeom>
            <a:solidFill>
              <a:srgbClr val="6D2A8C"/>
            </a:solidFill>
          </p:spPr>
        </p:sp>
      </p:grpSp>
      <p:sp>
        <p:nvSpPr>
          <p:cNvPr name="TextBox 18" id="18"/>
          <p:cNvSpPr txBox="true"/>
          <p:nvPr/>
        </p:nvSpPr>
        <p:spPr>
          <a:xfrm rot="0">
            <a:off x="8517160" y="5940428"/>
            <a:ext cx="859803" cy="456423"/>
          </a:xfrm>
          <a:prstGeom prst="rect">
            <a:avLst/>
          </a:prstGeom>
        </p:spPr>
        <p:txBody>
          <a:bodyPr anchor="t" rtlCol="false" tIns="0" lIns="0" bIns="0" rIns="0">
            <a:spAutoFit/>
          </a:bodyPr>
          <a:lstStyle/>
          <a:p>
            <a:pPr algn="ctr">
              <a:lnSpc>
                <a:spcPts val="1730"/>
              </a:lnSpc>
            </a:pPr>
            <a:r>
              <a:rPr lang="en-US" sz="1500" spc="195">
                <a:solidFill>
                  <a:srgbClr val="FFFFFF"/>
                </a:solidFill>
                <a:latin typeface="Arimo"/>
                <a:ea typeface="Arimo"/>
                <a:cs typeface="Arimo"/>
                <a:sym typeface="Arimo"/>
              </a:rPr>
              <a:t>POZDÍ PERI</a:t>
            </a:r>
          </a:p>
        </p:txBody>
      </p:sp>
      <p:grpSp>
        <p:nvGrpSpPr>
          <p:cNvPr name="Group 19" id="19"/>
          <p:cNvGrpSpPr/>
          <p:nvPr/>
        </p:nvGrpSpPr>
        <p:grpSpPr>
          <a:xfrm rot="0">
            <a:off x="9891265" y="5991225"/>
            <a:ext cx="7253735" cy="762000"/>
            <a:chOff x="0" y="0"/>
            <a:chExt cx="9671647" cy="1016000"/>
          </a:xfrm>
        </p:grpSpPr>
        <p:sp>
          <p:nvSpPr>
            <p:cNvPr name="Freeform 20" id="20"/>
            <p:cNvSpPr/>
            <p:nvPr/>
          </p:nvSpPr>
          <p:spPr>
            <a:xfrm flipH="false" flipV="false" rot="0">
              <a:off x="0" y="0"/>
              <a:ext cx="9671685" cy="1016000"/>
            </a:xfrm>
            <a:custGeom>
              <a:avLst/>
              <a:gdLst/>
              <a:ahLst/>
              <a:cxnLst/>
              <a:rect r="r" b="b" t="t" l="l"/>
              <a:pathLst>
                <a:path h="1016000" w="9671685">
                  <a:moveTo>
                    <a:pt x="0" y="76200"/>
                  </a:moveTo>
                  <a:cubicBezTo>
                    <a:pt x="0" y="34163"/>
                    <a:pt x="34163" y="0"/>
                    <a:pt x="76200" y="0"/>
                  </a:cubicBezTo>
                  <a:lnTo>
                    <a:pt x="9595485" y="0"/>
                  </a:lnTo>
                  <a:cubicBezTo>
                    <a:pt x="9637522" y="0"/>
                    <a:pt x="9671685" y="34163"/>
                    <a:pt x="9671685" y="76200"/>
                  </a:cubicBezTo>
                  <a:lnTo>
                    <a:pt x="9671685" y="939800"/>
                  </a:lnTo>
                  <a:cubicBezTo>
                    <a:pt x="9671685" y="981837"/>
                    <a:pt x="9637522" y="1016000"/>
                    <a:pt x="9595485" y="1016000"/>
                  </a:cubicBezTo>
                  <a:lnTo>
                    <a:pt x="76200" y="1016000"/>
                  </a:lnTo>
                  <a:cubicBezTo>
                    <a:pt x="34163" y="1016000"/>
                    <a:pt x="0" y="981837"/>
                    <a:pt x="0" y="939800"/>
                  </a:cubicBezTo>
                  <a:close/>
                </a:path>
              </a:pathLst>
            </a:custGeom>
            <a:solidFill>
              <a:srgbClr val="6C2C8B">
                <a:alpha val="5882"/>
              </a:srgbClr>
            </a:solidFill>
          </p:spPr>
        </p:sp>
      </p:grpSp>
      <p:sp>
        <p:nvSpPr>
          <p:cNvPr name="TextBox 21" id="21"/>
          <p:cNvSpPr txBox="true"/>
          <p:nvPr/>
        </p:nvSpPr>
        <p:spPr>
          <a:xfrm rot="0">
            <a:off x="10164318" y="6178477"/>
            <a:ext cx="2353493" cy="289973"/>
          </a:xfrm>
          <a:prstGeom prst="rect">
            <a:avLst/>
          </a:prstGeom>
        </p:spPr>
        <p:txBody>
          <a:bodyPr anchor="t" rtlCol="false" tIns="0" lIns="0" bIns="0" rIns="0">
            <a:spAutoFit/>
          </a:bodyPr>
          <a:lstStyle/>
          <a:p>
            <a:pPr algn="l">
              <a:lnSpc>
                <a:spcPts val="2381"/>
              </a:lnSpc>
            </a:pPr>
            <a:r>
              <a:rPr lang="en-US" sz="1575" spc="205">
                <a:solidFill>
                  <a:srgbClr val="401252"/>
                </a:solidFill>
                <a:latin typeface="Arimo"/>
                <a:ea typeface="Arimo"/>
                <a:cs typeface="Arimo"/>
                <a:sym typeface="Arimo"/>
              </a:rPr>
              <a:t>POSTMENOPAUZA</a:t>
            </a:r>
          </a:p>
        </p:txBody>
      </p:sp>
      <p:grpSp>
        <p:nvGrpSpPr>
          <p:cNvPr name="Group 22" id="22"/>
          <p:cNvGrpSpPr/>
          <p:nvPr/>
        </p:nvGrpSpPr>
        <p:grpSpPr>
          <a:xfrm rot="0">
            <a:off x="1143000" y="6924675"/>
            <a:ext cx="16002000" cy="9525"/>
            <a:chOff x="0" y="0"/>
            <a:chExt cx="21336000" cy="12700"/>
          </a:xfrm>
        </p:grpSpPr>
        <p:sp>
          <p:nvSpPr>
            <p:cNvPr name="Freeform 23" id="23"/>
            <p:cNvSpPr/>
            <p:nvPr/>
          </p:nvSpPr>
          <p:spPr>
            <a:xfrm flipH="false" flipV="false" rot="0">
              <a:off x="0" y="0"/>
              <a:ext cx="21336000" cy="12700"/>
            </a:xfrm>
            <a:custGeom>
              <a:avLst/>
              <a:gdLst/>
              <a:ahLst/>
              <a:cxnLst/>
              <a:rect r="r" b="b" t="t" l="l"/>
              <a:pathLst>
                <a:path h="12700" w="21336000">
                  <a:moveTo>
                    <a:pt x="0" y="0"/>
                  </a:moveTo>
                  <a:lnTo>
                    <a:pt x="21336000" y="0"/>
                  </a:lnTo>
                  <a:lnTo>
                    <a:pt x="21336000" y="12700"/>
                  </a:lnTo>
                  <a:lnTo>
                    <a:pt x="0" y="12700"/>
                  </a:lnTo>
                  <a:close/>
                </a:path>
              </a:pathLst>
            </a:custGeom>
            <a:solidFill>
              <a:srgbClr val="CDB3DC"/>
            </a:solidFill>
          </p:spPr>
        </p:sp>
      </p:grpSp>
      <p:sp>
        <p:nvSpPr>
          <p:cNvPr name="TextBox 24" id="24"/>
          <p:cNvSpPr txBox="true"/>
          <p:nvPr/>
        </p:nvSpPr>
        <p:spPr>
          <a:xfrm rot="0">
            <a:off x="1168403" y="7131053"/>
            <a:ext cx="3853501" cy="785494"/>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Cyklus působí pravidelně, mění se ale jeho délka.</a:t>
            </a:r>
          </a:p>
        </p:txBody>
      </p:sp>
      <p:sp>
        <p:nvSpPr>
          <p:cNvPr name="TextBox 25" id="25"/>
          <p:cNvSpPr txBox="true"/>
          <p:nvPr/>
        </p:nvSpPr>
        <p:spPr>
          <a:xfrm rot="0">
            <a:off x="5328895" y="7131053"/>
            <a:ext cx="2370087" cy="1566594"/>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Přetrváv</a:t>
            </a:r>
            <a:r>
              <a:rPr lang="en-US" sz="2250">
                <a:solidFill>
                  <a:srgbClr val="6B4B7D"/>
                </a:solidFill>
                <a:latin typeface="Arimo"/>
                <a:ea typeface="Arimo"/>
                <a:cs typeface="Arimo"/>
                <a:sym typeface="Arimo"/>
              </a:rPr>
              <a:t>ající rozdíl </a:t>
            </a:r>
            <a:r>
              <a:rPr lang="en-US" sz="2250" b="true">
                <a:solidFill>
                  <a:srgbClr val="6B4B7D"/>
                </a:solidFill>
                <a:latin typeface="Arimo Bold"/>
                <a:ea typeface="Arimo Bold"/>
                <a:cs typeface="Arimo Bold"/>
                <a:sym typeface="Arimo Bold"/>
              </a:rPr>
              <a:t>≥7 dní v délce po sobě jdoucích cyklů.</a:t>
            </a:r>
          </a:p>
        </p:txBody>
      </p:sp>
      <p:sp>
        <p:nvSpPr>
          <p:cNvPr name="TextBox 26" id="26"/>
          <p:cNvSpPr txBox="true"/>
          <p:nvPr/>
        </p:nvSpPr>
        <p:spPr>
          <a:xfrm rot="0">
            <a:off x="8049168" y="7131053"/>
            <a:ext cx="1404595" cy="1330328"/>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Pauza </a:t>
            </a:r>
            <a:r>
              <a:rPr lang="en-US" sz="2250" b="true">
                <a:solidFill>
                  <a:srgbClr val="401252"/>
                </a:solidFill>
                <a:latin typeface="Arimo Bold"/>
                <a:ea typeface="Arimo Bold"/>
                <a:cs typeface="Arimo Bold"/>
                <a:sym typeface="Arimo Bold"/>
              </a:rPr>
              <a:t>60 a více dní</a:t>
            </a:r>
            <a:r>
              <a:rPr lang="en-US" sz="2250">
                <a:solidFill>
                  <a:srgbClr val="6B4B7D"/>
                </a:solidFill>
                <a:latin typeface="Arimo"/>
                <a:ea typeface="Arimo"/>
                <a:cs typeface="Arimo"/>
                <a:sym typeface="Arimo"/>
              </a:rPr>
              <a:t>.</a:t>
            </a:r>
          </a:p>
        </p:txBody>
      </p:sp>
      <p:sp>
        <p:nvSpPr>
          <p:cNvPr name="TextBox 27" id="27"/>
          <p:cNvSpPr txBox="true"/>
          <p:nvPr/>
        </p:nvSpPr>
        <p:spPr>
          <a:xfrm rot="0">
            <a:off x="9809359" y="7131053"/>
            <a:ext cx="7530913" cy="785494"/>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Menopauza je určena retrospektivně </a:t>
            </a:r>
            <a:r>
              <a:rPr lang="en-US" sz="2250" b="true">
                <a:solidFill>
                  <a:srgbClr val="6B4B7D"/>
                </a:solidFill>
                <a:latin typeface="Arimo Bold"/>
                <a:ea typeface="Arimo Bold"/>
                <a:cs typeface="Arimo Bold"/>
                <a:sym typeface="Arimo Bold"/>
              </a:rPr>
              <a:t>po 12 měsících amenorey </a:t>
            </a:r>
            <a:r>
              <a:rPr lang="en-US" sz="2250">
                <a:solidFill>
                  <a:srgbClr val="6B4B7D"/>
                </a:solidFill>
                <a:latin typeface="Arimo"/>
                <a:ea typeface="Arimo"/>
                <a:cs typeface="Arimo"/>
                <a:sym typeface="Arimo"/>
              </a:rPr>
              <a:t>(po poslední menstruaci).</a:t>
            </a:r>
          </a:p>
        </p:txBody>
      </p:sp>
      <p:sp>
        <p:nvSpPr>
          <p:cNvPr name="TextBox 28" id="28"/>
          <p:cNvSpPr txBox="true"/>
          <p:nvPr/>
        </p:nvSpPr>
        <p:spPr>
          <a:xfrm rot="0">
            <a:off x="1168403" y="9116568"/>
            <a:ext cx="13569953" cy="284035"/>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Kritéria stagingu dle ESE Clinical Practice Guideline 2025 a NICE NG23, 2026.</a:t>
            </a:r>
          </a:p>
        </p:txBody>
      </p:sp>
      <p:sp>
        <p:nvSpPr>
          <p:cNvPr name="TextBox 29" id="29"/>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06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4795484" cy="317951"/>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FYZIOLOGIE PŘECHODU</a:t>
            </a:r>
          </a:p>
        </p:txBody>
      </p:sp>
      <p:sp>
        <p:nvSpPr>
          <p:cNvPr name="TextBox 3" id="3"/>
          <p:cNvSpPr txBox="true"/>
          <p:nvPr/>
        </p:nvSpPr>
        <p:spPr>
          <a:xfrm rot="0">
            <a:off x="1168403" y="1901828"/>
            <a:ext cx="15340032" cy="1488092"/>
          </a:xfrm>
          <a:prstGeom prst="rect">
            <a:avLst/>
          </a:prstGeom>
        </p:spPr>
        <p:txBody>
          <a:bodyPr anchor="t" rtlCol="false" tIns="0" lIns="0" bIns="0" rIns="0">
            <a:spAutoFit/>
          </a:bodyPr>
          <a:lstStyle/>
          <a:p>
            <a:pPr algn="l">
              <a:lnSpc>
                <a:spcPts val="5666"/>
              </a:lnSpc>
            </a:pPr>
            <a:r>
              <a:rPr lang="en-US" sz="5550" spc="-127">
                <a:solidFill>
                  <a:srgbClr val="401252"/>
                </a:solidFill>
                <a:latin typeface="Arimo"/>
                <a:ea typeface="Arimo"/>
                <a:cs typeface="Arimo"/>
                <a:sym typeface="Arimo"/>
              </a:rPr>
              <a:t>Nejde “jen” o pokles hormonů</a:t>
            </a:r>
            <a:r>
              <a:rPr lang="en-US" sz="5550" spc="-127">
                <a:solidFill>
                  <a:srgbClr val="401252"/>
                </a:solidFill>
                <a:latin typeface="Arimo"/>
                <a:ea typeface="Arimo"/>
                <a:cs typeface="Arimo"/>
                <a:sym typeface="Arimo"/>
              </a:rPr>
              <a:t>. </a:t>
            </a:r>
          </a:p>
          <a:p>
            <a:pPr algn="l">
              <a:lnSpc>
                <a:spcPts val="5668"/>
              </a:lnSpc>
            </a:pPr>
            <a:r>
              <a:rPr lang="en-US" sz="5550" spc="-133">
                <a:solidFill>
                  <a:srgbClr val="401252"/>
                </a:solidFill>
                <a:latin typeface="Arimo"/>
                <a:ea typeface="Arimo"/>
                <a:cs typeface="Arimo"/>
                <a:sym typeface="Arimo"/>
              </a:rPr>
              <a:t>Jd</a:t>
            </a:r>
            <a:r>
              <a:rPr lang="en-US" sz="5550" spc="-133">
                <a:solidFill>
                  <a:srgbClr val="401252"/>
                </a:solidFill>
                <a:latin typeface="Arimo"/>
                <a:ea typeface="Arimo"/>
                <a:cs typeface="Arimo"/>
                <a:sym typeface="Arimo"/>
              </a:rPr>
              <a:t>e o ztrátu předvídatelného hormonálního vzorce.</a:t>
            </a:r>
          </a:p>
        </p:txBody>
      </p:sp>
      <p:grpSp>
        <p:nvGrpSpPr>
          <p:cNvPr name="Group 4" id="4"/>
          <p:cNvGrpSpPr/>
          <p:nvPr/>
        </p:nvGrpSpPr>
        <p:grpSpPr>
          <a:xfrm rot="0">
            <a:off x="14239875" y="123155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26012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LONGITUDINÁLNÍ HORMONÁLNÍ DATA</a:t>
            </a:r>
          </a:p>
        </p:txBody>
      </p:sp>
      <p:sp>
        <p:nvSpPr>
          <p:cNvPr name="TextBox 10" id="10"/>
          <p:cNvSpPr txBox="true"/>
          <p:nvPr/>
        </p:nvSpPr>
        <p:spPr>
          <a:xfrm rot="0">
            <a:off x="1168403" y="4244978"/>
            <a:ext cx="7797803"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REPRODUKČNÍ OBDOBÍ</a:t>
            </a:r>
          </a:p>
        </p:txBody>
      </p:sp>
      <p:sp>
        <p:nvSpPr>
          <p:cNvPr name="TextBox 11" id="11"/>
          <p:cNvSpPr txBox="true"/>
          <p:nvPr/>
        </p:nvSpPr>
        <p:spPr>
          <a:xfrm rot="0">
            <a:off x="9550403" y="4244978"/>
            <a:ext cx="7797803"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PERIMENOPAUZA</a:t>
            </a:r>
          </a:p>
        </p:txBody>
      </p:sp>
      <p:sp>
        <p:nvSpPr>
          <p:cNvPr name="TextBox 12" id="12"/>
          <p:cNvSpPr txBox="true"/>
          <p:nvPr/>
        </p:nvSpPr>
        <p:spPr>
          <a:xfrm rot="0">
            <a:off x="1168403" y="9116568"/>
            <a:ext cx="13569953" cy="284035"/>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Jednorázové stanovení hormonů perimenopauzu obvykle nepotvrdí ani nevyloučí. Diagnóza je u žen především klinická.</a:t>
            </a:r>
          </a:p>
        </p:txBody>
      </p:sp>
      <p:sp>
        <p:nvSpPr>
          <p:cNvPr name="TextBox 13" id="13"/>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07</a:t>
            </a:r>
          </a:p>
        </p:txBody>
      </p:sp>
      <p:sp>
        <p:nvSpPr>
          <p:cNvPr name="Freeform 14" id="14"/>
          <p:cNvSpPr/>
          <p:nvPr/>
        </p:nvSpPr>
        <p:spPr>
          <a:xfrm flipH="false" flipV="false" rot="0">
            <a:off x="1028700" y="4638361"/>
            <a:ext cx="6686009" cy="3909843"/>
          </a:xfrm>
          <a:custGeom>
            <a:avLst/>
            <a:gdLst/>
            <a:ahLst/>
            <a:cxnLst/>
            <a:rect r="r" b="b" t="t" l="l"/>
            <a:pathLst>
              <a:path h="3909843" w="6686009">
                <a:moveTo>
                  <a:pt x="0" y="0"/>
                </a:moveTo>
                <a:lnTo>
                  <a:pt x="6686009" y="0"/>
                </a:lnTo>
                <a:lnTo>
                  <a:pt x="6686009" y="3909842"/>
                </a:lnTo>
                <a:lnTo>
                  <a:pt x="0" y="3909842"/>
                </a:lnTo>
                <a:lnTo>
                  <a:pt x="0" y="0"/>
                </a:lnTo>
                <a:close/>
              </a:path>
            </a:pathLst>
          </a:custGeom>
          <a:blipFill>
            <a:blip r:embed="rId4"/>
            <a:stretch>
              <a:fillRect l="-1480" t="0" r="0" b="0"/>
            </a:stretch>
          </a:blipFill>
        </p:spPr>
      </p:sp>
      <p:sp>
        <p:nvSpPr>
          <p:cNvPr name="Freeform 15" id="15"/>
          <p:cNvSpPr/>
          <p:nvPr/>
        </p:nvSpPr>
        <p:spPr>
          <a:xfrm flipH="false" flipV="false" rot="0">
            <a:off x="9515308" y="4638361"/>
            <a:ext cx="7453881" cy="3909843"/>
          </a:xfrm>
          <a:custGeom>
            <a:avLst/>
            <a:gdLst/>
            <a:ahLst/>
            <a:cxnLst/>
            <a:rect r="r" b="b" t="t" l="l"/>
            <a:pathLst>
              <a:path h="3909843" w="7453881">
                <a:moveTo>
                  <a:pt x="0" y="0"/>
                </a:moveTo>
                <a:lnTo>
                  <a:pt x="7453881" y="0"/>
                </a:lnTo>
                <a:lnTo>
                  <a:pt x="7453881" y="3909842"/>
                </a:lnTo>
                <a:lnTo>
                  <a:pt x="0" y="3909842"/>
                </a:lnTo>
                <a:lnTo>
                  <a:pt x="0" y="0"/>
                </a:lnTo>
                <a:close/>
              </a:path>
            </a:pathLst>
          </a:custGeom>
          <a:blipFill>
            <a:blip r:embed="rId5"/>
            <a:stretch>
              <a:fillRect l="-7234" t="-9477" r="-26244" b="-64085"/>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01252"/>
            </a:solidFill>
          </p:spPr>
        </p:sp>
      </p:grpSp>
      <p:sp>
        <p:nvSpPr>
          <p:cNvPr name="TextBox 4" id="4"/>
          <p:cNvSpPr txBox="true"/>
          <p:nvPr/>
        </p:nvSpPr>
        <p:spPr>
          <a:xfrm rot="0">
            <a:off x="1168403" y="1292228"/>
            <a:ext cx="5204336" cy="317951"/>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LÉČBA PŘÍZNAKŮ · AKTUÁLNÍ OBTÍŽE</a:t>
            </a:r>
          </a:p>
        </p:txBody>
      </p:sp>
      <p:sp>
        <p:nvSpPr>
          <p:cNvPr name="TextBox 5" id="5"/>
          <p:cNvSpPr txBox="true"/>
          <p:nvPr/>
        </p:nvSpPr>
        <p:spPr>
          <a:xfrm rot="0">
            <a:off x="1168403" y="1901828"/>
            <a:ext cx="11561038" cy="773565"/>
          </a:xfrm>
          <a:prstGeom prst="rect">
            <a:avLst/>
          </a:prstGeom>
        </p:spPr>
        <p:txBody>
          <a:bodyPr anchor="t" rtlCol="false" tIns="0" lIns="0" bIns="0" rIns="0">
            <a:spAutoFit/>
          </a:bodyPr>
          <a:lstStyle/>
          <a:p>
            <a:pPr algn="l">
              <a:lnSpc>
                <a:spcPts val="5668"/>
              </a:lnSpc>
            </a:pPr>
            <a:r>
              <a:rPr lang="en-US" sz="5550" spc="-133">
                <a:solidFill>
                  <a:srgbClr val="FFFFFF"/>
                </a:solidFill>
                <a:latin typeface="Arimo"/>
                <a:ea typeface="Arimo"/>
                <a:cs typeface="Arimo"/>
                <a:sym typeface="Arimo"/>
              </a:rPr>
              <a:t>Návaly jsou běžné, ne výjimečné.</a:t>
            </a:r>
          </a:p>
        </p:txBody>
      </p:sp>
      <p:grpSp>
        <p:nvGrpSpPr>
          <p:cNvPr name="Group 6" id="6"/>
          <p:cNvGrpSpPr/>
          <p:nvPr/>
        </p:nvGrpSpPr>
        <p:grpSpPr>
          <a:xfrm rot="0">
            <a:off x="14392275" y="1098204"/>
            <a:ext cx="400050" cy="400050"/>
            <a:chOff x="0" y="0"/>
            <a:chExt cx="533400" cy="533400"/>
          </a:xfrm>
        </p:grpSpPr>
        <p:sp>
          <p:nvSpPr>
            <p:cNvPr name="Freeform 7" id="7"/>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D8A6F5"/>
              </a:solidFill>
              <a:prstDash val="solid"/>
              <a:miter/>
            </a:ln>
          </p:spPr>
        </p:sp>
      </p:grpSp>
      <p:grpSp>
        <p:nvGrpSpPr>
          <p:cNvPr name="Group 8" id="8"/>
          <p:cNvGrpSpPr/>
          <p:nvPr/>
        </p:nvGrpSpPr>
        <p:grpSpPr>
          <a:xfrm rot="0">
            <a:off x="14382750" y="1126779"/>
            <a:ext cx="419100" cy="381000"/>
            <a:chOff x="0" y="0"/>
            <a:chExt cx="558800" cy="508000"/>
          </a:xfrm>
        </p:grpSpPr>
        <p:sp>
          <p:nvSpPr>
            <p:cNvPr name="Freeform 9" id="9"/>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10" id="10"/>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D8A6F5"/>
                  </a:solidFill>
                  <a:latin typeface="Arimo"/>
                  <a:ea typeface="Arimo"/>
                  <a:cs typeface="Arimo"/>
                  <a:sym typeface="Arimo"/>
                </a:rPr>
                <a:t>B</a:t>
              </a:r>
            </a:p>
          </p:txBody>
        </p:sp>
      </p:grpSp>
      <p:sp>
        <p:nvSpPr>
          <p:cNvPr name="TextBox 11" id="11"/>
          <p:cNvSpPr txBox="true"/>
          <p:nvPr/>
        </p:nvSpPr>
        <p:spPr>
          <a:xfrm rot="0">
            <a:off x="14941553" y="1073153"/>
            <a:ext cx="2406653" cy="469202"/>
          </a:xfrm>
          <a:prstGeom prst="rect">
            <a:avLst/>
          </a:prstGeom>
        </p:spPr>
        <p:txBody>
          <a:bodyPr anchor="t" rtlCol="false" tIns="0" lIns="0" bIns="0" rIns="0">
            <a:spAutoFit/>
          </a:bodyPr>
          <a:lstStyle/>
          <a:p>
            <a:pPr algn="l">
              <a:lnSpc>
                <a:spcPts val="1675"/>
              </a:lnSpc>
            </a:pPr>
            <a:r>
              <a:rPr lang="en-US" sz="1350" spc="135">
                <a:solidFill>
                  <a:srgbClr val="C9AEDA"/>
                </a:solidFill>
                <a:latin typeface="Arimo"/>
                <a:ea typeface="Arimo"/>
                <a:cs typeface="Arimo"/>
                <a:sym typeface="Arimo"/>
              </a:rPr>
              <a:t>PODÍL ZÁVISÍ NA KOHORTĚ A DEFINICI</a:t>
            </a:r>
          </a:p>
        </p:txBody>
      </p:sp>
      <p:sp>
        <p:nvSpPr>
          <p:cNvPr name="TextBox 12" id="12"/>
          <p:cNvSpPr txBox="true"/>
          <p:nvPr/>
        </p:nvSpPr>
        <p:spPr>
          <a:xfrm rot="0">
            <a:off x="1168403" y="3687343"/>
            <a:ext cx="5774573" cy="1786360"/>
          </a:xfrm>
          <a:prstGeom prst="rect">
            <a:avLst/>
          </a:prstGeom>
        </p:spPr>
        <p:txBody>
          <a:bodyPr anchor="t" rtlCol="false" tIns="0" lIns="0" bIns="0" rIns="0">
            <a:spAutoFit/>
          </a:bodyPr>
          <a:lstStyle/>
          <a:p>
            <a:pPr algn="l">
              <a:lnSpc>
                <a:spcPts val="12184"/>
              </a:lnSpc>
            </a:pPr>
            <a:r>
              <a:rPr lang="en-US" sz="15000" spc="-450">
                <a:solidFill>
                  <a:srgbClr val="D8A6F5"/>
                </a:solidFill>
                <a:latin typeface="Arimo"/>
                <a:ea typeface="Arimo"/>
                <a:cs typeface="Arimo"/>
                <a:sym typeface="Arimo"/>
              </a:rPr>
              <a:t>80%</a:t>
            </a:r>
          </a:p>
        </p:txBody>
      </p:sp>
      <p:sp>
        <p:nvSpPr>
          <p:cNvPr name="TextBox 13" id="13"/>
          <p:cNvSpPr txBox="true"/>
          <p:nvPr/>
        </p:nvSpPr>
        <p:spPr>
          <a:xfrm rot="0">
            <a:off x="1168403" y="5426078"/>
            <a:ext cx="8190233" cy="268462"/>
          </a:xfrm>
          <a:prstGeom prst="rect">
            <a:avLst/>
          </a:prstGeom>
        </p:spPr>
        <p:txBody>
          <a:bodyPr anchor="t" rtlCol="false" tIns="0" lIns="0" bIns="0" rIns="0">
            <a:spAutoFit/>
          </a:bodyPr>
          <a:lstStyle/>
          <a:p>
            <a:pPr algn="l">
              <a:lnSpc>
                <a:spcPts val="2175"/>
              </a:lnSpc>
            </a:pPr>
            <a:r>
              <a:rPr lang="en-US" sz="1450" spc="188">
                <a:solidFill>
                  <a:srgbClr val="C9AEDA"/>
                </a:solidFill>
                <a:latin typeface="Arimo"/>
                <a:ea typeface="Arimo"/>
                <a:cs typeface="Arimo"/>
                <a:sym typeface="Arimo"/>
              </a:rPr>
              <a:t>ŽEN MÁ V POZDNÍ FÁZI PŘECHODU/ČASNÉ POSTMENOPAUZY NÁVALY</a:t>
            </a:r>
          </a:p>
        </p:txBody>
      </p:sp>
      <p:sp>
        <p:nvSpPr>
          <p:cNvPr name="TextBox 14" id="14"/>
          <p:cNvSpPr txBox="true"/>
          <p:nvPr/>
        </p:nvSpPr>
        <p:spPr>
          <a:xfrm rot="0">
            <a:off x="1168403" y="6060758"/>
            <a:ext cx="1601343" cy="861289"/>
          </a:xfrm>
          <a:prstGeom prst="rect">
            <a:avLst/>
          </a:prstGeom>
        </p:spPr>
        <p:txBody>
          <a:bodyPr anchor="t" rtlCol="false" tIns="0" lIns="0" bIns="0" rIns="0">
            <a:spAutoFit/>
          </a:bodyPr>
          <a:lstStyle/>
          <a:p>
            <a:pPr algn="l">
              <a:lnSpc>
                <a:spcPts val="5418"/>
              </a:lnSpc>
            </a:pPr>
            <a:r>
              <a:rPr lang="en-US" sz="3600" spc="-107">
                <a:solidFill>
                  <a:srgbClr val="D8A6F5"/>
                </a:solidFill>
                <a:latin typeface="Arimo"/>
                <a:ea typeface="Arimo"/>
                <a:cs typeface="Arimo"/>
                <a:sym typeface="Arimo"/>
              </a:rPr>
              <a:t>7,4</a:t>
            </a:r>
          </a:p>
        </p:txBody>
      </p:sp>
      <p:sp>
        <p:nvSpPr>
          <p:cNvPr name="TextBox 15" id="15"/>
          <p:cNvSpPr txBox="true"/>
          <p:nvPr/>
        </p:nvSpPr>
        <p:spPr>
          <a:xfrm rot="0">
            <a:off x="2988878" y="6151740"/>
            <a:ext cx="6292310" cy="785494"/>
          </a:xfrm>
          <a:prstGeom prst="rect">
            <a:avLst/>
          </a:prstGeom>
        </p:spPr>
        <p:txBody>
          <a:bodyPr anchor="t" rtlCol="false" tIns="0" lIns="0" bIns="0" rIns="0">
            <a:spAutoFit/>
          </a:bodyPr>
          <a:lstStyle/>
          <a:p>
            <a:pPr algn="l">
              <a:lnSpc>
                <a:spcPts val="3115"/>
              </a:lnSpc>
            </a:pPr>
            <a:r>
              <a:rPr lang="en-US" sz="2250">
                <a:solidFill>
                  <a:srgbClr val="C9AEDA"/>
                </a:solidFill>
                <a:latin typeface="Arimo"/>
                <a:ea typeface="Arimo"/>
                <a:cs typeface="Arimo"/>
                <a:sym typeface="Arimo"/>
              </a:rPr>
              <a:t>roku medián trvání, z toho </a:t>
            </a:r>
            <a:r>
              <a:rPr lang="en-US" sz="2250" b="true">
                <a:solidFill>
                  <a:srgbClr val="C9AEDA"/>
                </a:solidFill>
                <a:latin typeface="Arimo Bold"/>
                <a:ea typeface="Arimo Bold"/>
                <a:cs typeface="Arimo Bold"/>
                <a:sym typeface="Arimo Bold"/>
              </a:rPr>
              <a:t>4,5 roku po poslední menstruaci</a:t>
            </a:r>
            <a:r>
              <a:rPr lang="en-US" sz="2250">
                <a:solidFill>
                  <a:srgbClr val="C9AEDA"/>
                </a:solidFill>
                <a:latin typeface="Arimo"/>
                <a:ea typeface="Arimo"/>
                <a:cs typeface="Arimo"/>
                <a:sym typeface="Arimo"/>
              </a:rPr>
              <a:t> (≥ 6 dní / 2 týdny)</a:t>
            </a:r>
          </a:p>
        </p:txBody>
      </p:sp>
      <p:sp>
        <p:nvSpPr>
          <p:cNvPr name="TextBox 16" id="16"/>
          <p:cNvSpPr txBox="true"/>
          <p:nvPr/>
        </p:nvSpPr>
        <p:spPr>
          <a:xfrm rot="0">
            <a:off x="1168403" y="7303760"/>
            <a:ext cx="1601343" cy="861289"/>
          </a:xfrm>
          <a:prstGeom prst="rect">
            <a:avLst/>
          </a:prstGeom>
        </p:spPr>
        <p:txBody>
          <a:bodyPr anchor="t" rtlCol="false" tIns="0" lIns="0" bIns="0" rIns="0">
            <a:spAutoFit/>
          </a:bodyPr>
          <a:lstStyle/>
          <a:p>
            <a:pPr algn="l">
              <a:lnSpc>
                <a:spcPts val="5418"/>
              </a:lnSpc>
            </a:pPr>
            <a:r>
              <a:rPr lang="en-US" sz="3600" spc="-107">
                <a:solidFill>
                  <a:srgbClr val="D8A6F5"/>
                </a:solidFill>
                <a:latin typeface="Arimo"/>
                <a:ea typeface="Arimo"/>
                <a:cs typeface="Arimo"/>
                <a:sym typeface="Arimo"/>
              </a:rPr>
              <a:t>20–30%</a:t>
            </a:r>
          </a:p>
        </p:txBody>
      </p:sp>
      <p:sp>
        <p:nvSpPr>
          <p:cNvPr name="TextBox 17" id="17"/>
          <p:cNvSpPr txBox="true"/>
          <p:nvPr/>
        </p:nvSpPr>
        <p:spPr>
          <a:xfrm rot="0">
            <a:off x="2988878" y="7535966"/>
            <a:ext cx="6723393" cy="394945"/>
          </a:xfrm>
          <a:prstGeom prst="rect">
            <a:avLst/>
          </a:prstGeom>
        </p:spPr>
        <p:txBody>
          <a:bodyPr anchor="t" rtlCol="false" tIns="0" lIns="0" bIns="0" rIns="0">
            <a:spAutoFit/>
          </a:bodyPr>
          <a:lstStyle/>
          <a:p>
            <a:pPr algn="l">
              <a:lnSpc>
                <a:spcPts val="3115"/>
              </a:lnSpc>
            </a:pPr>
            <a:r>
              <a:rPr lang="en-US" sz="2250">
                <a:solidFill>
                  <a:srgbClr val="C9AEDA"/>
                </a:solidFill>
                <a:latin typeface="Arimo"/>
                <a:ea typeface="Arimo"/>
                <a:cs typeface="Arimo"/>
                <a:sym typeface="Arimo"/>
              </a:rPr>
              <a:t>žen kvůli nim vyhledá lékaře (pouze)</a:t>
            </a:r>
          </a:p>
        </p:txBody>
      </p:sp>
      <p:sp>
        <p:nvSpPr>
          <p:cNvPr name="TextBox 18" id="18"/>
          <p:cNvSpPr txBox="true"/>
          <p:nvPr/>
        </p:nvSpPr>
        <p:spPr>
          <a:xfrm rot="0">
            <a:off x="9931403" y="3502028"/>
            <a:ext cx="7405373" cy="317951"/>
          </a:xfrm>
          <a:prstGeom prst="rect">
            <a:avLst/>
          </a:prstGeom>
        </p:spPr>
        <p:txBody>
          <a:bodyPr anchor="t" rtlCol="false" tIns="0" lIns="0" bIns="0" rIns="0">
            <a:spAutoFit/>
          </a:bodyPr>
          <a:lstStyle/>
          <a:p>
            <a:pPr algn="l">
              <a:lnSpc>
                <a:spcPts val="2476"/>
              </a:lnSpc>
            </a:pPr>
            <a:r>
              <a:rPr lang="en-US" sz="1650" spc="214">
                <a:solidFill>
                  <a:srgbClr val="C9AEDA"/>
                </a:solidFill>
                <a:latin typeface="Arimo"/>
                <a:ea typeface="Arimo"/>
                <a:cs typeface="Arimo"/>
                <a:sym typeface="Arimo"/>
              </a:rPr>
              <a:t>DALŠÍ</a:t>
            </a:r>
            <a:r>
              <a:rPr lang="en-US" sz="1650" spc="214">
                <a:solidFill>
                  <a:srgbClr val="C9AEDA"/>
                </a:solidFill>
                <a:latin typeface="Arimo"/>
                <a:ea typeface="Arimo"/>
                <a:cs typeface="Arimo"/>
                <a:sym typeface="Arimo"/>
              </a:rPr>
              <a:t> ČASTÉ PROJEVY</a:t>
            </a:r>
          </a:p>
        </p:txBody>
      </p:sp>
      <p:sp>
        <p:nvSpPr>
          <p:cNvPr name="TextBox 19" id="19"/>
          <p:cNvSpPr txBox="true"/>
          <p:nvPr/>
        </p:nvSpPr>
        <p:spPr>
          <a:xfrm rot="0">
            <a:off x="9931403" y="4098608"/>
            <a:ext cx="7912103" cy="394945"/>
          </a:xfrm>
          <a:prstGeom prst="rect">
            <a:avLst/>
          </a:prstGeom>
        </p:spPr>
        <p:txBody>
          <a:bodyPr anchor="t" rtlCol="false" tIns="0" lIns="0" bIns="0" rIns="0">
            <a:spAutoFit/>
          </a:bodyPr>
          <a:lstStyle/>
          <a:p>
            <a:pPr algn="l">
              <a:lnSpc>
                <a:spcPts val="3115"/>
              </a:lnSpc>
            </a:pPr>
            <a:r>
              <a:rPr lang="en-US" sz="2250">
                <a:solidFill>
                  <a:srgbClr val="C9AEDA"/>
                </a:solidFill>
                <a:latin typeface="Arimo"/>
                <a:ea typeface="Arimo"/>
                <a:cs typeface="Arimo"/>
                <a:sym typeface="Arimo"/>
              </a:rPr>
              <a:t>poruchy spánku (buzení, nízká kvalita / délka)</a:t>
            </a:r>
          </a:p>
        </p:txBody>
      </p:sp>
      <p:sp>
        <p:nvSpPr>
          <p:cNvPr name="TextBox 20" id="20"/>
          <p:cNvSpPr txBox="true"/>
          <p:nvPr/>
        </p:nvSpPr>
        <p:spPr>
          <a:xfrm rot="0">
            <a:off x="9931403" y="4660582"/>
            <a:ext cx="7912103" cy="473078"/>
          </a:xfrm>
          <a:prstGeom prst="rect">
            <a:avLst/>
          </a:prstGeom>
        </p:spPr>
        <p:txBody>
          <a:bodyPr anchor="t" rtlCol="false" tIns="0" lIns="0" bIns="0" rIns="0">
            <a:spAutoFit/>
          </a:bodyPr>
          <a:lstStyle/>
          <a:p>
            <a:pPr algn="l">
              <a:lnSpc>
                <a:spcPts val="3115"/>
              </a:lnSpc>
            </a:pPr>
            <a:r>
              <a:rPr lang="en-US" sz="2250">
                <a:solidFill>
                  <a:srgbClr val="C9AEDA"/>
                </a:solidFill>
                <a:latin typeface="Arimo"/>
                <a:ea typeface="Arimo"/>
                <a:cs typeface="Arimo"/>
                <a:sym typeface="Arimo"/>
              </a:rPr>
              <a:t>výkyvy nálad, úzkost</a:t>
            </a:r>
          </a:p>
        </p:txBody>
      </p:sp>
      <p:sp>
        <p:nvSpPr>
          <p:cNvPr name="TextBox 21" id="21"/>
          <p:cNvSpPr txBox="true"/>
          <p:nvPr/>
        </p:nvSpPr>
        <p:spPr>
          <a:xfrm rot="0">
            <a:off x="9931403" y="5222558"/>
            <a:ext cx="7912103" cy="473078"/>
          </a:xfrm>
          <a:prstGeom prst="rect">
            <a:avLst/>
          </a:prstGeom>
        </p:spPr>
        <p:txBody>
          <a:bodyPr anchor="t" rtlCol="false" tIns="0" lIns="0" bIns="0" rIns="0">
            <a:spAutoFit/>
          </a:bodyPr>
          <a:lstStyle/>
          <a:p>
            <a:pPr algn="l">
              <a:lnSpc>
                <a:spcPts val="3115"/>
              </a:lnSpc>
            </a:pPr>
            <a:r>
              <a:rPr lang="en-US" sz="2250">
                <a:solidFill>
                  <a:srgbClr val="C9AEDA"/>
                </a:solidFill>
                <a:latin typeface="Arimo"/>
                <a:ea typeface="Arimo"/>
                <a:cs typeface="Arimo"/>
                <a:sym typeface="Arimo"/>
              </a:rPr>
              <a:t>vaginální suchost, snížené libido</a:t>
            </a:r>
          </a:p>
        </p:txBody>
      </p:sp>
      <p:sp>
        <p:nvSpPr>
          <p:cNvPr name="TextBox 22" id="22"/>
          <p:cNvSpPr txBox="true"/>
          <p:nvPr/>
        </p:nvSpPr>
        <p:spPr>
          <a:xfrm rot="0">
            <a:off x="9931403" y="5784532"/>
            <a:ext cx="7912103" cy="473078"/>
          </a:xfrm>
          <a:prstGeom prst="rect">
            <a:avLst/>
          </a:prstGeom>
        </p:spPr>
        <p:txBody>
          <a:bodyPr anchor="t" rtlCol="false" tIns="0" lIns="0" bIns="0" rIns="0">
            <a:spAutoFit/>
          </a:bodyPr>
          <a:lstStyle/>
          <a:p>
            <a:pPr algn="l">
              <a:lnSpc>
                <a:spcPts val="3115"/>
              </a:lnSpc>
            </a:pPr>
            <a:r>
              <a:rPr lang="en-US" sz="2250">
                <a:solidFill>
                  <a:srgbClr val="C9AEDA"/>
                </a:solidFill>
                <a:latin typeface="Arimo"/>
                <a:ea typeface="Arimo"/>
                <a:cs typeface="Arimo"/>
                <a:sym typeface="Arimo"/>
              </a:rPr>
              <a:t>bolesti kloubů</a:t>
            </a:r>
          </a:p>
        </p:txBody>
      </p:sp>
      <p:sp>
        <p:nvSpPr>
          <p:cNvPr name="TextBox 23" id="23"/>
          <p:cNvSpPr txBox="true"/>
          <p:nvPr/>
        </p:nvSpPr>
        <p:spPr>
          <a:xfrm rot="0">
            <a:off x="9931403" y="6346508"/>
            <a:ext cx="7912103" cy="394945"/>
          </a:xfrm>
          <a:prstGeom prst="rect">
            <a:avLst/>
          </a:prstGeom>
        </p:spPr>
        <p:txBody>
          <a:bodyPr anchor="t" rtlCol="false" tIns="0" lIns="0" bIns="0" rIns="0">
            <a:spAutoFit/>
          </a:bodyPr>
          <a:lstStyle/>
          <a:p>
            <a:pPr algn="l">
              <a:lnSpc>
                <a:spcPts val="3115"/>
              </a:lnSpc>
            </a:pPr>
            <a:r>
              <a:rPr lang="en-US" sz="2250">
                <a:solidFill>
                  <a:srgbClr val="C9AEDA"/>
                </a:solidFill>
                <a:latin typeface="Arimo"/>
                <a:ea typeface="Arimo"/>
                <a:cs typeface="Arimo"/>
                <a:sym typeface="Arimo"/>
              </a:rPr>
              <a:t>zapomnětlivost, potíže se soustředěním (“brain fog”)</a:t>
            </a:r>
          </a:p>
        </p:txBody>
      </p:sp>
      <p:sp>
        <p:nvSpPr>
          <p:cNvPr name="TextBox 24" id="24"/>
          <p:cNvSpPr txBox="true"/>
          <p:nvPr/>
        </p:nvSpPr>
        <p:spPr>
          <a:xfrm rot="0">
            <a:off x="9931403" y="6908482"/>
            <a:ext cx="7912103" cy="394945"/>
          </a:xfrm>
          <a:prstGeom prst="rect">
            <a:avLst/>
          </a:prstGeom>
        </p:spPr>
        <p:txBody>
          <a:bodyPr anchor="t" rtlCol="false" tIns="0" lIns="0" bIns="0" rIns="0">
            <a:spAutoFit/>
          </a:bodyPr>
          <a:lstStyle/>
          <a:p>
            <a:pPr algn="l">
              <a:lnSpc>
                <a:spcPts val="3115"/>
              </a:lnSpc>
            </a:pPr>
            <a:r>
              <a:rPr lang="en-US" sz="2250">
                <a:solidFill>
                  <a:srgbClr val="C9AEDA"/>
                </a:solidFill>
                <a:latin typeface="Arimo"/>
                <a:ea typeface="Arimo"/>
                <a:cs typeface="Arimo"/>
                <a:sym typeface="Arimo"/>
              </a:rPr>
              <a:t>změny tělesného složení (nárůst viscerálního tuku)</a:t>
            </a:r>
          </a:p>
        </p:txBody>
      </p:sp>
      <p:sp>
        <p:nvSpPr>
          <p:cNvPr name="TextBox 25" id="25"/>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C9AEDA"/>
                </a:solidFill>
                <a:latin typeface="Arimo"/>
                <a:ea typeface="Arimo"/>
                <a:cs typeface="Arimo"/>
                <a:sym typeface="Arimo"/>
              </a:rPr>
              <a:t>SWAN, medián trvání návalů 7,4 roku · UpToDate, Menopausal hot flashes, 2026</a:t>
            </a:r>
          </a:p>
        </p:txBody>
      </p:sp>
      <p:sp>
        <p:nvSpPr>
          <p:cNvPr name="TextBox 26" id="26"/>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08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2137267"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MÝTUS A FAKT</a:t>
            </a:r>
          </a:p>
        </p:txBody>
      </p:sp>
      <p:sp>
        <p:nvSpPr>
          <p:cNvPr name="TextBox 3" id="3"/>
          <p:cNvSpPr txBox="true"/>
          <p:nvPr/>
        </p:nvSpPr>
        <p:spPr>
          <a:xfrm rot="0">
            <a:off x="1168403" y="1901828"/>
            <a:ext cx="12091292" cy="773565"/>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Co se o přechodu říká a co o něm víme?</a:t>
            </a:r>
          </a:p>
        </p:txBody>
      </p:sp>
      <p:grpSp>
        <p:nvGrpSpPr>
          <p:cNvPr name="Group 4" id="4"/>
          <p:cNvGrpSpPr/>
          <p:nvPr/>
        </p:nvGrpSpPr>
        <p:grpSpPr>
          <a:xfrm rot="0">
            <a:off x="14239875" y="123155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26012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KOHORTOVÁ DATA, ŠIROKÝ ROZPTYL</a:t>
            </a:r>
          </a:p>
        </p:txBody>
      </p:sp>
      <p:grpSp>
        <p:nvGrpSpPr>
          <p:cNvPr name="Group 10" id="10"/>
          <p:cNvGrpSpPr/>
          <p:nvPr/>
        </p:nvGrpSpPr>
        <p:grpSpPr>
          <a:xfrm rot="0">
            <a:off x="1133475" y="4829175"/>
            <a:ext cx="7753350" cy="2169909"/>
            <a:chOff x="0" y="0"/>
            <a:chExt cx="10337800" cy="2893212"/>
          </a:xfrm>
        </p:grpSpPr>
        <p:sp>
          <p:nvSpPr>
            <p:cNvPr name="Freeform 11" id="11"/>
            <p:cNvSpPr/>
            <p:nvPr/>
          </p:nvSpPr>
          <p:spPr>
            <a:xfrm flipH="false" flipV="false" rot="0">
              <a:off x="0" y="0"/>
              <a:ext cx="10337800" cy="2893314"/>
            </a:xfrm>
            <a:custGeom>
              <a:avLst/>
              <a:gdLst/>
              <a:ahLst/>
              <a:cxnLst/>
              <a:rect r="r" b="b" t="t" l="l"/>
              <a:pathLst>
                <a:path h="2893314" w="10337800">
                  <a:moveTo>
                    <a:pt x="0" y="153797"/>
                  </a:moveTo>
                  <a:cubicBezTo>
                    <a:pt x="0" y="68834"/>
                    <a:pt x="68834" y="0"/>
                    <a:pt x="153797" y="0"/>
                  </a:cubicBezTo>
                  <a:lnTo>
                    <a:pt x="10184003" y="0"/>
                  </a:lnTo>
                  <a:cubicBezTo>
                    <a:pt x="10268966" y="0"/>
                    <a:pt x="10337800" y="68834"/>
                    <a:pt x="10337800" y="153797"/>
                  </a:cubicBezTo>
                  <a:lnTo>
                    <a:pt x="10337800" y="2739517"/>
                  </a:lnTo>
                  <a:cubicBezTo>
                    <a:pt x="10337800" y="2824480"/>
                    <a:pt x="10268966" y="2893314"/>
                    <a:pt x="10184003" y="2893314"/>
                  </a:cubicBezTo>
                  <a:lnTo>
                    <a:pt x="153797" y="2893314"/>
                  </a:lnTo>
                  <a:cubicBezTo>
                    <a:pt x="68834" y="2893187"/>
                    <a:pt x="0" y="2824353"/>
                    <a:pt x="0" y="2739517"/>
                  </a:cubicBezTo>
                  <a:close/>
                </a:path>
              </a:pathLst>
            </a:custGeom>
            <a:blipFill>
              <a:blip r:embed="rId3">
                <a:alphaModFix amt="0"/>
              </a:blip>
              <a:stretch>
                <a:fillRect l="0" t="-19621" r="0" b="-19618"/>
              </a:stretch>
            </a:blipFill>
            <a:ln w="19050" cap="sq">
              <a:solidFill>
                <a:srgbClr val="CDB3DC"/>
              </a:solidFill>
              <a:prstDash val="dash"/>
              <a:miter/>
            </a:ln>
          </p:spPr>
        </p:sp>
      </p:grpSp>
      <p:sp>
        <p:nvSpPr>
          <p:cNvPr name="TextBox 12" id="12"/>
          <p:cNvSpPr txBox="true"/>
          <p:nvPr/>
        </p:nvSpPr>
        <p:spPr>
          <a:xfrm rot="0">
            <a:off x="1682753" y="5330828"/>
            <a:ext cx="6855971"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MÝTUS</a:t>
            </a:r>
          </a:p>
        </p:txBody>
      </p:sp>
      <p:sp>
        <p:nvSpPr>
          <p:cNvPr name="TextBox 13" id="13"/>
          <p:cNvSpPr txBox="true"/>
          <p:nvPr/>
        </p:nvSpPr>
        <p:spPr>
          <a:xfrm rot="0">
            <a:off x="1682753" y="5828986"/>
            <a:ext cx="7325363" cy="835364"/>
          </a:xfrm>
          <a:prstGeom prst="rect">
            <a:avLst/>
          </a:prstGeom>
        </p:spPr>
        <p:txBody>
          <a:bodyPr anchor="t" rtlCol="false" tIns="0" lIns="0" bIns="0" rIns="0">
            <a:spAutoFit/>
          </a:bodyPr>
          <a:lstStyle/>
          <a:p>
            <a:pPr algn="l">
              <a:lnSpc>
                <a:spcPts val="3366"/>
              </a:lnSpc>
            </a:pPr>
            <a:r>
              <a:rPr lang="en-US" sz="2475">
                <a:solidFill>
                  <a:srgbClr val="6B4B7D"/>
                </a:solidFill>
                <a:latin typeface="Arimo"/>
                <a:ea typeface="Arimo"/>
                <a:cs typeface="Arimo"/>
                <a:sym typeface="Arimo"/>
              </a:rPr>
              <a:t>“Př</a:t>
            </a:r>
            <a:r>
              <a:rPr lang="en-US" sz="2475">
                <a:solidFill>
                  <a:srgbClr val="6B4B7D"/>
                </a:solidFill>
                <a:latin typeface="Arimo"/>
                <a:ea typeface="Arimo"/>
                <a:cs typeface="Arimo"/>
                <a:sym typeface="Arimo"/>
              </a:rPr>
              <a:t>echod začíná, až když začne vynechávat menstruace.”</a:t>
            </a:r>
          </a:p>
        </p:txBody>
      </p:sp>
      <p:grpSp>
        <p:nvGrpSpPr>
          <p:cNvPr name="Group 14" id="14"/>
          <p:cNvGrpSpPr/>
          <p:nvPr/>
        </p:nvGrpSpPr>
        <p:grpSpPr>
          <a:xfrm rot="0">
            <a:off x="9410700" y="4838700"/>
            <a:ext cx="7734300" cy="3489503"/>
            <a:chOff x="0" y="0"/>
            <a:chExt cx="10312400" cy="4652670"/>
          </a:xfrm>
        </p:grpSpPr>
        <p:sp>
          <p:nvSpPr>
            <p:cNvPr name="Freeform 15" id="15"/>
            <p:cNvSpPr/>
            <p:nvPr/>
          </p:nvSpPr>
          <p:spPr>
            <a:xfrm flipH="false" flipV="false" rot="0">
              <a:off x="0" y="0"/>
              <a:ext cx="10312400" cy="4652645"/>
            </a:xfrm>
            <a:custGeom>
              <a:avLst/>
              <a:gdLst/>
              <a:ahLst/>
              <a:cxnLst/>
              <a:rect r="r" b="b" t="t" l="l"/>
              <a:pathLst>
                <a:path h="4652645" w="10312400">
                  <a:moveTo>
                    <a:pt x="0" y="152400"/>
                  </a:moveTo>
                  <a:cubicBezTo>
                    <a:pt x="0" y="68199"/>
                    <a:pt x="68199" y="0"/>
                    <a:pt x="152400" y="0"/>
                  </a:cubicBezTo>
                  <a:lnTo>
                    <a:pt x="10160000" y="0"/>
                  </a:lnTo>
                  <a:cubicBezTo>
                    <a:pt x="10244201" y="0"/>
                    <a:pt x="10312400" y="68199"/>
                    <a:pt x="10312400" y="152400"/>
                  </a:cubicBezTo>
                  <a:lnTo>
                    <a:pt x="10312400" y="4500245"/>
                  </a:lnTo>
                  <a:cubicBezTo>
                    <a:pt x="10312400" y="4584446"/>
                    <a:pt x="10244201" y="4652645"/>
                    <a:pt x="10160000" y="4652645"/>
                  </a:cubicBezTo>
                  <a:lnTo>
                    <a:pt x="152400" y="4652645"/>
                  </a:lnTo>
                  <a:cubicBezTo>
                    <a:pt x="68199" y="4652645"/>
                    <a:pt x="0" y="4584446"/>
                    <a:pt x="0" y="4500245"/>
                  </a:cubicBezTo>
                  <a:close/>
                </a:path>
              </a:pathLst>
            </a:custGeom>
            <a:solidFill>
              <a:srgbClr val="F4ECFA"/>
            </a:solidFill>
          </p:spPr>
        </p:sp>
      </p:grpSp>
      <p:sp>
        <p:nvSpPr>
          <p:cNvPr name="TextBox 16" id="16"/>
          <p:cNvSpPr txBox="true"/>
          <p:nvPr/>
        </p:nvSpPr>
        <p:spPr>
          <a:xfrm rot="0">
            <a:off x="9931403" y="5311778"/>
            <a:ext cx="6895214"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FAKT</a:t>
            </a:r>
          </a:p>
        </p:txBody>
      </p:sp>
      <p:sp>
        <p:nvSpPr>
          <p:cNvPr name="TextBox 17" id="17"/>
          <p:cNvSpPr txBox="true"/>
          <p:nvPr/>
        </p:nvSpPr>
        <p:spPr>
          <a:xfrm rot="0">
            <a:off x="9931403" y="5955983"/>
            <a:ext cx="6895214" cy="1673574"/>
          </a:xfrm>
          <a:prstGeom prst="rect">
            <a:avLst/>
          </a:prstGeom>
        </p:spPr>
        <p:txBody>
          <a:bodyPr anchor="t" rtlCol="false" tIns="0" lIns="0" bIns="0" rIns="0">
            <a:spAutoFit/>
          </a:bodyPr>
          <a:lstStyle/>
          <a:p>
            <a:pPr algn="l">
              <a:lnSpc>
                <a:spcPts val="3366"/>
              </a:lnSpc>
            </a:pPr>
            <a:r>
              <a:rPr lang="en-US" sz="2475" b="true">
                <a:solidFill>
                  <a:srgbClr val="401252"/>
                </a:solidFill>
                <a:latin typeface="Arimo Bold"/>
                <a:ea typeface="Arimo Bold"/>
                <a:cs typeface="Arimo Bold"/>
                <a:sym typeface="Arimo Bold"/>
              </a:rPr>
              <a:t>Změny</a:t>
            </a:r>
            <a:r>
              <a:rPr lang="en-US" sz="2475" b="true">
                <a:solidFill>
                  <a:srgbClr val="401252"/>
                </a:solidFill>
                <a:latin typeface="Arimo Bold"/>
                <a:ea typeface="Arimo Bold"/>
                <a:cs typeface="Arimo Bold"/>
                <a:sym typeface="Arimo Bold"/>
              </a:rPr>
              <a:t> mohou začít dříve.</a:t>
            </a:r>
            <a:r>
              <a:rPr lang="en-US" sz="2475">
                <a:solidFill>
                  <a:srgbClr val="401252"/>
                </a:solidFill>
                <a:latin typeface="Arimo"/>
                <a:ea typeface="Arimo"/>
                <a:cs typeface="Arimo"/>
                <a:sym typeface="Arimo"/>
              </a:rPr>
              <a:t> Men</a:t>
            </a:r>
            <a:r>
              <a:rPr lang="en-US" sz="2475">
                <a:solidFill>
                  <a:srgbClr val="401252"/>
                </a:solidFill>
                <a:latin typeface="Arimo"/>
                <a:ea typeface="Arimo"/>
                <a:cs typeface="Arimo"/>
                <a:sym typeface="Arimo"/>
              </a:rPr>
              <a:t>s</a:t>
            </a:r>
            <a:r>
              <a:rPr lang="en-US" sz="2475">
                <a:solidFill>
                  <a:srgbClr val="401252"/>
                </a:solidFill>
                <a:latin typeface="Arimo"/>
                <a:ea typeface="Arimo"/>
                <a:cs typeface="Arimo"/>
                <a:sym typeface="Arimo"/>
              </a:rPr>
              <a:t>truač</a:t>
            </a:r>
            <a:r>
              <a:rPr lang="en-US" sz="2475">
                <a:solidFill>
                  <a:srgbClr val="401252"/>
                </a:solidFill>
                <a:latin typeface="Arimo"/>
                <a:ea typeface="Arimo"/>
                <a:cs typeface="Arimo"/>
                <a:sym typeface="Arimo"/>
              </a:rPr>
              <a:t>ní </a:t>
            </a:r>
            <a:r>
              <a:rPr lang="en-US" sz="2475">
                <a:solidFill>
                  <a:srgbClr val="401252"/>
                </a:solidFill>
                <a:latin typeface="Arimo"/>
                <a:ea typeface="Arimo"/>
                <a:cs typeface="Arimo"/>
                <a:sym typeface="Arimo"/>
              </a:rPr>
              <a:t>cyklus se zprvu mění jen nenápadně a hormonální </a:t>
            </a:r>
          </a:p>
          <a:p>
            <a:pPr algn="l">
              <a:lnSpc>
                <a:spcPts val="3366"/>
              </a:lnSpc>
            </a:pPr>
            <a:r>
              <a:rPr lang="en-US" sz="2475">
                <a:solidFill>
                  <a:srgbClr val="401252"/>
                </a:solidFill>
                <a:latin typeface="Arimo"/>
                <a:ea typeface="Arimo"/>
                <a:cs typeface="Arimo"/>
                <a:sym typeface="Arimo"/>
              </a:rPr>
              <a:t>i některé symptomatické změny mohou předcházet výrazné nepravidelnosti.</a:t>
            </a:r>
          </a:p>
        </p:txBody>
      </p:sp>
      <p:sp>
        <p:nvSpPr>
          <p:cNvPr name="TextBox 18" id="18"/>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09</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01252"/>
            </a:solidFill>
          </p:spPr>
        </p:sp>
      </p:grpSp>
      <p:sp>
        <p:nvSpPr>
          <p:cNvPr name="TextBox 4" id="4"/>
          <p:cNvSpPr txBox="true"/>
          <p:nvPr/>
        </p:nvSpPr>
        <p:spPr>
          <a:xfrm rot="0">
            <a:off x="1168403" y="1292228"/>
            <a:ext cx="5621350" cy="317951"/>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ODPOVĚĎ · CO SE VLASTNĚ DĚJE V TĚLE?</a:t>
            </a:r>
          </a:p>
        </p:txBody>
      </p:sp>
      <p:sp>
        <p:nvSpPr>
          <p:cNvPr name="TextBox 5" id="5"/>
          <p:cNvSpPr txBox="true"/>
          <p:nvPr/>
        </p:nvSpPr>
        <p:spPr>
          <a:xfrm rot="0">
            <a:off x="1168403" y="4375415"/>
            <a:ext cx="10471795" cy="1641021"/>
          </a:xfrm>
          <a:prstGeom prst="rect">
            <a:avLst/>
          </a:prstGeom>
        </p:spPr>
        <p:txBody>
          <a:bodyPr anchor="t" rtlCol="false" tIns="0" lIns="0" bIns="0" rIns="0">
            <a:spAutoFit/>
          </a:bodyPr>
          <a:lstStyle/>
          <a:p>
            <a:pPr algn="l">
              <a:lnSpc>
                <a:spcPts val="6262"/>
              </a:lnSpc>
            </a:pPr>
            <a:r>
              <a:rPr lang="en-US" sz="6300" spc="-170">
                <a:solidFill>
                  <a:srgbClr val="FFFFFF"/>
                </a:solidFill>
                <a:latin typeface="Arimo"/>
                <a:ea typeface="Arimo"/>
                <a:cs typeface="Arimo"/>
                <a:sym typeface="Arimo"/>
              </a:rPr>
              <a:t>Nejde o náhlý hormonální pád. </a:t>
            </a:r>
          </a:p>
          <a:p>
            <a:pPr algn="l">
              <a:lnSpc>
                <a:spcPts val="6263"/>
              </a:lnSpc>
            </a:pPr>
            <a:r>
              <a:rPr lang="en-US" sz="6300" spc="-175">
                <a:solidFill>
                  <a:srgbClr val="FFFFFF"/>
                </a:solidFill>
                <a:latin typeface="Arimo"/>
                <a:ea typeface="Arimo"/>
                <a:cs typeface="Arimo"/>
                <a:sym typeface="Arimo"/>
              </a:rPr>
              <a:t>Jde o několik let proměny.</a:t>
            </a:r>
          </a:p>
        </p:txBody>
      </p:sp>
      <p:sp>
        <p:nvSpPr>
          <p:cNvPr name="TextBox 6" id="6"/>
          <p:cNvSpPr txBox="true"/>
          <p:nvPr/>
        </p:nvSpPr>
        <p:spPr>
          <a:xfrm rot="0">
            <a:off x="1168403" y="6242618"/>
            <a:ext cx="13684253" cy="1312468"/>
          </a:xfrm>
          <a:prstGeom prst="rect">
            <a:avLst/>
          </a:prstGeom>
        </p:spPr>
        <p:txBody>
          <a:bodyPr anchor="t" rtlCol="false" tIns="0" lIns="0" bIns="0" rIns="0">
            <a:spAutoFit/>
          </a:bodyPr>
          <a:lstStyle/>
          <a:p>
            <a:pPr algn="l">
              <a:lnSpc>
                <a:spcPts val="3450"/>
              </a:lnSpc>
            </a:pPr>
            <a:r>
              <a:rPr lang="en-US" sz="2550">
                <a:solidFill>
                  <a:srgbClr val="C9AEDA"/>
                </a:solidFill>
                <a:latin typeface="Arimo"/>
                <a:ea typeface="Arimo"/>
                <a:cs typeface="Arimo"/>
                <a:sym typeface="Arimo"/>
              </a:rPr>
              <a:t>Menopauza je konkrétní bod v čase, přechod ale trvá roky. Nejtěžší na ní nebývá “nízký estrogen”, ale jeho </a:t>
            </a:r>
            <a:r>
              <a:rPr lang="en-US" sz="2550" b="true">
                <a:solidFill>
                  <a:srgbClr val="FFFFFF"/>
                </a:solidFill>
                <a:latin typeface="Arimo Bold"/>
                <a:ea typeface="Arimo Bold"/>
                <a:cs typeface="Arimo Bold"/>
                <a:sym typeface="Arimo Bold"/>
              </a:rPr>
              <a:t>nepředvídatelnost</a:t>
            </a:r>
            <a:r>
              <a:rPr lang="en-US" sz="2550">
                <a:solidFill>
                  <a:srgbClr val="C9AEDA"/>
                </a:solidFill>
                <a:latin typeface="Arimo"/>
                <a:ea typeface="Arimo"/>
                <a:cs typeface="Arimo"/>
                <a:sym typeface="Arimo"/>
              </a:rPr>
              <a:t>. </a:t>
            </a:r>
          </a:p>
          <a:p>
            <a:pPr algn="l">
              <a:lnSpc>
                <a:spcPts val="3452"/>
              </a:lnSpc>
            </a:pPr>
            <a:r>
              <a:rPr lang="en-US" sz="2550">
                <a:solidFill>
                  <a:srgbClr val="C9AEDA"/>
                </a:solidFill>
                <a:latin typeface="Arimo"/>
                <a:ea typeface="Arimo"/>
                <a:cs typeface="Arimo"/>
                <a:sym typeface="Arimo"/>
              </a:rPr>
              <a:t>Je přechodným obdobím nestability, po kterém přichází stabilnější hormonální fáze.</a:t>
            </a:r>
          </a:p>
        </p:txBody>
      </p:sp>
      <p:sp>
        <p:nvSpPr>
          <p:cNvPr name="TextBox 7" id="7"/>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20137699" cy="13959774"/>
            <a:chOff x="0" y="0"/>
            <a:chExt cx="26850266" cy="18613031"/>
          </a:xfrm>
        </p:grpSpPr>
        <p:sp>
          <p:nvSpPr>
            <p:cNvPr name="Freeform 3" id="3"/>
            <p:cNvSpPr/>
            <p:nvPr/>
          </p:nvSpPr>
          <p:spPr>
            <a:xfrm flipH="true" flipV="false" rot="0">
              <a:off x="0" y="0"/>
              <a:ext cx="26850265" cy="18613031"/>
            </a:xfrm>
            <a:custGeom>
              <a:avLst/>
              <a:gdLst/>
              <a:ahLst/>
              <a:cxnLst/>
              <a:rect r="r" b="b" t="t" l="l"/>
              <a:pathLst>
                <a:path h="18613031" w="26850265">
                  <a:moveTo>
                    <a:pt x="26850265" y="0"/>
                  </a:moveTo>
                  <a:lnTo>
                    <a:pt x="0" y="0"/>
                  </a:lnTo>
                  <a:lnTo>
                    <a:pt x="0" y="18613031"/>
                  </a:lnTo>
                  <a:lnTo>
                    <a:pt x="26850265" y="18613031"/>
                  </a:lnTo>
                  <a:lnTo>
                    <a:pt x="26850265" y="0"/>
                  </a:lnTo>
                  <a:close/>
                </a:path>
              </a:pathLst>
            </a:custGeom>
            <a:blipFill>
              <a:blip r:embed="rId3"/>
              <a:stretch>
                <a:fillRect l="0" t="-4456" r="0" b="-4456"/>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401252">
                    <a:alpha val="97000"/>
                  </a:srgbClr>
                </a:gs>
                <a:gs pos="48000">
                  <a:srgbClr val="401252">
                    <a:alpha val="91000"/>
                  </a:srgbClr>
                </a:gs>
                <a:gs pos="80000">
                  <a:srgbClr val="401252">
                    <a:alpha val="40000"/>
                  </a:srgbClr>
                </a:gs>
                <a:gs pos="100000">
                  <a:srgbClr val="401252">
                    <a:alpha val="12000"/>
                  </a:srgbClr>
                </a:gs>
              </a:gsLst>
              <a:lin ang="0"/>
            </a:gradFill>
          </p:spPr>
        </p:sp>
      </p:grpSp>
      <p:sp>
        <p:nvSpPr>
          <p:cNvPr name="TextBox 6" id="6"/>
          <p:cNvSpPr txBox="true"/>
          <p:nvPr/>
        </p:nvSpPr>
        <p:spPr>
          <a:xfrm rot="0">
            <a:off x="1168403" y="1292228"/>
            <a:ext cx="6488364" cy="317951"/>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ČÁST DRUHÁ · DŮSLEDKY ZMĚN</a:t>
            </a:r>
          </a:p>
        </p:txBody>
      </p:sp>
      <p:sp>
        <p:nvSpPr>
          <p:cNvPr name="TextBox 7" id="7"/>
          <p:cNvSpPr txBox="true"/>
          <p:nvPr/>
        </p:nvSpPr>
        <p:spPr>
          <a:xfrm rot="0">
            <a:off x="1168403" y="4542634"/>
            <a:ext cx="13684253" cy="1967166"/>
          </a:xfrm>
          <a:prstGeom prst="rect">
            <a:avLst/>
          </a:prstGeom>
        </p:spPr>
        <p:txBody>
          <a:bodyPr anchor="t" rtlCol="false" tIns="0" lIns="0" bIns="0" rIns="0">
            <a:spAutoFit/>
          </a:bodyPr>
          <a:lstStyle/>
          <a:p>
            <a:pPr algn="l">
              <a:lnSpc>
                <a:spcPts val="7489"/>
              </a:lnSpc>
            </a:pPr>
            <a:r>
              <a:rPr lang="en-US" sz="7650" spc="-206">
                <a:solidFill>
                  <a:srgbClr val="FFFFFF"/>
                </a:solidFill>
                <a:latin typeface="Arimo"/>
                <a:ea typeface="Arimo"/>
                <a:cs typeface="Arimo"/>
                <a:sym typeface="Arimo"/>
              </a:rPr>
              <a:t>Proč na těchto změnách </a:t>
            </a:r>
          </a:p>
          <a:p>
            <a:pPr algn="l">
              <a:lnSpc>
                <a:spcPts val="7490"/>
              </a:lnSpc>
            </a:pPr>
            <a:r>
              <a:rPr lang="en-US" sz="7650" spc="-214">
                <a:solidFill>
                  <a:srgbClr val="FFFFFF"/>
                </a:solidFill>
                <a:latin typeface="Arimo"/>
                <a:ea typeface="Arimo"/>
                <a:cs typeface="Arimo"/>
                <a:sym typeface="Arimo"/>
              </a:rPr>
              <a:t>záleží z pohledu longevity?</a:t>
            </a:r>
          </a:p>
        </p:txBody>
      </p:sp>
      <p:sp>
        <p:nvSpPr>
          <p:cNvPr name="TextBox 8" id="8"/>
          <p:cNvSpPr txBox="true"/>
          <p:nvPr/>
        </p:nvSpPr>
        <p:spPr>
          <a:xfrm rot="0">
            <a:off x="1168403" y="6840388"/>
            <a:ext cx="12310748" cy="1312468"/>
          </a:xfrm>
          <a:prstGeom prst="rect">
            <a:avLst/>
          </a:prstGeom>
        </p:spPr>
        <p:txBody>
          <a:bodyPr anchor="t" rtlCol="false" tIns="0" lIns="0" bIns="0" rIns="0">
            <a:spAutoFit/>
          </a:bodyPr>
          <a:lstStyle/>
          <a:p>
            <a:pPr algn="l">
              <a:lnSpc>
                <a:spcPts val="3450"/>
              </a:lnSpc>
            </a:pPr>
            <a:r>
              <a:rPr lang="en-US" sz="2550">
                <a:solidFill>
                  <a:srgbClr val="C9AEDA"/>
                </a:solidFill>
                <a:latin typeface="Arimo"/>
                <a:ea typeface="Arimo"/>
                <a:cs typeface="Arimo"/>
                <a:sym typeface="Arimo"/>
              </a:rPr>
              <a:t>V období </a:t>
            </a:r>
            <a:r>
              <a:rPr lang="en-US" sz="2550">
                <a:solidFill>
                  <a:srgbClr val="C9AEDA"/>
                </a:solidFill>
                <a:latin typeface="Arimo"/>
                <a:ea typeface="Arimo"/>
                <a:cs typeface="Arimo"/>
                <a:sym typeface="Arimo"/>
              </a:rPr>
              <a:t>kolem menopauzy se některé změny kostí, lipidů a tělesného složení zrychlují nad rámec samotného stárnutí.</a:t>
            </a:r>
          </a:p>
          <a:p>
            <a:pPr algn="l">
              <a:lnSpc>
                <a:spcPts val="3452"/>
              </a:lnSpc>
            </a:pPr>
            <a:r>
              <a:rPr lang="en-US" sz="2550">
                <a:solidFill>
                  <a:srgbClr val="C9AEDA"/>
                </a:solidFill>
                <a:latin typeface="Arimo"/>
                <a:ea typeface="Arimo"/>
                <a:cs typeface="Arimo"/>
                <a:sym typeface="Arimo"/>
              </a:rPr>
              <a:t>Právě proto je střední věk </a:t>
            </a:r>
            <a:r>
              <a:rPr lang="en-US" sz="2550" b="true">
                <a:solidFill>
                  <a:srgbClr val="C9AEDA"/>
                </a:solidFill>
                <a:latin typeface="Arimo Bold"/>
                <a:ea typeface="Arimo Bold"/>
                <a:cs typeface="Arimo Bold"/>
                <a:sym typeface="Arimo Bold"/>
              </a:rPr>
              <a:t>důležitým obdobím pro prevenci.</a:t>
            </a:r>
          </a:p>
        </p:txBody>
      </p:sp>
      <p:sp>
        <p:nvSpPr>
          <p:cNvPr name="TextBox 9" id="9"/>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grpSp>
        <p:nvGrpSpPr>
          <p:cNvPr name="Group 2" id="2"/>
          <p:cNvGrpSpPr/>
          <p:nvPr/>
        </p:nvGrpSpPr>
        <p:grpSpPr>
          <a:xfrm rot="0">
            <a:off x="14239875" y="1231554"/>
            <a:ext cx="400050" cy="400050"/>
            <a:chOff x="0" y="0"/>
            <a:chExt cx="533400" cy="533400"/>
          </a:xfrm>
        </p:grpSpPr>
        <p:sp>
          <p:nvSpPr>
            <p:cNvPr name="Freeform 3" id="3"/>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4" id="4"/>
          <p:cNvGrpSpPr/>
          <p:nvPr/>
        </p:nvGrpSpPr>
        <p:grpSpPr>
          <a:xfrm rot="0">
            <a:off x="14230350" y="1260129"/>
            <a:ext cx="419100" cy="381000"/>
            <a:chOff x="0" y="0"/>
            <a:chExt cx="558800" cy="508000"/>
          </a:xfrm>
        </p:grpSpPr>
        <p:sp>
          <p:nvSpPr>
            <p:cNvPr name="Freeform 5" id="5"/>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6" id="6"/>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grpSp>
        <p:nvGrpSpPr>
          <p:cNvPr name="Group 7" id="7"/>
          <p:cNvGrpSpPr/>
          <p:nvPr/>
        </p:nvGrpSpPr>
        <p:grpSpPr>
          <a:xfrm rot="0">
            <a:off x="1143000" y="6457950"/>
            <a:ext cx="12369479" cy="990600"/>
            <a:chOff x="0" y="0"/>
            <a:chExt cx="16492639" cy="1320800"/>
          </a:xfrm>
        </p:grpSpPr>
        <p:sp>
          <p:nvSpPr>
            <p:cNvPr name="Freeform 8" id="8"/>
            <p:cNvSpPr/>
            <p:nvPr/>
          </p:nvSpPr>
          <p:spPr>
            <a:xfrm flipH="false" flipV="false" rot="0">
              <a:off x="0" y="0"/>
              <a:ext cx="16492601" cy="1320800"/>
            </a:xfrm>
            <a:custGeom>
              <a:avLst/>
              <a:gdLst/>
              <a:ahLst/>
              <a:cxnLst/>
              <a:rect r="r" b="b" t="t" l="l"/>
              <a:pathLst>
                <a:path h="1320800" w="16492601">
                  <a:moveTo>
                    <a:pt x="0" y="0"/>
                  </a:moveTo>
                  <a:lnTo>
                    <a:pt x="16492601" y="0"/>
                  </a:lnTo>
                  <a:lnTo>
                    <a:pt x="16492601" y="1320800"/>
                  </a:lnTo>
                  <a:lnTo>
                    <a:pt x="0" y="1320800"/>
                  </a:lnTo>
                  <a:close/>
                </a:path>
              </a:pathLst>
            </a:custGeom>
            <a:solidFill>
              <a:srgbClr val="6C2C8B">
                <a:alpha val="5882"/>
              </a:srgbClr>
            </a:solidFill>
          </p:spPr>
        </p:sp>
      </p:grpSp>
      <p:grpSp>
        <p:nvGrpSpPr>
          <p:cNvPr name="Group 9" id="9"/>
          <p:cNvGrpSpPr/>
          <p:nvPr/>
        </p:nvGrpSpPr>
        <p:grpSpPr>
          <a:xfrm rot="0">
            <a:off x="13512479" y="6457950"/>
            <a:ext cx="3632444" cy="990600"/>
            <a:chOff x="0" y="0"/>
            <a:chExt cx="4843259" cy="1320800"/>
          </a:xfrm>
        </p:grpSpPr>
        <p:sp>
          <p:nvSpPr>
            <p:cNvPr name="Freeform 10" id="10"/>
            <p:cNvSpPr/>
            <p:nvPr/>
          </p:nvSpPr>
          <p:spPr>
            <a:xfrm flipH="false" flipV="false" rot="0">
              <a:off x="0" y="0"/>
              <a:ext cx="4843272" cy="1320800"/>
            </a:xfrm>
            <a:custGeom>
              <a:avLst/>
              <a:gdLst/>
              <a:ahLst/>
              <a:cxnLst/>
              <a:rect r="r" b="b" t="t" l="l"/>
              <a:pathLst>
                <a:path h="1320800" w="4843272">
                  <a:moveTo>
                    <a:pt x="0" y="0"/>
                  </a:moveTo>
                  <a:lnTo>
                    <a:pt x="4843272" y="0"/>
                  </a:lnTo>
                  <a:lnTo>
                    <a:pt x="4843272" y="1320800"/>
                  </a:lnTo>
                  <a:lnTo>
                    <a:pt x="0" y="1320800"/>
                  </a:lnTo>
                  <a:close/>
                </a:path>
              </a:pathLst>
            </a:custGeom>
            <a:solidFill>
              <a:srgbClr val="6D2A8C"/>
            </a:solidFill>
          </p:spPr>
        </p:sp>
      </p:grpSp>
      <p:grpSp>
        <p:nvGrpSpPr>
          <p:cNvPr name="Group 11" id="11"/>
          <p:cNvGrpSpPr/>
          <p:nvPr/>
        </p:nvGrpSpPr>
        <p:grpSpPr>
          <a:xfrm rot="0">
            <a:off x="11214344" y="6219511"/>
            <a:ext cx="47625" cy="1229039"/>
            <a:chOff x="0" y="0"/>
            <a:chExt cx="62992" cy="1625600"/>
          </a:xfrm>
        </p:grpSpPr>
        <p:sp>
          <p:nvSpPr>
            <p:cNvPr name="Freeform 12" id="12"/>
            <p:cNvSpPr/>
            <p:nvPr/>
          </p:nvSpPr>
          <p:spPr>
            <a:xfrm flipH="false" flipV="false" rot="0">
              <a:off x="0" y="0"/>
              <a:ext cx="62992" cy="1625600"/>
            </a:xfrm>
            <a:custGeom>
              <a:avLst/>
              <a:gdLst/>
              <a:ahLst/>
              <a:cxnLst/>
              <a:rect r="r" b="b" t="t" l="l"/>
              <a:pathLst>
                <a:path h="1625600" w="62992">
                  <a:moveTo>
                    <a:pt x="0" y="0"/>
                  </a:moveTo>
                  <a:lnTo>
                    <a:pt x="62992" y="0"/>
                  </a:lnTo>
                  <a:lnTo>
                    <a:pt x="62992" y="1625600"/>
                  </a:lnTo>
                  <a:lnTo>
                    <a:pt x="0" y="1625600"/>
                  </a:lnTo>
                  <a:close/>
                </a:path>
              </a:pathLst>
            </a:custGeom>
            <a:solidFill>
              <a:srgbClr val="401252"/>
            </a:solidFill>
          </p:spPr>
        </p:sp>
      </p:grpSp>
      <p:sp>
        <p:nvSpPr>
          <p:cNvPr name="TextBox 13" id="13"/>
          <p:cNvSpPr txBox="true"/>
          <p:nvPr/>
        </p:nvSpPr>
        <p:spPr>
          <a:xfrm rot="0">
            <a:off x="1168403" y="1292228"/>
            <a:ext cx="3227365" cy="317951"/>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PROČ TEĎ?</a:t>
            </a:r>
          </a:p>
        </p:txBody>
      </p:sp>
      <p:sp>
        <p:nvSpPr>
          <p:cNvPr name="TextBox 14" id="14"/>
          <p:cNvSpPr txBox="true"/>
          <p:nvPr/>
        </p:nvSpPr>
        <p:spPr>
          <a:xfrm rot="0">
            <a:off x="1168403" y="1901828"/>
            <a:ext cx="14617703" cy="702935"/>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Po menopauze žijete víc než třetinu života.</a:t>
            </a:r>
          </a:p>
        </p:txBody>
      </p:sp>
      <p:sp>
        <p:nvSpPr>
          <p:cNvPr name="TextBox 15" id="15"/>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POPULAČNÍ DATA, EUROSTAT</a:t>
            </a:r>
          </a:p>
        </p:txBody>
      </p:sp>
      <p:sp>
        <p:nvSpPr>
          <p:cNvPr name="TextBox 16" id="16"/>
          <p:cNvSpPr txBox="true"/>
          <p:nvPr/>
        </p:nvSpPr>
        <p:spPr>
          <a:xfrm rot="0">
            <a:off x="1168403" y="4207904"/>
            <a:ext cx="4401840" cy="1375225"/>
          </a:xfrm>
          <a:prstGeom prst="rect">
            <a:avLst/>
          </a:prstGeom>
        </p:spPr>
        <p:txBody>
          <a:bodyPr anchor="t" rtlCol="false" tIns="0" lIns="0" bIns="0" rIns="0">
            <a:spAutoFit/>
          </a:bodyPr>
          <a:lstStyle/>
          <a:p>
            <a:pPr algn="l">
              <a:lnSpc>
                <a:spcPts val="9451"/>
              </a:lnSpc>
            </a:pPr>
            <a:r>
              <a:rPr lang="en-US" sz="11400" spc="-342">
                <a:solidFill>
                  <a:srgbClr val="6D2A8C"/>
                </a:solidFill>
                <a:latin typeface="Arimo"/>
                <a:ea typeface="Arimo"/>
                <a:cs typeface="Arimo"/>
                <a:sym typeface="Arimo"/>
              </a:rPr>
              <a:t>34,1 </a:t>
            </a:r>
            <a:r>
              <a:rPr lang="en-US" sz="11400" spc="-342">
                <a:solidFill>
                  <a:srgbClr val="6D2A8C"/>
                </a:solidFill>
                <a:latin typeface="Arimo"/>
                <a:ea typeface="Arimo"/>
                <a:cs typeface="Arimo"/>
                <a:sym typeface="Arimo"/>
              </a:rPr>
              <a:t>let</a:t>
            </a:r>
          </a:p>
        </p:txBody>
      </p:sp>
      <p:sp>
        <p:nvSpPr>
          <p:cNvPr name="TextBox 17" id="17"/>
          <p:cNvSpPr txBox="true"/>
          <p:nvPr/>
        </p:nvSpPr>
        <p:spPr>
          <a:xfrm rot="0">
            <a:off x="5894993" y="4412172"/>
            <a:ext cx="12630893" cy="632294"/>
          </a:xfrm>
          <a:prstGeom prst="rect">
            <a:avLst/>
          </a:prstGeom>
        </p:spPr>
        <p:txBody>
          <a:bodyPr anchor="t" rtlCol="false" tIns="0" lIns="0" bIns="0" rIns="0">
            <a:spAutoFit/>
          </a:bodyPr>
          <a:lstStyle/>
          <a:p>
            <a:pPr algn="l">
              <a:lnSpc>
                <a:spcPts val="2475"/>
              </a:lnSpc>
            </a:pPr>
            <a:r>
              <a:rPr lang="en-US" sz="1650" spc="214">
                <a:solidFill>
                  <a:srgbClr val="6B4B7D"/>
                </a:solidFill>
                <a:latin typeface="Arimo"/>
                <a:ea typeface="Arimo"/>
                <a:cs typeface="Arimo"/>
                <a:sym typeface="Arimo"/>
              </a:rPr>
              <a:t>ZBÝVAJÍCÍ LIFE EXPECTANCY </a:t>
            </a:r>
          </a:p>
          <a:p>
            <a:pPr algn="l">
              <a:lnSpc>
                <a:spcPts val="2476"/>
              </a:lnSpc>
            </a:pPr>
            <a:r>
              <a:rPr lang="en-US" sz="1650" spc="214">
                <a:solidFill>
                  <a:srgbClr val="6B4B7D"/>
                </a:solidFill>
                <a:latin typeface="Arimo"/>
                <a:ea typeface="Arimo"/>
                <a:cs typeface="Arimo"/>
                <a:sym typeface="Arimo"/>
              </a:rPr>
              <a:t>(česká žena, která se dožila 50 let)</a:t>
            </a:r>
          </a:p>
        </p:txBody>
      </p:sp>
      <p:sp>
        <p:nvSpPr>
          <p:cNvPr name="TextBox 18" id="18"/>
          <p:cNvSpPr txBox="true"/>
          <p:nvPr/>
        </p:nvSpPr>
        <p:spPr>
          <a:xfrm rot="0">
            <a:off x="9604151" y="5692165"/>
            <a:ext cx="3315636" cy="317951"/>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MENOPAUZA 51,4 (medián)</a:t>
            </a:r>
          </a:p>
        </p:txBody>
      </p:sp>
      <p:sp>
        <p:nvSpPr>
          <p:cNvPr name="TextBox 19" id="19"/>
          <p:cNvSpPr txBox="true"/>
          <p:nvPr/>
        </p:nvSpPr>
        <p:spPr>
          <a:xfrm rot="0">
            <a:off x="1454153" y="6767170"/>
            <a:ext cx="4440840" cy="277080"/>
          </a:xfrm>
          <a:prstGeom prst="rect">
            <a:avLst/>
          </a:prstGeom>
        </p:spPr>
        <p:txBody>
          <a:bodyPr anchor="t" rtlCol="false" tIns="0" lIns="0" bIns="0" rIns="0">
            <a:spAutoFit/>
          </a:bodyPr>
          <a:lstStyle/>
          <a:p>
            <a:pPr algn="l">
              <a:lnSpc>
                <a:spcPts val="2243"/>
              </a:lnSpc>
            </a:pPr>
            <a:r>
              <a:rPr lang="en-US" sz="1500" spc="195">
                <a:solidFill>
                  <a:srgbClr val="401252"/>
                </a:solidFill>
                <a:latin typeface="Arimo"/>
                <a:ea typeface="Arimo"/>
                <a:cs typeface="Arimo"/>
                <a:sym typeface="Arimo"/>
              </a:rPr>
              <a:t>62,6 HEALTHY LIFE YEARS AT BIRTH</a:t>
            </a:r>
          </a:p>
        </p:txBody>
      </p:sp>
      <p:sp>
        <p:nvSpPr>
          <p:cNvPr name="TextBox 20" id="20"/>
          <p:cNvSpPr txBox="true"/>
          <p:nvPr/>
        </p:nvSpPr>
        <p:spPr>
          <a:xfrm rot="0">
            <a:off x="13785532" y="6767170"/>
            <a:ext cx="2813942" cy="277080"/>
          </a:xfrm>
          <a:prstGeom prst="rect">
            <a:avLst/>
          </a:prstGeom>
        </p:spPr>
        <p:txBody>
          <a:bodyPr anchor="t" rtlCol="false" tIns="0" lIns="0" bIns="0" rIns="0">
            <a:spAutoFit/>
          </a:bodyPr>
          <a:lstStyle/>
          <a:p>
            <a:pPr algn="l">
              <a:lnSpc>
                <a:spcPts val="2243"/>
              </a:lnSpc>
            </a:pPr>
            <a:r>
              <a:rPr lang="en-US" sz="1500" spc="195">
                <a:solidFill>
                  <a:srgbClr val="FFFFFF"/>
                </a:solidFill>
                <a:latin typeface="Arimo"/>
                <a:ea typeface="Arimo"/>
                <a:cs typeface="Arimo"/>
                <a:sym typeface="Arimo"/>
              </a:rPr>
              <a:t>17,9</a:t>
            </a:r>
            <a:r>
              <a:rPr lang="en-US" sz="1500" spc="195">
                <a:solidFill>
                  <a:srgbClr val="FFFFFF"/>
                </a:solidFill>
                <a:latin typeface="Arimo"/>
                <a:ea typeface="Arimo"/>
                <a:cs typeface="Arimo"/>
                <a:sym typeface="Arimo"/>
              </a:rPr>
              <a:t> ROKU bez OMEZENÍ</a:t>
            </a:r>
          </a:p>
        </p:txBody>
      </p:sp>
      <p:sp>
        <p:nvSpPr>
          <p:cNvPr name="TextBox 21" id="21"/>
          <p:cNvSpPr txBox="true"/>
          <p:nvPr/>
        </p:nvSpPr>
        <p:spPr>
          <a:xfrm rot="0">
            <a:off x="1168403" y="7702553"/>
            <a:ext cx="17551403" cy="418935"/>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Naděje dožití žen v ČR je </a:t>
            </a:r>
            <a:r>
              <a:rPr lang="en-US" sz="2400" b="true">
                <a:solidFill>
                  <a:srgbClr val="401252"/>
                </a:solidFill>
                <a:latin typeface="Arimo Bold"/>
                <a:ea typeface="Arimo Bold"/>
                <a:cs typeface="Arimo Bold"/>
                <a:sym typeface="Arimo Bold"/>
              </a:rPr>
              <a:t>83,2 roku</a:t>
            </a:r>
            <a:r>
              <a:rPr lang="en-US" sz="2400">
                <a:solidFill>
                  <a:srgbClr val="6B4B7D"/>
                </a:solidFill>
                <a:latin typeface="Arimo"/>
                <a:ea typeface="Arimo"/>
                <a:cs typeface="Arimo"/>
                <a:sym typeface="Arimo"/>
              </a:rPr>
              <a:t>. Nejde jen o délku života. Jde o to, kolik z těchto let </a:t>
            </a:r>
            <a:r>
              <a:rPr lang="en-US" sz="2400" b="true">
                <a:solidFill>
                  <a:srgbClr val="6B4B7D"/>
                </a:solidFill>
                <a:latin typeface="Arimo Bold"/>
                <a:ea typeface="Arimo Bold"/>
                <a:cs typeface="Arimo Bold"/>
                <a:sym typeface="Arimo Bold"/>
              </a:rPr>
              <a:t>prožijeme ve zdraví.</a:t>
            </a:r>
          </a:p>
        </p:txBody>
      </p:sp>
      <p:sp>
        <p:nvSpPr>
          <p:cNvPr name="TextBox 22" id="22"/>
          <p:cNvSpPr txBox="true"/>
          <p:nvPr/>
        </p:nvSpPr>
        <p:spPr>
          <a:xfrm rot="0">
            <a:off x="1168403" y="9116568"/>
            <a:ext cx="13569953" cy="284035"/>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Eurostat 2024, ČR</a:t>
            </a:r>
          </a:p>
        </p:txBody>
      </p:sp>
      <p:sp>
        <p:nvSpPr>
          <p:cNvPr name="TextBox 23" id="23"/>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2597106"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MAPA</a:t>
            </a:r>
          </a:p>
        </p:txBody>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168403" y="1901828"/>
            <a:ext cx="13567172" cy="773565"/>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Pět oblastí zdraví, které si zaslouží pozornost.</a:t>
            </a:r>
          </a:p>
        </p:txBody>
      </p:sp>
      <p:grpSp>
        <p:nvGrpSpPr>
          <p:cNvPr name="Group 5" id="5"/>
          <p:cNvGrpSpPr/>
          <p:nvPr/>
        </p:nvGrpSpPr>
        <p:grpSpPr>
          <a:xfrm rot="0">
            <a:off x="7953375" y="4000500"/>
            <a:ext cx="2381250" cy="2381250"/>
            <a:chOff x="0" y="0"/>
            <a:chExt cx="3175000" cy="3175000"/>
          </a:xfrm>
        </p:grpSpPr>
        <p:sp>
          <p:nvSpPr>
            <p:cNvPr name="Freeform 6" id="6"/>
            <p:cNvSpPr/>
            <p:nvPr/>
          </p:nvSpPr>
          <p:spPr>
            <a:xfrm flipH="false" flipV="false" rot="0">
              <a:off x="0" y="0"/>
              <a:ext cx="3175000" cy="3175000"/>
            </a:xfrm>
            <a:custGeom>
              <a:avLst/>
              <a:gdLst/>
              <a:ahLst/>
              <a:cxnLst/>
              <a:rect r="r" b="b" t="t" l="l"/>
              <a:pathLst>
                <a:path h="3175000" w="3175000">
                  <a:moveTo>
                    <a:pt x="0" y="1587500"/>
                  </a:moveTo>
                  <a:cubicBezTo>
                    <a:pt x="0" y="710692"/>
                    <a:pt x="710692" y="0"/>
                    <a:pt x="1587500" y="0"/>
                  </a:cubicBezTo>
                  <a:cubicBezTo>
                    <a:pt x="2464308" y="0"/>
                    <a:pt x="3175000" y="710692"/>
                    <a:pt x="3175000" y="1587500"/>
                  </a:cubicBezTo>
                  <a:cubicBezTo>
                    <a:pt x="3175000" y="2464308"/>
                    <a:pt x="2464308" y="3175000"/>
                    <a:pt x="1587500" y="3175000"/>
                  </a:cubicBezTo>
                  <a:cubicBezTo>
                    <a:pt x="710692" y="3175000"/>
                    <a:pt x="0" y="2464308"/>
                    <a:pt x="0" y="1587500"/>
                  </a:cubicBezTo>
                  <a:close/>
                </a:path>
              </a:pathLst>
            </a:custGeom>
            <a:solidFill>
              <a:srgbClr val="6D2A8C"/>
            </a:solidFill>
          </p:spPr>
        </p:sp>
      </p:grpSp>
      <p:sp>
        <p:nvSpPr>
          <p:cNvPr name="TextBox 7" id="7"/>
          <p:cNvSpPr txBox="true"/>
          <p:nvPr/>
        </p:nvSpPr>
        <p:spPr>
          <a:xfrm rot="0">
            <a:off x="8247935" y="4986024"/>
            <a:ext cx="1792139" cy="410201"/>
          </a:xfrm>
          <a:prstGeom prst="rect">
            <a:avLst/>
          </a:prstGeom>
        </p:spPr>
        <p:txBody>
          <a:bodyPr anchor="t" rtlCol="false" tIns="0" lIns="0" bIns="0" rIns="0">
            <a:spAutoFit/>
          </a:bodyPr>
          <a:lstStyle/>
          <a:p>
            <a:pPr algn="l">
              <a:lnSpc>
                <a:spcPts val="3010"/>
              </a:lnSpc>
            </a:pPr>
            <a:r>
              <a:rPr lang="en-US" sz="2700">
                <a:solidFill>
                  <a:srgbClr val="FFFFFF"/>
                </a:solidFill>
                <a:latin typeface="Arimo"/>
                <a:ea typeface="Arimo"/>
                <a:cs typeface="Arimo"/>
                <a:sym typeface="Arimo"/>
              </a:rPr>
              <a:t>Menopauza</a:t>
            </a:r>
          </a:p>
        </p:txBody>
      </p:sp>
      <p:sp>
        <p:nvSpPr>
          <p:cNvPr name="TextBox 8" id="8"/>
          <p:cNvSpPr txBox="true"/>
          <p:nvPr/>
        </p:nvSpPr>
        <p:spPr>
          <a:xfrm rot="0">
            <a:off x="854078" y="3797303"/>
            <a:ext cx="5502278" cy="398736"/>
          </a:xfrm>
          <a:prstGeom prst="rect">
            <a:avLst/>
          </a:prstGeom>
        </p:spPr>
        <p:txBody>
          <a:bodyPr anchor="t" rtlCol="false" tIns="0" lIns="0" bIns="0" rIns="0">
            <a:spAutoFit/>
          </a:bodyPr>
          <a:lstStyle/>
          <a:p>
            <a:pPr algn="r">
              <a:lnSpc>
                <a:spcPts val="3010"/>
              </a:lnSpc>
            </a:pPr>
            <a:r>
              <a:rPr lang="en-US" sz="2700">
                <a:solidFill>
                  <a:srgbClr val="401252"/>
                </a:solidFill>
                <a:latin typeface="Arimo"/>
                <a:ea typeface="Arimo"/>
                <a:cs typeface="Arimo"/>
                <a:sym typeface="Arimo"/>
              </a:rPr>
              <a:t>Srdce a cévy</a:t>
            </a:r>
          </a:p>
        </p:txBody>
      </p:sp>
      <p:sp>
        <p:nvSpPr>
          <p:cNvPr name="TextBox 9" id="9"/>
          <p:cNvSpPr txBox="true"/>
          <p:nvPr/>
        </p:nvSpPr>
        <p:spPr>
          <a:xfrm rot="0">
            <a:off x="854078" y="4246836"/>
            <a:ext cx="5502278" cy="473078"/>
          </a:xfrm>
          <a:prstGeom prst="rect">
            <a:avLst/>
          </a:prstGeom>
        </p:spPr>
        <p:txBody>
          <a:bodyPr anchor="t" rtlCol="false" tIns="0" lIns="0" bIns="0" rIns="0">
            <a:spAutoFit/>
          </a:bodyPr>
          <a:lstStyle/>
          <a:p>
            <a:pPr algn="r">
              <a:lnSpc>
                <a:spcPts val="3115"/>
              </a:lnSpc>
            </a:pPr>
            <a:r>
              <a:rPr lang="en-US" sz="2250">
                <a:solidFill>
                  <a:srgbClr val="6B4B7D"/>
                </a:solidFill>
                <a:latin typeface="Arimo"/>
                <a:ea typeface="Arimo"/>
                <a:cs typeface="Arimo"/>
                <a:sym typeface="Arimo"/>
              </a:rPr>
              <a:t>Lipidy, tlak, riziko aterosklerózy.</a:t>
            </a:r>
          </a:p>
        </p:txBody>
      </p:sp>
      <p:sp>
        <p:nvSpPr>
          <p:cNvPr name="TextBox 10" id="10"/>
          <p:cNvSpPr txBox="true"/>
          <p:nvPr/>
        </p:nvSpPr>
        <p:spPr>
          <a:xfrm rot="0">
            <a:off x="11931653" y="3797303"/>
            <a:ext cx="5502278" cy="398736"/>
          </a:xfrm>
          <a:prstGeom prst="rect">
            <a:avLst/>
          </a:prstGeom>
        </p:spPr>
        <p:txBody>
          <a:bodyPr anchor="t" rtlCol="false" tIns="0" lIns="0" bIns="0" rIns="0">
            <a:spAutoFit/>
          </a:bodyPr>
          <a:lstStyle/>
          <a:p>
            <a:pPr algn="l">
              <a:lnSpc>
                <a:spcPts val="3010"/>
              </a:lnSpc>
            </a:pPr>
            <a:r>
              <a:rPr lang="en-US" sz="2700">
                <a:solidFill>
                  <a:srgbClr val="401252"/>
                </a:solidFill>
                <a:latin typeface="Arimo"/>
                <a:ea typeface="Arimo"/>
                <a:cs typeface="Arimo"/>
                <a:sym typeface="Arimo"/>
              </a:rPr>
              <a:t>Metabolismus</a:t>
            </a:r>
          </a:p>
        </p:txBody>
      </p:sp>
      <p:sp>
        <p:nvSpPr>
          <p:cNvPr name="TextBox 11" id="11"/>
          <p:cNvSpPr txBox="true"/>
          <p:nvPr/>
        </p:nvSpPr>
        <p:spPr>
          <a:xfrm rot="0">
            <a:off x="11931653" y="4246836"/>
            <a:ext cx="5502278" cy="473078"/>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Viscerální tuk, inzulinová rezistence.</a:t>
            </a:r>
          </a:p>
        </p:txBody>
      </p:sp>
      <p:sp>
        <p:nvSpPr>
          <p:cNvPr name="TextBox 12" id="12"/>
          <p:cNvSpPr txBox="true"/>
          <p:nvPr/>
        </p:nvSpPr>
        <p:spPr>
          <a:xfrm rot="0">
            <a:off x="749660" y="6350003"/>
            <a:ext cx="5502278" cy="398736"/>
          </a:xfrm>
          <a:prstGeom prst="rect">
            <a:avLst/>
          </a:prstGeom>
        </p:spPr>
        <p:txBody>
          <a:bodyPr anchor="t" rtlCol="false" tIns="0" lIns="0" bIns="0" rIns="0">
            <a:spAutoFit/>
          </a:bodyPr>
          <a:lstStyle/>
          <a:p>
            <a:pPr algn="r">
              <a:lnSpc>
                <a:spcPts val="3010"/>
              </a:lnSpc>
            </a:pPr>
            <a:r>
              <a:rPr lang="en-US" sz="2700">
                <a:solidFill>
                  <a:srgbClr val="401252"/>
                </a:solidFill>
                <a:latin typeface="Arimo"/>
                <a:ea typeface="Arimo"/>
                <a:cs typeface="Arimo"/>
                <a:sym typeface="Arimo"/>
              </a:rPr>
              <a:t>Kost a sval</a:t>
            </a:r>
          </a:p>
        </p:txBody>
      </p:sp>
      <p:sp>
        <p:nvSpPr>
          <p:cNvPr name="TextBox 13" id="13"/>
          <p:cNvSpPr txBox="true"/>
          <p:nvPr/>
        </p:nvSpPr>
        <p:spPr>
          <a:xfrm rot="0">
            <a:off x="854078" y="6796364"/>
            <a:ext cx="5502278" cy="785494"/>
          </a:xfrm>
          <a:prstGeom prst="rect">
            <a:avLst/>
          </a:prstGeom>
        </p:spPr>
        <p:txBody>
          <a:bodyPr anchor="t" rtlCol="false" tIns="0" lIns="0" bIns="0" rIns="0">
            <a:spAutoFit/>
          </a:bodyPr>
          <a:lstStyle/>
          <a:p>
            <a:pPr algn="r">
              <a:lnSpc>
                <a:spcPts val="3113"/>
              </a:lnSpc>
            </a:pPr>
            <a:r>
              <a:rPr lang="en-US" sz="2250">
                <a:solidFill>
                  <a:srgbClr val="6B4B7D"/>
                </a:solidFill>
                <a:latin typeface="Arimo"/>
                <a:ea typeface="Arimo"/>
                <a:cs typeface="Arimo"/>
                <a:sym typeface="Arimo"/>
              </a:rPr>
              <a:t>Ko</a:t>
            </a:r>
            <a:r>
              <a:rPr lang="en-US" sz="2250">
                <a:solidFill>
                  <a:srgbClr val="6B4B7D"/>
                </a:solidFill>
                <a:latin typeface="Arimo"/>
                <a:ea typeface="Arimo"/>
                <a:cs typeface="Arimo"/>
                <a:sym typeface="Arimo"/>
              </a:rPr>
              <a:t>stní denzita, </a:t>
            </a:r>
          </a:p>
          <a:p>
            <a:pPr algn="r">
              <a:lnSpc>
                <a:spcPts val="3115"/>
              </a:lnSpc>
            </a:pPr>
            <a:r>
              <a:rPr lang="en-US" sz="2250">
                <a:solidFill>
                  <a:srgbClr val="6B4B7D"/>
                </a:solidFill>
                <a:latin typeface="Arimo"/>
                <a:ea typeface="Arimo"/>
                <a:cs typeface="Arimo"/>
                <a:sym typeface="Arimo"/>
              </a:rPr>
              <a:t>svalová hmota/síla, riziko pádů.</a:t>
            </a:r>
          </a:p>
        </p:txBody>
      </p:sp>
      <p:sp>
        <p:nvSpPr>
          <p:cNvPr name="TextBox 14" id="14"/>
          <p:cNvSpPr txBox="true"/>
          <p:nvPr/>
        </p:nvSpPr>
        <p:spPr>
          <a:xfrm rot="0">
            <a:off x="11931653" y="6350003"/>
            <a:ext cx="5502278" cy="398736"/>
          </a:xfrm>
          <a:prstGeom prst="rect">
            <a:avLst/>
          </a:prstGeom>
        </p:spPr>
        <p:txBody>
          <a:bodyPr anchor="t" rtlCol="false" tIns="0" lIns="0" bIns="0" rIns="0">
            <a:spAutoFit/>
          </a:bodyPr>
          <a:lstStyle/>
          <a:p>
            <a:pPr algn="l">
              <a:lnSpc>
                <a:spcPts val="3010"/>
              </a:lnSpc>
            </a:pPr>
            <a:r>
              <a:rPr lang="en-US" sz="2700">
                <a:solidFill>
                  <a:srgbClr val="401252"/>
                </a:solidFill>
                <a:latin typeface="Arimo"/>
                <a:ea typeface="Arimo"/>
                <a:cs typeface="Arimo"/>
                <a:sym typeface="Arimo"/>
              </a:rPr>
              <a:t>Mozek a psychika</a:t>
            </a:r>
          </a:p>
        </p:txBody>
      </p:sp>
      <p:sp>
        <p:nvSpPr>
          <p:cNvPr name="TextBox 15" id="15"/>
          <p:cNvSpPr txBox="true"/>
          <p:nvPr/>
        </p:nvSpPr>
        <p:spPr>
          <a:xfrm rot="0">
            <a:off x="11931653" y="6799536"/>
            <a:ext cx="5502278" cy="473078"/>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Spánek, nálada, kognice.</a:t>
            </a:r>
          </a:p>
        </p:txBody>
      </p:sp>
      <p:sp>
        <p:nvSpPr>
          <p:cNvPr name="TextBox 16" id="16"/>
          <p:cNvSpPr txBox="true"/>
          <p:nvPr/>
        </p:nvSpPr>
        <p:spPr>
          <a:xfrm rot="0">
            <a:off x="6026153" y="7645403"/>
            <a:ext cx="6235703" cy="398736"/>
          </a:xfrm>
          <a:prstGeom prst="rect">
            <a:avLst/>
          </a:prstGeom>
        </p:spPr>
        <p:txBody>
          <a:bodyPr anchor="t" rtlCol="false" tIns="0" lIns="0" bIns="0" rIns="0">
            <a:spAutoFit/>
          </a:bodyPr>
          <a:lstStyle/>
          <a:p>
            <a:pPr algn="ctr">
              <a:lnSpc>
                <a:spcPts val="3010"/>
              </a:lnSpc>
            </a:pPr>
            <a:r>
              <a:rPr lang="en-US" sz="2700">
                <a:solidFill>
                  <a:srgbClr val="401252"/>
                </a:solidFill>
                <a:latin typeface="Arimo"/>
                <a:ea typeface="Arimo"/>
                <a:cs typeface="Arimo"/>
                <a:sym typeface="Arimo"/>
              </a:rPr>
              <a:t>Urogenitál</a:t>
            </a:r>
          </a:p>
        </p:txBody>
      </p:sp>
      <p:sp>
        <p:nvSpPr>
          <p:cNvPr name="TextBox 17" id="17"/>
          <p:cNvSpPr txBox="true"/>
          <p:nvPr/>
        </p:nvSpPr>
        <p:spPr>
          <a:xfrm rot="0">
            <a:off x="6145489" y="8091764"/>
            <a:ext cx="6235703" cy="473078"/>
          </a:xfrm>
          <a:prstGeom prst="rect">
            <a:avLst/>
          </a:prstGeom>
        </p:spPr>
        <p:txBody>
          <a:bodyPr anchor="t" rtlCol="false" tIns="0" lIns="0" bIns="0" rIns="0">
            <a:spAutoFit/>
          </a:bodyPr>
          <a:lstStyle/>
          <a:p>
            <a:pPr algn="ctr">
              <a:lnSpc>
                <a:spcPts val="3115"/>
              </a:lnSpc>
            </a:pPr>
            <a:r>
              <a:rPr lang="en-US" sz="2250">
                <a:solidFill>
                  <a:srgbClr val="6B4B7D"/>
                </a:solidFill>
                <a:latin typeface="Arimo"/>
                <a:ea typeface="Arimo"/>
                <a:cs typeface="Arimo"/>
                <a:sym typeface="Arimo"/>
              </a:rPr>
              <a:t>Suchost, bolest, kontinence, libido.</a:t>
            </a:r>
          </a:p>
        </p:txBody>
      </p:sp>
      <p:sp>
        <p:nvSpPr>
          <p:cNvPr name="TextBox 18" id="18"/>
          <p:cNvSpPr txBox="true"/>
          <p:nvPr/>
        </p:nvSpPr>
        <p:spPr>
          <a:xfrm rot="0">
            <a:off x="1168403" y="9116568"/>
            <a:ext cx="13569953" cy="284035"/>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N</a:t>
            </a:r>
            <a:r>
              <a:rPr lang="en-US" sz="1575" spc="63">
                <a:solidFill>
                  <a:srgbClr val="6B4B7D"/>
                </a:solidFill>
                <a:latin typeface="Arimo"/>
                <a:ea typeface="Arimo"/>
                <a:cs typeface="Arimo"/>
                <a:sym typeface="Arimo"/>
              </a:rPr>
              <a:t>ejde o pět oddělených problémů. Jde o jednu propojenou trajektorii zdraví sdílející řadu stejných preventivních nástrojů.</a:t>
            </a:r>
          </a:p>
        </p:txBody>
      </p:sp>
      <p:sp>
        <p:nvSpPr>
          <p:cNvPr name="TextBox 19" id="19"/>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grpSp>
        <p:nvGrpSpPr>
          <p:cNvPr name="Group 2" id="2"/>
          <p:cNvGrpSpPr/>
          <p:nvPr/>
        </p:nvGrpSpPr>
        <p:grpSpPr>
          <a:xfrm rot="0">
            <a:off x="14239875" y="1231554"/>
            <a:ext cx="400050" cy="400050"/>
            <a:chOff x="0" y="0"/>
            <a:chExt cx="533400" cy="533400"/>
          </a:xfrm>
        </p:grpSpPr>
        <p:sp>
          <p:nvSpPr>
            <p:cNvPr name="Freeform 3" id="3"/>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4" id="4"/>
          <p:cNvGrpSpPr/>
          <p:nvPr/>
        </p:nvGrpSpPr>
        <p:grpSpPr>
          <a:xfrm rot="0">
            <a:off x="14230350" y="1260129"/>
            <a:ext cx="419100" cy="381000"/>
            <a:chOff x="0" y="0"/>
            <a:chExt cx="558800" cy="508000"/>
          </a:xfrm>
        </p:grpSpPr>
        <p:sp>
          <p:nvSpPr>
            <p:cNvPr name="Freeform 5" id="5"/>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6" id="6"/>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grpSp>
        <p:nvGrpSpPr>
          <p:cNvPr name="Group 7" id="7"/>
          <p:cNvGrpSpPr/>
          <p:nvPr/>
        </p:nvGrpSpPr>
        <p:grpSpPr>
          <a:xfrm rot="0">
            <a:off x="6467475" y="5219700"/>
            <a:ext cx="9525" cy="2759345"/>
            <a:chOff x="0" y="0"/>
            <a:chExt cx="12700" cy="3679126"/>
          </a:xfrm>
        </p:grpSpPr>
        <p:sp>
          <p:nvSpPr>
            <p:cNvPr name="Freeform 8" id="8"/>
            <p:cNvSpPr/>
            <p:nvPr/>
          </p:nvSpPr>
          <p:spPr>
            <a:xfrm flipH="false" flipV="false" rot="0">
              <a:off x="0" y="0"/>
              <a:ext cx="12700" cy="3679190"/>
            </a:xfrm>
            <a:custGeom>
              <a:avLst/>
              <a:gdLst/>
              <a:ahLst/>
              <a:cxnLst/>
              <a:rect r="r" b="b" t="t" l="l"/>
              <a:pathLst>
                <a:path h="3679190" w="12700">
                  <a:moveTo>
                    <a:pt x="0" y="0"/>
                  </a:moveTo>
                  <a:lnTo>
                    <a:pt x="12700" y="0"/>
                  </a:lnTo>
                  <a:lnTo>
                    <a:pt x="12700" y="3679190"/>
                  </a:lnTo>
                  <a:lnTo>
                    <a:pt x="0" y="3679190"/>
                  </a:lnTo>
                  <a:close/>
                </a:path>
              </a:pathLst>
            </a:custGeom>
            <a:solidFill>
              <a:srgbClr val="CDB3DC"/>
            </a:solidFill>
          </p:spPr>
        </p:sp>
      </p:grpSp>
      <p:grpSp>
        <p:nvGrpSpPr>
          <p:cNvPr name="Group 9" id="9"/>
          <p:cNvGrpSpPr/>
          <p:nvPr/>
        </p:nvGrpSpPr>
        <p:grpSpPr>
          <a:xfrm rot="0">
            <a:off x="11801475" y="5219700"/>
            <a:ext cx="9525" cy="2759345"/>
            <a:chOff x="0" y="0"/>
            <a:chExt cx="12700" cy="3679126"/>
          </a:xfrm>
        </p:grpSpPr>
        <p:sp>
          <p:nvSpPr>
            <p:cNvPr name="Freeform 10" id="10"/>
            <p:cNvSpPr/>
            <p:nvPr/>
          </p:nvSpPr>
          <p:spPr>
            <a:xfrm flipH="false" flipV="false" rot="0">
              <a:off x="0" y="0"/>
              <a:ext cx="12700" cy="3679190"/>
            </a:xfrm>
            <a:custGeom>
              <a:avLst/>
              <a:gdLst/>
              <a:ahLst/>
              <a:cxnLst/>
              <a:rect r="r" b="b" t="t" l="l"/>
              <a:pathLst>
                <a:path h="3679190" w="12700">
                  <a:moveTo>
                    <a:pt x="0" y="0"/>
                  </a:moveTo>
                  <a:lnTo>
                    <a:pt x="12700" y="0"/>
                  </a:lnTo>
                  <a:lnTo>
                    <a:pt x="12700" y="3679190"/>
                  </a:lnTo>
                  <a:lnTo>
                    <a:pt x="0" y="3679190"/>
                  </a:lnTo>
                  <a:close/>
                </a:path>
              </a:pathLst>
            </a:custGeom>
            <a:solidFill>
              <a:srgbClr val="CDB3DC"/>
            </a:solidFill>
          </p:spPr>
        </p:sp>
      </p:grpSp>
      <p:sp>
        <p:nvSpPr>
          <p:cNvPr name="TextBox 11" id="11"/>
          <p:cNvSpPr txBox="true"/>
          <p:nvPr/>
        </p:nvSpPr>
        <p:spPr>
          <a:xfrm rot="0">
            <a:off x="1168403" y="1292228"/>
            <a:ext cx="3857635"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SLOŽENÍ TĚLA</a:t>
            </a:r>
          </a:p>
        </p:txBody>
      </p:sp>
      <p:sp>
        <p:nvSpPr>
          <p:cNvPr name="TextBox 12" id="12"/>
          <p:cNvSpPr txBox="true"/>
          <p:nvPr/>
        </p:nvSpPr>
        <p:spPr>
          <a:xfrm rot="0">
            <a:off x="1168403" y="1873253"/>
            <a:ext cx="12435829" cy="646336"/>
          </a:xfrm>
          <a:prstGeom prst="rect">
            <a:avLst/>
          </a:prstGeom>
        </p:spPr>
        <p:txBody>
          <a:bodyPr anchor="t" rtlCol="false" tIns="0" lIns="0" bIns="0" rIns="0">
            <a:spAutoFit/>
          </a:bodyPr>
          <a:lstStyle/>
          <a:p>
            <a:pPr algn="l">
              <a:lnSpc>
                <a:spcPts val="4735"/>
              </a:lnSpc>
            </a:pPr>
            <a:r>
              <a:rPr lang="en-US" sz="4500" spc="-81">
                <a:solidFill>
                  <a:srgbClr val="401252"/>
                </a:solidFill>
                <a:latin typeface="Arimo"/>
                <a:ea typeface="Arimo"/>
                <a:cs typeface="Arimo"/>
                <a:sym typeface="Arimo"/>
              </a:rPr>
              <a:t>Hmotnost neříká celý příběh. Složení těla se mění. </a:t>
            </a:r>
          </a:p>
        </p:txBody>
      </p:sp>
      <p:sp>
        <p:nvSpPr>
          <p:cNvPr name="TextBox 13" id="13"/>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LONGITUDINÁLNÍ KOHORTA SWAN</a:t>
            </a:r>
          </a:p>
        </p:txBody>
      </p:sp>
      <p:sp>
        <p:nvSpPr>
          <p:cNvPr name="TextBox 14" id="14"/>
          <p:cNvSpPr txBox="true"/>
          <p:nvPr/>
        </p:nvSpPr>
        <p:spPr>
          <a:xfrm rot="0">
            <a:off x="1168403" y="5387978"/>
            <a:ext cx="2482081" cy="861466"/>
          </a:xfrm>
          <a:prstGeom prst="rect">
            <a:avLst/>
          </a:prstGeom>
        </p:spPr>
        <p:txBody>
          <a:bodyPr anchor="t" rtlCol="false" tIns="0" lIns="0" bIns="0" rIns="0">
            <a:spAutoFit/>
          </a:bodyPr>
          <a:lstStyle/>
          <a:p>
            <a:pPr algn="l">
              <a:lnSpc>
                <a:spcPts val="6086"/>
              </a:lnSpc>
            </a:pPr>
            <a:r>
              <a:rPr lang="en-US" sz="6600" spc="-198">
                <a:solidFill>
                  <a:srgbClr val="6D2A8C"/>
                </a:solidFill>
                <a:latin typeface="Arimo"/>
                <a:ea typeface="Arimo"/>
                <a:cs typeface="Arimo"/>
                <a:sym typeface="Arimo"/>
              </a:rPr>
              <a:t>−0,2 %</a:t>
            </a:r>
          </a:p>
        </p:txBody>
      </p:sp>
      <p:sp>
        <p:nvSpPr>
          <p:cNvPr name="TextBox 15" id="15"/>
          <p:cNvSpPr txBox="true"/>
          <p:nvPr/>
        </p:nvSpPr>
        <p:spPr>
          <a:xfrm rot="0">
            <a:off x="1149887" y="6303875"/>
            <a:ext cx="4727038"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TUKUPROSTÉ MASY ZA ROK</a:t>
            </a:r>
          </a:p>
        </p:txBody>
      </p:sp>
      <p:sp>
        <p:nvSpPr>
          <p:cNvPr name="TextBox 16" id="16"/>
          <p:cNvSpPr txBox="true"/>
          <p:nvPr/>
        </p:nvSpPr>
        <p:spPr>
          <a:xfrm rot="0">
            <a:off x="1168403" y="6775132"/>
            <a:ext cx="4727038" cy="806453"/>
          </a:xfrm>
          <a:prstGeom prst="rect">
            <a:avLst/>
          </a:prstGeom>
        </p:spPr>
        <p:txBody>
          <a:bodyPr anchor="t" rtlCol="false" tIns="0" lIns="0" bIns="0" rIns="0">
            <a:spAutoFit/>
          </a:bodyPr>
          <a:lstStyle/>
          <a:p>
            <a:pPr algn="l">
              <a:lnSpc>
                <a:spcPts val="2811"/>
              </a:lnSpc>
            </a:pPr>
            <a:r>
              <a:rPr lang="en-US" sz="2025">
                <a:solidFill>
                  <a:srgbClr val="6B4B7D"/>
                </a:solidFill>
                <a:latin typeface="Arimo"/>
                <a:ea typeface="Arimo"/>
                <a:cs typeface="Arimo"/>
                <a:sym typeface="Arimo"/>
              </a:rPr>
              <a:t>Ztráta svalu je ta část, která opravdu snižuje energetický výdej.</a:t>
            </a:r>
          </a:p>
        </p:txBody>
      </p:sp>
      <p:sp>
        <p:nvSpPr>
          <p:cNvPr name="TextBox 17" id="17"/>
          <p:cNvSpPr txBox="true"/>
          <p:nvPr/>
        </p:nvSpPr>
        <p:spPr>
          <a:xfrm rot="0">
            <a:off x="7188203" y="5387978"/>
            <a:ext cx="4297366" cy="682628"/>
          </a:xfrm>
          <a:prstGeom prst="rect">
            <a:avLst/>
          </a:prstGeom>
        </p:spPr>
        <p:txBody>
          <a:bodyPr anchor="t" rtlCol="false" tIns="0" lIns="0" bIns="0" rIns="0">
            <a:spAutoFit/>
          </a:bodyPr>
          <a:lstStyle/>
          <a:p>
            <a:pPr algn="l">
              <a:lnSpc>
                <a:spcPts val="6086"/>
              </a:lnSpc>
            </a:pPr>
            <a:r>
              <a:rPr lang="en-US" sz="6600" spc="-198">
                <a:solidFill>
                  <a:srgbClr val="6D2A8C"/>
                </a:solidFill>
                <a:latin typeface="Arimo"/>
                <a:ea typeface="Arimo"/>
                <a:cs typeface="Arimo"/>
                <a:sym typeface="Arimo"/>
              </a:rPr>
              <a:t>+0,45 kg</a:t>
            </a:r>
          </a:p>
        </p:txBody>
      </p:sp>
      <p:sp>
        <p:nvSpPr>
          <p:cNvPr name="TextBox 18" id="18"/>
          <p:cNvSpPr txBox="true"/>
          <p:nvPr/>
        </p:nvSpPr>
        <p:spPr>
          <a:xfrm rot="0">
            <a:off x="7188203" y="6303875"/>
            <a:ext cx="4020664"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TUKOVÉ HMOTY ZA ROK</a:t>
            </a:r>
          </a:p>
        </p:txBody>
      </p:sp>
      <p:sp>
        <p:nvSpPr>
          <p:cNvPr name="TextBox 19" id="19"/>
          <p:cNvSpPr txBox="true"/>
          <p:nvPr/>
        </p:nvSpPr>
        <p:spPr>
          <a:xfrm rot="0">
            <a:off x="7188203" y="6775132"/>
            <a:ext cx="4020664" cy="806453"/>
          </a:xfrm>
          <a:prstGeom prst="rect">
            <a:avLst/>
          </a:prstGeom>
        </p:spPr>
        <p:txBody>
          <a:bodyPr anchor="t" rtlCol="false" tIns="0" lIns="0" bIns="0" rIns="0">
            <a:spAutoFit/>
          </a:bodyPr>
          <a:lstStyle/>
          <a:p>
            <a:pPr algn="l">
              <a:lnSpc>
                <a:spcPts val="2811"/>
              </a:lnSpc>
            </a:pPr>
            <a:r>
              <a:rPr lang="en-US" sz="2025">
                <a:solidFill>
                  <a:srgbClr val="6B4B7D"/>
                </a:solidFill>
                <a:latin typeface="Arimo"/>
                <a:ea typeface="Arimo"/>
                <a:cs typeface="Arimo"/>
                <a:sym typeface="Arimo"/>
              </a:rPr>
              <a:t>A přesouvá se: ubývá na bocích, přibývá v pase.</a:t>
            </a:r>
          </a:p>
        </p:txBody>
      </p:sp>
      <p:sp>
        <p:nvSpPr>
          <p:cNvPr name="TextBox 20" id="20"/>
          <p:cNvSpPr txBox="true"/>
          <p:nvPr/>
        </p:nvSpPr>
        <p:spPr>
          <a:xfrm rot="0">
            <a:off x="12522203" y="5245103"/>
            <a:ext cx="4396673" cy="410201"/>
          </a:xfrm>
          <a:prstGeom prst="rect">
            <a:avLst/>
          </a:prstGeom>
        </p:spPr>
        <p:txBody>
          <a:bodyPr anchor="t" rtlCol="false" tIns="0" lIns="0" bIns="0" rIns="0">
            <a:spAutoFit/>
          </a:bodyPr>
          <a:lstStyle/>
          <a:p>
            <a:pPr algn="l">
              <a:lnSpc>
                <a:spcPts val="3010"/>
              </a:lnSpc>
            </a:pPr>
            <a:r>
              <a:rPr lang="en-US" sz="2700">
                <a:solidFill>
                  <a:srgbClr val="401252"/>
                </a:solidFill>
                <a:latin typeface="Arimo"/>
                <a:ea typeface="Arimo"/>
                <a:cs typeface="Arimo"/>
                <a:sym typeface="Arimo"/>
              </a:rPr>
              <a:t>Hmotnost </a:t>
            </a:r>
            <a:r>
              <a:rPr lang="en-US" sz="2700">
                <a:solidFill>
                  <a:srgbClr val="401252"/>
                </a:solidFill>
                <a:latin typeface="Arimo"/>
                <a:ea typeface="Arimo"/>
                <a:cs typeface="Arimo"/>
                <a:sym typeface="Arimo"/>
              </a:rPr>
              <a:t>je slabý ukazatel!</a:t>
            </a:r>
          </a:p>
        </p:txBody>
      </p:sp>
      <p:sp>
        <p:nvSpPr>
          <p:cNvPr name="TextBox 21" id="21"/>
          <p:cNvSpPr txBox="true"/>
          <p:nvPr/>
        </p:nvSpPr>
        <p:spPr>
          <a:xfrm rot="0">
            <a:off x="12522203" y="5818461"/>
            <a:ext cx="4736849" cy="1056627"/>
          </a:xfrm>
          <a:prstGeom prst="rect">
            <a:avLst/>
          </a:prstGeom>
        </p:spPr>
        <p:txBody>
          <a:bodyPr anchor="t" rtlCol="false" tIns="0" lIns="0" bIns="0" rIns="0">
            <a:spAutoFit/>
          </a:bodyPr>
          <a:lstStyle/>
          <a:p>
            <a:pPr algn="l">
              <a:lnSpc>
                <a:spcPts val="2810"/>
              </a:lnSpc>
            </a:pPr>
            <a:r>
              <a:rPr lang="en-US" sz="2025">
                <a:solidFill>
                  <a:srgbClr val="6B4B7D"/>
                </a:solidFill>
                <a:latin typeface="Arimo"/>
                <a:ea typeface="Arimo"/>
                <a:cs typeface="Arimo"/>
                <a:sym typeface="Arimo"/>
              </a:rPr>
              <a:t>Sledujte </a:t>
            </a:r>
            <a:r>
              <a:rPr lang="en-US" sz="2025" b="true">
                <a:solidFill>
                  <a:srgbClr val="401252"/>
                </a:solidFill>
                <a:latin typeface="Arimo Bold"/>
                <a:ea typeface="Arimo Bold"/>
                <a:cs typeface="Arimo Bold"/>
                <a:sym typeface="Arimo Bold"/>
              </a:rPr>
              <a:t>obvod pasu, sílu a funkci</a:t>
            </a:r>
            <a:r>
              <a:rPr lang="en-US" sz="2025">
                <a:solidFill>
                  <a:srgbClr val="6B4B7D"/>
                </a:solidFill>
                <a:latin typeface="Arimo"/>
                <a:ea typeface="Arimo"/>
                <a:cs typeface="Arimo"/>
                <a:sym typeface="Arimo"/>
              </a:rPr>
              <a:t>. </a:t>
            </a:r>
          </a:p>
          <a:p>
            <a:pPr algn="l">
              <a:lnSpc>
                <a:spcPts val="2811"/>
              </a:lnSpc>
            </a:pPr>
            <a:r>
              <a:rPr lang="en-US" sz="2025">
                <a:solidFill>
                  <a:srgbClr val="6B4B7D"/>
                </a:solidFill>
                <a:latin typeface="Arimo"/>
                <a:ea typeface="Arimo"/>
                <a:cs typeface="Arimo"/>
                <a:sym typeface="Arimo"/>
              </a:rPr>
              <a:t>Ty se mohou zlepšovat i při stejné hmotnosti.</a:t>
            </a:r>
          </a:p>
        </p:txBody>
      </p:sp>
      <p:sp>
        <p:nvSpPr>
          <p:cNvPr name="TextBox 22" id="22"/>
          <p:cNvSpPr txBox="true"/>
          <p:nvPr/>
        </p:nvSpPr>
        <p:spPr>
          <a:xfrm rot="0">
            <a:off x="12522203" y="7185298"/>
            <a:ext cx="4736849" cy="704079"/>
          </a:xfrm>
          <a:prstGeom prst="rect">
            <a:avLst/>
          </a:prstGeom>
        </p:spPr>
        <p:txBody>
          <a:bodyPr anchor="t" rtlCol="false" tIns="0" lIns="0" bIns="0" rIns="0">
            <a:spAutoFit/>
          </a:bodyPr>
          <a:lstStyle/>
          <a:p>
            <a:pPr algn="l">
              <a:lnSpc>
                <a:spcPts val="2811"/>
              </a:lnSpc>
            </a:pPr>
            <a:r>
              <a:rPr lang="en-US" sz="2025">
                <a:solidFill>
                  <a:srgbClr val="6B4B7D"/>
                </a:solidFill>
                <a:latin typeface="Arimo"/>
                <a:ea typeface="Arimo"/>
                <a:cs typeface="Arimo"/>
                <a:sym typeface="Arimo"/>
              </a:rPr>
              <a:t>Ztráta svalu </a:t>
            </a:r>
            <a:r>
              <a:rPr lang="en-US" sz="2025" b="true">
                <a:solidFill>
                  <a:srgbClr val="401252"/>
                </a:solidFill>
                <a:latin typeface="Arimo Bold"/>
                <a:ea typeface="Arimo Bold"/>
                <a:cs typeface="Arimo Bold"/>
                <a:sym typeface="Arimo Bold"/>
              </a:rPr>
              <a:t>není automatická</a:t>
            </a:r>
            <a:r>
              <a:rPr lang="en-US" sz="2025">
                <a:solidFill>
                  <a:srgbClr val="6B4B7D"/>
                </a:solidFill>
                <a:latin typeface="Arimo"/>
                <a:ea typeface="Arimo"/>
                <a:cs typeface="Arimo"/>
                <a:sym typeface="Arimo"/>
              </a:rPr>
              <a:t>, a </a:t>
            </a:r>
            <a:r>
              <a:rPr lang="en-US" sz="2025" b="true">
                <a:solidFill>
                  <a:srgbClr val="401252"/>
                </a:solidFill>
                <a:latin typeface="Arimo Bold"/>
                <a:ea typeface="Arimo Bold"/>
                <a:cs typeface="Arimo Bold"/>
                <a:sym typeface="Arimo Bold"/>
              </a:rPr>
              <a:t>síla klesá dřív než hmota</a:t>
            </a:r>
            <a:r>
              <a:rPr lang="en-US" sz="2025">
                <a:solidFill>
                  <a:srgbClr val="6B4B7D"/>
                </a:solidFill>
                <a:latin typeface="Arimo"/>
                <a:ea typeface="Arimo"/>
                <a:cs typeface="Arimo"/>
                <a:sym typeface="Arimo"/>
              </a:rPr>
              <a:t>.</a:t>
            </a:r>
          </a:p>
        </p:txBody>
      </p:sp>
      <p:sp>
        <p:nvSpPr>
          <p:cNvPr name="TextBox 23" id="23"/>
          <p:cNvSpPr txBox="true"/>
          <p:nvPr/>
        </p:nvSpPr>
        <p:spPr>
          <a:xfrm rot="0">
            <a:off x="1168403" y="9116568"/>
            <a:ext cx="13569953" cy="284035"/>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SWAN: průměrná roční změna v přechodu, tukuprostá masa −0,5 %, tuková hmota +1,7 %</a:t>
            </a:r>
          </a:p>
        </p:txBody>
      </p:sp>
      <p:sp>
        <p:nvSpPr>
          <p:cNvPr name="TextBox 24" id="24"/>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2597106"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KOST</a:t>
            </a:r>
          </a:p>
        </p:txBody>
      </p:sp>
      <p:sp>
        <p:nvSpPr>
          <p:cNvPr name="TextBox 3" id="3"/>
          <p:cNvSpPr txBox="true"/>
          <p:nvPr/>
        </p:nvSpPr>
        <p:spPr>
          <a:xfrm rot="0">
            <a:off x="1168403" y="1901828"/>
            <a:ext cx="13684253" cy="1485252"/>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Kost neubývá plynule. Ubývá ve dvou vlnách.</a:t>
            </a:r>
          </a:p>
        </p:txBody>
      </p:sp>
      <p:grpSp>
        <p:nvGrpSpPr>
          <p:cNvPr name="Group 4" id="4"/>
          <p:cNvGrpSpPr/>
          <p:nvPr/>
        </p:nvGrpSpPr>
        <p:grpSpPr>
          <a:xfrm rot="0">
            <a:off x="14239875" y="134726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37583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06503"/>
            <a:ext cx="2406653" cy="700630"/>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KOHORTOVÁ A MECHANISTICKÁ DATA</a:t>
            </a:r>
          </a:p>
        </p:txBody>
      </p:sp>
      <p:sp>
        <p:nvSpPr>
          <p:cNvPr name="Freeform 10" id="10" descr="preencoded.png"/>
          <p:cNvSpPr/>
          <p:nvPr/>
        </p:nvSpPr>
        <p:spPr>
          <a:xfrm flipH="false" flipV="false" rot="0">
            <a:off x="1143000" y="4095750"/>
            <a:ext cx="16002000" cy="3238500"/>
          </a:xfrm>
          <a:custGeom>
            <a:avLst/>
            <a:gdLst/>
            <a:ahLst/>
            <a:cxnLst/>
            <a:rect r="r" b="b" t="t" l="l"/>
            <a:pathLst>
              <a:path h="3238500" w="16002000">
                <a:moveTo>
                  <a:pt x="0" y="0"/>
                </a:moveTo>
                <a:lnTo>
                  <a:pt x="16002000" y="0"/>
                </a:lnTo>
                <a:lnTo>
                  <a:pt x="16002000" y="3238500"/>
                </a:lnTo>
                <a:lnTo>
                  <a:pt x="0" y="3238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143000" y="7677150"/>
            <a:ext cx="16002000" cy="9525"/>
            <a:chOff x="0" y="0"/>
            <a:chExt cx="21336000" cy="12700"/>
          </a:xfrm>
        </p:grpSpPr>
        <p:sp>
          <p:nvSpPr>
            <p:cNvPr name="Freeform 12" id="12"/>
            <p:cNvSpPr/>
            <p:nvPr/>
          </p:nvSpPr>
          <p:spPr>
            <a:xfrm flipH="false" flipV="false" rot="0">
              <a:off x="0" y="0"/>
              <a:ext cx="21336000" cy="12700"/>
            </a:xfrm>
            <a:custGeom>
              <a:avLst/>
              <a:gdLst/>
              <a:ahLst/>
              <a:cxnLst/>
              <a:rect r="r" b="b" t="t" l="l"/>
              <a:pathLst>
                <a:path h="12700" w="21336000">
                  <a:moveTo>
                    <a:pt x="0" y="0"/>
                  </a:moveTo>
                  <a:lnTo>
                    <a:pt x="21336000" y="0"/>
                  </a:lnTo>
                  <a:lnTo>
                    <a:pt x="21336000" y="12700"/>
                  </a:lnTo>
                  <a:lnTo>
                    <a:pt x="0" y="12700"/>
                  </a:lnTo>
                  <a:close/>
                </a:path>
              </a:pathLst>
            </a:custGeom>
            <a:solidFill>
              <a:srgbClr val="CDB3DC"/>
            </a:solidFill>
          </p:spPr>
        </p:sp>
      </p:grpSp>
      <p:sp>
        <p:nvSpPr>
          <p:cNvPr name="TextBox 13" id="13"/>
          <p:cNvSpPr txBox="true"/>
          <p:nvPr/>
        </p:nvSpPr>
        <p:spPr>
          <a:xfrm rot="0">
            <a:off x="1168403" y="7950203"/>
            <a:ext cx="4919958" cy="806453"/>
          </a:xfrm>
          <a:prstGeom prst="rect">
            <a:avLst/>
          </a:prstGeom>
        </p:spPr>
        <p:txBody>
          <a:bodyPr anchor="t" rtlCol="false" tIns="0" lIns="0" bIns="0" rIns="0">
            <a:spAutoFit/>
          </a:bodyPr>
          <a:lstStyle/>
          <a:p>
            <a:pPr algn="l">
              <a:lnSpc>
                <a:spcPts val="2811"/>
              </a:lnSpc>
            </a:pPr>
            <a:r>
              <a:rPr lang="en-US" sz="2025" b="true">
                <a:solidFill>
                  <a:srgbClr val="401252"/>
                </a:solidFill>
                <a:latin typeface="Arimo Bold"/>
                <a:ea typeface="Arimo Bold"/>
                <a:cs typeface="Arimo Bold"/>
                <a:sym typeface="Arimo Bold"/>
              </a:rPr>
              <a:t>1. fáze, perimenopauza. </a:t>
            </a:r>
            <a:r>
              <a:rPr lang="en-US" sz="2025">
                <a:solidFill>
                  <a:srgbClr val="6B4B7D"/>
                </a:solidFill>
                <a:latin typeface="Arimo"/>
                <a:ea typeface="Arimo"/>
                <a:cs typeface="Arimo"/>
                <a:sym typeface="Arimo"/>
              </a:rPr>
              <a:t>Nedostatek estrogenu zvyšuje odbourávání kosti.</a:t>
            </a:r>
          </a:p>
        </p:txBody>
      </p:sp>
      <p:sp>
        <p:nvSpPr>
          <p:cNvPr name="TextBox 14" id="14"/>
          <p:cNvSpPr txBox="true"/>
          <p:nvPr/>
        </p:nvSpPr>
        <p:spPr>
          <a:xfrm rot="0">
            <a:off x="6756378" y="7950203"/>
            <a:ext cx="4919958" cy="806453"/>
          </a:xfrm>
          <a:prstGeom prst="rect">
            <a:avLst/>
          </a:prstGeom>
        </p:spPr>
        <p:txBody>
          <a:bodyPr anchor="t" rtlCol="false" tIns="0" lIns="0" bIns="0" rIns="0">
            <a:spAutoFit/>
          </a:bodyPr>
          <a:lstStyle/>
          <a:p>
            <a:pPr algn="l">
              <a:lnSpc>
                <a:spcPts val="2811"/>
              </a:lnSpc>
            </a:pPr>
            <a:r>
              <a:rPr lang="en-US" sz="2025" b="true">
                <a:solidFill>
                  <a:srgbClr val="401252"/>
                </a:solidFill>
                <a:latin typeface="Arimo Bold"/>
                <a:ea typeface="Arimo Bold"/>
                <a:cs typeface="Arimo Bold"/>
                <a:sym typeface="Arimo Bold"/>
              </a:rPr>
              <a:t>2. fáze, 4 až 8 let po tranzici. </a:t>
            </a:r>
            <a:r>
              <a:rPr lang="en-US" sz="2025">
                <a:solidFill>
                  <a:srgbClr val="6B4B7D"/>
                </a:solidFill>
                <a:latin typeface="Arimo"/>
                <a:ea typeface="Arimo"/>
                <a:cs typeface="Arimo"/>
                <a:sym typeface="Arimo"/>
              </a:rPr>
              <a:t>Zpomaluje se novotvorba kostní hmoty.</a:t>
            </a:r>
          </a:p>
        </p:txBody>
      </p:sp>
      <p:sp>
        <p:nvSpPr>
          <p:cNvPr name="TextBox 15" id="15"/>
          <p:cNvSpPr txBox="true"/>
          <p:nvPr/>
        </p:nvSpPr>
        <p:spPr>
          <a:xfrm rot="0">
            <a:off x="12344352" y="7950203"/>
            <a:ext cx="4919958" cy="806453"/>
          </a:xfrm>
          <a:prstGeom prst="rect">
            <a:avLst/>
          </a:prstGeom>
        </p:spPr>
        <p:txBody>
          <a:bodyPr anchor="t" rtlCol="false" tIns="0" lIns="0" bIns="0" rIns="0">
            <a:spAutoFit/>
          </a:bodyPr>
          <a:lstStyle/>
          <a:p>
            <a:pPr algn="l">
              <a:lnSpc>
                <a:spcPts val="2811"/>
              </a:lnSpc>
            </a:pPr>
            <a:r>
              <a:rPr lang="en-US" sz="2025" b="true">
                <a:solidFill>
                  <a:srgbClr val="401252"/>
                </a:solidFill>
                <a:latin typeface="Arimo Bold"/>
                <a:ea typeface="Arimo Bold"/>
                <a:cs typeface="Arimo Bold"/>
                <a:sym typeface="Arimo Bold"/>
              </a:rPr>
              <a:t>První vlna se zpravidla prošvihne. </a:t>
            </a:r>
            <a:r>
              <a:rPr lang="en-US" sz="2025">
                <a:solidFill>
                  <a:srgbClr val="6B4B7D"/>
                </a:solidFill>
                <a:latin typeface="Arimo"/>
                <a:ea typeface="Arimo"/>
                <a:cs typeface="Arimo"/>
                <a:sym typeface="Arimo"/>
              </a:rPr>
              <a:t>Denzitometrii v ní nikdo neindikuje.</a:t>
            </a:r>
          </a:p>
        </p:txBody>
      </p:sp>
      <p:sp>
        <p:nvSpPr>
          <p:cNvPr name="TextBox 16" id="16"/>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66773" r="0" b="-10016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401252">
                    <a:alpha val="97000"/>
                  </a:srgbClr>
                </a:gs>
                <a:gs pos="46000">
                  <a:srgbClr val="401252">
                    <a:alpha val="92000"/>
                  </a:srgbClr>
                </a:gs>
                <a:gs pos="80000">
                  <a:srgbClr val="401252">
                    <a:alpha val="44000"/>
                  </a:srgbClr>
                </a:gs>
                <a:gs pos="100000">
                  <a:srgbClr val="401252">
                    <a:alpha val="14000"/>
                  </a:srgbClr>
                </a:gs>
              </a:gsLst>
              <a:lin ang="0"/>
            </a:gradFill>
          </p:spPr>
        </p:sp>
      </p:grpSp>
      <p:sp>
        <p:nvSpPr>
          <p:cNvPr name="TextBox 6" id="6"/>
          <p:cNvSpPr txBox="true"/>
          <p:nvPr/>
        </p:nvSpPr>
        <p:spPr>
          <a:xfrm rot="0">
            <a:off x="1168403" y="1292228"/>
            <a:ext cx="2754687" cy="393383"/>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PREVENCE · MOZEK</a:t>
            </a:r>
          </a:p>
        </p:txBody>
      </p:sp>
      <p:sp>
        <p:nvSpPr>
          <p:cNvPr name="TextBox 7" id="7"/>
          <p:cNvSpPr txBox="true"/>
          <p:nvPr/>
        </p:nvSpPr>
        <p:spPr>
          <a:xfrm rot="0">
            <a:off x="1168403" y="4679775"/>
            <a:ext cx="12703178" cy="1610716"/>
          </a:xfrm>
          <a:prstGeom prst="rect">
            <a:avLst/>
          </a:prstGeom>
        </p:spPr>
        <p:txBody>
          <a:bodyPr anchor="t" rtlCol="false" tIns="0" lIns="0" bIns="0" rIns="0">
            <a:spAutoFit/>
          </a:bodyPr>
          <a:lstStyle/>
          <a:p>
            <a:pPr algn="l">
              <a:lnSpc>
                <a:spcPts val="6263"/>
              </a:lnSpc>
            </a:pPr>
            <a:r>
              <a:rPr lang="en-US" sz="6300" spc="-175">
                <a:solidFill>
                  <a:srgbClr val="FFFFFF"/>
                </a:solidFill>
                <a:latin typeface="Arimo"/>
                <a:ea typeface="Arimo"/>
                <a:cs typeface="Arimo"/>
                <a:sym typeface="Arimo"/>
              </a:rPr>
              <a:t>Spánek není komfort. Je to intervence do mozku.</a:t>
            </a:r>
          </a:p>
        </p:txBody>
      </p:sp>
      <p:sp>
        <p:nvSpPr>
          <p:cNvPr name="TextBox 8" id="8"/>
          <p:cNvSpPr txBox="true"/>
          <p:nvPr/>
        </p:nvSpPr>
        <p:spPr>
          <a:xfrm rot="0">
            <a:off x="1168403" y="6674672"/>
            <a:ext cx="12114533" cy="980427"/>
          </a:xfrm>
          <a:prstGeom prst="rect">
            <a:avLst/>
          </a:prstGeom>
        </p:spPr>
        <p:txBody>
          <a:bodyPr anchor="t" rtlCol="false" tIns="0" lIns="0" bIns="0" rIns="0">
            <a:spAutoFit/>
          </a:bodyPr>
          <a:lstStyle/>
          <a:p>
            <a:pPr algn="l">
              <a:lnSpc>
                <a:spcPts val="3452"/>
              </a:lnSpc>
            </a:pPr>
            <a:r>
              <a:rPr lang="en-US" sz="2550">
                <a:solidFill>
                  <a:srgbClr val="C9AEDA"/>
                </a:solidFill>
                <a:latin typeface="Arimo"/>
                <a:ea typeface="Arimo"/>
                <a:cs typeface="Arimo"/>
                <a:sym typeface="Arimo"/>
              </a:rPr>
              <a:t>Poruchy spánku jsou popisovány jako rizikový faktor rozvoje demence. Souvislost je ale </a:t>
            </a:r>
            <a:r>
              <a:rPr lang="en-US" sz="2550">
                <a:solidFill>
                  <a:srgbClr val="FFFFFF"/>
                </a:solidFill>
                <a:latin typeface="Arimo"/>
                <a:ea typeface="Arimo"/>
                <a:cs typeface="Arimo"/>
                <a:sym typeface="Arimo"/>
              </a:rPr>
              <a:t>observační a propletená </a:t>
            </a:r>
            <a:r>
              <a:rPr lang="en-US" sz="2550">
                <a:solidFill>
                  <a:srgbClr val="C9AEDA"/>
                </a:solidFill>
                <a:latin typeface="Arimo"/>
                <a:ea typeface="Arimo"/>
                <a:cs typeface="Arimo"/>
                <a:sym typeface="Arimo"/>
              </a:rPr>
              <a:t>s depresí, stresem a cévním rizikem.</a:t>
            </a:r>
          </a:p>
        </p:txBody>
      </p:sp>
      <p:grpSp>
        <p:nvGrpSpPr>
          <p:cNvPr name="Group 9" id="9"/>
          <p:cNvGrpSpPr/>
          <p:nvPr/>
        </p:nvGrpSpPr>
        <p:grpSpPr>
          <a:xfrm rot="0">
            <a:off x="13982700" y="1066800"/>
            <a:ext cx="3314700" cy="729558"/>
            <a:chOff x="0" y="0"/>
            <a:chExt cx="4419600" cy="972744"/>
          </a:xfrm>
        </p:grpSpPr>
        <p:sp>
          <p:nvSpPr>
            <p:cNvPr name="Freeform 10" id="10"/>
            <p:cNvSpPr/>
            <p:nvPr/>
          </p:nvSpPr>
          <p:spPr>
            <a:xfrm flipH="false" flipV="false" rot="0">
              <a:off x="0" y="0"/>
              <a:ext cx="4419600" cy="972693"/>
            </a:xfrm>
            <a:custGeom>
              <a:avLst/>
              <a:gdLst/>
              <a:ahLst/>
              <a:cxnLst/>
              <a:rect r="r" b="b" t="t" l="l"/>
              <a:pathLst>
                <a:path h="972693" w="4419600">
                  <a:moveTo>
                    <a:pt x="0" y="152400"/>
                  </a:moveTo>
                  <a:cubicBezTo>
                    <a:pt x="0" y="68199"/>
                    <a:pt x="68199" y="0"/>
                    <a:pt x="152400" y="0"/>
                  </a:cubicBezTo>
                  <a:lnTo>
                    <a:pt x="4267200" y="0"/>
                  </a:lnTo>
                  <a:cubicBezTo>
                    <a:pt x="4351401" y="0"/>
                    <a:pt x="4419600" y="68199"/>
                    <a:pt x="4419600" y="152400"/>
                  </a:cubicBezTo>
                  <a:lnTo>
                    <a:pt x="4419600" y="820293"/>
                  </a:lnTo>
                  <a:cubicBezTo>
                    <a:pt x="4419600" y="904494"/>
                    <a:pt x="4351401" y="972693"/>
                    <a:pt x="4267200" y="972693"/>
                  </a:cubicBezTo>
                  <a:lnTo>
                    <a:pt x="152400" y="972693"/>
                  </a:lnTo>
                  <a:cubicBezTo>
                    <a:pt x="68199" y="972693"/>
                    <a:pt x="0" y="904494"/>
                    <a:pt x="0" y="820293"/>
                  </a:cubicBezTo>
                  <a:close/>
                </a:path>
              </a:pathLst>
            </a:custGeom>
            <a:solidFill>
              <a:srgbClr val="401252">
                <a:alpha val="90196"/>
              </a:srgbClr>
            </a:solidFill>
          </p:spPr>
        </p:sp>
      </p:grpSp>
      <p:grpSp>
        <p:nvGrpSpPr>
          <p:cNvPr name="Group 11" id="11"/>
          <p:cNvGrpSpPr/>
          <p:nvPr/>
        </p:nvGrpSpPr>
        <p:grpSpPr>
          <a:xfrm rot="0">
            <a:off x="14182725" y="1231554"/>
            <a:ext cx="400050" cy="400050"/>
            <a:chOff x="0" y="0"/>
            <a:chExt cx="533400" cy="533400"/>
          </a:xfrm>
        </p:grpSpPr>
        <p:sp>
          <p:nvSpPr>
            <p:cNvPr name="Freeform 12" id="12"/>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4">
                <a:alphaModFix amt="0"/>
              </a:blip>
              <a:stretch>
                <a:fillRect l="-78303" t="0" r="-78303" b="0"/>
              </a:stretch>
            </a:blipFill>
            <a:ln w="19050" cap="sq">
              <a:solidFill>
                <a:srgbClr val="C9AEDA"/>
              </a:solidFill>
              <a:prstDash val="dash"/>
              <a:miter/>
            </a:ln>
          </p:spPr>
        </p:sp>
      </p:grpSp>
      <p:grpSp>
        <p:nvGrpSpPr>
          <p:cNvPr name="Group 13" id="13"/>
          <p:cNvGrpSpPr/>
          <p:nvPr/>
        </p:nvGrpSpPr>
        <p:grpSpPr>
          <a:xfrm rot="0">
            <a:off x="14173200" y="1260129"/>
            <a:ext cx="419100" cy="381000"/>
            <a:chOff x="0" y="0"/>
            <a:chExt cx="558800" cy="508000"/>
          </a:xfrm>
        </p:grpSpPr>
        <p:sp>
          <p:nvSpPr>
            <p:cNvPr name="Freeform 14" id="14"/>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4">
                <a:alphaModFix amt="0"/>
              </a:blip>
              <a:stretch>
                <a:fillRect l="-66639" t="0" r="-66639" b="0"/>
              </a:stretch>
            </a:blipFill>
          </p:spPr>
        </p:sp>
        <p:sp>
          <p:nvSpPr>
            <p:cNvPr name="TextBox 15" id="15"/>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C9AEDA"/>
                  </a:solidFill>
                  <a:latin typeface="Arimo"/>
                  <a:ea typeface="Arimo"/>
                  <a:cs typeface="Arimo"/>
                  <a:sym typeface="Arimo"/>
                </a:rPr>
                <a:t>C</a:t>
              </a:r>
            </a:p>
          </p:txBody>
        </p:sp>
      </p:grpSp>
      <p:sp>
        <p:nvSpPr>
          <p:cNvPr name="TextBox 16" id="16"/>
          <p:cNvSpPr txBox="true"/>
          <p:nvPr/>
        </p:nvSpPr>
        <p:spPr>
          <a:xfrm rot="0">
            <a:off x="14732003" y="1206503"/>
            <a:ext cx="2406653" cy="469202"/>
          </a:xfrm>
          <a:prstGeom prst="rect">
            <a:avLst/>
          </a:prstGeom>
        </p:spPr>
        <p:txBody>
          <a:bodyPr anchor="t" rtlCol="false" tIns="0" lIns="0" bIns="0" rIns="0">
            <a:spAutoFit/>
          </a:bodyPr>
          <a:lstStyle/>
          <a:p>
            <a:pPr algn="l">
              <a:lnSpc>
                <a:spcPts val="1675"/>
              </a:lnSpc>
            </a:pPr>
            <a:r>
              <a:rPr lang="en-US" sz="1350" spc="135">
                <a:solidFill>
                  <a:srgbClr val="C9AEDA"/>
                </a:solidFill>
                <a:latin typeface="Arimo"/>
                <a:ea typeface="Arimo"/>
                <a:cs typeface="Arimo"/>
                <a:sym typeface="Arimo"/>
              </a:rPr>
              <a:t>KAUZALITA NEJISTÁ, OPATRNĚ</a:t>
            </a:r>
          </a:p>
        </p:txBody>
      </p:sp>
      <p:sp>
        <p:nvSpPr>
          <p:cNvPr name="TextBox 17" id="17"/>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C9AEDA"/>
                </a:solidFill>
                <a:latin typeface="Arimo"/>
                <a:ea typeface="Arimo"/>
                <a:cs typeface="Arimo"/>
                <a:sym typeface="Arimo"/>
              </a:rPr>
              <a:t>Léčit spánek se vyplatí i bez kognitivního argumentu: nálada, tlak, glykemie</a:t>
            </a:r>
          </a:p>
        </p:txBody>
      </p:sp>
      <p:sp>
        <p:nvSpPr>
          <p:cNvPr name="TextBox 18" id="18"/>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4172731"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LÉČBA PŘÍZNAKŮ · PSYCHIKA</a:t>
            </a:r>
          </a:p>
        </p:txBody>
      </p:sp>
      <p:sp>
        <p:nvSpPr>
          <p:cNvPr name="TextBox 3" id="3"/>
          <p:cNvSpPr txBox="true"/>
          <p:nvPr/>
        </p:nvSpPr>
        <p:spPr>
          <a:xfrm rot="0">
            <a:off x="1168403" y="3605089"/>
            <a:ext cx="8190233" cy="1828971"/>
          </a:xfrm>
          <a:prstGeom prst="rect">
            <a:avLst/>
          </a:prstGeom>
        </p:spPr>
        <p:txBody>
          <a:bodyPr anchor="t" rtlCol="false" tIns="0" lIns="0" bIns="0" rIns="0">
            <a:spAutoFit/>
          </a:bodyPr>
          <a:lstStyle/>
          <a:p>
            <a:pPr algn="l">
              <a:lnSpc>
                <a:spcPts val="4571"/>
              </a:lnSpc>
            </a:pPr>
            <a:r>
              <a:rPr lang="en-US" sz="4350" spc="-77">
                <a:solidFill>
                  <a:srgbClr val="401252"/>
                </a:solidFill>
                <a:latin typeface="Arimo"/>
                <a:ea typeface="Arimo"/>
                <a:cs typeface="Arimo"/>
                <a:sym typeface="Arimo"/>
              </a:rPr>
              <a:t>Perimenopauza je období zvýšené zranitelnosti, ne diagnóza sama.</a:t>
            </a:r>
          </a:p>
        </p:txBody>
      </p:sp>
      <p:sp>
        <p:nvSpPr>
          <p:cNvPr name="TextBox 4" id="4"/>
          <p:cNvSpPr txBox="true"/>
          <p:nvPr/>
        </p:nvSpPr>
        <p:spPr>
          <a:xfrm rot="0">
            <a:off x="1168403" y="5732516"/>
            <a:ext cx="8190233" cy="14160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Rozladěnost z nevyspání není depresivní porucha. Pokud ale obtíže trvají a berou funkci, jde o diagnózu, která má účinnou léčbu.</a:t>
            </a:r>
          </a:p>
        </p:txBody>
      </p:sp>
      <p:grpSp>
        <p:nvGrpSpPr>
          <p:cNvPr name="Group 5" id="5"/>
          <p:cNvGrpSpPr/>
          <p:nvPr/>
        </p:nvGrpSpPr>
        <p:grpSpPr>
          <a:xfrm rot="0">
            <a:off x="14239875" y="1347264"/>
            <a:ext cx="400050" cy="400050"/>
            <a:chOff x="0" y="0"/>
            <a:chExt cx="533400" cy="533400"/>
          </a:xfrm>
        </p:grpSpPr>
        <p:sp>
          <p:nvSpPr>
            <p:cNvPr name="Freeform 6" id="6"/>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7" id="7"/>
          <p:cNvGrpSpPr/>
          <p:nvPr/>
        </p:nvGrpSpPr>
        <p:grpSpPr>
          <a:xfrm rot="0">
            <a:off x="14230350" y="1375839"/>
            <a:ext cx="419100" cy="381000"/>
            <a:chOff x="0" y="0"/>
            <a:chExt cx="558800" cy="508000"/>
          </a:xfrm>
        </p:grpSpPr>
        <p:sp>
          <p:nvSpPr>
            <p:cNvPr name="Freeform 8" id="8"/>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9" id="9"/>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10" id="10"/>
          <p:cNvSpPr txBox="true"/>
          <p:nvPr/>
        </p:nvSpPr>
        <p:spPr>
          <a:xfrm rot="0">
            <a:off x="14789153" y="1206503"/>
            <a:ext cx="2406653" cy="700630"/>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KOHORTOVÁ DATA, SILNÁ U RIZIKOVÝCH ŽEN</a:t>
            </a:r>
          </a:p>
        </p:txBody>
      </p:sp>
      <p:sp>
        <p:nvSpPr>
          <p:cNvPr name="TextBox 11" id="11"/>
          <p:cNvSpPr txBox="true"/>
          <p:nvPr/>
        </p:nvSpPr>
        <p:spPr>
          <a:xfrm rot="0">
            <a:off x="10312403" y="4037133"/>
            <a:ext cx="7493003" cy="1035053"/>
          </a:xfrm>
          <a:prstGeom prst="rect">
            <a:avLst/>
          </a:prstGeom>
        </p:spPr>
        <p:txBody>
          <a:bodyPr anchor="t" rtlCol="false" tIns="0" lIns="0" bIns="0" rIns="0">
            <a:spAutoFit/>
          </a:bodyPr>
          <a:lstStyle/>
          <a:p>
            <a:pPr algn="l">
              <a:lnSpc>
                <a:spcPts val="9143"/>
              </a:lnSpc>
            </a:pPr>
            <a:r>
              <a:rPr lang="en-US" sz="9900" spc="-297">
                <a:solidFill>
                  <a:srgbClr val="6D2A8C"/>
                </a:solidFill>
                <a:latin typeface="Arimo"/>
                <a:ea typeface="Arimo"/>
                <a:cs typeface="Arimo"/>
                <a:sym typeface="Arimo"/>
              </a:rPr>
              <a:t>2–4×</a:t>
            </a:r>
          </a:p>
        </p:txBody>
      </p:sp>
      <p:sp>
        <p:nvSpPr>
          <p:cNvPr name="TextBox 12" id="12"/>
          <p:cNvSpPr txBox="true"/>
          <p:nvPr/>
        </p:nvSpPr>
        <p:spPr>
          <a:xfrm rot="0">
            <a:off x="10312403" y="5246808"/>
            <a:ext cx="7012943"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VYŠŠÍ RIZIKO DEPRESIVNÍ EPIZODY V PŘECHODU</a:t>
            </a:r>
          </a:p>
        </p:txBody>
      </p:sp>
      <p:sp>
        <p:nvSpPr>
          <p:cNvPr name="TextBox 13" id="13"/>
          <p:cNvSpPr txBox="true"/>
          <p:nvPr/>
        </p:nvSpPr>
        <p:spPr>
          <a:xfrm rot="0">
            <a:off x="10312403" y="5919587"/>
            <a:ext cx="7012943" cy="9588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Nejvíc u žen s </a:t>
            </a:r>
            <a:r>
              <a:rPr lang="en-US" sz="2400" b="true">
                <a:solidFill>
                  <a:srgbClr val="401252"/>
                </a:solidFill>
                <a:latin typeface="Arimo Bold"/>
                <a:ea typeface="Arimo Bold"/>
                <a:cs typeface="Arimo Bold"/>
                <a:sym typeface="Arimo Bold"/>
              </a:rPr>
              <a:t>depresí v anamnéze </a:t>
            </a:r>
            <a:r>
              <a:rPr lang="en-US" sz="2400">
                <a:solidFill>
                  <a:srgbClr val="6B4B7D"/>
                </a:solidFill>
                <a:latin typeface="Arimo"/>
                <a:ea typeface="Arimo"/>
                <a:cs typeface="Arimo"/>
                <a:sym typeface="Arimo"/>
              </a:rPr>
              <a:t>a s výraznými návaly a nočním pocením.</a:t>
            </a:r>
          </a:p>
        </p:txBody>
      </p:sp>
      <p:sp>
        <p:nvSpPr>
          <p:cNvPr name="TextBox 14" id="14"/>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Kognitivně behaviorální terapie je doporučovaná jak na vazomotorické symptomy, tak na insomnii</a:t>
            </a:r>
          </a:p>
        </p:txBody>
      </p:sp>
      <p:sp>
        <p:nvSpPr>
          <p:cNvPr name="TextBox 15" id="15"/>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4330236"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EVIDENČNÍ KARTA</a:t>
            </a:r>
          </a:p>
        </p:txBody>
      </p:sp>
      <p:sp>
        <p:nvSpPr>
          <p:cNvPr name="TextBox 3" id="3"/>
          <p:cNvSpPr txBox="true"/>
          <p:nvPr/>
        </p:nvSpPr>
        <p:spPr>
          <a:xfrm rot="0">
            <a:off x="1168403" y="1873253"/>
            <a:ext cx="14617703" cy="600694"/>
          </a:xfrm>
          <a:prstGeom prst="rect">
            <a:avLst/>
          </a:prstGeom>
        </p:spPr>
        <p:txBody>
          <a:bodyPr anchor="t" rtlCol="false" tIns="0" lIns="0" bIns="0" rIns="0">
            <a:spAutoFit/>
          </a:bodyPr>
          <a:lstStyle/>
          <a:p>
            <a:pPr algn="l">
              <a:lnSpc>
                <a:spcPts val="4735"/>
              </a:lnSpc>
            </a:pPr>
            <a:r>
              <a:rPr lang="en-US" sz="4500" spc="-81">
                <a:solidFill>
                  <a:srgbClr val="401252"/>
                </a:solidFill>
                <a:latin typeface="Arimo"/>
                <a:ea typeface="Arimo"/>
                <a:cs typeface="Arimo"/>
                <a:sym typeface="Arimo"/>
              </a:rPr>
              <a:t>Chrání hormonální léčba mozek před demencí?</a:t>
            </a:r>
          </a:p>
        </p:txBody>
      </p:sp>
      <p:grpSp>
        <p:nvGrpSpPr>
          <p:cNvPr name="Group 4" id="4"/>
          <p:cNvGrpSpPr/>
          <p:nvPr/>
        </p:nvGrpSpPr>
        <p:grpSpPr>
          <a:xfrm rot="0">
            <a:off x="14239875" y="123155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26012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VELKÁ KOHORTA, ALE NE RANDOMIZACE</a:t>
            </a:r>
          </a:p>
        </p:txBody>
      </p:sp>
      <p:grpSp>
        <p:nvGrpSpPr>
          <p:cNvPr name="Group 10" id="10"/>
          <p:cNvGrpSpPr/>
          <p:nvPr/>
        </p:nvGrpSpPr>
        <p:grpSpPr>
          <a:xfrm rot="0">
            <a:off x="5133975" y="4476750"/>
            <a:ext cx="9525" cy="2702566"/>
            <a:chOff x="0" y="0"/>
            <a:chExt cx="12700" cy="3603422"/>
          </a:xfrm>
        </p:grpSpPr>
        <p:sp>
          <p:nvSpPr>
            <p:cNvPr name="Freeform 11" id="11"/>
            <p:cNvSpPr/>
            <p:nvPr/>
          </p:nvSpPr>
          <p:spPr>
            <a:xfrm flipH="false" flipV="false" rot="0">
              <a:off x="0" y="0"/>
              <a:ext cx="12700" cy="3603371"/>
            </a:xfrm>
            <a:custGeom>
              <a:avLst/>
              <a:gdLst/>
              <a:ahLst/>
              <a:cxnLst/>
              <a:rect r="r" b="b" t="t" l="l"/>
              <a:pathLst>
                <a:path h="3603371" w="12700">
                  <a:moveTo>
                    <a:pt x="0" y="0"/>
                  </a:moveTo>
                  <a:lnTo>
                    <a:pt x="12700" y="0"/>
                  </a:lnTo>
                  <a:lnTo>
                    <a:pt x="12700" y="3603371"/>
                  </a:lnTo>
                  <a:lnTo>
                    <a:pt x="0" y="3603371"/>
                  </a:lnTo>
                  <a:close/>
                </a:path>
              </a:pathLst>
            </a:custGeom>
            <a:solidFill>
              <a:srgbClr val="CDB3DC"/>
            </a:solidFill>
          </p:spPr>
        </p:sp>
      </p:grpSp>
      <p:sp>
        <p:nvSpPr>
          <p:cNvPr name="TextBox 12" id="12"/>
          <p:cNvSpPr txBox="true"/>
          <p:nvPr/>
        </p:nvSpPr>
        <p:spPr>
          <a:xfrm rot="0">
            <a:off x="1168403" y="4445003"/>
            <a:ext cx="3549748" cy="368446"/>
          </a:xfrm>
          <a:prstGeom prst="rect">
            <a:avLst/>
          </a:prstGeom>
        </p:spPr>
        <p:txBody>
          <a:bodyPr anchor="t" rtlCol="false" tIns="0" lIns="0" bIns="0" rIns="0">
            <a:spAutoFit/>
          </a:bodyPr>
          <a:lstStyle/>
          <a:p>
            <a:pPr algn="l">
              <a:lnSpc>
                <a:spcPts val="2381"/>
              </a:lnSpc>
            </a:pPr>
            <a:r>
              <a:rPr lang="en-US" sz="1575" spc="189">
                <a:solidFill>
                  <a:srgbClr val="6B4B7D"/>
                </a:solidFill>
                <a:latin typeface="Arimo"/>
                <a:ea typeface="Arimo"/>
                <a:cs typeface="Arimo"/>
                <a:sym typeface="Arimo"/>
              </a:rPr>
              <a:t>OTÁZKA</a:t>
            </a:r>
          </a:p>
        </p:txBody>
      </p:sp>
      <p:sp>
        <p:nvSpPr>
          <p:cNvPr name="TextBox 13" id="13"/>
          <p:cNvSpPr txBox="true"/>
          <p:nvPr/>
        </p:nvSpPr>
        <p:spPr>
          <a:xfrm rot="0">
            <a:off x="1168403" y="4988071"/>
            <a:ext cx="3549748" cy="757933"/>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Souvisí užívání hormonální léčby s rizikem demence?</a:t>
            </a:r>
          </a:p>
        </p:txBody>
      </p:sp>
      <p:grpSp>
        <p:nvGrpSpPr>
          <p:cNvPr name="Group 14" id="14"/>
          <p:cNvGrpSpPr/>
          <p:nvPr/>
        </p:nvGrpSpPr>
        <p:grpSpPr>
          <a:xfrm rot="0">
            <a:off x="9134475" y="4476750"/>
            <a:ext cx="9525" cy="2702566"/>
            <a:chOff x="0" y="0"/>
            <a:chExt cx="12700" cy="3603422"/>
          </a:xfrm>
        </p:grpSpPr>
        <p:sp>
          <p:nvSpPr>
            <p:cNvPr name="Freeform 15" id="15"/>
            <p:cNvSpPr/>
            <p:nvPr/>
          </p:nvSpPr>
          <p:spPr>
            <a:xfrm flipH="false" flipV="false" rot="0">
              <a:off x="0" y="0"/>
              <a:ext cx="12700" cy="3603371"/>
            </a:xfrm>
            <a:custGeom>
              <a:avLst/>
              <a:gdLst/>
              <a:ahLst/>
              <a:cxnLst/>
              <a:rect r="r" b="b" t="t" l="l"/>
              <a:pathLst>
                <a:path h="3603371" w="12700">
                  <a:moveTo>
                    <a:pt x="0" y="0"/>
                  </a:moveTo>
                  <a:lnTo>
                    <a:pt x="12700" y="0"/>
                  </a:lnTo>
                  <a:lnTo>
                    <a:pt x="12700" y="3603371"/>
                  </a:lnTo>
                  <a:lnTo>
                    <a:pt x="0" y="3603371"/>
                  </a:lnTo>
                  <a:close/>
                </a:path>
              </a:pathLst>
            </a:custGeom>
            <a:solidFill>
              <a:srgbClr val="CDB3DC"/>
            </a:solidFill>
          </p:spPr>
        </p:sp>
      </p:grpSp>
      <p:sp>
        <p:nvSpPr>
          <p:cNvPr name="TextBox 16" id="16"/>
          <p:cNvSpPr txBox="true"/>
          <p:nvPr/>
        </p:nvSpPr>
        <p:spPr>
          <a:xfrm rot="0">
            <a:off x="5664203" y="4445003"/>
            <a:ext cx="3039589" cy="368446"/>
          </a:xfrm>
          <a:prstGeom prst="rect">
            <a:avLst/>
          </a:prstGeom>
        </p:spPr>
        <p:txBody>
          <a:bodyPr anchor="t" rtlCol="false" tIns="0" lIns="0" bIns="0" rIns="0">
            <a:spAutoFit/>
          </a:bodyPr>
          <a:lstStyle/>
          <a:p>
            <a:pPr algn="l">
              <a:lnSpc>
                <a:spcPts val="2381"/>
              </a:lnSpc>
            </a:pPr>
            <a:r>
              <a:rPr lang="en-US" sz="1575" spc="189">
                <a:solidFill>
                  <a:srgbClr val="6D2A8C"/>
                </a:solidFill>
                <a:latin typeface="Arimo"/>
                <a:ea typeface="Arimo"/>
                <a:cs typeface="Arimo"/>
                <a:sym typeface="Arimo"/>
              </a:rPr>
              <a:t>ZJIŠTĚNÍ</a:t>
            </a:r>
          </a:p>
        </p:txBody>
      </p:sp>
      <p:sp>
        <p:nvSpPr>
          <p:cNvPr name="TextBox 17" id="17"/>
          <p:cNvSpPr txBox="true"/>
          <p:nvPr/>
        </p:nvSpPr>
        <p:spPr>
          <a:xfrm rot="0">
            <a:off x="5664203" y="4988071"/>
            <a:ext cx="3039589" cy="2203942"/>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U 183 450 žen sledovaných 13 let bylo užívání spojeno s </a:t>
            </a:r>
            <a:r>
              <a:rPr lang="en-US" sz="1950" b="true">
                <a:solidFill>
                  <a:srgbClr val="401252"/>
                </a:solidFill>
                <a:latin typeface="Arimo Bold"/>
                <a:ea typeface="Arimo Bold"/>
                <a:cs typeface="Arimo Bold"/>
                <a:sym typeface="Arimo Bold"/>
              </a:rPr>
              <a:t>nižším rizikem demence </a:t>
            </a:r>
            <a:r>
              <a:rPr lang="en-US" sz="1950">
                <a:solidFill>
                  <a:srgbClr val="6B4B7D"/>
                </a:solidFill>
                <a:latin typeface="Arimo"/>
                <a:ea typeface="Arimo"/>
                <a:cs typeface="Arimo"/>
                <a:sym typeface="Arimo"/>
              </a:rPr>
              <a:t>. Silněji u chirurgické menopauzy a u nosiček APOE4.</a:t>
            </a:r>
          </a:p>
        </p:txBody>
      </p:sp>
      <p:grpSp>
        <p:nvGrpSpPr>
          <p:cNvPr name="Group 18" id="18"/>
          <p:cNvGrpSpPr/>
          <p:nvPr/>
        </p:nvGrpSpPr>
        <p:grpSpPr>
          <a:xfrm rot="0">
            <a:off x="13134975" y="4476750"/>
            <a:ext cx="9525" cy="2702566"/>
            <a:chOff x="0" y="0"/>
            <a:chExt cx="12700" cy="3603422"/>
          </a:xfrm>
        </p:grpSpPr>
        <p:sp>
          <p:nvSpPr>
            <p:cNvPr name="Freeform 19" id="19"/>
            <p:cNvSpPr/>
            <p:nvPr/>
          </p:nvSpPr>
          <p:spPr>
            <a:xfrm flipH="false" flipV="false" rot="0">
              <a:off x="0" y="0"/>
              <a:ext cx="12700" cy="3603371"/>
            </a:xfrm>
            <a:custGeom>
              <a:avLst/>
              <a:gdLst/>
              <a:ahLst/>
              <a:cxnLst/>
              <a:rect r="r" b="b" t="t" l="l"/>
              <a:pathLst>
                <a:path h="3603371" w="12700">
                  <a:moveTo>
                    <a:pt x="0" y="0"/>
                  </a:moveTo>
                  <a:lnTo>
                    <a:pt x="12700" y="0"/>
                  </a:lnTo>
                  <a:lnTo>
                    <a:pt x="12700" y="3603371"/>
                  </a:lnTo>
                  <a:lnTo>
                    <a:pt x="0" y="3603371"/>
                  </a:lnTo>
                  <a:close/>
                </a:path>
              </a:pathLst>
            </a:custGeom>
            <a:solidFill>
              <a:srgbClr val="CDB3DC"/>
            </a:solidFill>
          </p:spPr>
        </p:sp>
      </p:grpSp>
      <p:sp>
        <p:nvSpPr>
          <p:cNvPr name="TextBox 20" id="20"/>
          <p:cNvSpPr txBox="true"/>
          <p:nvPr/>
        </p:nvSpPr>
        <p:spPr>
          <a:xfrm rot="0">
            <a:off x="9664703" y="4445003"/>
            <a:ext cx="3039589" cy="368446"/>
          </a:xfrm>
          <a:prstGeom prst="rect">
            <a:avLst/>
          </a:prstGeom>
        </p:spPr>
        <p:txBody>
          <a:bodyPr anchor="t" rtlCol="false" tIns="0" lIns="0" bIns="0" rIns="0">
            <a:spAutoFit/>
          </a:bodyPr>
          <a:lstStyle/>
          <a:p>
            <a:pPr algn="l">
              <a:lnSpc>
                <a:spcPts val="2381"/>
              </a:lnSpc>
            </a:pPr>
            <a:r>
              <a:rPr lang="en-US" sz="1575" spc="189">
                <a:solidFill>
                  <a:srgbClr val="6B4B7D"/>
                </a:solidFill>
                <a:latin typeface="Arimo"/>
                <a:ea typeface="Arimo"/>
                <a:cs typeface="Arimo"/>
                <a:sym typeface="Arimo"/>
              </a:rPr>
              <a:t>INTERPRETACE</a:t>
            </a:r>
          </a:p>
        </p:txBody>
      </p:sp>
      <p:sp>
        <p:nvSpPr>
          <p:cNvPr name="TextBox 21" id="21"/>
          <p:cNvSpPr txBox="true"/>
          <p:nvPr/>
        </p:nvSpPr>
        <p:spPr>
          <a:xfrm rot="0">
            <a:off x="9664703" y="4988071"/>
            <a:ext cx="3039589" cy="1842440"/>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Sedí to s myšlenkou </a:t>
            </a:r>
            <a:r>
              <a:rPr lang="en-US" sz="1950" b="true">
                <a:solidFill>
                  <a:srgbClr val="401252"/>
                </a:solidFill>
                <a:latin typeface="Arimo Bold"/>
                <a:ea typeface="Arimo Bold"/>
                <a:cs typeface="Arimo Bold"/>
                <a:sym typeface="Arimo Bold"/>
              </a:rPr>
              <a:t>okna </a:t>
            </a:r>
            <a:r>
              <a:rPr lang="en-US" sz="1950">
                <a:solidFill>
                  <a:srgbClr val="6B4B7D"/>
                </a:solidFill>
                <a:latin typeface="Arimo"/>
                <a:ea typeface="Arimo"/>
                <a:cs typeface="Arimo"/>
                <a:sym typeface="Arimo"/>
              </a:rPr>
              <a:t>: časnější zahájení, lepší výsledek. Je to ale </a:t>
            </a:r>
            <a:r>
              <a:rPr lang="en-US" sz="1950" b="true">
                <a:solidFill>
                  <a:srgbClr val="401252"/>
                </a:solidFill>
                <a:latin typeface="Arimo Bold"/>
                <a:ea typeface="Arimo Bold"/>
                <a:cs typeface="Arimo Bold"/>
                <a:sym typeface="Arimo Bold"/>
              </a:rPr>
              <a:t>souvislost </a:t>
            </a:r>
            <a:r>
              <a:rPr lang="en-US" sz="1950">
                <a:solidFill>
                  <a:srgbClr val="6B4B7D"/>
                </a:solidFill>
                <a:latin typeface="Arimo"/>
                <a:ea typeface="Arimo"/>
                <a:cs typeface="Arimo"/>
                <a:sym typeface="Arimo"/>
              </a:rPr>
              <a:t>, ne důkaz účinku.</a:t>
            </a:r>
          </a:p>
        </p:txBody>
      </p:sp>
      <p:sp>
        <p:nvSpPr>
          <p:cNvPr name="TextBox 22" id="22"/>
          <p:cNvSpPr txBox="true"/>
          <p:nvPr/>
        </p:nvSpPr>
        <p:spPr>
          <a:xfrm rot="0">
            <a:off x="13665203" y="4445003"/>
            <a:ext cx="3559559" cy="368446"/>
          </a:xfrm>
          <a:prstGeom prst="rect">
            <a:avLst/>
          </a:prstGeom>
        </p:spPr>
        <p:txBody>
          <a:bodyPr anchor="t" rtlCol="false" tIns="0" lIns="0" bIns="0" rIns="0">
            <a:spAutoFit/>
          </a:bodyPr>
          <a:lstStyle/>
          <a:p>
            <a:pPr algn="l">
              <a:lnSpc>
                <a:spcPts val="2381"/>
              </a:lnSpc>
            </a:pPr>
            <a:r>
              <a:rPr lang="en-US" sz="1575" spc="189">
                <a:solidFill>
                  <a:srgbClr val="6B4B7D"/>
                </a:solidFill>
                <a:latin typeface="Arimo"/>
                <a:ea typeface="Arimo"/>
                <a:cs typeface="Arimo"/>
                <a:sym typeface="Arimo"/>
              </a:rPr>
              <a:t>LIMIT</a:t>
            </a:r>
          </a:p>
        </p:txBody>
      </p:sp>
      <p:sp>
        <p:nvSpPr>
          <p:cNvPr name="TextBox 23" id="23"/>
          <p:cNvSpPr txBox="true"/>
          <p:nvPr/>
        </p:nvSpPr>
        <p:spPr>
          <a:xfrm rot="0">
            <a:off x="13665203" y="4988071"/>
            <a:ext cx="3559559" cy="2203942"/>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Ženy, které léčbu užívají, se liší i jinak. Randomizovaná studie s demencí jako cílem neexistuje. </a:t>
            </a:r>
            <a:r>
              <a:rPr lang="en-US" sz="1950" b="true">
                <a:solidFill>
                  <a:srgbClr val="401252"/>
                </a:solidFill>
                <a:latin typeface="Arimo Bold"/>
                <a:ea typeface="Arimo Bold"/>
                <a:cs typeface="Arimo Bold"/>
                <a:sym typeface="Arimo Bold"/>
              </a:rPr>
              <a:t>Kvůli prevenci demence se léčba nepředepisuje.</a:t>
            </a:r>
          </a:p>
        </p:txBody>
      </p:sp>
      <p:sp>
        <p:nvSpPr>
          <p:cNvPr name="TextBox 24" id="24"/>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Squires S et al., Alzheimer's &amp; Dementia 2026;22:e71679, UK Biobank</a:t>
            </a:r>
          </a:p>
        </p:txBody>
      </p:sp>
      <p:sp>
        <p:nvSpPr>
          <p:cNvPr name="TextBox 25" id="25"/>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7323896"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LÉČBA PŘÍZNAKŮ · UROGENITÁL A SEXUÁLNÍ ZDRAVÍ</a:t>
            </a:r>
          </a:p>
        </p:txBody>
      </p:sp>
      <p:sp>
        <p:nvSpPr>
          <p:cNvPr name="TextBox 3" id="3"/>
          <p:cNvSpPr txBox="true"/>
          <p:nvPr/>
        </p:nvSpPr>
        <p:spPr>
          <a:xfrm rot="0">
            <a:off x="1168403" y="1873253"/>
            <a:ext cx="13684253" cy="1252195"/>
          </a:xfrm>
          <a:prstGeom prst="rect">
            <a:avLst/>
          </a:prstGeom>
        </p:spPr>
        <p:txBody>
          <a:bodyPr anchor="t" rtlCol="false" tIns="0" lIns="0" bIns="0" rIns="0">
            <a:spAutoFit/>
          </a:bodyPr>
          <a:lstStyle/>
          <a:p>
            <a:pPr algn="l">
              <a:lnSpc>
                <a:spcPts val="4735"/>
              </a:lnSpc>
            </a:pPr>
            <a:r>
              <a:rPr lang="en-US" sz="4500" spc="-81">
                <a:solidFill>
                  <a:srgbClr val="401252"/>
                </a:solidFill>
                <a:latin typeface="Arimo"/>
                <a:ea typeface="Arimo"/>
                <a:cs typeface="Arimo"/>
                <a:sym typeface="Arimo"/>
              </a:rPr>
              <a:t>Obtíže, které samy neodejdou. A ptá se na ně nejmíň žen.</a:t>
            </a:r>
          </a:p>
        </p:txBody>
      </p:sp>
      <p:grpSp>
        <p:nvGrpSpPr>
          <p:cNvPr name="Group 4" id="4"/>
          <p:cNvGrpSpPr/>
          <p:nvPr/>
        </p:nvGrpSpPr>
        <p:grpSpPr>
          <a:xfrm rot="0">
            <a:off x="14249400" y="1241079"/>
            <a:ext cx="381000" cy="381000"/>
            <a:chOff x="0" y="0"/>
            <a:chExt cx="508000" cy="508000"/>
          </a:xfrm>
        </p:grpSpPr>
        <p:sp>
          <p:nvSpPr>
            <p:cNvPr name="Freeform 5" id="5"/>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6D2A8C"/>
            </a:solidFill>
          </p:spPr>
        </p:sp>
      </p:grpSp>
      <p:grpSp>
        <p:nvGrpSpPr>
          <p:cNvPr name="Group 6" id="6"/>
          <p:cNvGrpSpPr/>
          <p:nvPr/>
        </p:nvGrpSpPr>
        <p:grpSpPr>
          <a:xfrm rot="0">
            <a:off x="14211300" y="1241079"/>
            <a:ext cx="457200" cy="419100"/>
            <a:chOff x="0" y="0"/>
            <a:chExt cx="609600" cy="558800"/>
          </a:xfrm>
        </p:grpSpPr>
        <p:sp>
          <p:nvSpPr>
            <p:cNvPr name="Freeform 7" id="7"/>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3">
                <a:alphaModFix amt="0"/>
              </a:blip>
              <a:stretch>
                <a:fillRect l="-67611" t="0" r="-67611" b="0"/>
              </a:stretch>
            </a:blipFill>
          </p:spPr>
        </p:sp>
        <p:sp>
          <p:nvSpPr>
            <p:cNvPr name="TextBox 8" id="8"/>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FFFFFF"/>
                  </a:solidFill>
                  <a:latin typeface="Arimo"/>
                  <a:ea typeface="Arimo"/>
                  <a:cs typeface="Arimo"/>
                  <a:sym typeface="Arimo"/>
                </a:rPr>
                <a:t>A</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SHODA DOPORUČENÍ, JASNÝ POSTUP</a:t>
            </a:r>
          </a:p>
        </p:txBody>
      </p:sp>
      <p:grpSp>
        <p:nvGrpSpPr>
          <p:cNvPr name="Group 10" id="10"/>
          <p:cNvGrpSpPr/>
          <p:nvPr/>
        </p:nvGrpSpPr>
        <p:grpSpPr>
          <a:xfrm rot="0">
            <a:off x="9134475" y="4000500"/>
            <a:ext cx="9525" cy="3539804"/>
            <a:chOff x="0" y="0"/>
            <a:chExt cx="12700" cy="4719739"/>
          </a:xfrm>
        </p:grpSpPr>
        <p:sp>
          <p:nvSpPr>
            <p:cNvPr name="Freeform 11" id="11"/>
            <p:cNvSpPr/>
            <p:nvPr/>
          </p:nvSpPr>
          <p:spPr>
            <a:xfrm flipH="false" flipV="false" rot="0">
              <a:off x="0" y="0"/>
              <a:ext cx="12700" cy="4719701"/>
            </a:xfrm>
            <a:custGeom>
              <a:avLst/>
              <a:gdLst/>
              <a:ahLst/>
              <a:cxnLst/>
              <a:rect r="r" b="b" t="t" l="l"/>
              <a:pathLst>
                <a:path h="4719701" w="12700">
                  <a:moveTo>
                    <a:pt x="0" y="0"/>
                  </a:moveTo>
                  <a:lnTo>
                    <a:pt x="12700" y="0"/>
                  </a:lnTo>
                  <a:lnTo>
                    <a:pt x="12700" y="4719701"/>
                  </a:lnTo>
                  <a:lnTo>
                    <a:pt x="0" y="4719701"/>
                  </a:lnTo>
                  <a:close/>
                </a:path>
              </a:pathLst>
            </a:custGeom>
            <a:solidFill>
              <a:srgbClr val="CDB3DC"/>
            </a:solidFill>
          </p:spPr>
        </p:sp>
      </p:grpSp>
      <p:sp>
        <p:nvSpPr>
          <p:cNvPr name="TextBox 12" id="12"/>
          <p:cNvSpPr txBox="true"/>
          <p:nvPr/>
        </p:nvSpPr>
        <p:spPr>
          <a:xfrm rot="0">
            <a:off x="1168403" y="3959228"/>
            <a:ext cx="7395562"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CO TO JE (UROGENITÁLNÍ SYNDROM MENOPAUZY)</a:t>
            </a:r>
          </a:p>
        </p:txBody>
      </p:sp>
      <p:sp>
        <p:nvSpPr>
          <p:cNvPr name="TextBox 13" id="13"/>
          <p:cNvSpPr txBox="true"/>
          <p:nvPr/>
        </p:nvSpPr>
        <p:spPr>
          <a:xfrm rot="0">
            <a:off x="1168403" y="4555808"/>
            <a:ext cx="7395562" cy="18732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Suchost, pálení, bolest při sexu, časté nebo urgentní močení, opakované záněty. Na rozdíl od návalů to </a:t>
            </a:r>
            <a:r>
              <a:rPr lang="en-US" sz="2400" b="true">
                <a:solidFill>
                  <a:srgbClr val="401252"/>
                </a:solidFill>
                <a:latin typeface="Arimo Bold"/>
                <a:ea typeface="Arimo Bold"/>
                <a:cs typeface="Arimo Bold"/>
                <a:sym typeface="Arimo Bold"/>
              </a:rPr>
              <a:t>samo neustoupí </a:t>
            </a:r>
            <a:r>
              <a:rPr lang="en-US" sz="2400">
                <a:solidFill>
                  <a:srgbClr val="6B4B7D"/>
                </a:solidFill>
                <a:latin typeface="Arimo"/>
                <a:ea typeface="Arimo"/>
                <a:cs typeface="Arimo"/>
                <a:sym typeface="Arimo"/>
              </a:rPr>
              <a:t>, bez léčby se to prohlubuje.</a:t>
            </a:r>
          </a:p>
        </p:txBody>
      </p:sp>
      <p:sp>
        <p:nvSpPr>
          <p:cNvPr name="TextBox 14" id="14"/>
          <p:cNvSpPr txBox="true"/>
          <p:nvPr/>
        </p:nvSpPr>
        <p:spPr>
          <a:xfrm rot="0">
            <a:off x="1168403" y="6594157"/>
            <a:ext cx="7395562" cy="9588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Sexuální zdraví sem patří jako </a:t>
            </a:r>
            <a:r>
              <a:rPr lang="en-US" sz="2400" b="true">
                <a:solidFill>
                  <a:srgbClr val="401252"/>
                </a:solidFill>
                <a:latin typeface="Arimo Bold"/>
                <a:ea typeface="Arimo Bold"/>
                <a:cs typeface="Arimo Bold"/>
                <a:sym typeface="Arimo Bold"/>
              </a:rPr>
              <a:t>součást péče </a:t>
            </a:r>
            <a:r>
              <a:rPr lang="en-US" sz="2400">
                <a:solidFill>
                  <a:srgbClr val="6B4B7D"/>
                </a:solidFill>
                <a:latin typeface="Arimo"/>
                <a:ea typeface="Arimo"/>
                <a:cs typeface="Arimo"/>
                <a:sym typeface="Arimo"/>
              </a:rPr>
              <a:t>, ne jako nepovinný dodatek.</a:t>
            </a:r>
          </a:p>
        </p:txBody>
      </p:sp>
      <p:sp>
        <p:nvSpPr>
          <p:cNvPr name="TextBox 15" id="15"/>
          <p:cNvSpPr txBox="true"/>
          <p:nvPr/>
        </p:nvSpPr>
        <p:spPr>
          <a:xfrm rot="0">
            <a:off x="9931403" y="3959228"/>
            <a:ext cx="7405373"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CO S TÍM, PO KROCÍCH</a:t>
            </a:r>
          </a:p>
        </p:txBody>
      </p:sp>
      <p:sp>
        <p:nvSpPr>
          <p:cNvPr name="TextBox 16" id="16"/>
          <p:cNvSpPr txBox="true"/>
          <p:nvPr/>
        </p:nvSpPr>
        <p:spPr>
          <a:xfrm rot="0">
            <a:off x="9931403" y="4536758"/>
            <a:ext cx="372913" cy="557241"/>
          </a:xfrm>
          <a:prstGeom prst="rect">
            <a:avLst/>
          </a:prstGeom>
        </p:spPr>
        <p:txBody>
          <a:bodyPr anchor="t" rtlCol="false" tIns="0" lIns="0" bIns="0" rIns="0">
            <a:spAutoFit/>
          </a:bodyPr>
          <a:lstStyle/>
          <a:p>
            <a:pPr algn="l">
              <a:lnSpc>
                <a:spcPts val="3597"/>
              </a:lnSpc>
            </a:pPr>
            <a:r>
              <a:rPr lang="en-US" sz="2400" spc="-72">
                <a:solidFill>
                  <a:srgbClr val="6D2A8C"/>
                </a:solidFill>
                <a:latin typeface="Arimo"/>
                <a:ea typeface="Arimo"/>
                <a:cs typeface="Arimo"/>
                <a:sym typeface="Arimo"/>
              </a:rPr>
              <a:t>01</a:t>
            </a:r>
          </a:p>
        </p:txBody>
      </p:sp>
      <p:sp>
        <p:nvSpPr>
          <p:cNvPr name="TextBox 17" id="17"/>
          <p:cNvSpPr txBox="true"/>
          <p:nvPr/>
        </p:nvSpPr>
        <p:spPr>
          <a:xfrm rot="0">
            <a:off x="10526563" y="4636760"/>
            <a:ext cx="7257421" cy="420691"/>
          </a:xfrm>
          <a:prstGeom prst="rect">
            <a:avLst/>
          </a:prstGeom>
        </p:spPr>
        <p:txBody>
          <a:bodyPr anchor="t" rtlCol="false" tIns="0" lIns="0" bIns="0" rIns="0">
            <a:spAutoFit/>
          </a:bodyPr>
          <a:lstStyle/>
          <a:p>
            <a:pPr algn="l">
              <a:lnSpc>
                <a:spcPts val="2811"/>
              </a:lnSpc>
            </a:pPr>
            <a:r>
              <a:rPr lang="en-US" sz="2025">
                <a:solidFill>
                  <a:srgbClr val="6B4B7D"/>
                </a:solidFill>
                <a:latin typeface="Arimo"/>
                <a:ea typeface="Arimo"/>
                <a:cs typeface="Arimo"/>
                <a:sym typeface="Arimo"/>
              </a:rPr>
              <a:t>lubrikanty a hydratační přípravky</a:t>
            </a:r>
          </a:p>
        </p:txBody>
      </p:sp>
      <p:sp>
        <p:nvSpPr>
          <p:cNvPr name="TextBox 18" id="18"/>
          <p:cNvSpPr txBox="true"/>
          <p:nvPr/>
        </p:nvSpPr>
        <p:spPr>
          <a:xfrm rot="0">
            <a:off x="9931403" y="5182886"/>
            <a:ext cx="372913" cy="557241"/>
          </a:xfrm>
          <a:prstGeom prst="rect">
            <a:avLst/>
          </a:prstGeom>
        </p:spPr>
        <p:txBody>
          <a:bodyPr anchor="t" rtlCol="false" tIns="0" lIns="0" bIns="0" rIns="0">
            <a:spAutoFit/>
          </a:bodyPr>
          <a:lstStyle/>
          <a:p>
            <a:pPr algn="l">
              <a:lnSpc>
                <a:spcPts val="3597"/>
              </a:lnSpc>
            </a:pPr>
            <a:r>
              <a:rPr lang="en-US" sz="2400" spc="-72">
                <a:solidFill>
                  <a:srgbClr val="6D2A8C"/>
                </a:solidFill>
                <a:latin typeface="Arimo"/>
                <a:ea typeface="Arimo"/>
                <a:cs typeface="Arimo"/>
                <a:sym typeface="Arimo"/>
              </a:rPr>
              <a:t>02</a:t>
            </a:r>
          </a:p>
        </p:txBody>
      </p:sp>
      <p:sp>
        <p:nvSpPr>
          <p:cNvPr name="TextBox 19" id="19"/>
          <p:cNvSpPr txBox="true"/>
          <p:nvPr/>
        </p:nvSpPr>
        <p:spPr>
          <a:xfrm rot="0">
            <a:off x="10526563" y="5282898"/>
            <a:ext cx="7257421" cy="420691"/>
          </a:xfrm>
          <a:prstGeom prst="rect">
            <a:avLst/>
          </a:prstGeom>
        </p:spPr>
        <p:txBody>
          <a:bodyPr anchor="t" rtlCol="false" tIns="0" lIns="0" bIns="0" rIns="0">
            <a:spAutoFit/>
          </a:bodyPr>
          <a:lstStyle/>
          <a:p>
            <a:pPr algn="l">
              <a:lnSpc>
                <a:spcPts val="2811"/>
              </a:lnSpc>
            </a:pPr>
            <a:r>
              <a:rPr lang="en-US" sz="2025">
                <a:solidFill>
                  <a:srgbClr val="6B4B7D"/>
                </a:solidFill>
                <a:latin typeface="Arimo"/>
                <a:ea typeface="Arimo"/>
                <a:cs typeface="Arimo"/>
                <a:sym typeface="Arimo"/>
              </a:rPr>
              <a:t>nízkodávkovaný </a:t>
            </a:r>
            <a:r>
              <a:rPr lang="en-US" sz="2025" b="true">
                <a:solidFill>
                  <a:srgbClr val="401252"/>
                </a:solidFill>
                <a:latin typeface="Arimo Bold"/>
                <a:ea typeface="Arimo Bold"/>
                <a:cs typeface="Arimo Bold"/>
                <a:sym typeface="Arimo Bold"/>
              </a:rPr>
              <a:t>lokální estrogen</a:t>
            </a:r>
          </a:p>
        </p:txBody>
      </p:sp>
      <p:sp>
        <p:nvSpPr>
          <p:cNvPr name="TextBox 20" id="20"/>
          <p:cNvSpPr txBox="true"/>
          <p:nvPr/>
        </p:nvSpPr>
        <p:spPr>
          <a:xfrm rot="0">
            <a:off x="9931403" y="5829024"/>
            <a:ext cx="372913" cy="557241"/>
          </a:xfrm>
          <a:prstGeom prst="rect">
            <a:avLst/>
          </a:prstGeom>
        </p:spPr>
        <p:txBody>
          <a:bodyPr anchor="t" rtlCol="false" tIns="0" lIns="0" bIns="0" rIns="0">
            <a:spAutoFit/>
          </a:bodyPr>
          <a:lstStyle/>
          <a:p>
            <a:pPr algn="l">
              <a:lnSpc>
                <a:spcPts val="3597"/>
              </a:lnSpc>
            </a:pPr>
            <a:r>
              <a:rPr lang="en-US" sz="2400" spc="-72">
                <a:solidFill>
                  <a:srgbClr val="6D2A8C"/>
                </a:solidFill>
                <a:latin typeface="Arimo"/>
                <a:ea typeface="Arimo"/>
                <a:cs typeface="Arimo"/>
                <a:sym typeface="Arimo"/>
              </a:rPr>
              <a:t>03</a:t>
            </a:r>
          </a:p>
        </p:txBody>
      </p:sp>
      <p:sp>
        <p:nvSpPr>
          <p:cNvPr name="TextBox 21" id="21"/>
          <p:cNvSpPr txBox="true"/>
          <p:nvPr/>
        </p:nvSpPr>
        <p:spPr>
          <a:xfrm rot="0">
            <a:off x="10526563" y="5929036"/>
            <a:ext cx="7257421" cy="420691"/>
          </a:xfrm>
          <a:prstGeom prst="rect">
            <a:avLst/>
          </a:prstGeom>
        </p:spPr>
        <p:txBody>
          <a:bodyPr anchor="t" rtlCol="false" tIns="0" lIns="0" bIns="0" rIns="0">
            <a:spAutoFit/>
          </a:bodyPr>
          <a:lstStyle/>
          <a:p>
            <a:pPr algn="l">
              <a:lnSpc>
                <a:spcPts val="2811"/>
              </a:lnSpc>
            </a:pPr>
            <a:r>
              <a:rPr lang="en-US" sz="2025">
                <a:solidFill>
                  <a:srgbClr val="6B4B7D"/>
                </a:solidFill>
                <a:latin typeface="Arimo"/>
                <a:ea typeface="Arimo"/>
                <a:cs typeface="Arimo"/>
                <a:sym typeface="Arimo"/>
              </a:rPr>
              <a:t>fyzioterapie pánevního dna</a:t>
            </a:r>
          </a:p>
        </p:txBody>
      </p:sp>
      <p:sp>
        <p:nvSpPr>
          <p:cNvPr name="TextBox 22" id="22"/>
          <p:cNvSpPr txBox="true"/>
          <p:nvPr/>
        </p:nvSpPr>
        <p:spPr>
          <a:xfrm rot="0">
            <a:off x="9931403" y="6475162"/>
            <a:ext cx="372913" cy="557241"/>
          </a:xfrm>
          <a:prstGeom prst="rect">
            <a:avLst/>
          </a:prstGeom>
        </p:spPr>
        <p:txBody>
          <a:bodyPr anchor="t" rtlCol="false" tIns="0" lIns="0" bIns="0" rIns="0">
            <a:spAutoFit/>
          </a:bodyPr>
          <a:lstStyle/>
          <a:p>
            <a:pPr algn="l">
              <a:lnSpc>
                <a:spcPts val="3597"/>
              </a:lnSpc>
            </a:pPr>
            <a:r>
              <a:rPr lang="en-US" sz="2400" spc="-72">
                <a:solidFill>
                  <a:srgbClr val="6D2A8C"/>
                </a:solidFill>
                <a:latin typeface="Arimo"/>
                <a:ea typeface="Arimo"/>
                <a:cs typeface="Arimo"/>
                <a:sym typeface="Arimo"/>
              </a:rPr>
              <a:t>04</a:t>
            </a:r>
          </a:p>
        </p:txBody>
      </p:sp>
      <p:sp>
        <p:nvSpPr>
          <p:cNvPr name="TextBox 23" id="23"/>
          <p:cNvSpPr txBox="true"/>
          <p:nvPr/>
        </p:nvSpPr>
        <p:spPr>
          <a:xfrm rot="0">
            <a:off x="10526563" y="6575174"/>
            <a:ext cx="7257421" cy="420691"/>
          </a:xfrm>
          <a:prstGeom prst="rect">
            <a:avLst/>
          </a:prstGeom>
        </p:spPr>
        <p:txBody>
          <a:bodyPr anchor="t" rtlCol="false" tIns="0" lIns="0" bIns="0" rIns="0">
            <a:spAutoFit/>
          </a:bodyPr>
          <a:lstStyle/>
          <a:p>
            <a:pPr algn="l">
              <a:lnSpc>
                <a:spcPts val="2811"/>
              </a:lnSpc>
            </a:pPr>
            <a:r>
              <a:rPr lang="en-US" sz="2025">
                <a:solidFill>
                  <a:srgbClr val="6B4B7D"/>
                </a:solidFill>
                <a:latin typeface="Arimo"/>
                <a:ea typeface="Arimo"/>
                <a:cs typeface="Arimo"/>
                <a:sym typeface="Arimo"/>
              </a:rPr>
              <a:t>psychosexuální poradenství</a:t>
            </a:r>
          </a:p>
        </p:txBody>
      </p:sp>
      <p:grpSp>
        <p:nvGrpSpPr>
          <p:cNvPr name="Group 24" id="24"/>
          <p:cNvGrpSpPr/>
          <p:nvPr/>
        </p:nvGrpSpPr>
        <p:grpSpPr>
          <a:xfrm rot="0">
            <a:off x="1143000" y="7467600"/>
            <a:ext cx="16002000" cy="1152525"/>
            <a:chOff x="0" y="0"/>
            <a:chExt cx="21336000" cy="1536700"/>
          </a:xfrm>
        </p:grpSpPr>
        <p:sp>
          <p:nvSpPr>
            <p:cNvPr name="Freeform 25" id="25"/>
            <p:cNvSpPr/>
            <p:nvPr/>
          </p:nvSpPr>
          <p:spPr>
            <a:xfrm flipH="false" flipV="false" rot="0">
              <a:off x="0" y="0"/>
              <a:ext cx="21336000" cy="1536700"/>
            </a:xfrm>
            <a:custGeom>
              <a:avLst/>
              <a:gdLst/>
              <a:ahLst/>
              <a:cxnLst/>
              <a:rect r="r" b="b" t="t" l="l"/>
              <a:pathLst>
                <a:path h="1536700" w="21336000">
                  <a:moveTo>
                    <a:pt x="0" y="152400"/>
                  </a:moveTo>
                  <a:cubicBezTo>
                    <a:pt x="0" y="68199"/>
                    <a:pt x="68199" y="0"/>
                    <a:pt x="152400" y="0"/>
                  </a:cubicBezTo>
                  <a:lnTo>
                    <a:pt x="21183600" y="0"/>
                  </a:lnTo>
                  <a:cubicBezTo>
                    <a:pt x="21267801" y="0"/>
                    <a:pt x="21336000" y="68199"/>
                    <a:pt x="21336000" y="152400"/>
                  </a:cubicBezTo>
                  <a:lnTo>
                    <a:pt x="21336000" y="1384300"/>
                  </a:lnTo>
                  <a:cubicBezTo>
                    <a:pt x="21336000" y="1468501"/>
                    <a:pt x="21267801" y="1536700"/>
                    <a:pt x="21183600" y="1536700"/>
                  </a:cubicBezTo>
                  <a:lnTo>
                    <a:pt x="152400" y="1536700"/>
                  </a:lnTo>
                  <a:cubicBezTo>
                    <a:pt x="68199" y="1536700"/>
                    <a:pt x="0" y="1468501"/>
                    <a:pt x="0" y="1384300"/>
                  </a:cubicBezTo>
                  <a:close/>
                </a:path>
              </a:pathLst>
            </a:custGeom>
            <a:solidFill>
              <a:srgbClr val="F4ECFA"/>
            </a:solidFill>
          </p:spPr>
        </p:sp>
      </p:grpSp>
      <p:sp>
        <p:nvSpPr>
          <p:cNvPr name="TextBox 26" id="26"/>
          <p:cNvSpPr txBox="true"/>
          <p:nvPr/>
        </p:nvSpPr>
        <p:spPr>
          <a:xfrm rot="0">
            <a:off x="1473203" y="7635878"/>
            <a:ext cx="15803375" cy="806453"/>
          </a:xfrm>
          <a:prstGeom prst="rect">
            <a:avLst/>
          </a:prstGeom>
        </p:spPr>
        <p:txBody>
          <a:bodyPr anchor="t" rtlCol="false" tIns="0" lIns="0" bIns="0" rIns="0">
            <a:spAutoFit/>
          </a:bodyPr>
          <a:lstStyle/>
          <a:p>
            <a:pPr algn="l">
              <a:lnSpc>
                <a:spcPts val="2811"/>
              </a:lnSpc>
            </a:pPr>
            <a:r>
              <a:rPr lang="en-US" sz="2025" b="true">
                <a:solidFill>
                  <a:srgbClr val="401252"/>
                </a:solidFill>
                <a:latin typeface="Arimo Bold"/>
                <a:ea typeface="Arimo Bold"/>
                <a:cs typeface="Arimo Bold"/>
                <a:sym typeface="Arimo Bold"/>
              </a:rPr>
              <a:t>Lokální estrogen není systémová léčba. </a:t>
            </a:r>
            <a:r>
              <a:rPr lang="en-US" sz="2025">
                <a:solidFill>
                  <a:srgbClr val="6B4B7D"/>
                </a:solidFill>
                <a:latin typeface="Arimo"/>
                <a:ea typeface="Arimo"/>
                <a:cs typeface="Arimo"/>
                <a:sym typeface="Arimo"/>
              </a:rPr>
              <a:t>Hladina estradiolu stoupne jen do nízkého postmenopauzálního rozmezí a observační data do tří let neukázala vyšší riziko nádoru prsu ani dělohy. Lze užívat i současně se systémovou léčbou.</a:t>
            </a:r>
          </a:p>
        </p:txBody>
      </p:sp>
      <p:sp>
        <p:nvSpPr>
          <p:cNvPr name="TextBox 27" id="27"/>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EMAS 2026 · UpToDate, Genitourinary syndrome of menopause, 2026 · TMS, GSM statement 2020</a:t>
            </a:r>
          </a:p>
        </p:txBody>
      </p:sp>
      <p:sp>
        <p:nvSpPr>
          <p:cNvPr name="TextBox 28" id="28"/>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2137267"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MÝTUS A FAKT</a:t>
            </a:r>
          </a:p>
        </p:txBody>
      </p:sp>
      <p:sp>
        <p:nvSpPr>
          <p:cNvPr name="TextBox 3" id="3"/>
          <p:cNvSpPr txBox="true"/>
          <p:nvPr/>
        </p:nvSpPr>
        <p:spPr>
          <a:xfrm rot="0">
            <a:off x="1168403" y="1901828"/>
            <a:ext cx="13684253" cy="1485252"/>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Přibírání v přechodu: co za to opravdu může.</a:t>
            </a:r>
          </a:p>
        </p:txBody>
      </p:sp>
      <p:grpSp>
        <p:nvGrpSpPr>
          <p:cNvPr name="Group 4" id="4"/>
          <p:cNvGrpSpPr/>
          <p:nvPr/>
        </p:nvGrpSpPr>
        <p:grpSpPr>
          <a:xfrm rot="0">
            <a:off x="14239875" y="123155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26012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KOHORTY A PŘEHLEDOVÉ PRÁCE</a:t>
            </a:r>
          </a:p>
        </p:txBody>
      </p:sp>
      <p:grpSp>
        <p:nvGrpSpPr>
          <p:cNvPr name="Group 10" id="10"/>
          <p:cNvGrpSpPr/>
          <p:nvPr/>
        </p:nvGrpSpPr>
        <p:grpSpPr>
          <a:xfrm rot="0">
            <a:off x="1133475" y="5029200"/>
            <a:ext cx="7753350" cy="2628824"/>
            <a:chOff x="0" y="0"/>
            <a:chExt cx="10337800" cy="3505098"/>
          </a:xfrm>
        </p:grpSpPr>
        <p:sp>
          <p:nvSpPr>
            <p:cNvPr name="Freeform 11" id="11"/>
            <p:cNvSpPr/>
            <p:nvPr/>
          </p:nvSpPr>
          <p:spPr>
            <a:xfrm flipH="false" flipV="false" rot="0">
              <a:off x="0" y="0"/>
              <a:ext cx="10337800" cy="3505073"/>
            </a:xfrm>
            <a:custGeom>
              <a:avLst/>
              <a:gdLst/>
              <a:ahLst/>
              <a:cxnLst/>
              <a:rect r="r" b="b" t="t" l="l"/>
              <a:pathLst>
                <a:path h="3505073" w="10337800">
                  <a:moveTo>
                    <a:pt x="0" y="153543"/>
                  </a:moveTo>
                  <a:cubicBezTo>
                    <a:pt x="0" y="68707"/>
                    <a:pt x="68707" y="0"/>
                    <a:pt x="153543" y="0"/>
                  </a:cubicBezTo>
                  <a:lnTo>
                    <a:pt x="10184257" y="0"/>
                  </a:lnTo>
                  <a:cubicBezTo>
                    <a:pt x="10269093" y="0"/>
                    <a:pt x="10337800" y="68707"/>
                    <a:pt x="10337800" y="153543"/>
                  </a:cubicBezTo>
                  <a:lnTo>
                    <a:pt x="10337800" y="3351530"/>
                  </a:lnTo>
                  <a:cubicBezTo>
                    <a:pt x="10337800" y="3436366"/>
                    <a:pt x="10269093" y="3505073"/>
                    <a:pt x="10184257" y="3505073"/>
                  </a:cubicBezTo>
                  <a:lnTo>
                    <a:pt x="153543" y="3505073"/>
                  </a:lnTo>
                  <a:cubicBezTo>
                    <a:pt x="68707" y="3505073"/>
                    <a:pt x="0" y="3436366"/>
                    <a:pt x="0" y="3351530"/>
                  </a:cubicBezTo>
                  <a:close/>
                </a:path>
              </a:pathLst>
            </a:custGeom>
            <a:blipFill>
              <a:blip r:embed="rId3">
                <a:alphaModFix amt="0"/>
              </a:blip>
              <a:stretch>
                <a:fillRect l="0" t="-7468" r="0" b="-7469"/>
              </a:stretch>
            </a:blipFill>
            <a:ln w="19050" cap="sq">
              <a:solidFill>
                <a:srgbClr val="CDB3DC"/>
              </a:solidFill>
              <a:prstDash val="dash"/>
              <a:miter/>
            </a:ln>
          </p:spPr>
        </p:sp>
      </p:grpSp>
      <p:sp>
        <p:nvSpPr>
          <p:cNvPr name="TextBox 12" id="12"/>
          <p:cNvSpPr txBox="true"/>
          <p:nvPr/>
        </p:nvSpPr>
        <p:spPr>
          <a:xfrm rot="0">
            <a:off x="1682753" y="5530853"/>
            <a:ext cx="6855971"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MÝTUS</a:t>
            </a:r>
          </a:p>
        </p:txBody>
      </p:sp>
      <p:sp>
        <p:nvSpPr>
          <p:cNvPr name="TextBox 13" id="13"/>
          <p:cNvSpPr txBox="true"/>
          <p:nvPr/>
        </p:nvSpPr>
        <p:spPr>
          <a:xfrm rot="0">
            <a:off x="1682753" y="6175057"/>
            <a:ext cx="6855971" cy="952748"/>
          </a:xfrm>
          <a:prstGeom prst="rect">
            <a:avLst/>
          </a:prstGeom>
        </p:spPr>
        <p:txBody>
          <a:bodyPr anchor="t" rtlCol="false" tIns="0" lIns="0" bIns="0" rIns="0">
            <a:spAutoFit/>
          </a:bodyPr>
          <a:lstStyle/>
          <a:p>
            <a:pPr algn="l">
              <a:lnSpc>
                <a:spcPts val="3366"/>
              </a:lnSpc>
            </a:pPr>
            <a:r>
              <a:rPr lang="en-US" sz="2475">
                <a:solidFill>
                  <a:srgbClr val="6B4B7D"/>
                </a:solidFill>
                <a:latin typeface="Arimo"/>
                <a:ea typeface="Arimo"/>
                <a:cs typeface="Arimo"/>
                <a:sym typeface="Arimo"/>
              </a:rPr>
              <a:t>„Po padesátce se prostě přibere a nedá se s tím nic dělat.“</a:t>
            </a:r>
          </a:p>
        </p:txBody>
      </p:sp>
      <p:grpSp>
        <p:nvGrpSpPr>
          <p:cNvPr name="Group 14" id="14"/>
          <p:cNvGrpSpPr/>
          <p:nvPr/>
        </p:nvGrpSpPr>
        <p:grpSpPr>
          <a:xfrm rot="0">
            <a:off x="9410700" y="5038725"/>
            <a:ext cx="7734300" cy="3489503"/>
            <a:chOff x="0" y="0"/>
            <a:chExt cx="10312400" cy="4652670"/>
          </a:xfrm>
        </p:grpSpPr>
        <p:sp>
          <p:nvSpPr>
            <p:cNvPr name="Freeform 15" id="15"/>
            <p:cNvSpPr/>
            <p:nvPr/>
          </p:nvSpPr>
          <p:spPr>
            <a:xfrm flipH="false" flipV="false" rot="0">
              <a:off x="0" y="0"/>
              <a:ext cx="10312400" cy="4652645"/>
            </a:xfrm>
            <a:custGeom>
              <a:avLst/>
              <a:gdLst/>
              <a:ahLst/>
              <a:cxnLst/>
              <a:rect r="r" b="b" t="t" l="l"/>
              <a:pathLst>
                <a:path h="4652645" w="10312400">
                  <a:moveTo>
                    <a:pt x="0" y="152400"/>
                  </a:moveTo>
                  <a:cubicBezTo>
                    <a:pt x="0" y="68199"/>
                    <a:pt x="68199" y="0"/>
                    <a:pt x="152400" y="0"/>
                  </a:cubicBezTo>
                  <a:lnTo>
                    <a:pt x="10160000" y="0"/>
                  </a:lnTo>
                  <a:cubicBezTo>
                    <a:pt x="10244201" y="0"/>
                    <a:pt x="10312400" y="68199"/>
                    <a:pt x="10312400" y="152400"/>
                  </a:cubicBezTo>
                  <a:lnTo>
                    <a:pt x="10312400" y="4500245"/>
                  </a:lnTo>
                  <a:cubicBezTo>
                    <a:pt x="10312400" y="4584446"/>
                    <a:pt x="10244201" y="4652645"/>
                    <a:pt x="10160000" y="4652645"/>
                  </a:cubicBezTo>
                  <a:lnTo>
                    <a:pt x="152400" y="4652645"/>
                  </a:lnTo>
                  <a:cubicBezTo>
                    <a:pt x="68199" y="4652645"/>
                    <a:pt x="0" y="4584446"/>
                    <a:pt x="0" y="4500245"/>
                  </a:cubicBezTo>
                  <a:close/>
                </a:path>
              </a:pathLst>
            </a:custGeom>
            <a:solidFill>
              <a:srgbClr val="F4ECFA"/>
            </a:solidFill>
          </p:spPr>
        </p:sp>
      </p:grpSp>
      <p:sp>
        <p:nvSpPr>
          <p:cNvPr name="TextBox 16" id="16"/>
          <p:cNvSpPr txBox="true"/>
          <p:nvPr/>
        </p:nvSpPr>
        <p:spPr>
          <a:xfrm rot="0">
            <a:off x="9931403" y="5511803"/>
            <a:ext cx="6895214"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FAKT</a:t>
            </a:r>
          </a:p>
        </p:txBody>
      </p:sp>
      <p:sp>
        <p:nvSpPr>
          <p:cNvPr name="TextBox 17" id="17"/>
          <p:cNvSpPr txBox="true"/>
          <p:nvPr/>
        </p:nvSpPr>
        <p:spPr>
          <a:xfrm rot="0">
            <a:off x="9931403" y="6156007"/>
            <a:ext cx="6895214" cy="1870567"/>
          </a:xfrm>
          <a:prstGeom prst="rect">
            <a:avLst/>
          </a:prstGeom>
        </p:spPr>
        <p:txBody>
          <a:bodyPr anchor="t" rtlCol="false" tIns="0" lIns="0" bIns="0" rIns="0">
            <a:spAutoFit/>
          </a:bodyPr>
          <a:lstStyle/>
          <a:p>
            <a:pPr algn="l">
              <a:lnSpc>
                <a:spcPts val="3366"/>
              </a:lnSpc>
            </a:pPr>
            <a:r>
              <a:rPr lang="en-US" sz="2475">
                <a:solidFill>
                  <a:srgbClr val="401252"/>
                </a:solidFill>
                <a:latin typeface="Arimo"/>
                <a:ea typeface="Arimo"/>
                <a:cs typeface="Arimo"/>
                <a:sym typeface="Arimo"/>
              </a:rPr>
              <a:t>Váha roste hlavně s věkem a režimem. S přechodem souvisí spíš </a:t>
            </a:r>
            <a:r>
              <a:rPr lang="en-US" sz="2475" b="true">
                <a:solidFill>
                  <a:srgbClr val="401252"/>
                </a:solidFill>
                <a:latin typeface="Arimo Bold"/>
                <a:ea typeface="Arimo Bold"/>
                <a:cs typeface="Arimo Bold"/>
                <a:sym typeface="Arimo Bold"/>
              </a:rPr>
              <a:t>přesun tuku do pasu </a:t>
            </a:r>
            <a:r>
              <a:rPr lang="en-US" sz="2475">
                <a:solidFill>
                  <a:srgbClr val="401252"/>
                </a:solidFill>
                <a:latin typeface="Arimo"/>
                <a:ea typeface="Arimo"/>
                <a:cs typeface="Arimo"/>
                <a:sym typeface="Arimo"/>
              </a:rPr>
              <a:t>a </a:t>
            </a:r>
            <a:r>
              <a:rPr lang="en-US" sz="2475" b="true">
                <a:solidFill>
                  <a:srgbClr val="401252"/>
                </a:solidFill>
                <a:latin typeface="Arimo Bold"/>
                <a:ea typeface="Arimo Bold"/>
                <a:cs typeface="Arimo Bold"/>
                <a:sym typeface="Arimo Bold"/>
              </a:rPr>
              <a:t>zranitelnost svalu </a:t>
            </a:r>
            <a:r>
              <a:rPr lang="en-US" sz="2475">
                <a:solidFill>
                  <a:srgbClr val="401252"/>
                </a:solidFill>
                <a:latin typeface="Arimo"/>
                <a:ea typeface="Arimo"/>
                <a:cs typeface="Arimo"/>
                <a:sym typeface="Arimo"/>
              </a:rPr>
              <a:t>. Obojí jde ovlivnit, a váha o tom moc nevypoví.</a:t>
            </a:r>
          </a:p>
        </p:txBody>
      </p:sp>
      <p:sp>
        <p:nvSpPr>
          <p:cNvPr name="TextBox 18" id="18"/>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Clin Nutr ESPEN 2026;75:103405: s menopauzou souvisí spíš redistribuce tuku než přírůstek váhy</a:t>
            </a:r>
          </a:p>
        </p:txBody>
      </p:sp>
      <p:sp>
        <p:nvSpPr>
          <p:cNvPr name="TextBox 19" id="19"/>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20</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01252"/>
            </a:solidFill>
          </p:spPr>
        </p:sp>
      </p:grpSp>
      <p:sp>
        <p:nvSpPr>
          <p:cNvPr name="TextBox 4" id="4"/>
          <p:cNvSpPr txBox="true"/>
          <p:nvPr/>
        </p:nvSpPr>
        <p:spPr>
          <a:xfrm rot="0">
            <a:off x="1168403" y="1292228"/>
            <a:ext cx="7669644" cy="393383"/>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ODPOVĚĎ · PROČ NA TOM ZÁLEŽÍ JEŠTĚ ZA DVACET LET?</a:t>
            </a:r>
          </a:p>
        </p:txBody>
      </p:sp>
      <p:sp>
        <p:nvSpPr>
          <p:cNvPr name="TextBox 5" id="5"/>
          <p:cNvSpPr txBox="true"/>
          <p:nvPr/>
        </p:nvSpPr>
        <p:spPr>
          <a:xfrm rot="0">
            <a:off x="1168403" y="4679775"/>
            <a:ext cx="14665328" cy="1610716"/>
          </a:xfrm>
          <a:prstGeom prst="rect">
            <a:avLst/>
          </a:prstGeom>
        </p:spPr>
        <p:txBody>
          <a:bodyPr anchor="t" rtlCol="false" tIns="0" lIns="0" bIns="0" rIns="0">
            <a:spAutoFit/>
          </a:bodyPr>
          <a:lstStyle/>
          <a:p>
            <a:pPr algn="l">
              <a:lnSpc>
                <a:spcPts val="6263"/>
              </a:lnSpc>
            </a:pPr>
            <a:r>
              <a:rPr lang="en-US" sz="6300" spc="-175">
                <a:solidFill>
                  <a:srgbClr val="FFFFFF"/>
                </a:solidFill>
                <a:latin typeface="Arimo"/>
                <a:ea typeface="Arimo"/>
                <a:cs typeface="Arimo"/>
                <a:sym typeface="Arimo"/>
              </a:rPr>
              <a:t>Riziko se mění potichu. Proto se prevence dělá teď.</a:t>
            </a:r>
          </a:p>
        </p:txBody>
      </p:sp>
      <p:sp>
        <p:nvSpPr>
          <p:cNvPr name="TextBox 6" id="6"/>
          <p:cNvSpPr txBox="true"/>
          <p:nvPr/>
        </p:nvSpPr>
        <p:spPr>
          <a:xfrm rot="0">
            <a:off x="1168403" y="6674672"/>
            <a:ext cx="13684253" cy="980427"/>
          </a:xfrm>
          <a:prstGeom prst="rect">
            <a:avLst/>
          </a:prstGeom>
        </p:spPr>
        <p:txBody>
          <a:bodyPr anchor="t" rtlCol="false" tIns="0" lIns="0" bIns="0" rIns="0">
            <a:spAutoFit/>
          </a:bodyPr>
          <a:lstStyle/>
          <a:p>
            <a:pPr algn="l">
              <a:lnSpc>
                <a:spcPts val="3452"/>
              </a:lnSpc>
            </a:pPr>
            <a:r>
              <a:rPr lang="en-US" sz="2550">
                <a:solidFill>
                  <a:srgbClr val="C9AEDA"/>
                </a:solidFill>
                <a:latin typeface="Arimo"/>
                <a:ea typeface="Arimo"/>
                <a:cs typeface="Arimo"/>
                <a:sym typeface="Arimo"/>
              </a:rPr>
              <a:t>Srdce, metabolismus, kost, mozek a urogenitál se mění dřív, než se změní výsledky. Čekat na špatný nález znamená začít pozdě.</a:t>
            </a:r>
          </a:p>
        </p:txBody>
      </p:sp>
      <p:sp>
        <p:nvSpPr>
          <p:cNvPr name="TextBox 7" id="7"/>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74942" r="0" b="-91596"/>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401252">
                    <a:alpha val="97000"/>
                  </a:srgbClr>
                </a:gs>
                <a:gs pos="46000">
                  <a:srgbClr val="401252">
                    <a:alpha val="91000"/>
                  </a:srgbClr>
                </a:gs>
                <a:gs pos="80000">
                  <a:srgbClr val="401252">
                    <a:alpha val="42000"/>
                  </a:srgbClr>
                </a:gs>
                <a:gs pos="100000">
                  <a:srgbClr val="401252">
                    <a:alpha val="12000"/>
                  </a:srgbClr>
                </a:gs>
              </a:gsLst>
              <a:lin ang="0"/>
            </a:gradFill>
          </p:spPr>
        </p:sp>
      </p:grpSp>
      <p:sp>
        <p:nvSpPr>
          <p:cNvPr name="TextBox 6" id="6"/>
          <p:cNvSpPr txBox="true"/>
          <p:nvPr/>
        </p:nvSpPr>
        <p:spPr>
          <a:xfrm rot="0">
            <a:off x="1168403" y="1292228"/>
            <a:ext cx="4991081" cy="393383"/>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ČÁST TŘETÍ · CO SKUTEČNĚ FUNGUJE</a:t>
            </a:r>
          </a:p>
        </p:txBody>
      </p:sp>
      <p:sp>
        <p:nvSpPr>
          <p:cNvPr name="TextBox 7" id="7"/>
          <p:cNvSpPr txBox="true"/>
          <p:nvPr/>
        </p:nvSpPr>
        <p:spPr>
          <a:xfrm rot="0">
            <a:off x="1168403" y="5293919"/>
            <a:ext cx="14198603" cy="883768"/>
          </a:xfrm>
          <a:prstGeom prst="rect">
            <a:avLst/>
          </a:prstGeom>
        </p:spPr>
        <p:txBody>
          <a:bodyPr anchor="t" rtlCol="false" tIns="0" lIns="0" bIns="0" rIns="0">
            <a:spAutoFit/>
          </a:bodyPr>
          <a:lstStyle/>
          <a:p>
            <a:pPr algn="l">
              <a:lnSpc>
                <a:spcPts val="7490"/>
              </a:lnSpc>
            </a:pPr>
            <a:r>
              <a:rPr lang="en-US" sz="7650" spc="-214">
                <a:solidFill>
                  <a:srgbClr val="FFFFFF"/>
                </a:solidFill>
                <a:latin typeface="Arimo"/>
                <a:ea typeface="Arimo"/>
                <a:cs typeface="Arimo"/>
                <a:sym typeface="Arimo"/>
              </a:rPr>
              <a:t>Co z toho doopravdy funguje?</a:t>
            </a:r>
          </a:p>
        </p:txBody>
      </p:sp>
      <p:sp>
        <p:nvSpPr>
          <p:cNvPr name="TextBox 8" id="8"/>
          <p:cNvSpPr txBox="true"/>
          <p:nvPr/>
        </p:nvSpPr>
        <p:spPr>
          <a:xfrm rot="0">
            <a:off x="1168403" y="6561858"/>
            <a:ext cx="12941303" cy="507682"/>
          </a:xfrm>
          <a:prstGeom prst="rect">
            <a:avLst/>
          </a:prstGeom>
        </p:spPr>
        <p:txBody>
          <a:bodyPr anchor="t" rtlCol="false" tIns="0" lIns="0" bIns="0" rIns="0">
            <a:spAutoFit/>
          </a:bodyPr>
          <a:lstStyle/>
          <a:p>
            <a:pPr algn="l">
              <a:lnSpc>
                <a:spcPts val="3452"/>
              </a:lnSpc>
            </a:pPr>
            <a:r>
              <a:rPr lang="en-US" sz="2550">
                <a:solidFill>
                  <a:srgbClr val="C9AEDA"/>
                </a:solidFill>
                <a:latin typeface="Arimo"/>
                <a:ea typeface="Arimo"/>
                <a:cs typeface="Arimo"/>
                <a:sym typeface="Arimo"/>
              </a:rPr>
              <a:t>Když se to mísí, vznikají zbytečná zklamání i zbytečná rizika. Teď je rozdělíme.</a:t>
            </a:r>
          </a:p>
        </p:txBody>
      </p:sp>
      <p:sp>
        <p:nvSpPr>
          <p:cNvPr name="TextBox 9" id="9"/>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5433174"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LÉČBA PŘÍZNAKŮ · HORMONÁLNÍ LÉČBA</a:t>
            </a:r>
          </a:p>
        </p:txBody>
      </p:sp>
      <p:sp>
        <p:nvSpPr>
          <p:cNvPr name="TextBox 3" id="3"/>
          <p:cNvSpPr txBox="true"/>
          <p:nvPr/>
        </p:nvSpPr>
        <p:spPr>
          <a:xfrm rot="0">
            <a:off x="1168403" y="4660725"/>
            <a:ext cx="14665328" cy="1610716"/>
          </a:xfrm>
          <a:prstGeom prst="rect">
            <a:avLst/>
          </a:prstGeom>
        </p:spPr>
        <p:txBody>
          <a:bodyPr anchor="t" rtlCol="false" tIns="0" lIns="0" bIns="0" rIns="0">
            <a:spAutoFit/>
          </a:bodyPr>
          <a:lstStyle/>
          <a:p>
            <a:pPr algn="l">
              <a:lnSpc>
                <a:spcPts val="6263"/>
              </a:lnSpc>
            </a:pPr>
            <a:r>
              <a:rPr lang="en-US" sz="6300" spc="-175">
                <a:solidFill>
                  <a:srgbClr val="401252"/>
                </a:solidFill>
                <a:latin typeface="Arimo"/>
                <a:ea typeface="Arimo"/>
                <a:cs typeface="Arimo"/>
                <a:sym typeface="Arimo"/>
              </a:rPr>
              <a:t>Na návaly je nejúčinnější hormonální léčba. Není ale pro každou.</a:t>
            </a:r>
          </a:p>
        </p:txBody>
      </p:sp>
      <p:sp>
        <p:nvSpPr>
          <p:cNvPr name="TextBox 4" id="4"/>
          <p:cNvSpPr txBox="true"/>
          <p:nvPr/>
        </p:nvSpPr>
        <p:spPr>
          <a:xfrm rot="0">
            <a:off x="1168403" y="6693722"/>
            <a:ext cx="14076683" cy="980427"/>
          </a:xfrm>
          <a:prstGeom prst="rect">
            <a:avLst/>
          </a:prstGeom>
        </p:spPr>
        <p:txBody>
          <a:bodyPr anchor="t" rtlCol="false" tIns="0" lIns="0" bIns="0" rIns="0">
            <a:spAutoFit/>
          </a:bodyPr>
          <a:lstStyle/>
          <a:p>
            <a:pPr algn="l">
              <a:lnSpc>
                <a:spcPts val="3452"/>
              </a:lnSpc>
            </a:pPr>
            <a:r>
              <a:rPr lang="en-US" sz="2550">
                <a:solidFill>
                  <a:srgbClr val="6B4B7D"/>
                </a:solidFill>
                <a:latin typeface="Arimo"/>
                <a:ea typeface="Arimo"/>
                <a:cs typeface="Arimo"/>
                <a:sym typeface="Arimo"/>
              </a:rPr>
              <a:t>Kontraindikace a volba formy patří do ordinace. Pro ženy, které ji nemohou nebo nechtějí, </a:t>
            </a:r>
            <a:r>
              <a:rPr lang="en-US" sz="2550">
                <a:solidFill>
                  <a:srgbClr val="401252"/>
                </a:solidFill>
                <a:latin typeface="Arimo"/>
                <a:ea typeface="Arimo"/>
                <a:cs typeface="Arimo"/>
                <a:sym typeface="Arimo"/>
              </a:rPr>
              <a:t>dnes existují účinné nehormonální možnosti</a:t>
            </a:r>
            <a:r>
              <a:rPr lang="en-US" sz="2550">
                <a:solidFill>
                  <a:srgbClr val="6B4B7D"/>
                </a:solidFill>
                <a:latin typeface="Arimo"/>
                <a:ea typeface="Arimo"/>
                <a:cs typeface="Arimo"/>
                <a:sym typeface="Arimo"/>
              </a:rPr>
              <a:t>.</a:t>
            </a:r>
          </a:p>
        </p:txBody>
      </p:sp>
      <p:grpSp>
        <p:nvGrpSpPr>
          <p:cNvPr name="Group 5" id="5"/>
          <p:cNvGrpSpPr/>
          <p:nvPr/>
        </p:nvGrpSpPr>
        <p:grpSpPr>
          <a:xfrm rot="0">
            <a:off x="14249400" y="1241079"/>
            <a:ext cx="381000" cy="381000"/>
            <a:chOff x="0" y="0"/>
            <a:chExt cx="508000" cy="508000"/>
          </a:xfrm>
        </p:grpSpPr>
        <p:sp>
          <p:nvSpPr>
            <p:cNvPr name="Freeform 6" id="6"/>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6D2A8C"/>
            </a:solidFill>
          </p:spPr>
        </p:sp>
      </p:grpSp>
      <p:grpSp>
        <p:nvGrpSpPr>
          <p:cNvPr name="Group 7" id="7"/>
          <p:cNvGrpSpPr/>
          <p:nvPr/>
        </p:nvGrpSpPr>
        <p:grpSpPr>
          <a:xfrm rot="0">
            <a:off x="14211300" y="1241079"/>
            <a:ext cx="457200" cy="419100"/>
            <a:chOff x="0" y="0"/>
            <a:chExt cx="609600" cy="558800"/>
          </a:xfrm>
        </p:grpSpPr>
        <p:sp>
          <p:nvSpPr>
            <p:cNvPr name="Freeform 8" id="8"/>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3">
                <a:alphaModFix amt="0"/>
              </a:blip>
              <a:stretch>
                <a:fillRect l="-67611" t="0" r="-67611" b="0"/>
              </a:stretch>
            </a:blipFill>
          </p:spPr>
        </p:sp>
        <p:sp>
          <p:nvSpPr>
            <p:cNvPr name="TextBox 9" id="9"/>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FFFFFF"/>
                  </a:solidFill>
                  <a:latin typeface="Arimo"/>
                  <a:ea typeface="Arimo"/>
                  <a:cs typeface="Arimo"/>
                  <a:sym typeface="Arimo"/>
                </a:rPr>
                <a:t>A</a:t>
              </a:r>
            </a:p>
          </p:txBody>
        </p:sp>
      </p:grpSp>
      <p:sp>
        <p:nvSpPr>
          <p:cNvPr name="TextBox 10" id="10"/>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NICE NG23 · ESE 2025</a:t>
            </a:r>
          </a:p>
        </p:txBody>
      </p:sp>
      <p:sp>
        <p:nvSpPr>
          <p:cNvPr name="TextBox 11" id="11"/>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4330236"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EVIDENČNÍ KARTA</a:t>
            </a:r>
          </a:p>
        </p:txBody>
      </p:sp>
      <p:sp>
        <p:nvSpPr>
          <p:cNvPr name="TextBox 3" id="3"/>
          <p:cNvSpPr txBox="true"/>
          <p:nvPr/>
        </p:nvSpPr>
        <p:spPr>
          <a:xfrm rot="0">
            <a:off x="1168403" y="1901828"/>
            <a:ext cx="14617703" cy="702935"/>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Chrání hormonální léčba srdce a kosti?</a:t>
            </a:r>
          </a:p>
        </p:txBody>
      </p:sp>
      <p:grpSp>
        <p:nvGrpSpPr>
          <p:cNvPr name="Group 4" id="4"/>
          <p:cNvGrpSpPr/>
          <p:nvPr/>
        </p:nvGrpSpPr>
        <p:grpSpPr>
          <a:xfrm rot="0">
            <a:off x="14249400" y="1241079"/>
            <a:ext cx="381000" cy="381000"/>
            <a:chOff x="0" y="0"/>
            <a:chExt cx="508000" cy="508000"/>
          </a:xfrm>
        </p:grpSpPr>
        <p:sp>
          <p:nvSpPr>
            <p:cNvPr name="Freeform 5" id="5"/>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6D2A8C"/>
            </a:solidFill>
          </p:spPr>
        </p:sp>
      </p:grpSp>
      <p:grpSp>
        <p:nvGrpSpPr>
          <p:cNvPr name="Group 6" id="6"/>
          <p:cNvGrpSpPr/>
          <p:nvPr/>
        </p:nvGrpSpPr>
        <p:grpSpPr>
          <a:xfrm rot="0">
            <a:off x="14211300" y="1241079"/>
            <a:ext cx="457200" cy="419100"/>
            <a:chOff x="0" y="0"/>
            <a:chExt cx="609600" cy="558800"/>
          </a:xfrm>
        </p:grpSpPr>
        <p:sp>
          <p:nvSpPr>
            <p:cNvPr name="Freeform 7" id="7"/>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3">
                <a:alphaModFix amt="0"/>
              </a:blip>
              <a:stretch>
                <a:fillRect l="-67611" t="0" r="-67611" b="0"/>
              </a:stretch>
            </a:blipFill>
          </p:spPr>
        </p:sp>
        <p:sp>
          <p:nvSpPr>
            <p:cNvPr name="TextBox 8" id="8"/>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FFFFFF"/>
                  </a:solidFill>
                  <a:latin typeface="Arimo"/>
                  <a:ea typeface="Arimo"/>
                  <a:cs typeface="Arimo"/>
                  <a:sym typeface="Arimo"/>
                </a:rPr>
                <a:t>A</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SHODA GUIDELINES 2025 A 2026</a:t>
            </a:r>
          </a:p>
        </p:txBody>
      </p:sp>
      <p:grpSp>
        <p:nvGrpSpPr>
          <p:cNvPr name="Group 10" id="10"/>
          <p:cNvGrpSpPr/>
          <p:nvPr/>
        </p:nvGrpSpPr>
        <p:grpSpPr>
          <a:xfrm rot="0">
            <a:off x="5133975" y="4857750"/>
            <a:ext cx="9525" cy="2702566"/>
            <a:chOff x="0" y="0"/>
            <a:chExt cx="12700" cy="3603422"/>
          </a:xfrm>
        </p:grpSpPr>
        <p:sp>
          <p:nvSpPr>
            <p:cNvPr name="Freeform 11" id="11"/>
            <p:cNvSpPr/>
            <p:nvPr/>
          </p:nvSpPr>
          <p:spPr>
            <a:xfrm flipH="false" flipV="false" rot="0">
              <a:off x="0" y="0"/>
              <a:ext cx="12700" cy="3603371"/>
            </a:xfrm>
            <a:custGeom>
              <a:avLst/>
              <a:gdLst/>
              <a:ahLst/>
              <a:cxnLst/>
              <a:rect r="r" b="b" t="t" l="l"/>
              <a:pathLst>
                <a:path h="3603371" w="12700">
                  <a:moveTo>
                    <a:pt x="0" y="0"/>
                  </a:moveTo>
                  <a:lnTo>
                    <a:pt x="12700" y="0"/>
                  </a:lnTo>
                  <a:lnTo>
                    <a:pt x="12700" y="3603371"/>
                  </a:lnTo>
                  <a:lnTo>
                    <a:pt x="0" y="3603371"/>
                  </a:lnTo>
                  <a:close/>
                </a:path>
              </a:pathLst>
            </a:custGeom>
            <a:solidFill>
              <a:srgbClr val="CDB3DC"/>
            </a:solidFill>
          </p:spPr>
        </p:sp>
      </p:grpSp>
      <p:sp>
        <p:nvSpPr>
          <p:cNvPr name="TextBox 12" id="12"/>
          <p:cNvSpPr txBox="true"/>
          <p:nvPr/>
        </p:nvSpPr>
        <p:spPr>
          <a:xfrm rot="0">
            <a:off x="1168403" y="4826003"/>
            <a:ext cx="3549748" cy="368446"/>
          </a:xfrm>
          <a:prstGeom prst="rect">
            <a:avLst/>
          </a:prstGeom>
        </p:spPr>
        <p:txBody>
          <a:bodyPr anchor="t" rtlCol="false" tIns="0" lIns="0" bIns="0" rIns="0">
            <a:spAutoFit/>
          </a:bodyPr>
          <a:lstStyle/>
          <a:p>
            <a:pPr algn="l">
              <a:lnSpc>
                <a:spcPts val="2381"/>
              </a:lnSpc>
            </a:pPr>
            <a:r>
              <a:rPr lang="en-US" sz="1575" spc="189">
                <a:solidFill>
                  <a:srgbClr val="6B4B7D"/>
                </a:solidFill>
                <a:latin typeface="Arimo"/>
                <a:ea typeface="Arimo"/>
                <a:cs typeface="Arimo"/>
                <a:sym typeface="Arimo"/>
              </a:rPr>
              <a:t>OTÁZKA</a:t>
            </a:r>
          </a:p>
        </p:txBody>
      </p:sp>
      <p:sp>
        <p:nvSpPr>
          <p:cNvPr name="TextBox 13" id="13"/>
          <p:cNvSpPr txBox="true"/>
          <p:nvPr/>
        </p:nvSpPr>
        <p:spPr>
          <a:xfrm rot="0">
            <a:off x="1168403" y="5369071"/>
            <a:ext cx="3549748" cy="1119435"/>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Má se hormonální léčba brát kvůli prevenci chronických nemocí?</a:t>
            </a:r>
          </a:p>
        </p:txBody>
      </p:sp>
      <p:grpSp>
        <p:nvGrpSpPr>
          <p:cNvPr name="Group 14" id="14"/>
          <p:cNvGrpSpPr/>
          <p:nvPr/>
        </p:nvGrpSpPr>
        <p:grpSpPr>
          <a:xfrm rot="0">
            <a:off x="9134475" y="4857750"/>
            <a:ext cx="9525" cy="2702566"/>
            <a:chOff x="0" y="0"/>
            <a:chExt cx="12700" cy="3603422"/>
          </a:xfrm>
        </p:grpSpPr>
        <p:sp>
          <p:nvSpPr>
            <p:cNvPr name="Freeform 15" id="15"/>
            <p:cNvSpPr/>
            <p:nvPr/>
          </p:nvSpPr>
          <p:spPr>
            <a:xfrm flipH="false" flipV="false" rot="0">
              <a:off x="0" y="0"/>
              <a:ext cx="12700" cy="3603371"/>
            </a:xfrm>
            <a:custGeom>
              <a:avLst/>
              <a:gdLst/>
              <a:ahLst/>
              <a:cxnLst/>
              <a:rect r="r" b="b" t="t" l="l"/>
              <a:pathLst>
                <a:path h="3603371" w="12700">
                  <a:moveTo>
                    <a:pt x="0" y="0"/>
                  </a:moveTo>
                  <a:lnTo>
                    <a:pt x="12700" y="0"/>
                  </a:lnTo>
                  <a:lnTo>
                    <a:pt x="12700" y="3603371"/>
                  </a:lnTo>
                  <a:lnTo>
                    <a:pt x="0" y="3603371"/>
                  </a:lnTo>
                  <a:close/>
                </a:path>
              </a:pathLst>
            </a:custGeom>
            <a:solidFill>
              <a:srgbClr val="CDB3DC"/>
            </a:solidFill>
          </p:spPr>
        </p:sp>
      </p:grpSp>
      <p:sp>
        <p:nvSpPr>
          <p:cNvPr name="TextBox 16" id="16"/>
          <p:cNvSpPr txBox="true"/>
          <p:nvPr/>
        </p:nvSpPr>
        <p:spPr>
          <a:xfrm rot="0">
            <a:off x="5664203" y="4826003"/>
            <a:ext cx="3039589" cy="368446"/>
          </a:xfrm>
          <a:prstGeom prst="rect">
            <a:avLst/>
          </a:prstGeom>
        </p:spPr>
        <p:txBody>
          <a:bodyPr anchor="t" rtlCol="false" tIns="0" lIns="0" bIns="0" rIns="0">
            <a:spAutoFit/>
          </a:bodyPr>
          <a:lstStyle/>
          <a:p>
            <a:pPr algn="l">
              <a:lnSpc>
                <a:spcPts val="2381"/>
              </a:lnSpc>
            </a:pPr>
            <a:r>
              <a:rPr lang="en-US" sz="1575" spc="189">
                <a:solidFill>
                  <a:srgbClr val="6D2A8C"/>
                </a:solidFill>
                <a:latin typeface="Arimo"/>
                <a:ea typeface="Arimo"/>
                <a:cs typeface="Arimo"/>
                <a:sym typeface="Arimo"/>
              </a:rPr>
              <a:t>ZJIŠTĚNÍ</a:t>
            </a:r>
          </a:p>
        </p:txBody>
      </p:sp>
      <p:sp>
        <p:nvSpPr>
          <p:cNvPr name="TextBox 17" id="17"/>
          <p:cNvSpPr txBox="true"/>
          <p:nvPr/>
        </p:nvSpPr>
        <p:spPr>
          <a:xfrm rot="0">
            <a:off x="5664203" y="5369071"/>
            <a:ext cx="3039589" cy="1842440"/>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Je </a:t>
            </a:r>
            <a:r>
              <a:rPr lang="en-US" sz="1950" b="true">
                <a:solidFill>
                  <a:srgbClr val="401252"/>
                </a:solidFill>
                <a:latin typeface="Arimo Bold"/>
                <a:ea typeface="Arimo Bold"/>
                <a:cs typeface="Arimo Bold"/>
                <a:sym typeface="Arimo Bold"/>
              </a:rPr>
              <a:t>nejúčinnější léčbou návalů </a:t>
            </a:r>
            <a:r>
              <a:rPr lang="en-US" sz="1950">
                <a:solidFill>
                  <a:srgbClr val="6B4B7D"/>
                </a:solidFill>
                <a:latin typeface="Arimo"/>
                <a:ea typeface="Arimo"/>
                <a:cs typeface="Arimo"/>
                <a:sym typeface="Arimo"/>
              </a:rPr>
              <a:t>a je účinná na kost. Jako </a:t>
            </a:r>
            <a:r>
              <a:rPr lang="en-US" sz="1950" b="true">
                <a:solidFill>
                  <a:srgbClr val="401252"/>
                </a:solidFill>
                <a:latin typeface="Arimo Bold"/>
                <a:ea typeface="Arimo Bold"/>
                <a:cs typeface="Arimo Bold"/>
                <a:sym typeface="Arimo Bold"/>
              </a:rPr>
              <a:t>samostatná primární prevence se nedoporučuje </a:t>
            </a:r>
            <a:r>
              <a:rPr lang="en-US" sz="1950">
                <a:solidFill>
                  <a:srgbClr val="6B4B7D"/>
                </a:solidFill>
                <a:latin typeface="Arimo"/>
                <a:ea typeface="Arimo"/>
                <a:cs typeface="Arimo"/>
                <a:sym typeface="Arimo"/>
              </a:rPr>
              <a:t>.</a:t>
            </a:r>
          </a:p>
        </p:txBody>
      </p:sp>
      <p:grpSp>
        <p:nvGrpSpPr>
          <p:cNvPr name="Group 18" id="18"/>
          <p:cNvGrpSpPr/>
          <p:nvPr/>
        </p:nvGrpSpPr>
        <p:grpSpPr>
          <a:xfrm rot="0">
            <a:off x="13134975" y="4857750"/>
            <a:ext cx="9525" cy="2702566"/>
            <a:chOff x="0" y="0"/>
            <a:chExt cx="12700" cy="3603422"/>
          </a:xfrm>
        </p:grpSpPr>
        <p:sp>
          <p:nvSpPr>
            <p:cNvPr name="Freeform 19" id="19"/>
            <p:cNvSpPr/>
            <p:nvPr/>
          </p:nvSpPr>
          <p:spPr>
            <a:xfrm flipH="false" flipV="false" rot="0">
              <a:off x="0" y="0"/>
              <a:ext cx="12700" cy="3603371"/>
            </a:xfrm>
            <a:custGeom>
              <a:avLst/>
              <a:gdLst/>
              <a:ahLst/>
              <a:cxnLst/>
              <a:rect r="r" b="b" t="t" l="l"/>
              <a:pathLst>
                <a:path h="3603371" w="12700">
                  <a:moveTo>
                    <a:pt x="0" y="0"/>
                  </a:moveTo>
                  <a:lnTo>
                    <a:pt x="12700" y="0"/>
                  </a:lnTo>
                  <a:lnTo>
                    <a:pt x="12700" y="3603371"/>
                  </a:lnTo>
                  <a:lnTo>
                    <a:pt x="0" y="3603371"/>
                  </a:lnTo>
                  <a:close/>
                </a:path>
              </a:pathLst>
            </a:custGeom>
            <a:solidFill>
              <a:srgbClr val="CDB3DC"/>
            </a:solidFill>
          </p:spPr>
        </p:sp>
      </p:grpSp>
      <p:sp>
        <p:nvSpPr>
          <p:cNvPr name="TextBox 20" id="20"/>
          <p:cNvSpPr txBox="true"/>
          <p:nvPr/>
        </p:nvSpPr>
        <p:spPr>
          <a:xfrm rot="0">
            <a:off x="9664703" y="4826003"/>
            <a:ext cx="3039589" cy="368446"/>
          </a:xfrm>
          <a:prstGeom prst="rect">
            <a:avLst/>
          </a:prstGeom>
        </p:spPr>
        <p:txBody>
          <a:bodyPr anchor="t" rtlCol="false" tIns="0" lIns="0" bIns="0" rIns="0">
            <a:spAutoFit/>
          </a:bodyPr>
          <a:lstStyle/>
          <a:p>
            <a:pPr algn="l">
              <a:lnSpc>
                <a:spcPts val="2381"/>
              </a:lnSpc>
            </a:pPr>
            <a:r>
              <a:rPr lang="en-US" sz="1575" spc="189">
                <a:solidFill>
                  <a:srgbClr val="6B4B7D"/>
                </a:solidFill>
                <a:latin typeface="Arimo"/>
                <a:ea typeface="Arimo"/>
                <a:cs typeface="Arimo"/>
                <a:sym typeface="Arimo"/>
              </a:rPr>
              <a:t>INTERPRETACE</a:t>
            </a:r>
          </a:p>
        </p:txBody>
      </p:sp>
      <p:sp>
        <p:nvSpPr>
          <p:cNvPr name="TextBox 21" id="21"/>
          <p:cNvSpPr txBox="true"/>
          <p:nvPr/>
        </p:nvSpPr>
        <p:spPr>
          <a:xfrm rot="0">
            <a:off x="9664703" y="5369071"/>
            <a:ext cx="3039589" cy="2203942"/>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Indikací jsou </a:t>
            </a:r>
            <a:r>
              <a:rPr lang="en-US" sz="1950" b="true">
                <a:solidFill>
                  <a:srgbClr val="401252"/>
                </a:solidFill>
                <a:latin typeface="Arimo Bold"/>
                <a:ea typeface="Arimo Bold"/>
                <a:cs typeface="Arimo Bold"/>
                <a:sym typeface="Arimo Bold"/>
              </a:rPr>
              <a:t>příznaky </a:t>
            </a:r>
            <a:r>
              <a:rPr lang="en-US" sz="1950">
                <a:solidFill>
                  <a:srgbClr val="6B4B7D"/>
                </a:solidFill>
                <a:latin typeface="Arimo"/>
                <a:ea typeface="Arimo"/>
                <a:cs typeface="Arimo"/>
                <a:sym typeface="Arimo"/>
              </a:rPr>
              <a:t>, časná menopauza a ovariální insuficience. Poměr přínosu a rizika je nejlepší </a:t>
            </a:r>
            <a:r>
              <a:rPr lang="en-US" sz="1950" b="true">
                <a:solidFill>
                  <a:srgbClr val="401252"/>
                </a:solidFill>
                <a:latin typeface="Arimo Bold"/>
                <a:ea typeface="Arimo Bold"/>
                <a:cs typeface="Arimo Bold"/>
                <a:sym typeface="Arimo Bold"/>
              </a:rPr>
              <a:t>do 60 let nebo do 10 let od menopauzy</a:t>
            </a:r>
            <a:r>
              <a:rPr lang="en-US" sz="1950">
                <a:solidFill>
                  <a:srgbClr val="6B4B7D"/>
                </a:solidFill>
                <a:latin typeface="Arimo"/>
                <a:ea typeface="Arimo"/>
                <a:cs typeface="Arimo"/>
                <a:sym typeface="Arimo"/>
              </a:rPr>
              <a:t>.</a:t>
            </a:r>
          </a:p>
        </p:txBody>
      </p:sp>
      <p:sp>
        <p:nvSpPr>
          <p:cNvPr name="TextBox 22" id="22"/>
          <p:cNvSpPr txBox="true"/>
          <p:nvPr/>
        </p:nvSpPr>
        <p:spPr>
          <a:xfrm rot="0">
            <a:off x="13665203" y="4826003"/>
            <a:ext cx="3559559" cy="368446"/>
          </a:xfrm>
          <a:prstGeom prst="rect">
            <a:avLst/>
          </a:prstGeom>
        </p:spPr>
        <p:txBody>
          <a:bodyPr anchor="t" rtlCol="false" tIns="0" lIns="0" bIns="0" rIns="0">
            <a:spAutoFit/>
          </a:bodyPr>
          <a:lstStyle/>
          <a:p>
            <a:pPr algn="l">
              <a:lnSpc>
                <a:spcPts val="2381"/>
              </a:lnSpc>
            </a:pPr>
            <a:r>
              <a:rPr lang="en-US" sz="1575" spc="189">
                <a:solidFill>
                  <a:srgbClr val="6B4B7D"/>
                </a:solidFill>
                <a:latin typeface="Arimo"/>
                <a:ea typeface="Arimo"/>
                <a:cs typeface="Arimo"/>
                <a:sym typeface="Arimo"/>
              </a:rPr>
              <a:t>LIMIT</a:t>
            </a:r>
          </a:p>
        </p:txBody>
      </p:sp>
      <p:sp>
        <p:nvSpPr>
          <p:cNvPr name="TextBox 23" id="23"/>
          <p:cNvSpPr txBox="true"/>
          <p:nvPr/>
        </p:nvSpPr>
        <p:spPr>
          <a:xfrm rot="0">
            <a:off x="13665203" y="5369071"/>
            <a:ext cx="3559559" cy="1119435"/>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Riziko závisí na formě, dávce a cestě podání. Rozhodnutí je individuální a patří do ordinace.</a:t>
            </a:r>
          </a:p>
        </p:txBody>
      </p:sp>
      <p:sp>
        <p:nvSpPr>
          <p:cNvPr name="TextBox 24" id="24"/>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NICE NG23, 2026 · ESE guideline 2025 · The Menopause Society, position statements</a:t>
            </a:r>
          </a:p>
        </p:txBody>
      </p:sp>
      <p:sp>
        <p:nvSpPr>
          <p:cNvPr name="TextBox 25" id="25"/>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4802915"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LÉČBA PŘÍZNAKŮ · NEHORMONÁLNÍ</a:t>
            </a:r>
          </a:p>
        </p:txBody>
      </p:sp>
      <p:sp>
        <p:nvSpPr>
          <p:cNvPr name="TextBox 3" id="3"/>
          <p:cNvSpPr txBox="true"/>
          <p:nvPr/>
        </p:nvSpPr>
        <p:spPr>
          <a:xfrm rot="0">
            <a:off x="1168403" y="1901828"/>
            <a:ext cx="13684253" cy="1485252"/>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Nehormonální možnosti, seřazené podle jistoty.</a:t>
            </a:r>
          </a:p>
        </p:txBody>
      </p:sp>
      <p:grpSp>
        <p:nvGrpSpPr>
          <p:cNvPr name="Group 4" id="4"/>
          <p:cNvGrpSpPr/>
          <p:nvPr/>
        </p:nvGrpSpPr>
        <p:grpSpPr>
          <a:xfrm rot="0">
            <a:off x="14249400" y="1241079"/>
            <a:ext cx="381000" cy="381000"/>
            <a:chOff x="0" y="0"/>
            <a:chExt cx="508000" cy="508000"/>
          </a:xfrm>
        </p:grpSpPr>
        <p:sp>
          <p:nvSpPr>
            <p:cNvPr name="Freeform 5" id="5"/>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6D2A8C"/>
            </a:solidFill>
          </p:spPr>
        </p:sp>
      </p:grpSp>
      <p:grpSp>
        <p:nvGrpSpPr>
          <p:cNvPr name="Group 6" id="6"/>
          <p:cNvGrpSpPr/>
          <p:nvPr/>
        </p:nvGrpSpPr>
        <p:grpSpPr>
          <a:xfrm rot="0">
            <a:off x="14211300" y="1241079"/>
            <a:ext cx="457200" cy="419100"/>
            <a:chOff x="0" y="0"/>
            <a:chExt cx="609600" cy="558800"/>
          </a:xfrm>
        </p:grpSpPr>
        <p:sp>
          <p:nvSpPr>
            <p:cNvPr name="Freeform 7" id="7"/>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3">
                <a:alphaModFix amt="0"/>
              </a:blip>
              <a:stretch>
                <a:fillRect l="-67611" t="0" r="-67611" b="0"/>
              </a:stretch>
            </a:blipFill>
          </p:spPr>
        </p:sp>
        <p:sp>
          <p:nvSpPr>
            <p:cNvPr name="TextBox 8" id="8"/>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FFFFFF"/>
                  </a:solidFill>
                  <a:latin typeface="Arimo"/>
                  <a:ea typeface="Arimo"/>
                  <a:cs typeface="Arimo"/>
                  <a:sym typeface="Arimo"/>
                </a:rPr>
                <a:t>A</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POSITION STATEMENT, ÚROVNĚ DŮKAZŮ</a:t>
            </a:r>
          </a:p>
        </p:txBody>
      </p:sp>
      <p:grpSp>
        <p:nvGrpSpPr>
          <p:cNvPr name="Group 10" id="10"/>
          <p:cNvGrpSpPr/>
          <p:nvPr/>
        </p:nvGrpSpPr>
        <p:grpSpPr>
          <a:xfrm rot="0">
            <a:off x="1143000" y="4095750"/>
            <a:ext cx="4978375" cy="571652"/>
            <a:chOff x="0" y="0"/>
            <a:chExt cx="6637833" cy="762203"/>
          </a:xfrm>
        </p:grpSpPr>
        <p:sp>
          <p:nvSpPr>
            <p:cNvPr name="Freeform 11" id="11"/>
            <p:cNvSpPr/>
            <p:nvPr/>
          </p:nvSpPr>
          <p:spPr>
            <a:xfrm flipH="false" flipV="false" rot="0">
              <a:off x="0" y="0"/>
              <a:ext cx="6637782" cy="762254"/>
            </a:xfrm>
            <a:custGeom>
              <a:avLst/>
              <a:gdLst/>
              <a:ahLst/>
              <a:cxnLst/>
              <a:rect r="r" b="b" t="t" l="l"/>
              <a:pathLst>
                <a:path h="762254" w="6637782">
                  <a:moveTo>
                    <a:pt x="0" y="101600"/>
                  </a:moveTo>
                  <a:cubicBezTo>
                    <a:pt x="0" y="45466"/>
                    <a:pt x="45466" y="0"/>
                    <a:pt x="101600" y="0"/>
                  </a:cubicBezTo>
                  <a:lnTo>
                    <a:pt x="6536182" y="0"/>
                  </a:lnTo>
                  <a:cubicBezTo>
                    <a:pt x="6592315" y="0"/>
                    <a:pt x="6637782" y="45466"/>
                    <a:pt x="6637782" y="101600"/>
                  </a:cubicBezTo>
                  <a:lnTo>
                    <a:pt x="6637782" y="660654"/>
                  </a:lnTo>
                  <a:cubicBezTo>
                    <a:pt x="6637782" y="716788"/>
                    <a:pt x="6592315" y="762254"/>
                    <a:pt x="6536182" y="762254"/>
                  </a:cubicBezTo>
                  <a:lnTo>
                    <a:pt x="101600" y="762254"/>
                  </a:lnTo>
                  <a:cubicBezTo>
                    <a:pt x="45466" y="762254"/>
                    <a:pt x="0" y="716788"/>
                    <a:pt x="0" y="660654"/>
                  </a:cubicBezTo>
                  <a:close/>
                </a:path>
              </a:pathLst>
            </a:custGeom>
            <a:solidFill>
              <a:srgbClr val="6D2A8C"/>
            </a:solidFill>
          </p:spPr>
        </p:sp>
      </p:grpSp>
      <p:sp>
        <p:nvSpPr>
          <p:cNvPr name="TextBox 12" id="12"/>
          <p:cNvSpPr txBox="true"/>
          <p:nvPr/>
        </p:nvSpPr>
        <p:spPr>
          <a:xfrm rot="0">
            <a:off x="1377953" y="4221166"/>
            <a:ext cx="1555452" cy="301628"/>
          </a:xfrm>
          <a:prstGeom prst="rect">
            <a:avLst/>
          </a:prstGeom>
        </p:spPr>
        <p:txBody>
          <a:bodyPr anchor="t" rtlCol="false" tIns="0" lIns="0" bIns="0" rIns="0">
            <a:spAutoFit/>
          </a:bodyPr>
          <a:lstStyle/>
          <a:p>
            <a:pPr algn="l">
              <a:lnSpc>
                <a:spcPts val="2381"/>
              </a:lnSpc>
            </a:pPr>
            <a:r>
              <a:rPr lang="en-US" sz="1575" spc="205">
                <a:solidFill>
                  <a:srgbClr val="FFFFFF"/>
                </a:solidFill>
                <a:latin typeface="Arimo"/>
                <a:ea typeface="Arimo"/>
                <a:cs typeface="Arimo"/>
                <a:sym typeface="Arimo"/>
              </a:rPr>
              <a:t>DOPORUČENO</a:t>
            </a:r>
          </a:p>
        </p:txBody>
      </p:sp>
      <p:sp>
        <p:nvSpPr>
          <p:cNvPr name="TextBox 13" id="13"/>
          <p:cNvSpPr txBox="true"/>
          <p:nvPr/>
        </p:nvSpPr>
        <p:spPr>
          <a:xfrm rot="0">
            <a:off x="1168403" y="4768996"/>
            <a:ext cx="5076930" cy="353044"/>
          </a:xfrm>
          <a:prstGeom prst="rect">
            <a:avLst/>
          </a:prstGeom>
        </p:spPr>
        <p:txBody>
          <a:bodyPr anchor="t" rtlCol="false" tIns="0" lIns="0" bIns="0" rIns="0">
            <a:spAutoFit/>
          </a:bodyPr>
          <a:lstStyle/>
          <a:p>
            <a:pPr algn="l">
              <a:lnSpc>
                <a:spcPts val="2243"/>
              </a:lnSpc>
            </a:pPr>
            <a:r>
              <a:rPr lang="en-US" sz="1500" spc="195">
                <a:solidFill>
                  <a:srgbClr val="6B4B7D"/>
                </a:solidFill>
                <a:latin typeface="Arimo"/>
                <a:ea typeface="Arimo"/>
                <a:cs typeface="Arimo"/>
                <a:sym typeface="Arimo"/>
              </a:rPr>
              <a:t>ÚROVEŇ I</a:t>
            </a:r>
          </a:p>
        </p:txBody>
      </p:sp>
      <p:sp>
        <p:nvSpPr>
          <p:cNvPr name="TextBox 14" id="14"/>
          <p:cNvSpPr txBox="true"/>
          <p:nvPr/>
        </p:nvSpPr>
        <p:spPr>
          <a:xfrm rot="0">
            <a:off x="1015051" y="5277622"/>
            <a:ext cx="5157130" cy="2363791"/>
          </a:xfrm>
          <a:prstGeom prst="rect">
            <a:avLst/>
          </a:prstGeom>
        </p:spPr>
        <p:txBody>
          <a:bodyPr anchor="t" rtlCol="false" tIns="0" lIns="0" bIns="0" rIns="0">
            <a:spAutoFit/>
          </a:bodyPr>
          <a:lstStyle/>
          <a:p>
            <a:pPr algn="l">
              <a:lnSpc>
                <a:spcPts val="2380"/>
              </a:lnSpc>
            </a:pPr>
            <a:r>
              <a:rPr lang="en-US" sz="1725">
                <a:solidFill>
                  <a:srgbClr val="6B4B7D"/>
                </a:solidFill>
                <a:latin typeface="Arimo"/>
                <a:ea typeface="Arimo"/>
                <a:cs typeface="Arimo"/>
                <a:sym typeface="Arimo"/>
              </a:rPr>
              <a:t>kognitivně behaviorální terapie</a:t>
            </a:r>
          </a:p>
          <a:p>
            <a:pPr algn="l">
              <a:lnSpc>
                <a:spcPts val="2380"/>
              </a:lnSpc>
            </a:pPr>
            <a:r>
              <a:rPr lang="en-US" sz="1725">
                <a:solidFill>
                  <a:srgbClr val="6B4B7D"/>
                </a:solidFill>
                <a:latin typeface="Arimo"/>
                <a:ea typeface="Arimo"/>
                <a:cs typeface="Arimo"/>
                <a:sym typeface="Arimo"/>
              </a:rPr>
              <a:t>klinická hypnóza</a:t>
            </a:r>
          </a:p>
          <a:p>
            <a:pPr algn="l">
              <a:lnSpc>
                <a:spcPts val="2380"/>
              </a:lnSpc>
            </a:pPr>
            <a:r>
              <a:rPr lang="en-US" sz="1725">
                <a:solidFill>
                  <a:srgbClr val="6B4B7D"/>
                </a:solidFill>
                <a:latin typeface="Arimo"/>
                <a:ea typeface="Arimo"/>
                <a:cs typeface="Arimo"/>
                <a:sym typeface="Arimo"/>
              </a:rPr>
              <a:t>SSRI a SNRI</a:t>
            </a:r>
          </a:p>
          <a:p>
            <a:pPr algn="l">
              <a:lnSpc>
                <a:spcPts val="2380"/>
              </a:lnSpc>
            </a:pPr>
            <a:r>
              <a:rPr lang="en-US" sz="1725">
                <a:solidFill>
                  <a:srgbClr val="6B4B7D"/>
                </a:solidFill>
                <a:latin typeface="Arimo"/>
                <a:ea typeface="Arimo"/>
                <a:cs typeface="Arimo"/>
                <a:sym typeface="Arimo"/>
              </a:rPr>
              <a:t>gabapentin</a:t>
            </a:r>
          </a:p>
          <a:p>
            <a:pPr algn="l">
              <a:lnSpc>
                <a:spcPts val="2380"/>
              </a:lnSpc>
            </a:pPr>
            <a:r>
              <a:rPr lang="en-US" sz="1725">
                <a:solidFill>
                  <a:srgbClr val="6B4B7D"/>
                </a:solidFill>
                <a:latin typeface="Arimo"/>
                <a:ea typeface="Arimo"/>
                <a:cs typeface="Arimo"/>
                <a:sym typeface="Arimo"/>
              </a:rPr>
              <a:t>fezolinetant</a:t>
            </a:r>
          </a:p>
        </p:txBody>
      </p:sp>
      <p:grpSp>
        <p:nvGrpSpPr>
          <p:cNvPr name="Group 15" id="15"/>
          <p:cNvGrpSpPr/>
          <p:nvPr/>
        </p:nvGrpSpPr>
        <p:grpSpPr>
          <a:xfrm rot="0">
            <a:off x="6645250" y="4086225"/>
            <a:ext cx="4997425" cy="613391"/>
            <a:chOff x="0" y="0"/>
            <a:chExt cx="6663233" cy="817855"/>
          </a:xfrm>
        </p:grpSpPr>
        <p:sp>
          <p:nvSpPr>
            <p:cNvPr name="Freeform 16" id="16"/>
            <p:cNvSpPr/>
            <p:nvPr/>
          </p:nvSpPr>
          <p:spPr>
            <a:xfrm flipH="false" flipV="false" rot="0">
              <a:off x="0" y="0"/>
              <a:ext cx="6663309" cy="817880"/>
            </a:xfrm>
            <a:custGeom>
              <a:avLst/>
              <a:gdLst/>
              <a:ahLst/>
              <a:cxnLst/>
              <a:rect r="r" b="b" t="t" l="l"/>
              <a:pathLst>
                <a:path h="817880" w="6663309">
                  <a:moveTo>
                    <a:pt x="0" y="104902"/>
                  </a:moveTo>
                  <a:cubicBezTo>
                    <a:pt x="0" y="46990"/>
                    <a:pt x="46990" y="0"/>
                    <a:pt x="104902" y="0"/>
                  </a:cubicBezTo>
                  <a:lnTo>
                    <a:pt x="6558407" y="0"/>
                  </a:lnTo>
                  <a:cubicBezTo>
                    <a:pt x="6616319" y="0"/>
                    <a:pt x="6663309" y="46990"/>
                    <a:pt x="6663309" y="104902"/>
                  </a:cubicBezTo>
                  <a:lnTo>
                    <a:pt x="6663309" y="712978"/>
                  </a:lnTo>
                  <a:cubicBezTo>
                    <a:pt x="6663309" y="770890"/>
                    <a:pt x="6616319" y="817880"/>
                    <a:pt x="6558407" y="817880"/>
                  </a:cubicBezTo>
                  <a:lnTo>
                    <a:pt x="104902" y="817880"/>
                  </a:lnTo>
                  <a:cubicBezTo>
                    <a:pt x="46990" y="817880"/>
                    <a:pt x="0" y="770890"/>
                    <a:pt x="0" y="712978"/>
                  </a:cubicBezTo>
                  <a:close/>
                </a:path>
              </a:pathLst>
            </a:custGeom>
            <a:blipFill>
              <a:blip r:embed="rId3">
                <a:alphaModFix amt="0"/>
              </a:blip>
              <a:stretch>
                <a:fillRect l="0" t="-108745" r="1" b="-108742"/>
              </a:stretch>
            </a:blipFill>
            <a:ln w="19050" cap="sq">
              <a:solidFill>
                <a:srgbClr val="6D2A8C"/>
              </a:solidFill>
              <a:prstDash val="solid"/>
              <a:miter/>
            </a:ln>
          </p:spPr>
        </p:sp>
      </p:grpSp>
      <p:sp>
        <p:nvSpPr>
          <p:cNvPr name="TextBox 17" id="17"/>
          <p:cNvSpPr txBox="true"/>
          <p:nvPr/>
        </p:nvSpPr>
        <p:spPr>
          <a:xfrm rot="0">
            <a:off x="6908778" y="4235453"/>
            <a:ext cx="2549747" cy="292103"/>
          </a:xfrm>
          <a:prstGeom prst="rect">
            <a:avLst/>
          </a:prstGeom>
        </p:spPr>
        <p:txBody>
          <a:bodyPr anchor="t" rtlCol="false" tIns="0" lIns="0" bIns="0" rIns="0">
            <a:spAutoFit/>
          </a:bodyPr>
          <a:lstStyle/>
          <a:p>
            <a:pPr algn="l">
              <a:lnSpc>
                <a:spcPts val="2243"/>
              </a:lnSpc>
            </a:pPr>
            <a:r>
              <a:rPr lang="en-US" sz="1500" spc="195">
                <a:solidFill>
                  <a:srgbClr val="6D2A8C"/>
                </a:solidFill>
                <a:latin typeface="Arimo"/>
                <a:ea typeface="Arimo"/>
                <a:cs typeface="Arimo"/>
                <a:sym typeface="Arimo"/>
              </a:rPr>
              <a:t>SLABŠÍ DOPORUČENÍ</a:t>
            </a:r>
          </a:p>
        </p:txBody>
      </p:sp>
      <p:sp>
        <p:nvSpPr>
          <p:cNvPr name="TextBox 18" id="18"/>
          <p:cNvSpPr txBox="true"/>
          <p:nvPr/>
        </p:nvSpPr>
        <p:spPr>
          <a:xfrm rot="0">
            <a:off x="6680178" y="4791694"/>
            <a:ext cx="5076930" cy="353044"/>
          </a:xfrm>
          <a:prstGeom prst="rect">
            <a:avLst/>
          </a:prstGeom>
        </p:spPr>
        <p:txBody>
          <a:bodyPr anchor="t" rtlCol="false" tIns="0" lIns="0" bIns="0" rIns="0">
            <a:spAutoFit/>
          </a:bodyPr>
          <a:lstStyle/>
          <a:p>
            <a:pPr algn="l">
              <a:lnSpc>
                <a:spcPts val="2243"/>
              </a:lnSpc>
            </a:pPr>
            <a:r>
              <a:rPr lang="en-US" sz="1500" spc="195">
                <a:solidFill>
                  <a:srgbClr val="6B4B7D"/>
                </a:solidFill>
                <a:latin typeface="Arimo"/>
                <a:ea typeface="Arimo"/>
                <a:cs typeface="Arimo"/>
                <a:sym typeface="Arimo"/>
              </a:rPr>
              <a:t>ZVAŽOVAT INDIVIDUÁLNĚ</a:t>
            </a:r>
          </a:p>
        </p:txBody>
      </p:sp>
      <p:sp>
        <p:nvSpPr>
          <p:cNvPr name="TextBox 19" id="19"/>
          <p:cNvSpPr txBox="true"/>
          <p:nvPr/>
        </p:nvSpPr>
        <p:spPr>
          <a:xfrm rot="0">
            <a:off x="6526825" y="5300320"/>
            <a:ext cx="5157130" cy="1363666"/>
          </a:xfrm>
          <a:prstGeom prst="rect">
            <a:avLst/>
          </a:prstGeom>
        </p:spPr>
        <p:txBody>
          <a:bodyPr anchor="t" rtlCol="false" tIns="0" lIns="0" bIns="0" rIns="0">
            <a:spAutoFit/>
          </a:bodyPr>
          <a:lstStyle/>
          <a:p>
            <a:pPr algn="l">
              <a:lnSpc>
                <a:spcPts val="2380"/>
              </a:lnSpc>
            </a:pPr>
            <a:r>
              <a:rPr lang="en-US" sz="1725">
                <a:solidFill>
                  <a:srgbClr val="6B4B7D"/>
                </a:solidFill>
                <a:latin typeface="Arimo"/>
                <a:ea typeface="Arimo"/>
                <a:cs typeface="Arimo"/>
                <a:sym typeface="Arimo"/>
              </a:rPr>
              <a:t>oxybutynin</a:t>
            </a:r>
          </a:p>
          <a:p>
            <a:pPr algn="l">
              <a:lnSpc>
                <a:spcPts val="2380"/>
              </a:lnSpc>
            </a:pPr>
            <a:r>
              <a:rPr lang="en-US" sz="1725">
                <a:solidFill>
                  <a:srgbClr val="6B4B7D"/>
                </a:solidFill>
                <a:latin typeface="Arimo"/>
                <a:ea typeface="Arimo"/>
                <a:cs typeface="Arimo"/>
                <a:sym typeface="Arimo"/>
              </a:rPr>
              <a:t>redukce hmotnosti</a:t>
            </a:r>
          </a:p>
          <a:p>
            <a:pPr algn="l">
              <a:lnSpc>
                <a:spcPts val="2380"/>
              </a:lnSpc>
            </a:pPr>
            <a:r>
              <a:rPr lang="en-US" sz="1725">
                <a:solidFill>
                  <a:srgbClr val="6B4B7D"/>
                </a:solidFill>
                <a:latin typeface="Arimo"/>
                <a:ea typeface="Arimo"/>
                <a:cs typeface="Arimo"/>
                <a:sym typeface="Arimo"/>
              </a:rPr>
              <a:t>stelátní blokáda</a:t>
            </a:r>
          </a:p>
        </p:txBody>
      </p:sp>
      <p:grpSp>
        <p:nvGrpSpPr>
          <p:cNvPr name="Group 20" id="20"/>
          <p:cNvGrpSpPr/>
          <p:nvPr/>
        </p:nvGrpSpPr>
        <p:grpSpPr>
          <a:xfrm rot="0">
            <a:off x="12157024" y="4086225"/>
            <a:ext cx="4997501" cy="613391"/>
            <a:chOff x="0" y="0"/>
            <a:chExt cx="6663334" cy="817855"/>
          </a:xfrm>
        </p:grpSpPr>
        <p:sp>
          <p:nvSpPr>
            <p:cNvPr name="Freeform 21" id="21"/>
            <p:cNvSpPr/>
            <p:nvPr/>
          </p:nvSpPr>
          <p:spPr>
            <a:xfrm flipH="false" flipV="false" rot="0">
              <a:off x="0" y="0"/>
              <a:ext cx="6663436" cy="817880"/>
            </a:xfrm>
            <a:custGeom>
              <a:avLst/>
              <a:gdLst/>
              <a:ahLst/>
              <a:cxnLst/>
              <a:rect r="r" b="b" t="t" l="l"/>
              <a:pathLst>
                <a:path h="817880" w="6663436">
                  <a:moveTo>
                    <a:pt x="0" y="104902"/>
                  </a:moveTo>
                  <a:cubicBezTo>
                    <a:pt x="0" y="46990"/>
                    <a:pt x="46990" y="0"/>
                    <a:pt x="104902" y="0"/>
                  </a:cubicBezTo>
                  <a:lnTo>
                    <a:pt x="6558534" y="0"/>
                  </a:lnTo>
                  <a:cubicBezTo>
                    <a:pt x="6616446" y="0"/>
                    <a:pt x="6663436" y="46990"/>
                    <a:pt x="6663436" y="104902"/>
                  </a:cubicBezTo>
                  <a:lnTo>
                    <a:pt x="6663436" y="712978"/>
                  </a:lnTo>
                  <a:cubicBezTo>
                    <a:pt x="6663436" y="770890"/>
                    <a:pt x="6616446" y="817880"/>
                    <a:pt x="6558534" y="817880"/>
                  </a:cubicBezTo>
                  <a:lnTo>
                    <a:pt x="104902" y="817880"/>
                  </a:lnTo>
                  <a:cubicBezTo>
                    <a:pt x="46990" y="817880"/>
                    <a:pt x="0" y="770890"/>
                    <a:pt x="0" y="712978"/>
                  </a:cubicBezTo>
                  <a:close/>
                </a:path>
              </a:pathLst>
            </a:custGeom>
            <a:blipFill>
              <a:blip r:embed="rId3">
                <a:alphaModFix amt="0"/>
              </a:blip>
              <a:stretch>
                <a:fillRect l="0" t="-108747" r="1" b="-108744"/>
              </a:stretch>
            </a:blipFill>
            <a:ln w="19050" cap="sq">
              <a:solidFill>
                <a:srgbClr val="CDB3DC"/>
              </a:solidFill>
              <a:prstDash val="dash"/>
              <a:miter/>
            </a:ln>
          </p:spPr>
        </p:sp>
      </p:grpSp>
      <p:sp>
        <p:nvSpPr>
          <p:cNvPr name="TextBox 22" id="22"/>
          <p:cNvSpPr txBox="true"/>
          <p:nvPr/>
        </p:nvSpPr>
        <p:spPr>
          <a:xfrm rot="0">
            <a:off x="12420552" y="4235453"/>
            <a:ext cx="3314605" cy="292103"/>
          </a:xfrm>
          <a:prstGeom prst="rect">
            <a:avLst/>
          </a:prstGeom>
        </p:spPr>
        <p:txBody>
          <a:bodyPr anchor="t" rtlCol="false" tIns="0" lIns="0" bIns="0" rIns="0">
            <a:spAutoFit/>
          </a:bodyPr>
          <a:lstStyle/>
          <a:p>
            <a:pPr algn="l">
              <a:lnSpc>
                <a:spcPts val="2243"/>
              </a:lnSpc>
            </a:pPr>
            <a:r>
              <a:rPr lang="en-US" sz="1500" spc="195">
                <a:solidFill>
                  <a:srgbClr val="6B4B7D"/>
                </a:solidFill>
                <a:latin typeface="Arimo"/>
                <a:ea typeface="Arimo"/>
                <a:cs typeface="Arimo"/>
                <a:sym typeface="Arimo"/>
              </a:rPr>
              <a:t>NEDOPORUČENO NA NÁVALY</a:t>
            </a:r>
          </a:p>
        </p:txBody>
      </p:sp>
      <p:sp>
        <p:nvSpPr>
          <p:cNvPr name="TextBox 23" id="23"/>
          <p:cNvSpPr txBox="true"/>
          <p:nvPr/>
        </p:nvSpPr>
        <p:spPr>
          <a:xfrm rot="0">
            <a:off x="12191952" y="4791694"/>
            <a:ext cx="5077006" cy="353044"/>
          </a:xfrm>
          <a:prstGeom prst="rect">
            <a:avLst/>
          </a:prstGeom>
        </p:spPr>
        <p:txBody>
          <a:bodyPr anchor="t" rtlCol="false" tIns="0" lIns="0" bIns="0" rIns="0">
            <a:spAutoFit/>
          </a:bodyPr>
          <a:lstStyle/>
          <a:p>
            <a:pPr algn="l">
              <a:lnSpc>
                <a:spcPts val="2243"/>
              </a:lnSpc>
            </a:pPr>
            <a:r>
              <a:rPr lang="en-US" sz="1500" spc="195">
                <a:solidFill>
                  <a:srgbClr val="6B4B7D"/>
                </a:solidFill>
                <a:latin typeface="Arimo"/>
                <a:ea typeface="Arimo"/>
                <a:cs typeface="Arimo"/>
                <a:sym typeface="Arimo"/>
              </a:rPr>
              <a:t>NA JINÉ CÍLE ANO</a:t>
            </a:r>
          </a:p>
        </p:txBody>
      </p:sp>
      <p:sp>
        <p:nvSpPr>
          <p:cNvPr name="TextBox 24" id="24"/>
          <p:cNvSpPr txBox="true"/>
          <p:nvPr/>
        </p:nvSpPr>
        <p:spPr>
          <a:xfrm rot="0">
            <a:off x="12038600" y="5300320"/>
            <a:ext cx="5157206" cy="2363791"/>
          </a:xfrm>
          <a:prstGeom prst="rect">
            <a:avLst/>
          </a:prstGeom>
        </p:spPr>
        <p:txBody>
          <a:bodyPr anchor="t" rtlCol="false" tIns="0" lIns="0" bIns="0" rIns="0">
            <a:spAutoFit/>
          </a:bodyPr>
          <a:lstStyle/>
          <a:p>
            <a:pPr algn="l">
              <a:lnSpc>
                <a:spcPts val="2380"/>
              </a:lnSpc>
            </a:pPr>
            <a:r>
              <a:rPr lang="en-US" sz="1725">
                <a:solidFill>
                  <a:srgbClr val="6B4B7D"/>
                </a:solidFill>
                <a:latin typeface="Arimo"/>
                <a:ea typeface="Arimo"/>
                <a:cs typeface="Arimo"/>
                <a:sym typeface="Arimo"/>
              </a:rPr>
              <a:t>doplňky a bylinné přípravky</a:t>
            </a:r>
          </a:p>
          <a:p>
            <a:pPr algn="l">
              <a:lnSpc>
                <a:spcPts val="2380"/>
              </a:lnSpc>
            </a:pPr>
            <a:r>
              <a:rPr lang="en-US" sz="1725">
                <a:solidFill>
                  <a:srgbClr val="6B4B7D"/>
                </a:solidFill>
                <a:latin typeface="Arimo"/>
                <a:ea typeface="Arimo"/>
                <a:cs typeface="Arimo"/>
                <a:sym typeface="Arimo"/>
              </a:rPr>
              <a:t>sójové extrakty a equol</a:t>
            </a:r>
          </a:p>
          <a:p>
            <a:pPr algn="l">
              <a:lnSpc>
                <a:spcPts val="2380"/>
              </a:lnSpc>
            </a:pPr>
            <a:r>
              <a:rPr lang="en-US" sz="1725">
                <a:solidFill>
                  <a:srgbClr val="6B4B7D"/>
                </a:solidFill>
                <a:latin typeface="Arimo"/>
                <a:ea typeface="Arimo"/>
                <a:cs typeface="Arimo"/>
                <a:sym typeface="Arimo"/>
              </a:rPr>
              <a:t>dechová cvičení, chlazení</a:t>
            </a:r>
          </a:p>
          <a:p>
            <a:pPr algn="l">
              <a:lnSpc>
                <a:spcPts val="2380"/>
              </a:lnSpc>
            </a:pPr>
            <a:r>
              <a:rPr lang="en-US" sz="1725">
                <a:solidFill>
                  <a:srgbClr val="6B4B7D"/>
                </a:solidFill>
                <a:latin typeface="Arimo"/>
                <a:ea typeface="Arimo"/>
                <a:cs typeface="Arimo"/>
                <a:sym typeface="Arimo"/>
              </a:rPr>
              <a:t>jóga, mindfulness, akupunktura</a:t>
            </a:r>
          </a:p>
          <a:p>
            <a:pPr algn="l">
              <a:lnSpc>
                <a:spcPts val="2380"/>
              </a:lnSpc>
            </a:pPr>
            <a:r>
              <a:rPr lang="en-US" sz="1725">
                <a:solidFill>
                  <a:srgbClr val="6B4B7D"/>
                </a:solidFill>
                <a:latin typeface="Arimo"/>
                <a:ea typeface="Arimo"/>
                <a:cs typeface="Arimo"/>
                <a:sym typeface="Arimo"/>
              </a:rPr>
              <a:t>úprava jídelníčku</a:t>
            </a:r>
          </a:p>
        </p:txBody>
      </p:sp>
      <p:sp>
        <p:nvSpPr>
          <p:cNvPr name="TextBox 25" id="25"/>
          <p:cNvSpPr txBox="true"/>
          <p:nvPr/>
        </p:nvSpPr>
        <p:spPr>
          <a:xfrm rot="0">
            <a:off x="1168403" y="8045453"/>
            <a:ext cx="17551403" cy="473078"/>
          </a:xfrm>
          <a:prstGeom prst="rect">
            <a:avLst/>
          </a:prstGeom>
        </p:spPr>
        <p:txBody>
          <a:bodyPr anchor="t" rtlCol="false" tIns="0" lIns="0" bIns="0" rIns="0">
            <a:spAutoFit/>
          </a:bodyPr>
          <a:lstStyle/>
          <a:p>
            <a:pPr algn="l">
              <a:lnSpc>
                <a:spcPts val="3115"/>
              </a:lnSpc>
            </a:pPr>
            <a:r>
              <a:rPr lang="en-US" sz="2250" b="true">
                <a:solidFill>
                  <a:srgbClr val="401252"/>
                </a:solidFill>
                <a:latin typeface="Arimo Bold"/>
                <a:ea typeface="Arimo Bold"/>
                <a:cs typeface="Arimo Bold"/>
                <a:sym typeface="Arimo Bold"/>
              </a:rPr>
              <a:t>Ženy po onkologické léčbě: </a:t>
            </a:r>
            <a:r>
              <a:rPr lang="en-US" sz="2250">
                <a:solidFill>
                  <a:srgbClr val="6B4B7D"/>
                </a:solidFill>
                <a:latin typeface="Arimo"/>
                <a:ea typeface="Arimo"/>
                <a:cs typeface="Arimo"/>
                <a:sym typeface="Arimo"/>
              </a:rPr>
              <a:t>nehormonální možnosti jsou první volbou, rozhodnutí patří do společné péče s onkologem.</a:t>
            </a:r>
          </a:p>
        </p:txBody>
      </p:sp>
      <p:sp>
        <p:nvSpPr>
          <p:cNvPr name="TextBox 26" id="26"/>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The Menopause Society, nonhormone therapy position statement 2023</a:t>
            </a:r>
          </a:p>
        </p:txBody>
      </p:sp>
      <p:sp>
        <p:nvSpPr>
          <p:cNvPr name="TextBox 27" id="27"/>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4330236"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ČASNÁ MENOPAUZA</a:t>
            </a:r>
          </a:p>
        </p:txBody>
      </p:sp>
      <p:sp>
        <p:nvSpPr>
          <p:cNvPr name="TextBox 3" id="3"/>
          <p:cNvSpPr txBox="true"/>
          <p:nvPr/>
        </p:nvSpPr>
        <p:spPr>
          <a:xfrm rot="0">
            <a:off x="1168403" y="1873253"/>
            <a:ext cx="13684253" cy="1252195"/>
          </a:xfrm>
          <a:prstGeom prst="rect">
            <a:avLst/>
          </a:prstGeom>
        </p:spPr>
        <p:txBody>
          <a:bodyPr anchor="t" rtlCol="false" tIns="0" lIns="0" bIns="0" rIns="0">
            <a:spAutoFit/>
          </a:bodyPr>
          <a:lstStyle/>
          <a:p>
            <a:pPr algn="l">
              <a:lnSpc>
                <a:spcPts val="4735"/>
              </a:lnSpc>
            </a:pPr>
            <a:r>
              <a:rPr lang="en-US" sz="4500" spc="-81">
                <a:solidFill>
                  <a:srgbClr val="401252"/>
                </a:solidFill>
                <a:latin typeface="Arimo"/>
                <a:ea typeface="Arimo"/>
                <a:cs typeface="Arimo"/>
                <a:sym typeface="Arimo"/>
              </a:rPr>
              <a:t>Před čtyřicátým rokem je hormonální léčba prevence, ne volba.</a:t>
            </a:r>
          </a:p>
        </p:txBody>
      </p:sp>
      <p:grpSp>
        <p:nvGrpSpPr>
          <p:cNvPr name="Group 4" id="4"/>
          <p:cNvGrpSpPr/>
          <p:nvPr/>
        </p:nvGrpSpPr>
        <p:grpSpPr>
          <a:xfrm rot="0">
            <a:off x="14249400" y="1356789"/>
            <a:ext cx="381000" cy="381000"/>
            <a:chOff x="0" y="0"/>
            <a:chExt cx="508000" cy="508000"/>
          </a:xfrm>
        </p:grpSpPr>
        <p:sp>
          <p:nvSpPr>
            <p:cNvPr name="Freeform 5" id="5"/>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6D2A8C"/>
            </a:solidFill>
          </p:spPr>
        </p:sp>
      </p:grpSp>
      <p:grpSp>
        <p:nvGrpSpPr>
          <p:cNvPr name="Group 6" id="6"/>
          <p:cNvGrpSpPr/>
          <p:nvPr/>
        </p:nvGrpSpPr>
        <p:grpSpPr>
          <a:xfrm rot="0">
            <a:off x="14211300" y="1356789"/>
            <a:ext cx="457200" cy="419100"/>
            <a:chOff x="0" y="0"/>
            <a:chExt cx="609600" cy="558800"/>
          </a:xfrm>
        </p:grpSpPr>
        <p:sp>
          <p:nvSpPr>
            <p:cNvPr name="Freeform 7" id="7"/>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3">
                <a:alphaModFix amt="0"/>
              </a:blip>
              <a:stretch>
                <a:fillRect l="-67611" t="0" r="-67611" b="0"/>
              </a:stretch>
            </a:blipFill>
          </p:spPr>
        </p:sp>
        <p:sp>
          <p:nvSpPr>
            <p:cNvPr name="TextBox 8" id="8"/>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FFFFFF"/>
                  </a:solidFill>
                  <a:latin typeface="Arimo"/>
                  <a:ea typeface="Arimo"/>
                  <a:cs typeface="Arimo"/>
                  <a:sym typeface="Arimo"/>
                </a:rPr>
                <a:t>A</a:t>
              </a:r>
            </a:p>
          </p:txBody>
        </p:sp>
      </p:grpSp>
      <p:sp>
        <p:nvSpPr>
          <p:cNvPr name="TextBox 9" id="9"/>
          <p:cNvSpPr txBox="true"/>
          <p:nvPr/>
        </p:nvSpPr>
        <p:spPr>
          <a:xfrm rot="0">
            <a:off x="14789153" y="1206503"/>
            <a:ext cx="2406653" cy="700630"/>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SHODA GUIDELINES, DATA Z JINÉ POPULACE</a:t>
            </a:r>
          </a:p>
        </p:txBody>
      </p:sp>
      <p:grpSp>
        <p:nvGrpSpPr>
          <p:cNvPr name="Group 10" id="10"/>
          <p:cNvGrpSpPr/>
          <p:nvPr/>
        </p:nvGrpSpPr>
        <p:grpSpPr>
          <a:xfrm rot="0">
            <a:off x="6467475" y="5524500"/>
            <a:ext cx="9525" cy="2549204"/>
            <a:chOff x="0" y="0"/>
            <a:chExt cx="12700" cy="3398939"/>
          </a:xfrm>
        </p:grpSpPr>
        <p:sp>
          <p:nvSpPr>
            <p:cNvPr name="Freeform 11" id="11"/>
            <p:cNvSpPr/>
            <p:nvPr/>
          </p:nvSpPr>
          <p:spPr>
            <a:xfrm flipH="false" flipV="false" rot="0">
              <a:off x="0" y="0"/>
              <a:ext cx="12700" cy="3398901"/>
            </a:xfrm>
            <a:custGeom>
              <a:avLst/>
              <a:gdLst/>
              <a:ahLst/>
              <a:cxnLst/>
              <a:rect r="r" b="b" t="t" l="l"/>
              <a:pathLst>
                <a:path h="3398901" w="12700">
                  <a:moveTo>
                    <a:pt x="0" y="0"/>
                  </a:moveTo>
                  <a:lnTo>
                    <a:pt x="12700" y="0"/>
                  </a:lnTo>
                  <a:lnTo>
                    <a:pt x="12700" y="3398901"/>
                  </a:lnTo>
                  <a:lnTo>
                    <a:pt x="0" y="3398901"/>
                  </a:lnTo>
                  <a:close/>
                </a:path>
              </a:pathLst>
            </a:custGeom>
            <a:solidFill>
              <a:srgbClr val="CDB3DC"/>
            </a:solidFill>
          </p:spPr>
        </p:sp>
      </p:grpSp>
      <p:sp>
        <p:nvSpPr>
          <p:cNvPr name="TextBox 12" id="12"/>
          <p:cNvSpPr txBox="true"/>
          <p:nvPr/>
        </p:nvSpPr>
        <p:spPr>
          <a:xfrm rot="0">
            <a:off x="1168403" y="5711828"/>
            <a:ext cx="5051746" cy="739778"/>
          </a:xfrm>
          <a:prstGeom prst="rect">
            <a:avLst/>
          </a:prstGeom>
        </p:spPr>
        <p:txBody>
          <a:bodyPr anchor="t" rtlCol="false" tIns="0" lIns="0" bIns="0" rIns="0">
            <a:spAutoFit/>
          </a:bodyPr>
          <a:lstStyle/>
          <a:p>
            <a:pPr algn="l">
              <a:lnSpc>
                <a:spcPts val="6635"/>
              </a:lnSpc>
            </a:pPr>
            <a:r>
              <a:rPr lang="en-US" sz="7200" spc="-215">
                <a:solidFill>
                  <a:srgbClr val="6D2A8C"/>
                </a:solidFill>
                <a:latin typeface="Arimo"/>
                <a:ea typeface="Arimo"/>
                <a:cs typeface="Arimo"/>
                <a:sym typeface="Arimo"/>
              </a:rPr>
              <a:t>1z250</a:t>
            </a:r>
          </a:p>
        </p:txBody>
      </p:sp>
      <p:sp>
        <p:nvSpPr>
          <p:cNvPr name="TextBox 13" id="13"/>
          <p:cNvSpPr txBox="true"/>
          <p:nvPr/>
        </p:nvSpPr>
        <p:spPr>
          <a:xfrm rot="0">
            <a:off x="1168403" y="6607178"/>
            <a:ext cx="4727038"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ŽEN DO 35 LET</a:t>
            </a:r>
          </a:p>
        </p:txBody>
      </p:sp>
      <p:sp>
        <p:nvSpPr>
          <p:cNvPr name="TextBox 14" id="14"/>
          <p:cNvSpPr txBox="true"/>
          <p:nvPr/>
        </p:nvSpPr>
        <p:spPr>
          <a:xfrm rot="0">
            <a:off x="1168403" y="7184707"/>
            <a:ext cx="4727038" cy="901703"/>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Primární ovariální insuficience není vzácnost.</a:t>
            </a:r>
          </a:p>
        </p:txBody>
      </p:sp>
      <p:grpSp>
        <p:nvGrpSpPr>
          <p:cNvPr name="Group 15" id="15"/>
          <p:cNvGrpSpPr/>
          <p:nvPr/>
        </p:nvGrpSpPr>
        <p:grpSpPr>
          <a:xfrm rot="0">
            <a:off x="11801475" y="5524500"/>
            <a:ext cx="9525" cy="2549204"/>
            <a:chOff x="0" y="0"/>
            <a:chExt cx="12700" cy="3398939"/>
          </a:xfrm>
        </p:grpSpPr>
        <p:sp>
          <p:nvSpPr>
            <p:cNvPr name="Freeform 16" id="16"/>
            <p:cNvSpPr/>
            <p:nvPr/>
          </p:nvSpPr>
          <p:spPr>
            <a:xfrm flipH="false" flipV="false" rot="0">
              <a:off x="0" y="0"/>
              <a:ext cx="12700" cy="3398901"/>
            </a:xfrm>
            <a:custGeom>
              <a:avLst/>
              <a:gdLst/>
              <a:ahLst/>
              <a:cxnLst/>
              <a:rect r="r" b="b" t="t" l="l"/>
              <a:pathLst>
                <a:path h="3398901" w="12700">
                  <a:moveTo>
                    <a:pt x="0" y="0"/>
                  </a:moveTo>
                  <a:lnTo>
                    <a:pt x="12700" y="0"/>
                  </a:lnTo>
                  <a:lnTo>
                    <a:pt x="12700" y="3398901"/>
                  </a:lnTo>
                  <a:lnTo>
                    <a:pt x="0" y="3398901"/>
                  </a:lnTo>
                  <a:close/>
                </a:path>
              </a:pathLst>
            </a:custGeom>
            <a:solidFill>
              <a:srgbClr val="CDB3DC"/>
            </a:solidFill>
          </p:spPr>
        </p:sp>
      </p:grpSp>
      <p:sp>
        <p:nvSpPr>
          <p:cNvPr name="TextBox 17" id="17"/>
          <p:cNvSpPr txBox="true"/>
          <p:nvPr/>
        </p:nvSpPr>
        <p:spPr>
          <a:xfrm rot="0">
            <a:off x="7188203" y="5711828"/>
            <a:ext cx="4297366" cy="739778"/>
          </a:xfrm>
          <a:prstGeom prst="rect">
            <a:avLst/>
          </a:prstGeom>
        </p:spPr>
        <p:txBody>
          <a:bodyPr anchor="t" rtlCol="false" tIns="0" lIns="0" bIns="0" rIns="0">
            <a:spAutoFit/>
          </a:bodyPr>
          <a:lstStyle/>
          <a:p>
            <a:pPr algn="l">
              <a:lnSpc>
                <a:spcPts val="6635"/>
              </a:lnSpc>
            </a:pPr>
            <a:r>
              <a:rPr lang="en-US" sz="7200" spc="-215">
                <a:solidFill>
                  <a:srgbClr val="6D2A8C"/>
                </a:solidFill>
                <a:latin typeface="Arimo"/>
                <a:ea typeface="Arimo"/>
                <a:cs typeface="Arimo"/>
                <a:sym typeface="Arimo"/>
              </a:rPr>
              <a:t>1z100</a:t>
            </a:r>
          </a:p>
        </p:txBody>
      </p:sp>
      <p:sp>
        <p:nvSpPr>
          <p:cNvPr name="TextBox 18" id="18"/>
          <p:cNvSpPr txBox="true"/>
          <p:nvPr/>
        </p:nvSpPr>
        <p:spPr>
          <a:xfrm rot="0">
            <a:off x="7188203" y="6607178"/>
            <a:ext cx="4020664"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ŽEN DO 40 LET</a:t>
            </a:r>
          </a:p>
        </p:txBody>
      </p:sp>
      <p:sp>
        <p:nvSpPr>
          <p:cNvPr name="TextBox 19" id="19"/>
          <p:cNvSpPr txBox="true"/>
          <p:nvPr/>
        </p:nvSpPr>
        <p:spPr>
          <a:xfrm rot="0">
            <a:off x="7188203" y="7184707"/>
            <a:ext cx="4020664" cy="901703"/>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Mezi 40 a 45 lety jde o časnou menopauzu.</a:t>
            </a:r>
          </a:p>
        </p:txBody>
      </p:sp>
      <p:sp>
        <p:nvSpPr>
          <p:cNvPr name="TextBox 20" id="20"/>
          <p:cNvSpPr txBox="true"/>
          <p:nvPr/>
        </p:nvSpPr>
        <p:spPr>
          <a:xfrm rot="0">
            <a:off x="12522203" y="5616578"/>
            <a:ext cx="5062223" cy="835028"/>
          </a:xfrm>
          <a:prstGeom prst="rect">
            <a:avLst/>
          </a:prstGeom>
        </p:spPr>
        <p:txBody>
          <a:bodyPr anchor="t" rtlCol="false" tIns="0" lIns="0" bIns="0" rIns="0">
            <a:spAutoFit/>
          </a:bodyPr>
          <a:lstStyle/>
          <a:p>
            <a:pPr algn="l">
              <a:lnSpc>
                <a:spcPts val="3317"/>
              </a:lnSpc>
            </a:pPr>
            <a:r>
              <a:rPr lang="en-US" sz="3600" spc="-215">
                <a:solidFill>
                  <a:srgbClr val="6D2A8C"/>
                </a:solidFill>
                <a:latin typeface="Arimo"/>
                <a:ea typeface="Arimo"/>
                <a:cs typeface="Arimo"/>
                <a:sym typeface="Arimo"/>
              </a:rPr>
              <a:t>do51let</a:t>
            </a:r>
          </a:p>
        </p:txBody>
      </p:sp>
      <p:sp>
        <p:nvSpPr>
          <p:cNvPr name="TextBox 21" id="21"/>
          <p:cNvSpPr txBox="true"/>
          <p:nvPr/>
        </p:nvSpPr>
        <p:spPr>
          <a:xfrm rot="0">
            <a:off x="12522203" y="6607178"/>
            <a:ext cx="4736849"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TRVÁNÍ LÉČBY</a:t>
            </a:r>
          </a:p>
        </p:txBody>
      </p:sp>
      <p:sp>
        <p:nvSpPr>
          <p:cNvPr name="TextBox 22" id="22"/>
          <p:cNvSpPr txBox="true"/>
          <p:nvPr/>
        </p:nvSpPr>
        <p:spPr>
          <a:xfrm rot="0">
            <a:off x="12522203" y="7184707"/>
            <a:ext cx="4736849" cy="901703"/>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Cílem je </a:t>
            </a:r>
            <a:r>
              <a:rPr lang="en-US" sz="2250" b="true">
                <a:solidFill>
                  <a:srgbClr val="401252"/>
                </a:solidFill>
                <a:latin typeface="Arimo Bold"/>
                <a:ea typeface="Arimo Bold"/>
                <a:cs typeface="Arimo Bold"/>
                <a:sym typeface="Arimo Bold"/>
              </a:rPr>
              <a:t>nahradit chybějící roky estrogenu </a:t>
            </a:r>
            <a:r>
              <a:rPr lang="en-US" sz="2250">
                <a:solidFill>
                  <a:srgbClr val="6B4B7D"/>
                </a:solidFill>
                <a:latin typeface="Arimo"/>
                <a:ea typeface="Arimo"/>
                <a:cs typeface="Arimo"/>
                <a:sym typeface="Arimo"/>
              </a:rPr>
              <a:t>, ne zmírnit příznaky.</a:t>
            </a:r>
          </a:p>
        </p:txBody>
      </p:sp>
      <p:sp>
        <p:nvSpPr>
          <p:cNvPr name="TextBox 23" id="23"/>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Data z WHI se na tuto skupinu nepřenášejí · UpToDate, Primary ovarian insufficiency, 2026</a:t>
            </a:r>
          </a:p>
        </p:txBody>
      </p:sp>
      <p:sp>
        <p:nvSpPr>
          <p:cNvPr name="TextBox 24" id="24"/>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4960496"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VERSUS LÉČBA PŘÍZNAKŮ</a:t>
            </a:r>
          </a:p>
        </p:txBody>
      </p:sp>
      <p:sp>
        <p:nvSpPr>
          <p:cNvPr name="TextBox 3" id="3"/>
          <p:cNvSpPr txBox="true"/>
          <p:nvPr/>
        </p:nvSpPr>
        <p:spPr>
          <a:xfrm rot="0">
            <a:off x="1168403" y="1873253"/>
            <a:ext cx="13684253" cy="1252195"/>
          </a:xfrm>
          <a:prstGeom prst="rect">
            <a:avLst/>
          </a:prstGeom>
        </p:spPr>
        <p:txBody>
          <a:bodyPr anchor="t" rtlCol="false" tIns="0" lIns="0" bIns="0" rIns="0">
            <a:spAutoFit/>
          </a:bodyPr>
          <a:lstStyle/>
          <a:p>
            <a:pPr algn="l">
              <a:lnSpc>
                <a:spcPts val="4735"/>
              </a:lnSpc>
            </a:pPr>
            <a:r>
              <a:rPr lang="en-US" sz="4500" spc="-81">
                <a:solidFill>
                  <a:srgbClr val="401252"/>
                </a:solidFill>
                <a:latin typeface="Arimo"/>
                <a:ea typeface="Arimo"/>
                <a:cs typeface="Arimo"/>
                <a:sym typeface="Arimo"/>
              </a:rPr>
              <a:t>Pohyb na návaly nezabírá. Na téměř všechno ostatní ano.</a:t>
            </a:r>
          </a:p>
        </p:txBody>
      </p:sp>
      <p:grpSp>
        <p:nvGrpSpPr>
          <p:cNvPr name="Group 4" id="4"/>
          <p:cNvGrpSpPr/>
          <p:nvPr/>
        </p:nvGrpSpPr>
        <p:grpSpPr>
          <a:xfrm rot="0">
            <a:off x="14249400" y="1241079"/>
            <a:ext cx="381000" cy="381000"/>
            <a:chOff x="0" y="0"/>
            <a:chExt cx="508000" cy="508000"/>
          </a:xfrm>
        </p:grpSpPr>
        <p:sp>
          <p:nvSpPr>
            <p:cNvPr name="Freeform 5" id="5"/>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6D2A8C"/>
            </a:solidFill>
          </p:spPr>
        </p:sp>
      </p:grpSp>
      <p:grpSp>
        <p:nvGrpSpPr>
          <p:cNvPr name="Group 6" id="6"/>
          <p:cNvGrpSpPr/>
          <p:nvPr/>
        </p:nvGrpSpPr>
        <p:grpSpPr>
          <a:xfrm rot="0">
            <a:off x="14211300" y="1241079"/>
            <a:ext cx="457200" cy="419100"/>
            <a:chOff x="0" y="0"/>
            <a:chExt cx="609600" cy="558800"/>
          </a:xfrm>
        </p:grpSpPr>
        <p:sp>
          <p:nvSpPr>
            <p:cNvPr name="Freeform 7" id="7"/>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3">
                <a:alphaModFix amt="0"/>
              </a:blip>
              <a:stretch>
                <a:fillRect l="-67611" t="0" r="-67611" b="0"/>
              </a:stretch>
            </a:blipFill>
          </p:spPr>
        </p:sp>
        <p:sp>
          <p:nvSpPr>
            <p:cNvPr name="TextBox 8" id="8"/>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FFFFFF"/>
                  </a:solidFill>
                  <a:latin typeface="Arimo"/>
                  <a:ea typeface="Arimo"/>
                  <a:cs typeface="Arimo"/>
                  <a:sym typeface="Arimo"/>
                </a:rPr>
                <a:t>A</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PŘEHLEDY PRO OBĚ TVRZENÍ</a:t>
            </a:r>
          </a:p>
        </p:txBody>
      </p:sp>
      <p:grpSp>
        <p:nvGrpSpPr>
          <p:cNvPr name="Group 10" id="10"/>
          <p:cNvGrpSpPr/>
          <p:nvPr/>
        </p:nvGrpSpPr>
        <p:grpSpPr>
          <a:xfrm rot="0">
            <a:off x="9134475" y="5734050"/>
            <a:ext cx="9525" cy="2122437"/>
            <a:chOff x="0" y="0"/>
            <a:chExt cx="12700" cy="2829916"/>
          </a:xfrm>
        </p:grpSpPr>
        <p:sp>
          <p:nvSpPr>
            <p:cNvPr name="Freeform 11" id="11"/>
            <p:cNvSpPr/>
            <p:nvPr/>
          </p:nvSpPr>
          <p:spPr>
            <a:xfrm flipH="false" flipV="false" rot="0">
              <a:off x="0" y="0"/>
              <a:ext cx="12700" cy="2829941"/>
            </a:xfrm>
            <a:custGeom>
              <a:avLst/>
              <a:gdLst/>
              <a:ahLst/>
              <a:cxnLst/>
              <a:rect r="r" b="b" t="t" l="l"/>
              <a:pathLst>
                <a:path h="2829941" w="12700">
                  <a:moveTo>
                    <a:pt x="0" y="0"/>
                  </a:moveTo>
                  <a:lnTo>
                    <a:pt x="12700" y="0"/>
                  </a:lnTo>
                  <a:lnTo>
                    <a:pt x="12700" y="2829941"/>
                  </a:lnTo>
                  <a:lnTo>
                    <a:pt x="0" y="2829941"/>
                  </a:lnTo>
                  <a:close/>
                </a:path>
              </a:pathLst>
            </a:custGeom>
            <a:solidFill>
              <a:srgbClr val="CDB3DC"/>
            </a:solidFill>
          </p:spPr>
        </p:sp>
      </p:grpSp>
      <p:sp>
        <p:nvSpPr>
          <p:cNvPr name="TextBox 12" id="12"/>
          <p:cNvSpPr txBox="true"/>
          <p:nvPr/>
        </p:nvSpPr>
        <p:spPr>
          <a:xfrm rot="0">
            <a:off x="1168403" y="5692778"/>
            <a:ext cx="7395562"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NA NÁVALY</a:t>
            </a:r>
          </a:p>
        </p:txBody>
      </p:sp>
      <p:sp>
        <p:nvSpPr>
          <p:cNvPr name="TextBox 13" id="13"/>
          <p:cNvSpPr txBox="true"/>
          <p:nvPr/>
        </p:nvSpPr>
        <p:spPr>
          <a:xfrm rot="0">
            <a:off x="1168403" y="6346508"/>
            <a:ext cx="7901626" cy="398736"/>
          </a:xfrm>
          <a:prstGeom prst="rect">
            <a:avLst/>
          </a:prstGeom>
        </p:spPr>
        <p:txBody>
          <a:bodyPr anchor="t" rtlCol="false" tIns="0" lIns="0" bIns="0" rIns="0">
            <a:spAutoFit/>
          </a:bodyPr>
          <a:lstStyle/>
          <a:p>
            <a:pPr algn="l">
              <a:lnSpc>
                <a:spcPts val="3010"/>
              </a:lnSpc>
            </a:pPr>
            <a:r>
              <a:rPr lang="en-US" sz="2700">
                <a:solidFill>
                  <a:srgbClr val="6B4B7D"/>
                </a:solidFill>
                <a:latin typeface="Arimo"/>
                <a:ea typeface="Arimo"/>
                <a:cs typeface="Arimo"/>
                <a:sym typeface="Arimo"/>
              </a:rPr>
              <a:t>Nedoporučeno pro tuto indikaci</a:t>
            </a:r>
          </a:p>
        </p:txBody>
      </p:sp>
      <p:sp>
        <p:nvSpPr>
          <p:cNvPr name="TextBox 14" id="14"/>
          <p:cNvSpPr txBox="true"/>
          <p:nvPr/>
        </p:nvSpPr>
        <p:spPr>
          <a:xfrm rot="0">
            <a:off x="1168403" y="6910340"/>
            <a:ext cx="7395562" cy="9588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Frekvenci ani intenzitu návalů pohyb v přehledech nesnížil. Nemá cenu od něj tohle čekat.</a:t>
            </a:r>
          </a:p>
        </p:txBody>
      </p:sp>
      <p:sp>
        <p:nvSpPr>
          <p:cNvPr name="TextBox 15" id="15"/>
          <p:cNvSpPr txBox="true"/>
          <p:nvPr/>
        </p:nvSpPr>
        <p:spPr>
          <a:xfrm rot="0">
            <a:off x="9931403" y="5692778"/>
            <a:ext cx="7405373"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NA DLOUHODOBÉ ZDRAVÍ</a:t>
            </a:r>
          </a:p>
        </p:txBody>
      </p:sp>
      <p:sp>
        <p:nvSpPr>
          <p:cNvPr name="TextBox 16" id="16"/>
          <p:cNvSpPr txBox="true"/>
          <p:nvPr/>
        </p:nvSpPr>
        <p:spPr>
          <a:xfrm rot="0">
            <a:off x="9931403" y="6346508"/>
            <a:ext cx="7912103" cy="398736"/>
          </a:xfrm>
          <a:prstGeom prst="rect">
            <a:avLst/>
          </a:prstGeom>
        </p:spPr>
        <p:txBody>
          <a:bodyPr anchor="t" rtlCol="false" tIns="0" lIns="0" bIns="0" rIns="0">
            <a:spAutoFit/>
          </a:bodyPr>
          <a:lstStyle/>
          <a:p>
            <a:pPr algn="l">
              <a:lnSpc>
                <a:spcPts val="3010"/>
              </a:lnSpc>
            </a:pPr>
            <a:r>
              <a:rPr lang="en-US" sz="2700">
                <a:solidFill>
                  <a:srgbClr val="401252"/>
                </a:solidFill>
                <a:latin typeface="Arimo"/>
                <a:ea typeface="Arimo"/>
                <a:cs typeface="Arimo"/>
                <a:sym typeface="Arimo"/>
              </a:rPr>
              <a:t>Jedna z nejsilnějších intervencí, které máme</a:t>
            </a:r>
          </a:p>
        </p:txBody>
      </p:sp>
      <p:sp>
        <p:nvSpPr>
          <p:cNvPr name="TextBox 17" id="17"/>
          <p:cNvSpPr txBox="true"/>
          <p:nvPr/>
        </p:nvSpPr>
        <p:spPr>
          <a:xfrm rot="0">
            <a:off x="9931403" y="6910340"/>
            <a:ext cx="7405373" cy="9588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Kardiovaskulární riziko, inzulinová senzitivita, kostní hustota, síla a funkce, spánek, nálada.</a:t>
            </a:r>
          </a:p>
        </p:txBody>
      </p:sp>
      <p:sp>
        <p:nvSpPr>
          <p:cNvPr name="TextBox 18" id="18"/>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Když vám cvičení nezabralo na návaly, nefungovalo špatně. Chtěli jste od něj něco, co neumí.</a:t>
            </a:r>
          </a:p>
        </p:txBody>
      </p:sp>
      <p:sp>
        <p:nvSpPr>
          <p:cNvPr name="TextBox 19" id="19"/>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grpSp>
        <p:nvGrpSpPr>
          <p:cNvPr name="Group 2" id="2"/>
          <p:cNvGrpSpPr/>
          <p:nvPr/>
        </p:nvGrpSpPr>
        <p:grpSpPr>
          <a:xfrm rot="0">
            <a:off x="11430000" y="0"/>
            <a:ext cx="6858000" cy="10287000"/>
            <a:chOff x="0" y="0"/>
            <a:chExt cx="9144000" cy="13716000"/>
          </a:xfrm>
        </p:grpSpPr>
        <p:sp>
          <p:nvSpPr>
            <p:cNvPr name="Freeform 3" id="3"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62299" t="0" r="-62299" b="0"/>
              </a:stretch>
            </a:blipFill>
          </p:spPr>
        </p:sp>
      </p:grpSp>
      <p:sp>
        <p:nvSpPr>
          <p:cNvPr name="TextBox 4" id="4"/>
          <p:cNvSpPr txBox="true"/>
          <p:nvPr/>
        </p:nvSpPr>
        <p:spPr>
          <a:xfrm rot="0">
            <a:off x="1168403" y="1292228"/>
            <a:ext cx="3857635"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DÁVKA POHYBU</a:t>
            </a:r>
          </a:p>
        </p:txBody>
      </p:sp>
      <p:sp>
        <p:nvSpPr>
          <p:cNvPr name="TextBox 5" id="5"/>
          <p:cNvSpPr txBox="true"/>
          <p:nvPr/>
        </p:nvSpPr>
        <p:spPr>
          <a:xfrm rot="0">
            <a:off x="1168403" y="1882778"/>
            <a:ext cx="10007603" cy="569443"/>
          </a:xfrm>
          <a:prstGeom prst="rect">
            <a:avLst/>
          </a:prstGeom>
        </p:spPr>
        <p:txBody>
          <a:bodyPr anchor="t" rtlCol="false" tIns="0" lIns="0" bIns="0" rIns="0">
            <a:spAutoFit/>
          </a:bodyPr>
          <a:lstStyle/>
          <a:p>
            <a:pPr algn="l">
              <a:lnSpc>
                <a:spcPts val="4571"/>
              </a:lnSpc>
            </a:pPr>
            <a:r>
              <a:rPr lang="en-US" sz="4350" spc="-77">
                <a:solidFill>
                  <a:srgbClr val="401252"/>
                </a:solidFill>
                <a:latin typeface="Arimo"/>
                <a:ea typeface="Arimo"/>
                <a:cs typeface="Arimo"/>
                <a:sym typeface="Arimo"/>
              </a:rPr>
              <a:t>Chůze se počítá. Chůze ale nestačí.</a:t>
            </a:r>
          </a:p>
        </p:txBody>
      </p:sp>
      <p:sp>
        <p:nvSpPr>
          <p:cNvPr name="TextBox 6" id="6"/>
          <p:cNvSpPr txBox="true"/>
          <p:nvPr/>
        </p:nvSpPr>
        <p:spPr>
          <a:xfrm rot="0">
            <a:off x="1168403" y="3911603"/>
            <a:ext cx="2296220" cy="1065486"/>
          </a:xfrm>
          <a:prstGeom prst="rect">
            <a:avLst/>
          </a:prstGeom>
        </p:spPr>
        <p:txBody>
          <a:bodyPr anchor="t" rtlCol="false" tIns="0" lIns="0" bIns="0" rIns="0">
            <a:spAutoFit/>
          </a:bodyPr>
          <a:lstStyle/>
          <a:p>
            <a:pPr algn="l">
              <a:lnSpc>
                <a:spcPts val="6729"/>
              </a:lnSpc>
            </a:pPr>
            <a:r>
              <a:rPr lang="en-US" sz="4500" spc="-135">
                <a:solidFill>
                  <a:srgbClr val="6D2A8C"/>
                </a:solidFill>
                <a:latin typeface="Arimo"/>
                <a:ea typeface="Arimo"/>
                <a:cs typeface="Arimo"/>
                <a:sym typeface="Arimo"/>
              </a:rPr>
              <a:t>150–300</a:t>
            </a:r>
          </a:p>
        </p:txBody>
      </p:sp>
      <p:sp>
        <p:nvSpPr>
          <p:cNvPr name="TextBox 7" id="7"/>
          <p:cNvSpPr txBox="true"/>
          <p:nvPr/>
        </p:nvSpPr>
        <p:spPr>
          <a:xfrm rot="0">
            <a:off x="3744020" y="4340228"/>
            <a:ext cx="6714630" cy="9588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minut </a:t>
            </a:r>
            <a:r>
              <a:rPr lang="en-US" sz="2400" b="true">
                <a:solidFill>
                  <a:srgbClr val="401252"/>
                </a:solidFill>
                <a:latin typeface="Arimo Bold"/>
                <a:ea typeface="Arimo Bold"/>
                <a:cs typeface="Arimo Bold"/>
                <a:sym typeface="Arimo Bold"/>
              </a:rPr>
              <a:t>středně intenzivní aerobní aktivity </a:t>
            </a:r>
            <a:r>
              <a:rPr lang="en-US" sz="2400">
                <a:solidFill>
                  <a:srgbClr val="6B4B7D"/>
                </a:solidFill>
                <a:latin typeface="Arimo"/>
                <a:ea typeface="Arimo"/>
                <a:cs typeface="Arimo"/>
                <a:sym typeface="Arimo"/>
              </a:rPr>
              <a:t>týdně, nebo 75–150 minut vysoce intenzivní</a:t>
            </a:r>
          </a:p>
        </p:txBody>
      </p:sp>
      <p:sp>
        <p:nvSpPr>
          <p:cNvPr name="TextBox 8" id="8"/>
          <p:cNvSpPr txBox="true"/>
          <p:nvPr/>
        </p:nvSpPr>
        <p:spPr>
          <a:xfrm rot="0">
            <a:off x="1168403" y="5483228"/>
            <a:ext cx="2296220" cy="1065486"/>
          </a:xfrm>
          <a:prstGeom prst="rect">
            <a:avLst/>
          </a:prstGeom>
        </p:spPr>
        <p:txBody>
          <a:bodyPr anchor="t" rtlCol="false" tIns="0" lIns="0" bIns="0" rIns="0">
            <a:spAutoFit/>
          </a:bodyPr>
          <a:lstStyle/>
          <a:p>
            <a:pPr algn="l">
              <a:lnSpc>
                <a:spcPts val="6729"/>
              </a:lnSpc>
            </a:pPr>
            <a:r>
              <a:rPr lang="en-US" sz="4500" spc="-135">
                <a:solidFill>
                  <a:srgbClr val="6D2A8C"/>
                </a:solidFill>
                <a:latin typeface="Arimo"/>
                <a:ea typeface="Arimo"/>
                <a:cs typeface="Arimo"/>
                <a:sym typeface="Arimo"/>
              </a:rPr>
              <a:t>2×</a:t>
            </a:r>
          </a:p>
        </p:txBody>
      </p:sp>
      <p:sp>
        <p:nvSpPr>
          <p:cNvPr name="TextBox 9" id="9"/>
          <p:cNvSpPr txBox="true"/>
          <p:nvPr/>
        </p:nvSpPr>
        <p:spPr>
          <a:xfrm rot="0">
            <a:off x="3744020" y="5911853"/>
            <a:ext cx="6714630" cy="14160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a více týdně </a:t>
            </a:r>
            <a:r>
              <a:rPr lang="en-US" sz="2400" b="true">
                <a:solidFill>
                  <a:srgbClr val="401252"/>
                </a:solidFill>
                <a:latin typeface="Arimo Bold"/>
                <a:ea typeface="Arimo Bold"/>
                <a:cs typeface="Arimo Bold"/>
                <a:sym typeface="Arimo Bold"/>
              </a:rPr>
              <a:t>posilování velkých svalových skupin </a:t>
            </a:r>
            <a:r>
              <a:rPr lang="en-US" sz="2400">
                <a:solidFill>
                  <a:srgbClr val="6B4B7D"/>
                </a:solidFill>
                <a:latin typeface="Arimo"/>
                <a:ea typeface="Arimo"/>
                <a:cs typeface="Arimo"/>
                <a:sym typeface="Arimo"/>
              </a:rPr>
              <a:t>. Tohle je věta, která se nejčastěji vynechává</a:t>
            </a:r>
          </a:p>
        </p:txBody>
      </p:sp>
      <p:sp>
        <p:nvSpPr>
          <p:cNvPr name="TextBox 10" id="10"/>
          <p:cNvSpPr txBox="true"/>
          <p:nvPr/>
        </p:nvSpPr>
        <p:spPr>
          <a:xfrm rot="0">
            <a:off x="1168403" y="7664453"/>
            <a:ext cx="9367523" cy="9588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Odporový trénink není doplněk k chůzi. Je to </a:t>
            </a:r>
            <a:r>
              <a:rPr lang="en-US" sz="2400" b="true">
                <a:solidFill>
                  <a:srgbClr val="401252"/>
                </a:solidFill>
                <a:latin typeface="Arimo Bold"/>
                <a:ea typeface="Arimo Bold"/>
                <a:cs typeface="Arimo Bold"/>
                <a:sym typeface="Arimo Bold"/>
              </a:rPr>
              <a:t>samostatná povinná složka </a:t>
            </a:r>
            <a:r>
              <a:rPr lang="en-US" sz="2400">
                <a:solidFill>
                  <a:srgbClr val="6B4B7D"/>
                </a:solidFill>
                <a:latin typeface="Arimo"/>
                <a:ea typeface="Arimo"/>
                <a:cs typeface="Arimo"/>
                <a:sym typeface="Arimo"/>
              </a:rPr>
              <a:t>.</a:t>
            </a:r>
          </a:p>
        </p:txBody>
      </p:sp>
      <p:grpSp>
        <p:nvGrpSpPr>
          <p:cNvPr name="Group 11" id="11"/>
          <p:cNvGrpSpPr/>
          <p:nvPr/>
        </p:nvGrpSpPr>
        <p:grpSpPr>
          <a:xfrm rot="0">
            <a:off x="7391400" y="1200150"/>
            <a:ext cx="381000" cy="381000"/>
            <a:chOff x="0" y="0"/>
            <a:chExt cx="508000" cy="508000"/>
          </a:xfrm>
        </p:grpSpPr>
        <p:sp>
          <p:nvSpPr>
            <p:cNvPr name="Freeform 12" id="12"/>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6D2A8C"/>
            </a:solidFill>
          </p:spPr>
        </p:sp>
      </p:grpSp>
      <p:grpSp>
        <p:nvGrpSpPr>
          <p:cNvPr name="Group 13" id="13"/>
          <p:cNvGrpSpPr/>
          <p:nvPr/>
        </p:nvGrpSpPr>
        <p:grpSpPr>
          <a:xfrm rot="0">
            <a:off x="7353300" y="1200150"/>
            <a:ext cx="457200" cy="419100"/>
            <a:chOff x="0" y="0"/>
            <a:chExt cx="609600" cy="558800"/>
          </a:xfrm>
        </p:grpSpPr>
        <p:sp>
          <p:nvSpPr>
            <p:cNvPr name="Freeform 14" id="14"/>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4">
                <a:alphaModFix amt="0"/>
              </a:blip>
              <a:stretch>
                <a:fillRect l="-67611" t="0" r="-67611" b="0"/>
              </a:stretch>
            </a:blipFill>
          </p:spPr>
        </p:sp>
        <p:sp>
          <p:nvSpPr>
            <p:cNvPr name="TextBox 15" id="15"/>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FFFFFF"/>
                  </a:solidFill>
                  <a:latin typeface="Arimo"/>
                  <a:ea typeface="Arimo"/>
                  <a:cs typeface="Arimo"/>
                  <a:sym typeface="Arimo"/>
                </a:rPr>
                <a:t>A</a:t>
              </a:r>
            </a:p>
          </p:txBody>
        </p:sp>
      </p:grpSp>
      <p:sp>
        <p:nvSpPr>
          <p:cNvPr name="TextBox 16" id="16"/>
          <p:cNvSpPr txBox="true"/>
          <p:nvPr/>
        </p:nvSpPr>
        <p:spPr>
          <a:xfrm rot="0">
            <a:off x="7931153" y="1281284"/>
            <a:ext cx="2568578" cy="23778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DOPORUČENÍ WHO</a:t>
            </a:r>
          </a:p>
        </p:txBody>
      </p:sp>
      <p:sp>
        <p:nvSpPr>
          <p:cNvPr name="TextBox 17" id="17"/>
          <p:cNvSpPr txBox="true"/>
          <p:nvPr/>
        </p:nvSpPr>
        <p:spPr>
          <a:xfrm rot="0">
            <a:off x="10060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3857635"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LÉČBA PŘÍZNAKŮ · SPÁNEK</a:t>
            </a:r>
          </a:p>
        </p:txBody>
      </p:sp>
      <p:sp>
        <p:nvSpPr>
          <p:cNvPr name="TextBox 3" id="3"/>
          <p:cNvSpPr txBox="true"/>
          <p:nvPr/>
        </p:nvSpPr>
        <p:spPr>
          <a:xfrm rot="0">
            <a:off x="1168403" y="4660725"/>
            <a:ext cx="14665328" cy="1610716"/>
          </a:xfrm>
          <a:prstGeom prst="rect">
            <a:avLst/>
          </a:prstGeom>
        </p:spPr>
        <p:txBody>
          <a:bodyPr anchor="t" rtlCol="false" tIns="0" lIns="0" bIns="0" rIns="0">
            <a:spAutoFit/>
          </a:bodyPr>
          <a:lstStyle/>
          <a:p>
            <a:pPr algn="l">
              <a:lnSpc>
                <a:spcPts val="6263"/>
              </a:lnSpc>
            </a:pPr>
            <a:r>
              <a:rPr lang="en-US" sz="6300" spc="-175">
                <a:solidFill>
                  <a:srgbClr val="401252"/>
                </a:solidFill>
                <a:latin typeface="Arimo"/>
                <a:ea typeface="Arimo"/>
                <a:cs typeface="Arimo"/>
                <a:sym typeface="Arimo"/>
              </a:rPr>
              <a:t>U nespavosti je první volbou terapie, ne tableta.</a:t>
            </a:r>
          </a:p>
        </p:txBody>
      </p:sp>
      <p:sp>
        <p:nvSpPr>
          <p:cNvPr name="TextBox 4" id="4"/>
          <p:cNvSpPr txBox="true"/>
          <p:nvPr/>
        </p:nvSpPr>
        <p:spPr>
          <a:xfrm rot="0">
            <a:off x="1168403" y="6693722"/>
            <a:ext cx="13880468" cy="980427"/>
          </a:xfrm>
          <a:prstGeom prst="rect">
            <a:avLst/>
          </a:prstGeom>
        </p:spPr>
        <p:txBody>
          <a:bodyPr anchor="t" rtlCol="false" tIns="0" lIns="0" bIns="0" rIns="0">
            <a:spAutoFit/>
          </a:bodyPr>
          <a:lstStyle/>
          <a:p>
            <a:pPr algn="l">
              <a:lnSpc>
                <a:spcPts val="3452"/>
              </a:lnSpc>
            </a:pPr>
            <a:r>
              <a:rPr lang="en-US" sz="2550">
                <a:solidFill>
                  <a:srgbClr val="6B4B7D"/>
                </a:solidFill>
                <a:latin typeface="Arimo"/>
                <a:ea typeface="Arimo"/>
                <a:cs typeface="Arimo"/>
                <a:sym typeface="Arimo"/>
              </a:rPr>
              <a:t>Kognitivně behaviorální terapie insomnie má účinek srovnatelný s léky a </a:t>
            </a:r>
            <a:r>
              <a:rPr lang="en-US" sz="2550">
                <a:solidFill>
                  <a:srgbClr val="401252"/>
                </a:solidFill>
                <a:latin typeface="Arimo"/>
                <a:ea typeface="Arimo"/>
                <a:cs typeface="Arimo"/>
                <a:sym typeface="Arimo"/>
              </a:rPr>
              <a:t>na rozdíl od nich vydrží i po ukončení </a:t>
            </a:r>
            <a:r>
              <a:rPr lang="en-US" sz="2550">
                <a:solidFill>
                  <a:srgbClr val="6B4B7D"/>
                </a:solidFill>
                <a:latin typeface="Arimo"/>
                <a:ea typeface="Arimo"/>
                <a:cs typeface="Arimo"/>
                <a:sym typeface="Arimo"/>
              </a:rPr>
              <a:t>. Existuje i v digitální podobě.</a:t>
            </a:r>
          </a:p>
        </p:txBody>
      </p:sp>
      <p:grpSp>
        <p:nvGrpSpPr>
          <p:cNvPr name="Group 5" id="5"/>
          <p:cNvGrpSpPr/>
          <p:nvPr/>
        </p:nvGrpSpPr>
        <p:grpSpPr>
          <a:xfrm rot="0">
            <a:off x="14249400" y="1241079"/>
            <a:ext cx="381000" cy="381000"/>
            <a:chOff x="0" y="0"/>
            <a:chExt cx="508000" cy="508000"/>
          </a:xfrm>
        </p:grpSpPr>
        <p:sp>
          <p:nvSpPr>
            <p:cNvPr name="Freeform 6" id="6"/>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6D2A8C"/>
            </a:solidFill>
          </p:spPr>
        </p:sp>
      </p:grpSp>
      <p:grpSp>
        <p:nvGrpSpPr>
          <p:cNvPr name="Group 7" id="7"/>
          <p:cNvGrpSpPr/>
          <p:nvPr/>
        </p:nvGrpSpPr>
        <p:grpSpPr>
          <a:xfrm rot="0">
            <a:off x="14211300" y="1241079"/>
            <a:ext cx="457200" cy="419100"/>
            <a:chOff x="0" y="0"/>
            <a:chExt cx="609600" cy="558800"/>
          </a:xfrm>
        </p:grpSpPr>
        <p:sp>
          <p:nvSpPr>
            <p:cNvPr name="Freeform 8" id="8"/>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3">
                <a:alphaModFix amt="0"/>
              </a:blip>
              <a:stretch>
                <a:fillRect l="-67611" t="0" r="-67611" b="0"/>
              </a:stretch>
            </a:blipFill>
          </p:spPr>
        </p:sp>
        <p:sp>
          <p:nvSpPr>
            <p:cNvPr name="TextBox 9" id="9"/>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FFFFFF"/>
                  </a:solidFill>
                  <a:latin typeface="Arimo"/>
                  <a:ea typeface="Arimo"/>
                  <a:cs typeface="Arimo"/>
                  <a:sym typeface="Arimo"/>
                </a:rPr>
                <a:t>A</a:t>
              </a:r>
            </a:p>
          </p:txBody>
        </p:sp>
      </p:grpSp>
      <p:sp>
        <p:nvSpPr>
          <p:cNvPr name="TextBox 10" id="10"/>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PRVNÍ VOLBA U INSOMNIE</a:t>
            </a:r>
          </a:p>
        </p:txBody>
      </p:sp>
      <p:sp>
        <p:nvSpPr>
          <p:cNvPr name="TextBox 11" id="11"/>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Pokud spánek boří noční pocení, léčte primárně ty. Bez toho KBT-I naráží.</a:t>
            </a:r>
          </a:p>
        </p:txBody>
      </p:sp>
      <p:sp>
        <p:nvSpPr>
          <p:cNvPr name="TextBox 12" id="12"/>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29</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2137267"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MÝTUS A FAKT</a:t>
            </a:r>
          </a:p>
        </p:txBody>
      </p:sp>
      <p:sp>
        <p:nvSpPr>
          <p:cNvPr name="TextBox 3" id="3"/>
          <p:cNvSpPr txBox="true"/>
          <p:nvPr/>
        </p:nvSpPr>
        <p:spPr>
          <a:xfrm rot="0">
            <a:off x="1168403" y="1901828"/>
            <a:ext cx="14617703" cy="702935"/>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Hormonální léčba a rakovina prsu.</a:t>
            </a:r>
          </a:p>
        </p:txBody>
      </p:sp>
      <p:grpSp>
        <p:nvGrpSpPr>
          <p:cNvPr name="Group 4" id="4"/>
          <p:cNvGrpSpPr/>
          <p:nvPr/>
        </p:nvGrpSpPr>
        <p:grpSpPr>
          <a:xfrm rot="0">
            <a:off x="14249400" y="1241079"/>
            <a:ext cx="381000" cy="381000"/>
            <a:chOff x="0" y="0"/>
            <a:chExt cx="508000" cy="508000"/>
          </a:xfrm>
        </p:grpSpPr>
        <p:sp>
          <p:nvSpPr>
            <p:cNvPr name="Freeform 5" id="5"/>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6D2A8C"/>
            </a:solidFill>
          </p:spPr>
        </p:sp>
      </p:grpSp>
      <p:grpSp>
        <p:nvGrpSpPr>
          <p:cNvPr name="Group 6" id="6"/>
          <p:cNvGrpSpPr/>
          <p:nvPr/>
        </p:nvGrpSpPr>
        <p:grpSpPr>
          <a:xfrm rot="0">
            <a:off x="14211300" y="1241079"/>
            <a:ext cx="457200" cy="419100"/>
            <a:chOff x="0" y="0"/>
            <a:chExt cx="609600" cy="558800"/>
          </a:xfrm>
        </p:grpSpPr>
        <p:sp>
          <p:nvSpPr>
            <p:cNvPr name="Freeform 7" id="7"/>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3">
                <a:alphaModFix amt="0"/>
              </a:blip>
              <a:stretch>
                <a:fillRect l="-67611" t="0" r="-67611" b="0"/>
              </a:stretch>
            </a:blipFill>
          </p:spPr>
        </p:sp>
        <p:sp>
          <p:nvSpPr>
            <p:cNvPr name="TextBox 8" id="8"/>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FFFFFF"/>
                  </a:solidFill>
                  <a:latin typeface="Arimo"/>
                  <a:ea typeface="Arimo"/>
                  <a:cs typeface="Arimo"/>
                  <a:sym typeface="Arimo"/>
                </a:rPr>
                <a:t>A</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SHODA DOPORUČENÍ, INDIVIDUÁLNÍ RIZIKO</a:t>
            </a:r>
          </a:p>
        </p:txBody>
      </p:sp>
      <p:grpSp>
        <p:nvGrpSpPr>
          <p:cNvPr name="Group 10" id="10"/>
          <p:cNvGrpSpPr/>
          <p:nvPr/>
        </p:nvGrpSpPr>
        <p:grpSpPr>
          <a:xfrm rot="0">
            <a:off x="1133475" y="4600575"/>
            <a:ext cx="7753350" cy="2169909"/>
            <a:chOff x="0" y="0"/>
            <a:chExt cx="10337800" cy="2893212"/>
          </a:xfrm>
        </p:grpSpPr>
        <p:sp>
          <p:nvSpPr>
            <p:cNvPr name="Freeform 11" id="11"/>
            <p:cNvSpPr/>
            <p:nvPr/>
          </p:nvSpPr>
          <p:spPr>
            <a:xfrm flipH="false" flipV="false" rot="0">
              <a:off x="0" y="0"/>
              <a:ext cx="10337800" cy="2893314"/>
            </a:xfrm>
            <a:custGeom>
              <a:avLst/>
              <a:gdLst/>
              <a:ahLst/>
              <a:cxnLst/>
              <a:rect r="r" b="b" t="t" l="l"/>
              <a:pathLst>
                <a:path h="2893314" w="10337800">
                  <a:moveTo>
                    <a:pt x="0" y="153797"/>
                  </a:moveTo>
                  <a:cubicBezTo>
                    <a:pt x="0" y="68834"/>
                    <a:pt x="68834" y="0"/>
                    <a:pt x="153797" y="0"/>
                  </a:cubicBezTo>
                  <a:lnTo>
                    <a:pt x="10184003" y="0"/>
                  </a:lnTo>
                  <a:cubicBezTo>
                    <a:pt x="10268966" y="0"/>
                    <a:pt x="10337800" y="68834"/>
                    <a:pt x="10337800" y="153797"/>
                  </a:cubicBezTo>
                  <a:lnTo>
                    <a:pt x="10337800" y="2739517"/>
                  </a:lnTo>
                  <a:cubicBezTo>
                    <a:pt x="10337800" y="2824480"/>
                    <a:pt x="10268966" y="2893314"/>
                    <a:pt x="10184003" y="2893314"/>
                  </a:cubicBezTo>
                  <a:lnTo>
                    <a:pt x="153797" y="2893314"/>
                  </a:lnTo>
                  <a:cubicBezTo>
                    <a:pt x="68834" y="2893187"/>
                    <a:pt x="0" y="2824353"/>
                    <a:pt x="0" y="2739517"/>
                  </a:cubicBezTo>
                  <a:close/>
                </a:path>
              </a:pathLst>
            </a:custGeom>
            <a:blipFill>
              <a:blip r:embed="rId3">
                <a:alphaModFix amt="0"/>
              </a:blip>
              <a:stretch>
                <a:fillRect l="0" t="-19621" r="0" b="-19618"/>
              </a:stretch>
            </a:blipFill>
            <a:ln w="19050" cap="sq">
              <a:solidFill>
                <a:srgbClr val="CDB3DC"/>
              </a:solidFill>
              <a:prstDash val="dash"/>
              <a:miter/>
            </a:ln>
          </p:spPr>
        </p:sp>
      </p:grpSp>
      <p:sp>
        <p:nvSpPr>
          <p:cNvPr name="TextBox 12" id="12"/>
          <p:cNvSpPr txBox="true"/>
          <p:nvPr/>
        </p:nvSpPr>
        <p:spPr>
          <a:xfrm rot="0">
            <a:off x="1682753" y="5102228"/>
            <a:ext cx="6855971"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MÝTUS</a:t>
            </a:r>
          </a:p>
        </p:txBody>
      </p:sp>
      <p:sp>
        <p:nvSpPr>
          <p:cNvPr name="TextBox 13" id="13"/>
          <p:cNvSpPr txBox="true"/>
          <p:nvPr/>
        </p:nvSpPr>
        <p:spPr>
          <a:xfrm rot="0">
            <a:off x="1682753" y="5746433"/>
            <a:ext cx="7325363" cy="493833"/>
          </a:xfrm>
          <a:prstGeom prst="rect">
            <a:avLst/>
          </a:prstGeom>
        </p:spPr>
        <p:txBody>
          <a:bodyPr anchor="t" rtlCol="false" tIns="0" lIns="0" bIns="0" rIns="0">
            <a:spAutoFit/>
          </a:bodyPr>
          <a:lstStyle/>
          <a:p>
            <a:pPr algn="l">
              <a:lnSpc>
                <a:spcPts val="3366"/>
              </a:lnSpc>
            </a:pPr>
            <a:r>
              <a:rPr lang="en-US" sz="2475">
                <a:solidFill>
                  <a:srgbClr val="6B4B7D"/>
                </a:solidFill>
                <a:latin typeface="Arimo"/>
                <a:ea typeface="Arimo"/>
                <a:cs typeface="Arimo"/>
                <a:sym typeface="Arimo"/>
              </a:rPr>
              <a:t>„Hormonální léčba způsobuje rakovinu prsu.“</a:t>
            </a:r>
          </a:p>
        </p:txBody>
      </p:sp>
      <p:grpSp>
        <p:nvGrpSpPr>
          <p:cNvPr name="Group 14" id="14"/>
          <p:cNvGrpSpPr/>
          <p:nvPr/>
        </p:nvGrpSpPr>
        <p:grpSpPr>
          <a:xfrm rot="0">
            <a:off x="9410700" y="4610100"/>
            <a:ext cx="7734300" cy="3948408"/>
            <a:chOff x="0" y="0"/>
            <a:chExt cx="10312400" cy="5264544"/>
          </a:xfrm>
        </p:grpSpPr>
        <p:sp>
          <p:nvSpPr>
            <p:cNvPr name="Freeform 15" id="15"/>
            <p:cNvSpPr/>
            <p:nvPr/>
          </p:nvSpPr>
          <p:spPr>
            <a:xfrm flipH="false" flipV="false" rot="0">
              <a:off x="0" y="0"/>
              <a:ext cx="10312400" cy="5264531"/>
            </a:xfrm>
            <a:custGeom>
              <a:avLst/>
              <a:gdLst/>
              <a:ahLst/>
              <a:cxnLst/>
              <a:rect r="r" b="b" t="t" l="l"/>
              <a:pathLst>
                <a:path h="5264531" w="10312400">
                  <a:moveTo>
                    <a:pt x="0" y="152400"/>
                  </a:moveTo>
                  <a:cubicBezTo>
                    <a:pt x="0" y="68199"/>
                    <a:pt x="68199" y="0"/>
                    <a:pt x="152400" y="0"/>
                  </a:cubicBezTo>
                  <a:lnTo>
                    <a:pt x="10160000" y="0"/>
                  </a:lnTo>
                  <a:cubicBezTo>
                    <a:pt x="10244201" y="0"/>
                    <a:pt x="10312400" y="68199"/>
                    <a:pt x="10312400" y="152400"/>
                  </a:cubicBezTo>
                  <a:lnTo>
                    <a:pt x="10312400" y="5112131"/>
                  </a:lnTo>
                  <a:cubicBezTo>
                    <a:pt x="10312400" y="5196332"/>
                    <a:pt x="10244201" y="5264531"/>
                    <a:pt x="10160000" y="5264531"/>
                  </a:cubicBezTo>
                  <a:lnTo>
                    <a:pt x="152400" y="5264531"/>
                  </a:lnTo>
                  <a:cubicBezTo>
                    <a:pt x="68199" y="5264531"/>
                    <a:pt x="0" y="5196332"/>
                    <a:pt x="0" y="5112131"/>
                  </a:cubicBezTo>
                  <a:close/>
                </a:path>
              </a:pathLst>
            </a:custGeom>
            <a:solidFill>
              <a:srgbClr val="F4ECFA"/>
            </a:solidFill>
          </p:spPr>
        </p:sp>
      </p:grpSp>
      <p:sp>
        <p:nvSpPr>
          <p:cNvPr name="TextBox 16" id="16"/>
          <p:cNvSpPr txBox="true"/>
          <p:nvPr/>
        </p:nvSpPr>
        <p:spPr>
          <a:xfrm rot="0">
            <a:off x="9931403" y="5083178"/>
            <a:ext cx="6895214"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FAKT</a:t>
            </a:r>
          </a:p>
        </p:txBody>
      </p:sp>
      <p:sp>
        <p:nvSpPr>
          <p:cNvPr name="TextBox 17" id="17"/>
          <p:cNvSpPr txBox="true"/>
          <p:nvPr/>
        </p:nvSpPr>
        <p:spPr>
          <a:xfrm rot="0">
            <a:off x="9931403" y="5727383"/>
            <a:ext cx="6895214" cy="2329482"/>
          </a:xfrm>
          <a:prstGeom prst="rect">
            <a:avLst/>
          </a:prstGeom>
        </p:spPr>
        <p:txBody>
          <a:bodyPr anchor="t" rtlCol="false" tIns="0" lIns="0" bIns="0" rIns="0">
            <a:spAutoFit/>
          </a:bodyPr>
          <a:lstStyle/>
          <a:p>
            <a:pPr algn="l">
              <a:lnSpc>
                <a:spcPts val="3366"/>
              </a:lnSpc>
            </a:pPr>
            <a:r>
              <a:rPr lang="en-US" sz="2475">
                <a:solidFill>
                  <a:srgbClr val="401252"/>
                </a:solidFill>
                <a:latin typeface="Arimo"/>
                <a:ea typeface="Arimo"/>
                <a:cs typeface="Arimo"/>
                <a:sym typeface="Arimo"/>
              </a:rPr>
              <a:t>Záleží na typu, délce a věku zahájení. Kombinovaná léčba riziko </a:t>
            </a:r>
            <a:r>
              <a:rPr lang="en-US" sz="2475" b="true">
                <a:solidFill>
                  <a:srgbClr val="401252"/>
                </a:solidFill>
                <a:latin typeface="Arimo Bold"/>
                <a:ea typeface="Arimo Bold"/>
                <a:cs typeface="Arimo Bold"/>
                <a:sym typeface="Arimo Bold"/>
              </a:rPr>
              <a:t>mírně zvyšuje s délkou užívání </a:t>
            </a:r>
            <a:r>
              <a:rPr lang="en-US" sz="2475">
                <a:solidFill>
                  <a:srgbClr val="401252"/>
                </a:solidFill>
                <a:latin typeface="Arimo"/>
                <a:ea typeface="Arimo"/>
                <a:cs typeface="Arimo"/>
                <a:sym typeface="Arimo"/>
              </a:rPr>
              <a:t>, samotný estrogen u žen po odstranění dělohy ne. U zatěžujících příznaků do 60 let přínos zpravidla převáží.</a:t>
            </a:r>
          </a:p>
        </p:txBody>
      </p:sp>
      <p:sp>
        <p:nvSpPr>
          <p:cNvPr name="TextBox 18" id="18"/>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NICE NG23, 2026 · The Menopause Society, hormone therapy position statement 2022</a:t>
            </a:r>
          </a:p>
        </p:txBody>
      </p:sp>
      <p:sp>
        <p:nvSpPr>
          <p:cNvPr name="TextBox 19" id="19"/>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30</a:t>
            </a: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01252"/>
            </a:solidFill>
          </p:spPr>
        </p:sp>
      </p:grpSp>
      <p:sp>
        <p:nvSpPr>
          <p:cNvPr name="TextBox 4" id="4"/>
          <p:cNvSpPr txBox="true"/>
          <p:nvPr/>
        </p:nvSpPr>
        <p:spPr>
          <a:xfrm rot="0">
            <a:off x="1168403" y="1292228"/>
            <a:ext cx="5936437" cy="393383"/>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ODPOVĚĎ · CO Z TOHO DOOPRAVDY FUNGUJE?</a:t>
            </a:r>
          </a:p>
        </p:txBody>
      </p:sp>
      <p:sp>
        <p:nvSpPr>
          <p:cNvPr name="TextBox 5" id="5"/>
          <p:cNvSpPr txBox="true"/>
          <p:nvPr/>
        </p:nvSpPr>
        <p:spPr>
          <a:xfrm rot="0">
            <a:off x="1168403" y="4679775"/>
            <a:ext cx="14665328" cy="1610716"/>
          </a:xfrm>
          <a:prstGeom prst="rect">
            <a:avLst/>
          </a:prstGeom>
        </p:spPr>
        <p:txBody>
          <a:bodyPr anchor="t" rtlCol="false" tIns="0" lIns="0" bIns="0" rIns="0">
            <a:spAutoFit/>
          </a:bodyPr>
          <a:lstStyle/>
          <a:p>
            <a:pPr algn="l">
              <a:lnSpc>
                <a:spcPts val="6263"/>
              </a:lnSpc>
            </a:pPr>
            <a:r>
              <a:rPr lang="en-US" sz="6300" spc="-175">
                <a:solidFill>
                  <a:srgbClr val="FFFFFF"/>
                </a:solidFill>
                <a:latin typeface="Arimo"/>
                <a:ea typeface="Arimo"/>
                <a:cs typeface="Arimo"/>
                <a:sym typeface="Arimo"/>
              </a:rPr>
              <a:t>Na příznaky hormony, na prevenci pohyb, spánek a strava.</a:t>
            </a:r>
          </a:p>
        </p:txBody>
      </p:sp>
      <p:sp>
        <p:nvSpPr>
          <p:cNvPr name="TextBox 6" id="6"/>
          <p:cNvSpPr txBox="true"/>
          <p:nvPr/>
        </p:nvSpPr>
        <p:spPr>
          <a:xfrm rot="0">
            <a:off x="1168403" y="6674672"/>
            <a:ext cx="13684253" cy="980427"/>
          </a:xfrm>
          <a:prstGeom prst="rect">
            <a:avLst/>
          </a:prstGeom>
        </p:spPr>
        <p:txBody>
          <a:bodyPr anchor="t" rtlCol="false" tIns="0" lIns="0" bIns="0" rIns="0">
            <a:spAutoFit/>
          </a:bodyPr>
          <a:lstStyle/>
          <a:p>
            <a:pPr algn="l">
              <a:lnSpc>
                <a:spcPts val="3452"/>
              </a:lnSpc>
            </a:pPr>
            <a:r>
              <a:rPr lang="en-US" sz="2550">
                <a:solidFill>
                  <a:srgbClr val="C9AEDA"/>
                </a:solidFill>
                <a:latin typeface="Arimo"/>
                <a:ea typeface="Arimo"/>
                <a:cs typeface="Arimo"/>
                <a:sym typeface="Arimo"/>
              </a:rPr>
              <a:t>Zaměňovat se to nedá. Hormonální léčba je nejúčinnější na návaly a na urogenitální obtíže. Pohyb, spánek a strava mění dlouhodobé riziko, ale návaly nespraví.</a:t>
            </a:r>
          </a:p>
        </p:txBody>
      </p:sp>
      <p:sp>
        <p:nvSpPr>
          <p:cNvPr name="TextBox 7" id="7"/>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31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222" t="0" r="-223"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401252">
                    <a:alpha val="97000"/>
                  </a:srgbClr>
                </a:gs>
                <a:gs pos="48000">
                  <a:srgbClr val="401252">
                    <a:alpha val="91000"/>
                  </a:srgbClr>
                </a:gs>
                <a:gs pos="80000">
                  <a:srgbClr val="401252">
                    <a:alpha val="40000"/>
                  </a:srgbClr>
                </a:gs>
                <a:gs pos="100000">
                  <a:srgbClr val="401252">
                    <a:alpha val="12000"/>
                  </a:srgbClr>
                </a:gs>
              </a:gsLst>
              <a:lin ang="0"/>
            </a:gradFill>
          </p:spPr>
        </p:sp>
      </p:grpSp>
      <p:sp>
        <p:nvSpPr>
          <p:cNvPr name="TextBox 6" id="6"/>
          <p:cNvSpPr txBox="true"/>
          <p:nvPr/>
        </p:nvSpPr>
        <p:spPr>
          <a:xfrm rot="0">
            <a:off x="1168403" y="1292228"/>
            <a:ext cx="3100445" cy="393383"/>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ČÁST ČTVRTÁ · VÝŽIVA</a:t>
            </a:r>
          </a:p>
        </p:txBody>
      </p:sp>
      <p:sp>
        <p:nvSpPr>
          <p:cNvPr name="TextBox 7" id="7"/>
          <p:cNvSpPr txBox="true"/>
          <p:nvPr/>
        </p:nvSpPr>
        <p:spPr>
          <a:xfrm rot="0">
            <a:off x="1168403" y="5057499"/>
            <a:ext cx="13989053" cy="883768"/>
          </a:xfrm>
          <a:prstGeom prst="rect">
            <a:avLst/>
          </a:prstGeom>
        </p:spPr>
        <p:txBody>
          <a:bodyPr anchor="t" rtlCol="false" tIns="0" lIns="0" bIns="0" rIns="0">
            <a:spAutoFit/>
          </a:bodyPr>
          <a:lstStyle/>
          <a:p>
            <a:pPr algn="l">
              <a:lnSpc>
                <a:spcPts val="7490"/>
              </a:lnSpc>
            </a:pPr>
            <a:r>
              <a:rPr lang="en-US" sz="7650" spc="-214">
                <a:solidFill>
                  <a:srgbClr val="FFFFFF"/>
                </a:solidFill>
                <a:latin typeface="Arimo"/>
                <a:ea typeface="Arimo"/>
                <a:cs typeface="Arimo"/>
                <a:sym typeface="Arimo"/>
              </a:rPr>
              <a:t>Existuje jídlo, které to spraví?</a:t>
            </a:r>
          </a:p>
        </p:txBody>
      </p:sp>
      <p:sp>
        <p:nvSpPr>
          <p:cNvPr name="TextBox 8" id="8"/>
          <p:cNvSpPr txBox="true"/>
          <p:nvPr/>
        </p:nvSpPr>
        <p:spPr>
          <a:xfrm rot="0">
            <a:off x="1168403" y="6325448"/>
            <a:ext cx="12114533" cy="980427"/>
          </a:xfrm>
          <a:prstGeom prst="rect">
            <a:avLst/>
          </a:prstGeom>
        </p:spPr>
        <p:txBody>
          <a:bodyPr anchor="t" rtlCol="false" tIns="0" lIns="0" bIns="0" rIns="0">
            <a:spAutoFit/>
          </a:bodyPr>
          <a:lstStyle/>
          <a:p>
            <a:pPr algn="l">
              <a:lnSpc>
                <a:spcPts val="3452"/>
              </a:lnSpc>
            </a:pPr>
            <a:r>
              <a:rPr lang="en-US" sz="2550">
                <a:solidFill>
                  <a:srgbClr val="C9AEDA"/>
                </a:solidFill>
                <a:latin typeface="Arimo"/>
                <a:ea typeface="Arimo"/>
                <a:cs typeface="Arimo"/>
                <a:sym typeface="Arimo"/>
              </a:rPr>
              <a:t>Existuje strava pro </a:t>
            </a:r>
            <a:r>
              <a:rPr lang="en-US" sz="2550">
                <a:solidFill>
                  <a:srgbClr val="FFFFFF"/>
                </a:solidFill>
                <a:latin typeface="Arimo"/>
                <a:ea typeface="Arimo"/>
                <a:cs typeface="Arimo"/>
                <a:sym typeface="Arimo"/>
              </a:rPr>
              <a:t>srdce, sval, kost a nutriční adekvátnost </a:t>
            </a:r>
            <a:r>
              <a:rPr lang="en-US" sz="2550">
                <a:solidFill>
                  <a:srgbClr val="C9AEDA"/>
                </a:solidFill>
                <a:latin typeface="Arimo"/>
                <a:ea typeface="Arimo"/>
                <a:cs typeface="Arimo"/>
                <a:sym typeface="Arimo"/>
              </a:rPr>
              <a:t>. Méně atraktivní nabídka, ale pravdivější.</a:t>
            </a:r>
          </a:p>
        </p:txBody>
      </p:sp>
      <p:sp>
        <p:nvSpPr>
          <p:cNvPr name="TextBox 9" id="9"/>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32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3857635"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RÁMEC VÝŽIVY</a:t>
            </a:r>
          </a:p>
        </p:txBody>
      </p:sp>
      <p:sp>
        <p:nvSpPr>
          <p:cNvPr name="TextBox 3" id="3"/>
          <p:cNvSpPr txBox="true"/>
          <p:nvPr/>
        </p:nvSpPr>
        <p:spPr>
          <a:xfrm rot="0">
            <a:off x="1168403" y="1901828"/>
            <a:ext cx="13684253" cy="1485252"/>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Výživa má v tomto období čtyři cíle. Hormony mezi nimi nejsou.</a:t>
            </a:r>
          </a:p>
        </p:txBody>
      </p:sp>
      <p:grpSp>
        <p:nvGrpSpPr>
          <p:cNvPr name="Group 4" id="4"/>
          <p:cNvGrpSpPr/>
          <p:nvPr/>
        </p:nvGrpSpPr>
        <p:grpSpPr>
          <a:xfrm rot="0">
            <a:off x="14239875" y="1190625"/>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219200"/>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81284"/>
            <a:ext cx="2568578" cy="23778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PŘEHLEDY 2026</a:t>
            </a:r>
          </a:p>
        </p:txBody>
      </p:sp>
      <p:sp>
        <p:nvSpPr>
          <p:cNvPr name="TextBox 10" id="10"/>
          <p:cNvSpPr txBox="true"/>
          <p:nvPr/>
        </p:nvSpPr>
        <p:spPr>
          <a:xfrm rot="0">
            <a:off x="1168403" y="5740403"/>
            <a:ext cx="3598802" cy="861289"/>
          </a:xfrm>
          <a:prstGeom prst="rect">
            <a:avLst/>
          </a:prstGeom>
        </p:spPr>
        <p:txBody>
          <a:bodyPr anchor="t" rtlCol="false" tIns="0" lIns="0" bIns="0" rIns="0">
            <a:spAutoFit/>
          </a:bodyPr>
          <a:lstStyle/>
          <a:p>
            <a:pPr algn="l">
              <a:lnSpc>
                <a:spcPts val="5418"/>
              </a:lnSpc>
            </a:pPr>
            <a:r>
              <a:rPr lang="en-US" sz="3600" spc="-107">
                <a:solidFill>
                  <a:srgbClr val="6D2A8C"/>
                </a:solidFill>
                <a:latin typeface="Arimo"/>
                <a:ea typeface="Arimo"/>
                <a:cs typeface="Arimo"/>
                <a:sym typeface="Arimo"/>
              </a:rPr>
              <a:t>01</a:t>
            </a:r>
          </a:p>
        </p:txBody>
      </p:sp>
      <p:sp>
        <p:nvSpPr>
          <p:cNvPr name="TextBox 11" id="11"/>
          <p:cNvSpPr txBox="true"/>
          <p:nvPr/>
        </p:nvSpPr>
        <p:spPr>
          <a:xfrm rot="0">
            <a:off x="1168403" y="6804889"/>
            <a:ext cx="3598802" cy="810168"/>
          </a:xfrm>
          <a:prstGeom prst="rect">
            <a:avLst/>
          </a:prstGeom>
        </p:spPr>
        <p:txBody>
          <a:bodyPr anchor="t" rtlCol="false" tIns="0" lIns="0" bIns="0" rIns="0">
            <a:spAutoFit/>
          </a:bodyPr>
          <a:lstStyle/>
          <a:p>
            <a:pPr algn="l">
              <a:lnSpc>
                <a:spcPts val="3010"/>
              </a:lnSpc>
            </a:pPr>
            <a:r>
              <a:rPr lang="en-US" sz="2700">
                <a:solidFill>
                  <a:srgbClr val="401252"/>
                </a:solidFill>
                <a:latin typeface="Arimo"/>
                <a:ea typeface="Arimo"/>
                <a:cs typeface="Arimo"/>
                <a:sym typeface="Arimo"/>
              </a:rPr>
              <a:t>Kardiometabolické zdraví</a:t>
            </a:r>
          </a:p>
        </p:txBody>
      </p:sp>
      <p:sp>
        <p:nvSpPr>
          <p:cNvPr name="TextBox 12" id="12"/>
          <p:cNvSpPr txBox="true"/>
          <p:nvPr/>
        </p:nvSpPr>
        <p:spPr>
          <a:xfrm rot="0">
            <a:off x="1168403" y="7723013"/>
            <a:ext cx="3846833" cy="473078"/>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Lipidy, tlak, glykemie.</a:t>
            </a:r>
          </a:p>
        </p:txBody>
      </p:sp>
      <p:sp>
        <p:nvSpPr>
          <p:cNvPr name="TextBox 13" id="13"/>
          <p:cNvSpPr txBox="true"/>
          <p:nvPr/>
        </p:nvSpPr>
        <p:spPr>
          <a:xfrm rot="0">
            <a:off x="5321303" y="5740403"/>
            <a:ext cx="3598802" cy="861289"/>
          </a:xfrm>
          <a:prstGeom prst="rect">
            <a:avLst/>
          </a:prstGeom>
        </p:spPr>
        <p:txBody>
          <a:bodyPr anchor="t" rtlCol="false" tIns="0" lIns="0" bIns="0" rIns="0">
            <a:spAutoFit/>
          </a:bodyPr>
          <a:lstStyle/>
          <a:p>
            <a:pPr algn="l">
              <a:lnSpc>
                <a:spcPts val="5418"/>
              </a:lnSpc>
            </a:pPr>
            <a:r>
              <a:rPr lang="en-US" sz="3600" spc="-107">
                <a:solidFill>
                  <a:srgbClr val="6D2A8C"/>
                </a:solidFill>
                <a:latin typeface="Arimo"/>
                <a:ea typeface="Arimo"/>
                <a:cs typeface="Arimo"/>
                <a:sym typeface="Arimo"/>
              </a:rPr>
              <a:t>02</a:t>
            </a:r>
          </a:p>
        </p:txBody>
      </p:sp>
      <p:sp>
        <p:nvSpPr>
          <p:cNvPr name="TextBox 14" id="14"/>
          <p:cNvSpPr txBox="true"/>
          <p:nvPr/>
        </p:nvSpPr>
        <p:spPr>
          <a:xfrm rot="0">
            <a:off x="5321303" y="6804889"/>
            <a:ext cx="3846833" cy="398736"/>
          </a:xfrm>
          <a:prstGeom prst="rect">
            <a:avLst/>
          </a:prstGeom>
        </p:spPr>
        <p:txBody>
          <a:bodyPr anchor="t" rtlCol="false" tIns="0" lIns="0" bIns="0" rIns="0">
            <a:spAutoFit/>
          </a:bodyPr>
          <a:lstStyle/>
          <a:p>
            <a:pPr algn="l">
              <a:lnSpc>
                <a:spcPts val="3010"/>
              </a:lnSpc>
            </a:pPr>
            <a:r>
              <a:rPr lang="en-US" sz="2700">
                <a:solidFill>
                  <a:srgbClr val="401252"/>
                </a:solidFill>
                <a:latin typeface="Arimo"/>
                <a:ea typeface="Arimo"/>
                <a:cs typeface="Arimo"/>
                <a:sym typeface="Arimo"/>
              </a:rPr>
              <a:t>Sval a kost</a:t>
            </a:r>
          </a:p>
        </p:txBody>
      </p:sp>
      <p:sp>
        <p:nvSpPr>
          <p:cNvPr name="TextBox 15" id="15"/>
          <p:cNvSpPr txBox="true"/>
          <p:nvPr/>
        </p:nvSpPr>
        <p:spPr>
          <a:xfrm rot="0">
            <a:off x="5321303" y="7311580"/>
            <a:ext cx="3598802" cy="901703"/>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Bílkoviny, vápník, vitamin D.</a:t>
            </a:r>
          </a:p>
        </p:txBody>
      </p:sp>
      <p:sp>
        <p:nvSpPr>
          <p:cNvPr name="TextBox 16" id="16"/>
          <p:cNvSpPr txBox="true"/>
          <p:nvPr/>
        </p:nvSpPr>
        <p:spPr>
          <a:xfrm rot="0">
            <a:off x="9474203" y="5740403"/>
            <a:ext cx="3598802" cy="861289"/>
          </a:xfrm>
          <a:prstGeom prst="rect">
            <a:avLst/>
          </a:prstGeom>
        </p:spPr>
        <p:txBody>
          <a:bodyPr anchor="t" rtlCol="false" tIns="0" lIns="0" bIns="0" rIns="0">
            <a:spAutoFit/>
          </a:bodyPr>
          <a:lstStyle/>
          <a:p>
            <a:pPr algn="l">
              <a:lnSpc>
                <a:spcPts val="5418"/>
              </a:lnSpc>
            </a:pPr>
            <a:r>
              <a:rPr lang="en-US" sz="3600" spc="-107">
                <a:solidFill>
                  <a:srgbClr val="6D2A8C"/>
                </a:solidFill>
                <a:latin typeface="Arimo"/>
                <a:ea typeface="Arimo"/>
                <a:cs typeface="Arimo"/>
                <a:sym typeface="Arimo"/>
              </a:rPr>
              <a:t>03</a:t>
            </a:r>
          </a:p>
        </p:txBody>
      </p:sp>
      <p:sp>
        <p:nvSpPr>
          <p:cNvPr name="TextBox 17" id="17"/>
          <p:cNvSpPr txBox="true"/>
          <p:nvPr/>
        </p:nvSpPr>
        <p:spPr>
          <a:xfrm rot="0">
            <a:off x="9474203" y="6804889"/>
            <a:ext cx="3846833" cy="398736"/>
          </a:xfrm>
          <a:prstGeom prst="rect">
            <a:avLst/>
          </a:prstGeom>
        </p:spPr>
        <p:txBody>
          <a:bodyPr anchor="t" rtlCol="false" tIns="0" lIns="0" bIns="0" rIns="0">
            <a:spAutoFit/>
          </a:bodyPr>
          <a:lstStyle/>
          <a:p>
            <a:pPr algn="l">
              <a:lnSpc>
                <a:spcPts val="3010"/>
              </a:lnSpc>
            </a:pPr>
            <a:r>
              <a:rPr lang="en-US" sz="2700">
                <a:solidFill>
                  <a:srgbClr val="401252"/>
                </a:solidFill>
                <a:latin typeface="Arimo"/>
                <a:ea typeface="Arimo"/>
                <a:cs typeface="Arimo"/>
                <a:sym typeface="Arimo"/>
              </a:rPr>
              <a:t>Tělesné složení</a:t>
            </a:r>
          </a:p>
        </p:txBody>
      </p:sp>
      <p:sp>
        <p:nvSpPr>
          <p:cNvPr name="TextBox 18" id="18"/>
          <p:cNvSpPr txBox="true"/>
          <p:nvPr/>
        </p:nvSpPr>
        <p:spPr>
          <a:xfrm rot="0">
            <a:off x="9474203" y="7311580"/>
            <a:ext cx="3846833" cy="473078"/>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Obvod pasu, ne váha.</a:t>
            </a:r>
          </a:p>
        </p:txBody>
      </p:sp>
      <p:sp>
        <p:nvSpPr>
          <p:cNvPr name="TextBox 19" id="19"/>
          <p:cNvSpPr txBox="true"/>
          <p:nvPr/>
        </p:nvSpPr>
        <p:spPr>
          <a:xfrm rot="0">
            <a:off x="13627103" y="5740403"/>
            <a:ext cx="3598802" cy="861289"/>
          </a:xfrm>
          <a:prstGeom prst="rect">
            <a:avLst/>
          </a:prstGeom>
        </p:spPr>
        <p:txBody>
          <a:bodyPr anchor="t" rtlCol="false" tIns="0" lIns="0" bIns="0" rIns="0">
            <a:spAutoFit/>
          </a:bodyPr>
          <a:lstStyle/>
          <a:p>
            <a:pPr algn="l">
              <a:lnSpc>
                <a:spcPts val="5418"/>
              </a:lnSpc>
            </a:pPr>
            <a:r>
              <a:rPr lang="en-US" sz="3600" spc="-107">
                <a:solidFill>
                  <a:srgbClr val="6D2A8C"/>
                </a:solidFill>
                <a:latin typeface="Arimo"/>
                <a:ea typeface="Arimo"/>
                <a:cs typeface="Arimo"/>
                <a:sym typeface="Arimo"/>
              </a:rPr>
              <a:t>04</a:t>
            </a:r>
          </a:p>
        </p:txBody>
      </p:sp>
      <p:sp>
        <p:nvSpPr>
          <p:cNvPr name="TextBox 20" id="20"/>
          <p:cNvSpPr txBox="true"/>
          <p:nvPr/>
        </p:nvSpPr>
        <p:spPr>
          <a:xfrm rot="0">
            <a:off x="13627103" y="6804889"/>
            <a:ext cx="3846833" cy="398736"/>
          </a:xfrm>
          <a:prstGeom prst="rect">
            <a:avLst/>
          </a:prstGeom>
        </p:spPr>
        <p:txBody>
          <a:bodyPr anchor="t" rtlCol="false" tIns="0" lIns="0" bIns="0" rIns="0">
            <a:spAutoFit/>
          </a:bodyPr>
          <a:lstStyle/>
          <a:p>
            <a:pPr algn="l">
              <a:lnSpc>
                <a:spcPts val="3010"/>
              </a:lnSpc>
            </a:pPr>
            <a:r>
              <a:rPr lang="en-US" sz="2700">
                <a:solidFill>
                  <a:srgbClr val="401252"/>
                </a:solidFill>
                <a:latin typeface="Arimo"/>
                <a:ea typeface="Arimo"/>
                <a:cs typeface="Arimo"/>
                <a:sym typeface="Arimo"/>
              </a:rPr>
              <a:t>Nutriční adekvátnost</a:t>
            </a:r>
          </a:p>
        </p:txBody>
      </p:sp>
      <p:sp>
        <p:nvSpPr>
          <p:cNvPr name="TextBox 21" id="21"/>
          <p:cNvSpPr txBox="true"/>
          <p:nvPr/>
        </p:nvSpPr>
        <p:spPr>
          <a:xfrm rot="0">
            <a:off x="13627103" y="7311580"/>
            <a:ext cx="3598802" cy="901703"/>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Pokrytí toho, co bývá nízké.</a:t>
            </a:r>
          </a:p>
        </p:txBody>
      </p:sp>
      <p:sp>
        <p:nvSpPr>
          <p:cNvPr name="TextBox 22" id="22"/>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Curr Nutr Rep 2026;15:69 · Baraut MC, Clin Nutr ESPEN 2026;75:103405</a:t>
            </a:r>
          </a:p>
        </p:txBody>
      </p:sp>
      <p:sp>
        <p:nvSpPr>
          <p:cNvPr name="TextBox 23" id="23"/>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33</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4645409"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VZOREC STRAVOVÁNÍ</a:t>
            </a:r>
          </a:p>
        </p:txBody>
      </p:sp>
      <p:sp>
        <p:nvSpPr>
          <p:cNvPr name="TextBox 3" id="3"/>
          <p:cNvSpPr txBox="true"/>
          <p:nvPr/>
        </p:nvSpPr>
        <p:spPr>
          <a:xfrm rot="0">
            <a:off x="1168403" y="1901828"/>
            <a:ext cx="13684253" cy="1485252"/>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Funguje vzorec stravování, ne jednotlivé potraviny.</a:t>
            </a:r>
          </a:p>
        </p:txBody>
      </p:sp>
      <p:grpSp>
        <p:nvGrpSpPr>
          <p:cNvPr name="Group 4" id="4"/>
          <p:cNvGrpSpPr/>
          <p:nvPr/>
        </p:nvGrpSpPr>
        <p:grpSpPr>
          <a:xfrm rot="0">
            <a:off x="14239875" y="134726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37583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06503"/>
            <a:ext cx="2406653" cy="700630"/>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SILNÉ NA METABOLISMUS, SLABÉ NA NÁVALY</a:t>
            </a:r>
          </a:p>
        </p:txBody>
      </p:sp>
      <p:grpSp>
        <p:nvGrpSpPr>
          <p:cNvPr name="Group 10" id="10"/>
          <p:cNvGrpSpPr/>
          <p:nvPr/>
        </p:nvGrpSpPr>
        <p:grpSpPr>
          <a:xfrm rot="0">
            <a:off x="6467475" y="5438775"/>
            <a:ext cx="9525" cy="2873054"/>
            <a:chOff x="0" y="0"/>
            <a:chExt cx="12700" cy="3830739"/>
          </a:xfrm>
        </p:grpSpPr>
        <p:sp>
          <p:nvSpPr>
            <p:cNvPr name="Freeform 11" id="11"/>
            <p:cNvSpPr/>
            <p:nvPr/>
          </p:nvSpPr>
          <p:spPr>
            <a:xfrm flipH="false" flipV="false" rot="0">
              <a:off x="0" y="0"/>
              <a:ext cx="12700" cy="3830701"/>
            </a:xfrm>
            <a:custGeom>
              <a:avLst/>
              <a:gdLst/>
              <a:ahLst/>
              <a:cxnLst/>
              <a:rect r="r" b="b" t="t" l="l"/>
              <a:pathLst>
                <a:path h="3830701" w="12700">
                  <a:moveTo>
                    <a:pt x="0" y="0"/>
                  </a:moveTo>
                  <a:lnTo>
                    <a:pt x="12700" y="0"/>
                  </a:lnTo>
                  <a:lnTo>
                    <a:pt x="12700" y="3830701"/>
                  </a:lnTo>
                  <a:lnTo>
                    <a:pt x="0" y="3830701"/>
                  </a:lnTo>
                  <a:close/>
                </a:path>
              </a:pathLst>
            </a:custGeom>
            <a:solidFill>
              <a:srgbClr val="CDB3DC"/>
            </a:solidFill>
          </p:spPr>
        </p:sp>
      </p:grpSp>
      <p:sp>
        <p:nvSpPr>
          <p:cNvPr name="TextBox 12" id="12"/>
          <p:cNvSpPr txBox="true"/>
          <p:nvPr/>
        </p:nvSpPr>
        <p:spPr>
          <a:xfrm rot="0">
            <a:off x="1168403" y="5397503"/>
            <a:ext cx="4727038"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CO JE PODLOŽENÉ </a:t>
            </a:r>
            <a:r>
              <a:rPr lang="en-US" sz="1650" spc="214">
                <a:solidFill>
                  <a:srgbClr val="6D2A8C"/>
                </a:solidFill>
                <a:latin typeface="Arimo"/>
                <a:ea typeface="Arimo"/>
                <a:cs typeface="Arimo"/>
                <a:sym typeface="Arimo"/>
              </a:rPr>
              <a:t>B</a:t>
            </a:r>
          </a:p>
        </p:txBody>
      </p:sp>
      <p:sp>
        <p:nvSpPr>
          <p:cNvPr name="TextBox 13" id="13"/>
          <p:cNvSpPr txBox="true"/>
          <p:nvPr/>
        </p:nvSpPr>
        <p:spPr>
          <a:xfrm rot="0">
            <a:off x="1168403" y="5994082"/>
            <a:ext cx="4727038" cy="18732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Středomořský vzorec: zelenina, luštěniny, celozrnné, olivový olej, ryby. Konzistentní efekt na </a:t>
            </a:r>
            <a:r>
              <a:rPr lang="en-US" sz="2400" b="true">
                <a:solidFill>
                  <a:srgbClr val="401252"/>
                </a:solidFill>
                <a:latin typeface="Arimo Bold"/>
                <a:ea typeface="Arimo Bold"/>
                <a:cs typeface="Arimo Bold"/>
                <a:sym typeface="Arimo Bold"/>
              </a:rPr>
              <a:t>lipidy, tlak a glykemii </a:t>
            </a:r>
            <a:r>
              <a:rPr lang="en-US" sz="2400">
                <a:solidFill>
                  <a:srgbClr val="6B4B7D"/>
                </a:solidFill>
                <a:latin typeface="Arimo"/>
                <a:ea typeface="Arimo"/>
                <a:cs typeface="Arimo"/>
                <a:sym typeface="Arimo"/>
              </a:rPr>
              <a:t>.</a:t>
            </a:r>
          </a:p>
        </p:txBody>
      </p:sp>
      <p:grpSp>
        <p:nvGrpSpPr>
          <p:cNvPr name="Group 14" id="14"/>
          <p:cNvGrpSpPr/>
          <p:nvPr/>
        </p:nvGrpSpPr>
        <p:grpSpPr>
          <a:xfrm rot="0">
            <a:off x="11801475" y="5438775"/>
            <a:ext cx="9525" cy="2873054"/>
            <a:chOff x="0" y="0"/>
            <a:chExt cx="12700" cy="3830739"/>
          </a:xfrm>
        </p:grpSpPr>
        <p:sp>
          <p:nvSpPr>
            <p:cNvPr name="Freeform 15" id="15"/>
            <p:cNvSpPr/>
            <p:nvPr/>
          </p:nvSpPr>
          <p:spPr>
            <a:xfrm flipH="false" flipV="false" rot="0">
              <a:off x="0" y="0"/>
              <a:ext cx="12700" cy="3830701"/>
            </a:xfrm>
            <a:custGeom>
              <a:avLst/>
              <a:gdLst/>
              <a:ahLst/>
              <a:cxnLst/>
              <a:rect r="r" b="b" t="t" l="l"/>
              <a:pathLst>
                <a:path h="3830701" w="12700">
                  <a:moveTo>
                    <a:pt x="0" y="0"/>
                  </a:moveTo>
                  <a:lnTo>
                    <a:pt x="12700" y="0"/>
                  </a:lnTo>
                  <a:lnTo>
                    <a:pt x="12700" y="3830701"/>
                  </a:lnTo>
                  <a:lnTo>
                    <a:pt x="0" y="3830701"/>
                  </a:lnTo>
                  <a:close/>
                </a:path>
              </a:pathLst>
            </a:custGeom>
            <a:solidFill>
              <a:srgbClr val="CDB3DC"/>
            </a:solidFill>
          </p:spPr>
        </p:sp>
      </p:grpSp>
      <p:sp>
        <p:nvSpPr>
          <p:cNvPr name="TextBox 16" id="16"/>
          <p:cNvSpPr txBox="true"/>
          <p:nvPr/>
        </p:nvSpPr>
        <p:spPr>
          <a:xfrm rot="0">
            <a:off x="7188203" y="5397503"/>
            <a:ext cx="4020664"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CO JE SKROMNÉ C</a:t>
            </a:r>
          </a:p>
        </p:txBody>
      </p:sp>
      <p:sp>
        <p:nvSpPr>
          <p:cNvPr name="TextBox 17" id="17"/>
          <p:cNvSpPr txBox="true"/>
          <p:nvPr/>
        </p:nvSpPr>
        <p:spPr>
          <a:xfrm rot="0">
            <a:off x="7188203" y="5994082"/>
            <a:ext cx="4020664" cy="23304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Vliv stravy na </a:t>
            </a:r>
            <a:r>
              <a:rPr lang="en-US" sz="2400" b="true">
                <a:solidFill>
                  <a:srgbClr val="401252"/>
                </a:solidFill>
                <a:latin typeface="Arimo Bold"/>
                <a:ea typeface="Arimo Bold"/>
                <a:cs typeface="Arimo Bold"/>
                <a:sym typeface="Arimo Bold"/>
              </a:rPr>
              <a:t>samotné návaly </a:t>
            </a:r>
            <a:r>
              <a:rPr lang="en-US" sz="2400">
                <a:solidFill>
                  <a:srgbClr val="6B4B7D"/>
                </a:solidFill>
                <a:latin typeface="Arimo"/>
                <a:ea typeface="Arimo"/>
                <a:cs typeface="Arimo"/>
                <a:sym typeface="Arimo"/>
              </a:rPr>
              <a:t>. Efekt je malý a nekonzistentní. Neslibujte si od jídelníčku úlevu od návalů.</a:t>
            </a:r>
          </a:p>
        </p:txBody>
      </p:sp>
      <p:sp>
        <p:nvSpPr>
          <p:cNvPr name="TextBox 18" id="18"/>
          <p:cNvSpPr txBox="true"/>
          <p:nvPr/>
        </p:nvSpPr>
        <p:spPr>
          <a:xfrm rot="0">
            <a:off x="12522203" y="5397503"/>
            <a:ext cx="4736849"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ALKOHOL ZVLÁŠŤ</a:t>
            </a:r>
          </a:p>
        </p:txBody>
      </p:sp>
      <p:sp>
        <p:nvSpPr>
          <p:cNvPr name="TextBox 19" id="19"/>
          <p:cNvSpPr txBox="true"/>
          <p:nvPr/>
        </p:nvSpPr>
        <p:spPr>
          <a:xfrm rot="0">
            <a:off x="12522203" y="5994082"/>
            <a:ext cx="4736849" cy="18732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Na návaly nejasné. Na </a:t>
            </a:r>
            <a:r>
              <a:rPr lang="en-US" sz="2400" b="true">
                <a:solidFill>
                  <a:srgbClr val="401252"/>
                </a:solidFill>
                <a:latin typeface="Arimo Bold"/>
                <a:ea typeface="Arimo Bold"/>
                <a:cs typeface="Arimo Bold"/>
                <a:sym typeface="Arimo Bold"/>
              </a:rPr>
              <a:t>riziko nádoru prsu a na spánek </a:t>
            </a:r>
            <a:r>
              <a:rPr lang="en-US" sz="2400">
                <a:solidFill>
                  <a:srgbClr val="6B4B7D"/>
                </a:solidFill>
                <a:latin typeface="Arimo"/>
                <a:ea typeface="Arimo"/>
                <a:cs typeface="Arimo"/>
                <a:sym typeface="Arimo"/>
              </a:rPr>
              <a:t>ale jasné. Mluvím o něm z tohoto důvodu.</a:t>
            </a:r>
          </a:p>
        </p:txBody>
      </p:sp>
      <p:sp>
        <p:nvSpPr>
          <p:cNvPr name="TextBox 20" id="20"/>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34</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3384956"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BÍLKOVINY</a:t>
            </a:r>
          </a:p>
        </p:txBody>
      </p:sp>
      <p:sp>
        <p:nvSpPr>
          <p:cNvPr name="TextBox 3" id="3"/>
          <p:cNvSpPr txBox="true"/>
          <p:nvPr/>
        </p:nvSpPr>
        <p:spPr>
          <a:xfrm rot="0">
            <a:off x="1168403" y="1901828"/>
            <a:ext cx="13684253" cy="1485252"/>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Bílkovina sama sval neudrží. Drží ho spolu se zátěží.</a:t>
            </a:r>
          </a:p>
        </p:txBody>
      </p:sp>
      <p:grpSp>
        <p:nvGrpSpPr>
          <p:cNvPr name="Group 4" id="4"/>
          <p:cNvGrpSpPr/>
          <p:nvPr/>
        </p:nvGrpSpPr>
        <p:grpSpPr>
          <a:xfrm rot="0">
            <a:off x="14239875" y="123155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26012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GUIDELINE 1,0–1,2 · VYŠŠÍ CÍL JE ODHAD</a:t>
            </a:r>
          </a:p>
        </p:txBody>
      </p:sp>
      <p:grpSp>
        <p:nvGrpSpPr>
          <p:cNvPr name="Group 10" id="10"/>
          <p:cNvGrpSpPr/>
          <p:nvPr/>
        </p:nvGrpSpPr>
        <p:grpSpPr>
          <a:xfrm rot="0">
            <a:off x="4343400" y="4838700"/>
            <a:ext cx="3200400" cy="1409700"/>
            <a:chOff x="0" y="0"/>
            <a:chExt cx="4267200" cy="1879600"/>
          </a:xfrm>
        </p:grpSpPr>
        <p:sp>
          <p:nvSpPr>
            <p:cNvPr name="Freeform 11" id="11"/>
            <p:cNvSpPr/>
            <p:nvPr/>
          </p:nvSpPr>
          <p:spPr>
            <a:xfrm flipH="false" flipV="false" rot="0">
              <a:off x="0" y="0"/>
              <a:ext cx="4267200" cy="1879600"/>
            </a:xfrm>
            <a:custGeom>
              <a:avLst/>
              <a:gdLst/>
              <a:ahLst/>
              <a:cxnLst/>
              <a:rect r="r" b="b" t="t" l="l"/>
              <a:pathLst>
                <a:path h="1879600" w="4267200">
                  <a:moveTo>
                    <a:pt x="127000" y="0"/>
                  </a:moveTo>
                  <a:lnTo>
                    <a:pt x="4267200" y="0"/>
                  </a:lnTo>
                  <a:lnTo>
                    <a:pt x="4267200" y="1879600"/>
                  </a:lnTo>
                  <a:lnTo>
                    <a:pt x="127000" y="1879600"/>
                  </a:lnTo>
                  <a:cubicBezTo>
                    <a:pt x="56896" y="1879600"/>
                    <a:pt x="0" y="1822704"/>
                    <a:pt x="0" y="1752600"/>
                  </a:cubicBezTo>
                  <a:lnTo>
                    <a:pt x="0" y="127000"/>
                  </a:lnTo>
                  <a:cubicBezTo>
                    <a:pt x="0" y="56896"/>
                    <a:pt x="56896" y="0"/>
                    <a:pt x="127000" y="0"/>
                  </a:cubicBezTo>
                  <a:close/>
                </a:path>
              </a:pathLst>
            </a:custGeom>
            <a:solidFill>
              <a:srgbClr val="6E2A8B">
                <a:alpha val="24706"/>
              </a:srgbClr>
            </a:solidFill>
          </p:spPr>
        </p:sp>
      </p:grpSp>
      <p:sp>
        <p:nvSpPr>
          <p:cNvPr name="TextBox 12" id="12"/>
          <p:cNvSpPr txBox="true"/>
          <p:nvPr/>
        </p:nvSpPr>
        <p:spPr>
          <a:xfrm rot="0">
            <a:off x="5189068" y="4832471"/>
            <a:ext cx="1585265" cy="913457"/>
          </a:xfrm>
          <a:prstGeom prst="rect">
            <a:avLst/>
          </a:prstGeom>
        </p:spPr>
        <p:txBody>
          <a:bodyPr anchor="t" rtlCol="false" tIns="0" lIns="0" bIns="0" rIns="0">
            <a:spAutoFit/>
          </a:bodyPr>
          <a:lstStyle/>
          <a:p>
            <a:pPr algn="l">
              <a:lnSpc>
                <a:spcPts val="5797"/>
              </a:lnSpc>
            </a:pPr>
            <a:r>
              <a:rPr lang="en-US" sz="3900" spc="-117">
                <a:solidFill>
                  <a:srgbClr val="401252"/>
                </a:solidFill>
                <a:latin typeface="Arimo"/>
                <a:ea typeface="Arimo"/>
                <a:cs typeface="Arimo"/>
                <a:sym typeface="Arimo"/>
              </a:rPr>
              <a:t>1,0–1,2</a:t>
            </a:r>
          </a:p>
        </p:txBody>
      </p:sp>
      <p:sp>
        <p:nvSpPr>
          <p:cNvPr name="TextBox 13" id="13"/>
          <p:cNvSpPr txBox="true"/>
          <p:nvPr/>
        </p:nvSpPr>
        <p:spPr>
          <a:xfrm rot="0">
            <a:off x="5093589" y="5815784"/>
            <a:ext cx="1776136" cy="353044"/>
          </a:xfrm>
          <a:prstGeom prst="rect">
            <a:avLst/>
          </a:prstGeom>
        </p:spPr>
        <p:txBody>
          <a:bodyPr anchor="t" rtlCol="false" tIns="0" lIns="0" bIns="0" rIns="0">
            <a:spAutoFit/>
          </a:bodyPr>
          <a:lstStyle/>
          <a:p>
            <a:pPr algn="l">
              <a:lnSpc>
                <a:spcPts val="2243"/>
              </a:lnSpc>
            </a:pPr>
            <a:r>
              <a:rPr lang="en-US" sz="1500" spc="195">
                <a:solidFill>
                  <a:srgbClr val="401252"/>
                </a:solidFill>
                <a:latin typeface="Arimo"/>
                <a:ea typeface="Arimo"/>
                <a:cs typeface="Arimo"/>
                <a:sym typeface="Arimo"/>
              </a:rPr>
              <a:t>GUIDELINE </a:t>
            </a:r>
            <a:r>
              <a:rPr lang="en-US" sz="1500" spc="195">
                <a:solidFill>
                  <a:srgbClr val="6D2A8C"/>
                </a:solidFill>
                <a:latin typeface="Arimo"/>
                <a:ea typeface="Arimo"/>
                <a:cs typeface="Arimo"/>
                <a:sym typeface="Arimo"/>
              </a:rPr>
              <a:t>B</a:t>
            </a:r>
          </a:p>
        </p:txBody>
      </p:sp>
      <p:grpSp>
        <p:nvGrpSpPr>
          <p:cNvPr name="Group 14" id="14"/>
          <p:cNvGrpSpPr/>
          <p:nvPr/>
        </p:nvGrpSpPr>
        <p:grpSpPr>
          <a:xfrm rot="0">
            <a:off x="7543800" y="6229350"/>
            <a:ext cx="6400800" cy="19050"/>
            <a:chOff x="0" y="0"/>
            <a:chExt cx="8534400" cy="25400"/>
          </a:xfrm>
        </p:grpSpPr>
        <p:sp>
          <p:nvSpPr>
            <p:cNvPr name="Freeform 15" id="15"/>
            <p:cNvSpPr/>
            <p:nvPr/>
          </p:nvSpPr>
          <p:spPr>
            <a:xfrm flipH="false" flipV="false" rot="0">
              <a:off x="0" y="0"/>
              <a:ext cx="8534400" cy="25400"/>
            </a:xfrm>
            <a:custGeom>
              <a:avLst/>
              <a:gdLst/>
              <a:ahLst/>
              <a:cxnLst/>
              <a:rect r="r" b="b" t="t" l="l"/>
              <a:pathLst>
                <a:path h="25400" w="8534400">
                  <a:moveTo>
                    <a:pt x="0" y="0"/>
                  </a:moveTo>
                  <a:lnTo>
                    <a:pt x="8534400" y="0"/>
                  </a:lnTo>
                  <a:lnTo>
                    <a:pt x="8534400" y="25400"/>
                  </a:lnTo>
                  <a:lnTo>
                    <a:pt x="0" y="25400"/>
                  </a:lnTo>
                  <a:close/>
                </a:path>
              </a:pathLst>
            </a:custGeom>
            <a:solidFill>
              <a:srgbClr val="6D2A8C"/>
            </a:solidFill>
          </p:spPr>
        </p:sp>
      </p:grpSp>
      <p:grpSp>
        <p:nvGrpSpPr>
          <p:cNvPr name="Group 16" id="16"/>
          <p:cNvGrpSpPr/>
          <p:nvPr/>
        </p:nvGrpSpPr>
        <p:grpSpPr>
          <a:xfrm rot="0">
            <a:off x="7543800" y="4838700"/>
            <a:ext cx="6400800" cy="19050"/>
            <a:chOff x="0" y="0"/>
            <a:chExt cx="8534400" cy="25400"/>
          </a:xfrm>
        </p:grpSpPr>
        <p:sp>
          <p:nvSpPr>
            <p:cNvPr name="Freeform 17" id="17"/>
            <p:cNvSpPr/>
            <p:nvPr/>
          </p:nvSpPr>
          <p:spPr>
            <a:xfrm flipH="false" flipV="false" rot="0">
              <a:off x="0" y="0"/>
              <a:ext cx="8534400" cy="25400"/>
            </a:xfrm>
            <a:custGeom>
              <a:avLst/>
              <a:gdLst/>
              <a:ahLst/>
              <a:cxnLst/>
              <a:rect r="r" b="b" t="t" l="l"/>
              <a:pathLst>
                <a:path h="25400" w="8534400">
                  <a:moveTo>
                    <a:pt x="0" y="0"/>
                  </a:moveTo>
                  <a:lnTo>
                    <a:pt x="8534400" y="0"/>
                  </a:lnTo>
                  <a:lnTo>
                    <a:pt x="8534400" y="25400"/>
                  </a:lnTo>
                  <a:lnTo>
                    <a:pt x="0" y="25400"/>
                  </a:lnTo>
                  <a:close/>
                </a:path>
              </a:pathLst>
            </a:custGeom>
            <a:solidFill>
              <a:srgbClr val="6D2A8C"/>
            </a:solidFill>
          </p:spPr>
        </p:sp>
      </p:grpSp>
      <p:grpSp>
        <p:nvGrpSpPr>
          <p:cNvPr name="Group 18" id="18"/>
          <p:cNvGrpSpPr/>
          <p:nvPr/>
        </p:nvGrpSpPr>
        <p:grpSpPr>
          <a:xfrm rot="0">
            <a:off x="13925550" y="4838700"/>
            <a:ext cx="19050" cy="1409700"/>
            <a:chOff x="0" y="0"/>
            <a:chExt cx="25400" cy="1879600"/>
          </a:xfrm>
        </p:grpSpPr>
        <p:sp>
          <p:nvSpPr>
            <p:cNvPr name="Freeform 19" id="19"/>
            <p:cNvSpPr/>
            <p:nvPr/>
          </p:nvSpPr>
          <p:spPr>
            <a:xfrm flipH="false" flipV="false" rot="0">
              <a:off x="0" y="0"/>
              <a:ext cx="25400" cy="1879600"/>
            </a:xfrm>
            <a:custGeom>
              <a:avLst/>
              <a:gdLst/>
              <a:ahLst/>
              <a:cxnLst/>
              <a:rect r="r" b="b" t="t" l="l"/>
              <a:pathLst>
                <a:path h="1879600" w="25400">
                  <a:moveTo>
                    <a:pt x="0" y="0"/>
                  </a:moveTo>
                  <a:lnTo>
                    <a:pt x="25400" y="0"/>
                  </a:lnTo>
                  <a:lnTo>
                    <a:pt x="25400" y="1879600"/>
                  </a:lnTo>
                  <a:lnTo>
                    <a:pt x="0" y="1879600"/>
                  </a:lnTo>
                  <a:close/>
                </a:path>
              </a:pathLst>
            </a:custGeom>
            <a:solidFill>
              <a:srgbClr val="6D2A8C"/>
            </a:solidFill>
          </p:spPr>
        </p:sp>
      </p:grpSp>
      <p:sp>
        <p:nvSpPr>
          <p:cNvPr name="TextBox 20" id="20"/>
          <p:cNvSpPr txBox="true"/>
          <p:nvPr/>
        </p:nvSpPr>
        <p:spPr>
          <a:xfrm rot="0">
            <a:off x="9980143" y="4817069"/>
            <a:ext cx="1585265" cy="913457"/>
          </a:xfrm>
          <a:prstGeom prst="rect">
            <a:avLst/>
          </a:prstGeom>
        </p:spPr>
        <p:txBody>
          <a:bodyPr anchor="t" rtlCol="false" tIns="0" lIns="0" bIns="0" rIns="0">
            <a:spAutoFit/>
          </a:bodyPr>
          <a:lstStyle/>
          <a:p>
            <a:pPr algn="l">
              <a:lnSpc>
                <a:spcPts val="5797"/>
              </a:lnSpc>
            </a:pPr>
            <a:r>
              <a:rPr lang="en-US" sz="3900" spc="-117">
                <a:solidFill>
                  <a:srgbClr val="6D2A8C"/>
                </a:solidFill>
                <a:latin typeface="Arimo"/>
                <a:ea typeface="Arimo"/>
                <a:cs typeface="Arimo"/>
                <a:sym typeface="Arimo"/>
              </a:rPr>
              <a:t>1,2–1,6</a:t>
            </a:r>
          </a:p>
        </p:txBody>
      </p:sp>
      <p:sp>
        <p:nvSpPr>
          <p:cNvPr name="TextBox 21" id="21"/>
          <p:cNvSpPr txBox="true"/>
          <p:nvPr/>
        </p:nvSpPr>
        <p:spPr>
          <a:xfrm rot="0">
            <a:off x="8360740" y="5790857"/>
            <a:ext cx="4891821"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PRAXE U AKTIVNĚ POSILUJÍCÍCH C</a:t>
            </a:r>
          </a:p>
        </p:txBody>
      </p:sp>
      <p:grpSp>
        <p:nvGrpSpPr>
          <p:cNvPr name="Group 22" id="22"/>
          <p:cNvGrpSpPr/>
          <p:nvPr/>
        </p:nvGrpSpPr>
        <p:grpSpPr>
          <a:xfrm rot="0">
            <a:off x="1143000" y="6248400"/>
            <a:ext cx="16002000" cy="9525"/>
            <a:chOff x="0" y="0"/>
            <a:chExt cx="21336000" cy="12700"/>
          </a:xfrm>
        </p:grpSpPr>
        <p:sp>
          <p:nvSpPr>
            <p:cNvPr name="Freeform 23" id="23"/>
            <p:cNvSpPr/>
            <p:nvPr/>
          </p:nvSpPr>
          <p:spPr>
            <a:xfrm flipH="false" flipV="false" rot="0">
              <a:off x="0" y="0"/>
              <a:ext cx="21336000" cy="12700"/>
            </a:xfrm>
            <a:custGeom>
              <a:avLst/>
              <a:gdLst/>
              <a:ahLst/>
              <a:cxnLst/>
              <a:rect r="r" b="b" t="t" l="l"/>
              <a:pathLst>
                <a:path h="12700" w="21336000">
                  <a:moveTo>
                    <a:pt x="0" y="0"/>
                  </a:moveTo>
                  <a:lnTo>
                    <a:pt x="21336000" y="0"/>
                  </a:lnTo>
                  <a:lnTo>
                    <a:pt x="21336000" y="12700"/>
                  </a:lnTo>
                  <a:lnTo>
                    <a:pt x="0" y="12700"/>
                  </a:lnTo>
                  <a:close/>
                </a:path>
              </a:pathLst>
            </a:custGeom>
            <a:solidFill>
              <a:srgbClr val="CDB3DC"/>
            </a:solidFill>
          </p:spPr>
        </p:sp>
      </p:grpSp>
      <p:grpSp>
        <p:nvGrpSpPr>
          <p:cNvPr name="Group 24" id="24"/>
          <p:cNvGrpSpPr/>
          <p:nvPr/>
        </p:nvGrpSpPr>
        <p:grpSpPr>
          <a:xfrm rot="0">
            <a:off x="4343400" y="6248400"/>
            <a:ext cx="19050" cy="123825"/>
            <a:chOff x="0" y="0"/>
            <a:chExt cx="25400" cy="165100"/>
          </a:xfrm>
        </p:grpSpPr>
        <p:sp>
          <p:nvSpPr>
            <p:cNvPr name="Freeform 25" id="25"/>
            <p:cNvSpPr/>
            <p:nvPr/>
          </p:nvSpPr>
          <p:spPr>
            <a:xfrm flipH="false" flipV="false" rot="0">
              <a:off x="0" y="0"/>
              <a:ext cx="25400" cy="165100"/>
            </a:xfrm>
            <a:custGeom>
              <a:avLst/>
              <a:gdLst/>
              <a:ahLst/>
              <a:cxnLst/>
              <a:rect r="r" b="b" t="t" l="l"/>
              <a:pathLst>
                <a:path h="165100" w="25400">
                  <a:moveTo>
                    <a:pt x="0" y="0"/>
                  </a:moveTo>
                  <a:lnTo>
                    <a:pt x="25400" y="0"/>
                  </a:lnTo>
                  <a:lnTo>
                    <a:pt x="25400" y="165100"/>
                  </a:lnTo>
                  <a:lnTo>
                    <a:pt x="0" y="165100"/>
                  </a:lnTo>
                  <a:close/>
                </a:path>
              </a:pathLst>
            </a:custGeom>
            <a:solidFill>
              <a:srgbClr val="CDB3DC"/>
            </a:solidFill>
          </p:spPr>
        </p:sp>
      </p:grpSp>
      <p:grpSp>
        <p:nvGrpSpPr>
          <p:cNvPr name="Group 26" id="26"/>
          <p:cNvGrpSpPr/>
          <p:nvPr/>
        </p:nvGrpSpPr>
        <p:grpSpPr>
          <a:xfrm rot="0">
            <a:off x="7543800" y="6248400"/>
            <a:ext cx="19050" cy="123825"/>
            <a:chOff x="0" y="0"/>
            <a:chExt cx="25400" cy="165100"/>
          </a:xfrm>
        </p:grpSpPr>
        <p:sp>
          <p:nvSpPr>
            <p:cNvPr name="Freeform 27" id="27"/>
            <p:cNvSpPr/>
            <p:nvPr/>
          </p:nvSpPr>
          <p:spPr>
            <a:xfrm flipH="false" flipV="false" rot="0">
              <a:off x="0" y="0"/>
              <a:ext cx="25400" cy="165100"/>
            </a:xfrm>
            <a:custGeom>
              <a:avLst/>
              <a:gdLst/>
              <a:ahLst/>
              <a:cxnLst/>
              <a:rect r="r" b="b" t="t" l="l"/>
              <a:pathLst>
                <a:path h="165100" w="25400">
                  <a:moveTo>
                    <a:pt x="0" y="0"/>
                  </a:moveTo>
                  <a:lnTo>
                    <a:pt x="25400" y="0"/>
                  </a:lnTo>
                  <a:lnTo>
                    <a:pt x="25400" y="165100"/>
                  </a:lnTo>
                  <a:lnTo>
                    <a:pt x="0" y="165100"/>
                  </a:lnTo>
                  <a:close/>
                </a:path>
              </a:pathLst>
            </a:custGeom>
            <a:solidFill>
              <a:srgbClr val="CDB3DC"/>
            </a:solidFill>
          </p:spPr>
        </p:sp>
      </p:grpSp>
      <p:grpSp>
        <p:nvGrpSpPr>
          <p:cNvPr name="Group 28" id="28"/>
          <p:cNvGrpSpPr/>
          <p:nvPr/>
        </p:nvGrpSpPr>
        <p:grpSpPr>
          <a:xfrm rot="0">
            <a:off x="13944600" y="6248400"/>
            <a:ext cx="19050" cy="123825"/>
            <a:chOff x="0" y="0"/>
            <a:chExt cx="25400" cy="165100"/>
          </a:xfrm>
        </p:grpSpPr>
        <p:sp>
          <p:nvSpPr>
            <p:cNvPr name="Freeform 29" id="29"/>
            <p:cNvSpPr/>
            <p:nvPr/>
          </p:nvSpPr>
          <p:spPr>
            <a:xfrm flipH="false" flipV="false" rot="0">
              <a:off x="0" y="0"/>
              <a:ext cx="25400" cy="165100"/>
            </a:xfrm>
            <a:custGeom>
              <a:avLst/>
              <a:gdLst/>
              <a:ahLst/>
              <a:cxnLst/>
              <a:rect r="r" b="b" t="t" l="l"/>
              <a:pathLst>
                <a:path h="165100" w="25400">
                  <a:moveTo>
                    <a:pt x="0" y="0"/>
                  </a:moveTo>
                  <a:lnTo>
                    <a:pt x="25400" y="0"/>
                  </a:lnTo>
                  <a:lnTo>
                    <a:pt x="25400" y="165100"/>
                  </a:lnTo>
                  <a:lnTo>
                    <a:pt x="0" y="165100"/>
                  </a:lnTo>
                  <a:close/>
                </a:path>
              </a:pathLst>
            </a:custGeom>
            <a:solidFill>
              <a:srgbClr val="CDB3DC"/>
            </a:solidFill>
          </p:spPr>
        </p:sp>
      </p:grpSp>
      <p:sp>
        <p:nvSpPr>
          <p:cNvPr name="TextBox 30" id="30"/>
          <p:cNvSpPr txBox="true"/>
          <p:nvPr/>
        </p:nvSpPr>
        <p:spPr>
          <a:xfrm rot="0">
            <a:off x="1168403" y="6464303"/>
            <a:ext cx="442636" cy="353044"/>
          </a:xfrm>
          <a:prstGeom prst="rect">
            <a:avLst/>
          </a:prstGeom>
        </p:spPr>
        <p:txBody>
          <a:bodyPr anchor="t" rtlCol="false" tIns="0" lIns="0" bIns="0" rIns="0">
            <a:spAutoFit/>
          </a:bodyPr>
          <a:lstStyle/>
          <a:p>
            <a:pPr algn="l">
              <a:lnSpc>
                <a:spcPts val="2243"/>
              </a:lnSpc>
            </a:pPr>
            <a:r>
              <a:rPr lang="en-US" sz="1500" spc="195">
                <a:solidFill>
                  <a:srgbClr val="6B4B7D"/>
                </a:solidFill>
                <a:latin typeface="Arimo"/>
                <a:ea typeface="Arimo"/>
                <a:cs typeface="Arimo"/>
                <a:sym typeface="Arimo"/>
              </a:rPr>
              <a:t>0,8</a:t>
            </a:r>
          </a:p>
        </p:txBody>
      </p:sp>
      <p:sp>
        <p:nvSpPr>
          <p:cNvPr name="TextBox 31" id="31"/>
          <p:cNvSpPr txBox="true"/>
          <p:nvPr/>
        </p:nvSpPr>
        <p:spPr>
          <a:xfrm rot="0">
            <a:off x="4160177" y="6464303"/>
            <a:ext cx="442636" cy="353044"/>
          </a:xfrm>
          <a:prstGeom prst="rect">
            <a:avLst/>
          </a:prstGeom>
        </p:spPr>
        <p:txBody>
          <a:bodyPr anchor="t" rtlCol="false" tIns="0" lIns="0" bIns="0" rIns="0">
            <a:spAutoFit/>
          </a:bodyPr>
          <a:lstStyle/>
          <a:p>
            <a:pPr algn="l">
              <a:lnSpc>
                <a:spcPts val="2243"/>
              </a:lnSpc>
            </a:pPr>
            <a:r>
              <a:rPr lang="en-US" sz="1500" spc="195">
                <a:solidFill>
                  <a:srgbClr val="6B4B7D"/>
                </a:solidFill>
                <a:latin typeface="Arimo"/>
                <a:ea typeface="Arimo"/>
                <a:cs typeface="Arimo"/>
                <a:sym typeface="Arimo"/>
              </a:rPr>
              <a:t>1,0</a:t>
            </a:r>
          </a:p>
        </p:txBody>
      </p:sp>
      <p:sp>
        <p:nvSpPr>
          <p:cNvPr name="TextBox 32" id="32"/>
          <p:cNvSpPr txBox="true"/>
          <p:nvPr/>
        </p:nvSpPr>
        <p:spPr>
          <a:xfrm rot="0">
            <a:off x="7360577" y="6464303"/>
            <a:ext cx="442636" cy="353044"/>
          </a:xfrm>
          <a:prstGeom prst="rect">
            <a:avLst/>
          </a:prstGeom>
        </p:spPr>
        <p:txBody>
          <a:bodyPr anchor="t" rtlCol="false" tIns="0" lIns="0" bIns="0" rIns="0">
            <a:spAutoFit/>
          </a:bodyPr>
          <a:lstStyle/>
          <a:p>
            <a:pPr algn="l">
              <a:lnSpc>
                <a:spcPts val="2243"/>
              </a:lnSpc>
            </a:pPr>
            <a:r>
              <a:rPr lang="en-US" sz="1500" spc="195">
                <a:solidFill>
                  <a:srgbClr val="6B4B7D"/>
                </a:solidFill>
                <a:latin typeface="Arimo"/>
                <a:ea typeface="Arimo"/>
                <a:cs typeface="Arimo"/>
                <a:sym typeface="Arimo"/>
              </a:rPr>
              <a:t>1,2</a:t>
            </a:r>
          </a:p>
        </p:txBody>
      </p:sp>
      <p:sp>
        <p:nvSpPr>
          <p:cNvPr name="TextBox 33" id="33"/>
          <p:cNvSpPr txBox="true"/>
          <p:nvPr/>
        </p:nvSpPr>
        <p:spPr>
          <a:xfrm rot="0">
            <a:off x="13761377" y="6464303"/>
            <a:ext cx="442636" cy="353044"/>
          </a:xfrm>
          <a:prstGeom prst="rect">
            <a:avLst/>
          </a:prstGeom>
        </p:spPr>
        <p:txBody>
          <a:bodyPr anchor="t" rtlCol="false" tIns="0" lIns="0" bIns="0" rIns="0">
            <a:spAutoFit/>
          </a:bodyPr>
          <a:lstStyle/>
          <a:p>
            <a:pPr algn="l">
              <a:lnSpc>
                <a:spcPts val="2243"/>
              </a:lnSpc>
            </a:pPr>
            <a:r>
              <a:rPr lang="en-US" sz="1500" spc="195">
                <a:solidFill>
                  <a:srgbClr val="6B4B7D"/>
                </a:solidFill>
                <a:latin typeface="Arimo"/>
                <a:ea typeface="Arimo"/>
                <a:cs typeface="Arimo"/>
                <a:sym typeface="Arimo"/>
              </a:rPr>
              <a:t>1,6</a:t>
            </a:r>
          </a:p>
        </p:txBody>
      </p:sp>
      <p:sp>
        <p:nvSpPr>
          <p:cNvPr name="TextBox 34" id="34"/>
          <p:cNvSpPr txBox="true"/>
          <p:nvPr/>
        </p:nvSpPr>
        <p:spPr>
          <a:xfrm rot="0">
            <a:off x="15779753" y="6464303"/>
            <a:ext cx="1416053" cy="353044"/>
          </a:xfrm>
          <a:prstGeom prst="rect">
            <a:avLst/>
          </a:prstGeom>
        </p:spPr>
        <p:txBody>
          <a:bodyPr anchor="t" rtlCol="false" tIns="0" lIns="0" bIns="0" rIns="0">
            <a:spAutoFit/>
          </a:bodyPr>
          <a:lstStyle/>
          <a:p>
            <a:pPr algn="l">
              <a:lnSpc>
                <a:spcPts val="2243"/>
              </a:lnSpc>
            </a:pPr>
            <a:r>
              <a:rPr lang="en-US" sz="1500" spc="195">
                <a:solidFill>
                  <a:srgbClr val="6B4B7D"/>
                </a:solidFill>
                <a:latin typeface="Arimo"/>
                <a:ea typeface="Arimo"/>
                <a:cs typeface="Arimo"/>
                <a:sym typeface="Arimo"/>
              </a:rPr>
              <a:t>G/KG DENNĚ</a:t>
            </a:r>
          </a:p>
        </p:txBody>
      </p:sp>
      <p:sp>
        <p:nvSpPr>
          <p:cNvPr name="TextBox 35" id="35"/>
          <p:cNvSpPr txBox="true"/>
          <p:nvPr/>
        </p:nvSpPr>
        <p:spPr>
          <a:xfrm rot="0">
            <a:off x="1168403" y="7054853"/>
            <a:ext cx="1818332" cy="1015556"/>
          </a:xfrm>
          <a:prstGeom prst="rect">
            <a:avLst/>
          </a:prstGeom>
        </p:spPr>
        <p:txBody>
          <a:bodyPr anchor="t" rtlCol="false" tIns="0" lIns="0" bIns="0" rIns="0">
            <a:spAutoFit/>
          </a:bodyPr>
          <a:lstStyle/>
          <a:p>
            <a:pPr algn="l">
              <a:lnSpc>
                <a:spcPts val="6496"/>
              </a:lnSpc>
            </a:pPr>
            <a:r>
              <a:rPr lang="en-US" sz="4350" spc="-130">
                <a:solidFill>
                  <a:srgbClr val="6D2A8C"/>
                </a:solidFill>
                <a:latin typeface="Arimo"/>
                <a:ea typeface="Arimo"/>
                <a:cs typeface="Arimo"/>
                <a:sym typeface="Arimo"/>
              </a:rPr>
              <a:t>20–25g</a:t>
            </a:r>
          </a:p>
        </p:txBody>
      </p:sp>
      <p:sp>
        <p:nvSpPr>
          <p:cNvPr name="TextBox 36" id="36"/>
          <p:cNvSpPr txBox="true"/>
          <p:nvPr/>
        </p:nvSpPr>
        <p:spPr>
          <a:xfrm rot="0">
            <a:off x="3342332" y="7440616"/>
            <a:ext cx="14192107" cy="9588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kvalitní bílkoviny </a:t>
            </a:r>
            <a:r>
              <a:rPr lang="en-US" sz="2400" b="true">
                <a:solidFill>
                  <a:srgbClr val="401252"/>
                </a:solidFill>
                <a:latin typeface="Arimo Bold"/>
                <a:ea typeface="Arimo Bold"/>
                <a:cs typeface="Arimo Bold"/>
                <a:sym typeface="Arimo Bold"/>
              </a:rPr>
              <a:t>na každé hlavní jídlo </a:t>
            </a:r>
            <a:r>
              <a:rPr lang="en-US" sz="2400">
                <a:solidFill>
                  <a:srgbClr val="6B4B7D"/>
                </a:solidFill>
                <a:latin typeface="Arimo"/>
                <a:ea typeface="Arimo"/>
                <a:cs typeface="Arimo"/>
                <a:sym typeface="Arimo"/>
              </a:rPr>
              <a:t>. Zdroje bohaté na leucin: mléčné výrobky, vejce, luštěniny, ryby.</a:t>
            </a:r>
          </a:p>
        </p:txBody>
      </p:sp>
      <p:sp>
        <p:nvSpPr>
          <p:cNvPr name="TextBox 37" id="37"/>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ESPEN a ESCEO, citováno v Curr Nutr Rep 2026;15:69 · anabolickou odpověď zvyšuje zátěž</a:t>
            </a:r>
          </a:p>
        </p:txBody>
      </p:sp>
      <p:sp>
        <p:nvSpPr>
          <p:cNvPr name="TextBox 38" id="38"/>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35</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5275593"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PREVENCE · KOST A MIKRONUTRIENTY</a:t>
            </a:r>
          </a:p>
        </p:txBody>
      </p:sp>
      <p:sp>
        <p:nvSpPr>
          <p:cNvPr name="TextBox 3" id="3"/>
          <p:cNvSpPr txBox="true"/>
          <p:nvPr/>
        </p:nvSpPr>
        <p:spPr>
          <a:xfrm rot="0">
            <a:off x="1168403" y="1901828"/>
            <a:ext cx="14617703" cy="702935"/>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Pro kost nejde jen o vápník.</a:t>
            </a:r>
          </a:p>
        </p:txBody>
      </p:sp>
      <p:grpSp>
        <p:nvGrpSpPr>
          <p:cNvPr name="Group 4" id="4"/>
          <p:cNvGrpSpPr/>
          <p:nvPr/>
        </p:nvGrpSpPr>
        <p:grpSpPr>
          <a:xfrm rot="0">
            <a:off x="14239875" y="123155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26012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DVA PRVKY NA SLIDU JSOU POUZE C</a:t>
            </a:r>
          </a:p>
        </p:txBody>
      </p:sp>
      <p:grpSp>
        <p:nvGrpSpPr>
          <p:cNvPr name="Group 10" id="10"/>
          <p:cNvGrpSpPr/>
          <p:nvPr/>
        </p:nvGrpSpPr>
        <p:grpSpPr>
          <a:xfrm rot="0">
            <a:off x="9134475" y="4476750"/>
            <a:ext cx="9525" cy="4125592"/>
            <a:chOff x="0" y="0"/>
            <a:chExt cx="12700" cy="5500789"/>
          </a:xfrm>
        </p:grpSpPr>
        <p:sp>
          <p:nvSpPr>
            <p:cNvPr name="Freeform 11" id="11"/>
            <p:cNvSpPr/>
            <p:nvPr/>
          </p:nvSpPr>
          <p:spPr>
            <a:xfrm flipH="false" flipV="false" rot="0">
              <a:off x="0" y="0"/>
              <a:ext cx="12700" cy="5500751"/>
            </a:xfrm>
            <a:custGeom>
              <a:avLst/>
              <a:gdLst/>
              <a:ahLst/>
              <a:cxnLst/>
              <a:rect r="r" b="b" t="t" l="l"/>
              <a:pathLst>
                <a:path h="5500751" w="12700">
                  <a:moveTo>
                    <a:pt x="0" y="0"/>
                  </a:moveTo>
                  <a:lnTo>
                    <a:pt x="12700" y="0"/>
                  </a:lnTo>
                  <a:lnTo>
                    <a:pt x="12700" y="5500751"/>
                  </a:lnTo>
                  <a:lnTo>
                    <a:pt x="0" y="5500751"/>
                  </a:lnTo>
                  <a:close/>
                </a:path>
              </a:pathLst>
            </a:custGeom>
            <a:solidFill>
              <a:srgbClr val="CDB3DC"/>
            </a:solidFill>
          </p:spPr>
        </p:sp>
      </p:grpSp>
      <p:sp>
        <p:nvSpPr>
          <p:cNvPr name="TextBox 12" id="12"/>
          <p:cNvSpPr txBox="true"/>
          <p:nvPr/>
        </p:nvSpPr>
        <p:spPr>
          <a:xfrm rot="0">
            <a:off x="1168403" y="4435478"/>
            <a:ext cx="7395562"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CO MÁ OPORU</a:t>
            </a:r>
          </a:p>
        </p:txBody>
      </p:sp>
      <p:sp>
        <p:nvSpPr>
          <p:cNvPr name="TextBox 13" id="13"/>
          <p:cNvSpPr txBox="true"/>
          <p:nvPr/>
        </p:nvSpPr>
        <p:spPr>
          <a:xfrm rot="0">
            <a:off x="1473203" y="5060633"/>
            <a:ext cx="7090762" cy="692153"/>
          </a:xfrm>
          <a:prstGeom prst="rect">
            <a:avLst/>
          </a:prstGeom>
        </p:spPr>
        <p:txBody>
          <a:bodyPr anchor="t" rtlCol="false" tIns="0" lIns="0" bIns="0" rIns="0">
            <a:spAutoFit/>
          </a:bodyPr>
          <a:lstStyle/>
          <a:p>
            <a:pPr algn="l">
              <a:lnSpc>
                <a:spcPts val="2380"/>
              </a:lnSpc>
            </a:pPr>
            <a:r>
              <a:rPr lang="en-US" sz="1725" b="true">
                <a:solidFill>
                  <a:srgbClr val="401252"/>
                </a:solidFill>
                <a:latin typeface="Arimo Bold"/>
                <a:ea typeface="Arimo Bold"/>
                <a:cs typeface="Arimo Bold"/>
                <a:sym typeface="Arimo Bold"/>
              </a:rPr>
              <a:t>vápník 1 000–1 200 mg denně </a:t>
            </a:r>
            <a:r>
              <a:rPr lang="en-US" sz="1725">
                <a:solidFill>
                  <a:srgbClr val="6B4B7D"/>
                </a:solidFill>
                <a:latin typeface="Arimo"/>
                <a:ea typeface="Arimo"/>
                <a:cs typeface="Arimo"/>
                <a:sym typeface="Arimo"/>
              </a:rPr>
              <a:t>, přednostně z jídla: zakysané výrobky, sýry, sardinky s kostí, mák, sezam, tvrdé vody</a:t>
            </a:r>
          </a:p>
        </p:txBody>
      </p:sp>
      <p:sp>
        <p:nvSpPr>
          <p:cNvPr name="TextBox 14" id="14"/>
          <p:cNvSpPr txBox="true"/>
          <p:nvPr/>
        </p:nvSpPr>
        <p:spPr>
          <a:xfrm rot="0">
            <a:off x="1473203" y="5889307"/>
            <a:ext cx="7090762" cy="692153"/>
          </a:xfrm>
          <a:prstGeom prst="rect">
            <a:avLst/>
          </a:prstGeom>
        </p:spPr>
        <p:txBody>
          <a:bodyPr anchor="t" rtlCol="false" tIns="0" lIns="0" bIns="0" rIns="0">
            <a:spAutoFit/>
          </a:bodyPr>
          <a:lstStyle/>
          <a:p>
            <a:pPr algn="l">
              <a:lnSpc>
                <a:spcPts val="2380"/>
              </a:lnSpc>
            </a:pPr>
            <a:r>
              <a:rPr lang="en-US" sz="1725" b="true">
                <a:solidFill>
                  <a:srgbClr val="401252"/>
                </a:solidFill>
                <a:latin typeface="Arimo Bold"/>
                <a:ea typeface="Arimo Bold"/>
                <a:cs typeface="Arimo Bold"/>
                <a:sym typeface="Arimo Bold"/>
              </a:rPr>
              <a:t>vitamin D 600–1 000 IU denně </a:t>
            </a:r>
            <a:r>
              <a:rPr lang="en-US" sz="1725">
                <a:solidFill>
                  <a:srgbClr val="6B4B7D"/>
                </a:solidFill>
                <a:latin typeface="Arimo"/>
                <a:ea typeface="Arimo"/>
                <a:cs typeface="Arimo"/>
                <a:sym typeface="Arimo"/>
              </a:rPr>
              <a:t>, u nás ho ze slunce a jídla nepokryjete</a:t>
            </a:r>
          </a:p>
        </p:txBody>
      </p:sp>
      <p:sp>
        <p:nvSpPr>
          <p:cNvPr name="TextBox 15" id="15"/>
          <p:cNvSpPr txBox="true"/>
          <p:nvPr/>
        </p:nvSpPr>
        <p:spPr>
          <a:xfrm rot="0">
            <a:off x="1473203" y="6717982"/>
            <a:ext cx="7596826" cy="363541"/>
          </a:xfrm>
          <a:prstGeom prst="rect">
            <a:avLst/>
          </a:prstGeom>
        </p:spPr>
        <p:txBody>
          <a:bodyPr anchor="t" rtlCol="false" tIns="0" lIns="0" bIns="0" rIns="0">
            <a:spAutoFit/>
          </a:bodyPr>
          <a:lstStyle/>
          <a:p>
            <a:pPr algn="l">
              <a:lnSpc>
                <a:spcPts val="2380"/>
              </a:lnSpc>
            </a:pPr>
            <a:r>
              <a:rPr lang="en-US" sz="1725" b="true">
                <a:solidFill>
                  <a:srgbClr val="401252"/>
                </a:solidFill>
                <a:latin typeface="Arimo Bold"/>
                <a:ea typeface="Arimo Bold"/>
                <a:cs typeface="Arimo Bold"/>
                <a:sym typeface="Arimo Bold"/>
              </a:rPr>
              <a:t>bílkoviny a odporový trénink</a:t>
            </a:r>
            <a:r>
              <a:rPr lang="en-US" sz="1725">
                <a:solidFill>
                  <a:srgbClr val="6B4B7D"/>
                </a:solidFill>
                <a:latin typeface="Arimo"/>
                <a:ea typeface="Arimo"/>
                <a:cs typeface="Arimo"/>
                <a:sym typeface="Arimo"/>
              </a:rPr>
              <a:t>, stejně důležité jako minerály</a:t>
            </a:r>
          </a:p>
        </p:txBody>
      </p:sp>
      <p:sp>
        <p:nvSpPr>
          <p:cNvPr name="TextBox 16" id="16"/>
          <p:cNvSpPr txBox="true"/>
          <p:nvPr/>
        </p:nvSpPr>
        <p:spPr>
          <a:xfrm rot="0">
            <a:off x="1168403" y="7284710"/>
            <a:ext cx="7395562" cy="1330328"/>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Samotná suplementace vápníku a vitaminu D ale </a:t>
            </a:r>
            <a:r>
              <a:rPr lang="en-US" sz="2250" b="true">
                <a:solidFill>
                  <a:srgbClr val="401252"/>
                </a:solidFill>
                <a:latin typeface="Arimo Bold"/>
                <a:ea typeface="Arimo Bold"/>
                <a:cs typeface="Arimo Bold"/>
                <a:sym typeface="Arimo Bold"/>
              </a:rPr>
              <a:t>zlomeniny u všech žen nezabrání </a:t>
            </a:r>
            <a:r>
              <a:rPr lang="en-US" sz="2250">
                <a:solidFill>
                  <a:srgbClr val="6B4B7D"/>
                </a:solidFill>
                <a:latin typeface="Arimo"/>
                <a:ea typeface="Arimo"/>
                <a:cs typeface="Arimo"/>
                <a:sym typeface="Arimo"/>
              </a:rPr>
              <a:t>. Je to podmínka, ne intervence.</a:t>
            </a:r>
          </a:p>
        </p:txBody>
      </p:sp>
      <p:sp>
        <p:nvSpPr>
          <p:cNvPr name="TextBox 17" id="17"/>
          <p:cNvSpPr txBox="true"/>
          <p:nvPr/>
        </p:nvSpPr>
        <p:spPr>
          <a:xfrm rot="0">
            <a:off x="9931403" y="4435478"/>
            <a:ext cx="7405373"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CO JE NEJISTÉ A CO UŽ NEPROŠLO</a:t>
            </a:r>
          </a:p>
        </p:txBody>
      </p:sp>
      <p:sp>
        <p:nvSpPr>
          <p:cNvPr name="TextBox 18" id="18"/>
          <p:cNvSpPr txBox="true"/>
          <p:nvPr/>
        </p:nvSpPr>
        <p:spPr>
          <a:xfrm rot="0">
            <a:off x="10236203" y="5060633"/>
            <a:ext cx="7607303" cy="363541"/>
          </a:xfrm>
          <a:prstGeom prst="rect">
            <a:avLst/>
          </a:prstGeom>
        </p:spPr>
        <p:txBody>
          <a:bodyPr anchor="t" rtlCol="false" tIns="0" lIns="0" bIns="0" rIns="0">
            <a:spAutoFit/>
          </a:bodyPr>
          <a:lstStyle/>
          <a:p>
            <a:pPr algn="l">
              <a:lnSpc>
                <a:spcPts val="2380"/>
              </a:lnSpc>
            </a:pPr>
            <a:r>
              <a:rPr lang="en-US" sz="1725" b="true">
                <a:solidFill>
                  <a:srgbClr val="401252"/>
                </a:solidFill>
                <a:latin typeface="Arimo Bold"/>
                <a:ea typeface="Arimo Bold"/>
                <a:cs typeface="Arimo Bold"/>
                <a:sym typeface="Arimo Bold"/>
              </a:rPr>
              <a:t>kreatin monohydrát </a:t>
            </a:r>
            <a:r>
              <a:rPr lang="en-US" sz="1725">
                <a:solidFill>
                  <a:srgbClr val="6B4B7D"/>
                </a:solidFill>
                <a:latin typeface="Arimo"/>
                <a:ea typeface="Arimo"/>
                <a:cs typeface="Arimo"/>
                <a:sym typeface="Arimo"/>
              </a:rPr>
              <a:t>C , slibný na sílu a kognici</a:t>
            </a:r>
          </a:p>
        </p:txBody>
      </p:sp>
      <p:sp>
        <p:nvSpPr>
          <p:cNvPr name="TextBox 19" id="19"/>
          <p:cNvSpPr txBox="true"/>
          <p:nvPr/>
        </p:nvSpPr>
        <p:spPr>
          <a:xfrm rot="0">
            <a:off x="10236203" y="5560685"/>
            <a:ext cx="7100573" cy="692153"/>
          </a:xfrm>
          <a:prstGeom prst="rect">
            <a:avLst/>
          </a:prstGeom>
        </p:spPr>
        <p:txBody>
          <a:bodyPr anchor="t" rtlCol="false" tIns="0" lIns="0" bIns="0" rIns="0">
            <a:spAutoFit/>
          </a:bodyPr>
          <a:lstStyle/>
          <a:p>
            <a:pPr algn="l">
              <a:lnSpc>
                <a:spcPts val="2380"/>
              </a:lnSpc>
            </a:pPr>
            <a:r>
              <a:rPr lang="en-US" sz="1725" b="true">
                <a:solidFill>
                  <a:srgbClr val="401252"/>
                </a:solidFill>
                <a:latin typeface="Arimo Bold"/>
                <a:ea typeface="Arimo Bold"/>
                <a:cs typeface="Arimo Bold"/>
                <a:sym typeface="Arimo Bold"/>
              </a:rPr>
              <a:t>magnezium </a:t>
            </a:r>
            <a:r>
              <a:rPr lang="en-US" sz="1725">
                <a:solidFill>
                  <a:srgbClr val="6B4B7D"/>
                </a:solidFill>
                <a:latin typeface="Arimo"/>
                <a:ea typeface="Arimo"/>
                <a:cs typeface="Arimo"/>
                <a:sym typeface="Arimo"/>
              </a:rPr>
              <a:t>C : vyšší příjem souvisí s vyšší denzitou, ale v kohortách </a:t>
            </a:r>
            <a:r>
              <a:rPr lang="en-US" sz="1725" b="true">
                <a:solidFill>
                  <a:srgbClr val="401252"/>
                </a:solidFill>
                <a:latin typeface="Arimo Bold"/>
                <a:ea typeface="Arimo Bold"/>
                <a:cs typeface="Arimo Bold"/>
                <a:sym typeface="Arimo Bold"/>
              </a:rPr>
              <a:t>nesnížil riziko zlomenin</a:t>
            </a:r>
          </a:p>
        </p:txBody>
      </p:sp>
      <p:sp>
        <p:nvSpPr>
          <p:cNvPr name="TextBox 20" id="20"/>
          <p:cNvSpPr txBox="true"/>
          <p:nvPr/>
        </p:nvSpPr>
        <p:spPr>
          <a:xfrm rot="0">
            <a:off x="10236203" y="6389360"/>
            <a:ext cx="7100573" cy="1020766"/>
          </a:xfrm>
          <a:prstGeom prst="rect">
            <a:avLst/>
          </a:prstGeom>
        </p:spPr>
        <p:txBody>
          <a:bodyPr anchor="t" rtlCol="false" tIns="0" lIns="0" bIns="0" rIns="0">
            <a:spAutoFit/>
          </a:bodyPr>
          <a:lstStyle/>
          <a:p>
            <a:pPr algn="l">
              <a:lnSpc>
                <a:spcPts val="2380"/>
              </a:lnSpc>
            </a:pPr>
            <a:r>
              <a:rPr lang="en-US" sz="1725" b="true">
                <a:solidFill>
                  <a:srgbClr val="401252"/>
                </a:solidFill>
                <a:latin typeface="Arimo Bold"/>
                <a:ea typeface="Arimo Bold"/>
                <a:cs typeface="Arimo Bold"/>
                <a:sym typeface="Arimo Bold"/>
              </a:rPr>
              <a:t>vitamin K2 </a:t>
            </a:r>
            <a:r>
              <a:rPr lang="en-US" sz="1725">
                <a:solidFill>
                  <a:srgbClr val="6D2A8C"/>
                </a:solidFill>
                <a:latin typeface="Arimo"/>
                <a:ea typeface="Arimo"/>
                <a:cs typeface="Arimo"/>
                <a:sym typeface="Arimo"/>
              </a:rPr>
              <a:t>B </a:t>
            </a:r>
            <a:r>
              <a:rPr lang="en-US" sz="1725">
                <a:solidFill>
                  <a:srgbClr val="6B4B7D"/>
                </a:solidFill>
                <a:latin typeface="Arimo"/>
                <a:ea typeface="Arimo"/>
                <a:cs typeface="Arimo"/>
                <a:sym typeface="Arimo"/>
              </a:rPr>
              <a:t>: menachinon-7 v dávce 375 µg denně přidaný k vápníku a vitaminu D </a:t>
            </a:r>
            <a:r>
              <a:rPr lang="en-US" sz="1725" b="true">
                <a:solidFill>
                  <a:srgbClr val="401252"/>
                </a:solidFill>
                <a:latin typeface="Arimo Bold"/>
                <a:ea typeface="Arimo Bold"/>
                <a:cs typeface="Arimo Bold"/>
                <a:sym typeface="Arimo Bold"/>
              </a:rPr>
              <a:t>úbytku denzity nezabránil </a:t>
            </a:r>
            <a:r>
              <a:rPr lang="en-US" sz="1725">
                <a:solidFill>
                  <a:srgbClr val="6B4B7D"/>
                </a:solidFill>
                <a:latin typeface="Arimo"/>
                <a:ea typeface="Arimo"/>
                <a:cs typeface="Arimo"/>
                <a:sym typeface="Arimo"/>
              </a:rPr>
              <a:t>ve tříleté randomizované studii</a:t>
            </a:r>
          </a:p>
        </p:txBody>
      </p:sp>
      <p:sp>
        <p:nvSpPr>
          <p:cNvPr name="TextBox 21" id="21"/>
          <p:cNvSpPr txBox="true"/>
          <p:nvPr/>
        </p:nvSpPr>
        <p:spPr>
          <a:xfrm rot="0">
            <a:off x="9931403" y="7613332"/>
            <a:ext cx="7405373" cy="901703"/>
          </a:xfrm>
          <a:prstGeom prst="rect">
            <a:avLst/>
          </a:prstGeom>
        </p:spPr>
        <p:txBody>
          <a:bodyPr anchor="t" rtlCol="false" tIns="0" lIns="0" bIns="0" rIns="0">
            <a:spAutoFit/>
          </a:bodyPr>
          <a:lstStyle/>
          <a:p>
            <a:pPr algn="l">
              <a:lnSpc>
                <a:spcPts val="3115"/>
              </a:lnSpc>
            </a:pPr>
            <a:r>
              <a:rPr lang="en-US" sz="2250" b="true">
                <a:solidFill>
                  <a:srgbClr val="401252"/>
                </a:solidFill>
                <a:latin typeface="Arimo Bold"/>
                <a:ea typeface="Arimo Bold"/>
                <a:cs typeface="Arimo Bold"/>
                <a:sym typeface="Arimo Bold"/>
              </a:rPr>
              <a:t>Pozor: </a:t>
            </a:r>
            <a:r>
              <a:rPr lang="en-US" sz="2250">
                <a:solidFill>
                  <a:srgbClr val="6B4B7D"/>
                </a:solidFill>
                <a:latin typeface="Arimo"/>
                <a:ea typeface="Arimo"/>
                <a:cs typeface="Arimo"/>
                <a:sym typeface="Arimo"/>
              </a:rPr>
              <a:t>potřeba železa po menopauze klesá. Rutinní suplementace bez vyšetření je chyba.</a:t>
            </a:r>
          </a:p>
        </p:txBody>
      </p:sp>
      <p:sp>
        <p:nvSpPr>
          <p:cNvPr name="TextBox 22" id="22"/>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Curr Nutr Rep 2026;15:69 · Clin Nutr ESPEN 2026;75:103405 · u K2 jde o negativní nález</a:t>
            </a:r>
          </a:p>
        </p:txBody>
      </p:sp>
      <p:sp>
        <p:nvSpPr>
          <p:cNvPr name="TextBox 23" id="23"/>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36</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5275593"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LÉČBA PŘÍZNAKŮ · EVIDENČNÍ KARTA</a:t>
            </a:r>
          </a:p>
        </p:txBody>
      </p:sp>
      <p:sp>
        <p:nvSpPr>
          <p:cNvPr name="TextBox 3" id="3"/>
          <p:cNvSpPr txBox="true"/>
          <p:nvPr/>
        </p:nvSpPr>
        <p:spPr>
          <a:xfrm rot="0">
            <a:off x="1168403" y="1901828"/>
            <a:ext cx="13684253" cy="1485252"/>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Zmírní fytoestrogeny nebo probiotika návaly?</a:t>
            </a:r>
          </a:p>
        </p:txBody>
      </p:sp>
      <p:grpSp>
        <p:nvGrpSpPr>
          <p:cNvPr name="Group 4" id="4"/>
          <p:cNvGrpSpPr/>
          <p:nvPr/>
        </p:nvGrpSpPr>
        <p:grpSpPr>
          <a:xfrm rot="0">
            <a:off x="14239875" y="123155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B4B7D"/>
              </a:solidFill>
              <a:prstDash val="dash"/>
              <a:miter/>
            </a:ln>
          </p:spPr>
        </p:sp>
      </p:grpSp>
      <p:grpSp>
        <p:nvGrpSpPr>
          <p:cNvPr name="Group 6" id="6"/>
          <p:cNvGrpSpPr/>
          <p:nvPr/>
        </p:nvGrpSpPr>
        <p:grpSpPr>
          <a:xfrm rot="0">
            <a:off x="14230350" y="126012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B4B7D"/>
                  </a:solidFill>
                  <a:latin typeface="Arimo"/>
                  <a:ea typeface="Arimo"/>
                  <a:cs typeface="Arimo"/>
                  <a:sym typeface="Arimo"/>
                </a:rPr>
                <a:t>C</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SLIBNÉ, NE PROKÁZANÉ</a:t>
            </a:r>
          </a:p>
        </p:txBody>
      </p:sp>
      <p:grpSp>
        <p:nvGrpSpPr>
          <p:cNvPr name="Group 10" id="10"/>
          <p:cNvGrpSpPr/>
          <p:nvPr/>
        </p:nvGrpSpPr>
        <p:grpSpPr>
          <a:xfrm rot="0">
            <a:off x="5133975" y="5448300"/>
            <a:ext cx="9525" cy="2702566"/>
            <a:chOff x="0" y="0"/>
            <a:chExt cx="12700" cy="3603422"/>
          </a:xfrm>
        </p:grpSpPr>
        <p:sp>
          <p:nvSpPr>
            <p:cNvPr name="Freeform 11" id="11"/>
            <p:cNvSpPr/>
            <p:nvPr/>
          </p:nvSpPr>
          <p:spPr>
            <a:xfrm flipH="false" flipV="false" rot="0">
              <a:off x="0" y="0"/>
              <a:ext cx="12700" cy="3603371"/>
            </a:xfrm>
            <a:custGeom>
              <a:avLst/>
              <a:gdLst/>
              <a:ahLst/>
              <a:cxnLst/>
              <a:rect r="r" b="b" t="t" l="l"/>
              <a:pathLst>
                <a:path h="3603371" w="12700">
                  <a:moveTo>
                    <a:pt x="0" y="0"/>
                  </a:moveTo>
                  <a:lnTo>
                    <a:pt x="12700" y="0"/>
                  </a:lnTo>
                  <a:lnTo>
                    <a:pt x="12700" y="3603371"/>
                  </a:lnTo>
                  <a:lnTo>
                    <a:pt x="0" y="3603371"/>
                  </a:lnTo>
                  <a:close/>
                </a:path>
              </a:pathLst>
            </a:custGeom>
            <a:solidFill>
              <a:srgbClr val="CDB3DC"/>
            </a:solidFill>
          </p:spPr>
        </p:sp>
      </p:grpSp>
      <p:sp>
        <p:nvSpPr>
          <p:cNvPr name="TextBox 12" id="12"/>
          <p:cNvSpPr txBox="true"/>
          <p:nvPr/>
        </p:nvSpPr>
        <p:spPr>
          <a:xfrm rot="0">
            <a:off x="1168403" y="5416553"/>
            <a:ext cx="3549748" cy="368446"/>
          </a:xfrm>
          <a:prstGeom prst="rect">
            <a:avLst/>
          </a:prstGeom>
        </p:spPr>
        <p:txBody>
          <a:bodyPr anchor="t" rtlCol="false" tIns="0" lIns="0" bIns="0" rIns="0">
            <a:spAutoFit/>
          </a:bodyPr>
          <a:lstStyle/>
          <a:p>
            <a:pPr algn="l">
              <a:lnSpc>
                <a:spcPts val="2381"/>
              </a:lnSpc>
            </a:pPr>
            <a:r>
              <a:rPr lang="en-US" sz="1575" spc="189">
                <a:solidFill>
                  <a:srgbClr val="6B4B7D"/>
                </a:solidFill>
                <a:latin typeface="Arimo"/>
                <a:ea typeface="Arimo"/>
                <a:cs typeface="Arimo"/>
                <a:sym typeface="Arimo"/>
              </a:rPr>
              <a:t>OTÁZKA</a:t>
            </a:r>
          </a:p>
        </p:txBody>
      </p:sp>
      <p:sp>
        <p:nvSpPr>
          <p:cNvPr name="TextBox 13" id="13"/>
          <p:cNvSpPr txBox="true"/>
          <p:nvPr/>
        </p:nvSpPr>
        <p:spPr>
          <a:xfrm rot="0">
            <a:off x="1168403" y="5959621"/>
            <a:ext cx="3549748" cy="1119435"/>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Mají izoflavony ze sóji nebo probiotika nahradit léčbu návalů?</a:t>
            </a:r>
          </a:p>
        </p:txBody>
      </p:sp>
      <p:grpSp>
        <p:nvGrpSpPr>
          <p:cNvPr name="Group 14" id="14"/>
          <p:cNvGrpSpPr/>
          <p:nvPr/>
        </p:nvGrpSpPr>
        <p:grpSpPr>
          <a:xfrm rot="0">
            <a:off x="9134475" y="5448300"/>
            <a:ext cx="9525" cy="2702566"/>
            <a:chOff x="0" y="0"/>
            <a:chExt cx="12700" cy="3603422"/>
          </a:xfrm>
        </p:grpSpPr>
        <p:sp>
          <p:nvSpPr>
            <p:cNvPr name="Freeform 15" id="15"/>
            <p:cNvSpPr/>
            <p:nvPr/>
          </p:nvSpPr>
          <p:spPr>
            <a:xfrm flipH="false" flipV="false" rot="0">
              <a:off x="0" y="0"/>
              <a:ext cx="12700" cy="3603371"/>
            </a:xfrm>
            <a:custGeom>
              <a:avLst/>
              <a:gdLst/>
              <a:ahLst/>
              <a:cxnLst/>
              <a:rect r="r" b="b" t="t" l="l"/>
              <a:pathLst>
                <a:path h="3603371" w="12700">
                  <a:moveTo>
                    <a:pt x="0" y="0"/>
                  </a:moveTo>
                  <a:lnTo>
                    <a:pt x="12700" y="0"/>
                  </a:lnTo>
                  <a:lnTo>
                    <a:pt x="12700" y="3603371"/>
                  </a:lnTo>
                  <a:lnTo>
                    <a:pt x="0" y="3603371"/>
                  </a:lnTo>
                  <a:close/>
                </a:path>
              </a:pathLst>
            </a:custGeom>
            <a:solidFill>
              <a:srgbClr val="CDB3DC"/>
            </a:solidFill>
          </p:spPr>
        </p:sp>
      </p:grpSp>
      <p:sp>
        <p:nvSpPr>
          <p:cNvPr name="TextBox 16" id="16"/>
          <p:cNvSpPr txBox="true"/>
          <p:nvPr/>
        </p:nvSpPr>
        <p:spPr>
          <a:xfrm rot="0">
            <a:off x="5664203" y="5416553"/>
            <a:ext cx="3039589" cy="368446"/>
          </a:xfrm>
          <a:prstGeom prst="rect">
            <a:avLst/>
          </a:prstGeom>
        </p:spPr>
        <p:txBody>
          <a:bodyPr anchor="t" rtlCol="false" tIns="0" lIns="0" bIns="0" rIns="0">
            <a:spAutoFit/>
          </a:bodyPr>
          <a:lstStyle/>
          <a:p>
            <a:pPr algn="l">
              <a:lnSpc>
                <a:spcPts val="2381"/>
              </a:lnSpc>
            </a:pPr>
            <a:r>
              <a:rPr lang="en-US" sz="1575" spc="189">
                <a:solidFill>
                  <a:srgbClr val="6D2A8C"/>
                </a:solidFill>
                <a:latin typeface="Arimo"/>
                <a:ea typeface="Arimo"/>
                <a:cs typeface="Arimo"/>
                <a:sym typeface="Arimo"/>
              </a:rPr>
              <a:t>ZJIŠTĚNÍ</a:t>
            </a:r>
          </a:p>
        </p:txBody>
      </p:sp>
      <p:sp>
        <p:nvSpPr>
          <p:cNvPr name="TextBox 17" id="17"/>
          <p:cNvSpPr txBox="true"/>
          <p:nvPr/>
        </p:nvSpPr>
        <p:spPr>
          <a:xfrm rot="0">
            <a:off x="5664203" y="5959621"/>
            <a:ext cx="3039589" cy="2203942"/>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Izoflavony: efekt </a:t>
            </a:r>
            <a:r>
              <a:rPr lang="en-US" sz="1950" b="true">
                <a:solidFill>
                  <a:srgbClr val="401252"/>
                </a:solidFill>
                <a:latin typeface="Arimo Bold"/>
                <a:ea typeface="Arimo Bold"/>
                <a:cs typeface="Arimo Bold"/>
                <a:sym typeface="Arimo Bold"/>
              </a:rPr>
              <a:t>malý a nekonzistentní </a:t>
            </a:r>
            <a:r>
              <a:rPr lang="en-US" sz="1950">
                <a:solidFill>
                  <a:srgbClr val="6B4B7D"/>
                </a:solidFill>
                <a:latin typeface="Arimo"/>
                <a:ea typeface="Arimo"/>
                <a:cs typeface="Arimo"/>
                <a:sym typeface="Arimo"/>
              </a:rPr>
              <a:t>, extrakty a equol nedoporučeny. Probiotika: příznivé nálezy, ale </a:t>
            </a:r>
            <a:r>
              <a:rPr lang="en-US" sz="1950" b="true">
                <a:solidFill>
                  <a:srgbClr val="401252"/>
                </a:solidFill>
                <a:latin typeface="Arimo Bold"/>
                <a:ea typeface="Arimo Bold"/>
                <a:cs typeface="Arimo Bold"/>
                <a:sym typeface="Arimo Bold"/>
              </a:rPr>
              <a:t>vysoké riziko bias</a:t>
            </a:r>
            <a:r>
              <a:rPr lang="en-US" sz="1950">
                <a:solidFill>
                  <a:srgbClr val="6B4B7D"/>
                </a:solidFill>
                <a:latin typeface="Arimo"/>
                <a:ea typeface="Arimo"/>
                <a:cs typeface="Arimo"/>
                <a:sym typeface="Arimo"/>
              </a:rPr>
              <a:t>.</a:t>
            </a:r>
          </a:p>
        </p:txBody>
      </p:sp>
      <p:grpSp>
        <p:nvGrpSpPr>
          <p:cNvPr name="Group 18" id="18"/>
          <p:cNvGrpSpPr/>
          <p:nvPr/>
        </p:nvGrpSpPr>
        <p:grpSpPr>
          <a:xfrm rot="0">
            <a:off x="13134975" y="5448300"/>
            <a:ext cx="9525" cy="2702566"/>
            <a:chOff x="0" y="0"/>
            <a:chExt cx="12700" cy="3603422"/>
          </a:xfrm>
        </p:grpSpPr>
        <p:sp>
          <p:nvSpPr>
            <p:cNvPr name="Freeform 19" id="19"/>
            <p:cNvSpPr/>
            <p:nvPr/>
          </p:nvSpPr>
          <p:spPr>
            <a:xfrm flipH="false" flipV="false" rot="0">
              <a:off x="0" y="0"/>
              <a:ext cx="12700" cy="3603371"/>
            </a:xfrm>
            <a:custGeom>
              <a:avLst/>
              <a:gdLst/>
              <a:ahLst/>
              <a:cxnLst/>
              <a:rect r="r" b="b" t="t" l="l"/>
              <a:pathLst>
                <a:path h="3603371" w="12700">
                  <a:moveTo>
                    <a:pt x="0" y="0"/>
                  </a:moveTo>
                  <a:lnTo>
                    <a:pt x="12700" y="0"/>
                  </a:lnTo>
                  <a:lnTo>
                    <a:pt x="12700" y="3603371"/>
                  </a:lnTo>
                  <a:lnTo>
                    <a:pt x="0" y="3603371"/>
                  </a:lnTo>
                  <a:close/>
                </a:path>
              </a:pathLst>
            </a:custGeom>
            <a:solidFill>
              <a:srgbClr val="CDB3DC"/>
            </a:solidFill>
          </p:spPr>
        </p:sp>
      </p:grpSp>
      <p:sp>
        <p:nvSpPr>
          <p:cNvPr name="TextBox 20" id="20"/>
          <p:cNvSpPr txBox="true"/>
          <p:nvPr/>
        </p:nvSpPr>
        <p:spPr>
          <a:xfrm rot="0">
            <a:off x="9664703" y="5416553"/>
            <a:ext cx="3039589" cy="368446"/>
          </a:xfrm>
          <a:prstGeom prst="rect">
            <a:avLst/>
          </a:prstGeom>
        </p:spPr>
        <p:txBody>
          <a:bodyPr anchor="t" rtlCol="false" tIns="0" lIns="0" bIns="0" rIns="0">
            <a:spAutoFit/>
          </a:bodyPr>
          <a:lstStyle/>
          <a:p>
            <a:pPr algn="l">
              <a:lnSpc>
                <a:spcPts val="2381"/>
              </a:lnSpc>
            </a:pPr>
            <a:r>
              <a:rPr lang="en-US" sz="1575" spc="189">
                <a:solidFill>
                  <a:srgbClr val="6B4B7D"/>
                </a:solidFill>
                <a:latin typeface="Arimo"/>
                <a:ea typeface="Arimo"/>
                <a:cs typeface="Arimo"/>
                <a:sym typeface="Arimo"/>
              </a:rPr>
              <a:t>INTERPRETACE</a:t>
            </a:r>
          </a:p>
        </p:txBody>
      </p:sp>
      <p:sp>
        <p:nvSpPr>
          <p:cNvPr name="TextBox 21" id="21"/>
          <p:cNvSpPr txBox="true"/>
          <p:nvPr/>
        </p:nvSpPr>
        <p:spPr>
          <a:xfrm rot="0">
            <a:off x="9664703" y="5959621"/>
            <a:ext cx="3039589" cy="1480937"/>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Sójové </a:t>
            </a:r>
            <a:r>
              <a:rPr lang="en-US" sz="1950" b="true">
                <a:solidFill>
                  <a:srgbClr val="401252"/>
                </a:solidFill>
                <a:latin typeface="Arimo Bold"/>
                <a:ea typeface="Arimo Bold"/>
                <a:cs typeface="Arimo Bold"/>
                <a:sym typeface="Arimo Bold"/>
              </a:rPr>
              <a:t>potraviny </a:t>
            </a:r>
            <a:r>
              <a:rPr lang="en-US" sz="1950">
                <a:solidFill>
                  <a:srgbClr val="6B4B7D"/>
                </a:solidFill>
                <a:latin typeface="Arimo"/>
                <a:ea typeface="Arimo"/>
                <a:cs typeface="Arimo"/>
                <a:sym typeface="Arimo"/>
              </a:rPr>
              <a:t>ano, jako dobrý zdroj bílkoviny. Sójové </a:t>
            </a:r>
            <a:r>
              <a:rPr lang="en-US" sz="1950" b="true">
                <a:solidFill>
                  <a:srgbClr val="401252"/>
                </a:solidFill>
                <a:latin typeface="Arimo Bold"/>
                <a:ea typeface="Arimo Bold"/>
                <a:cs typeface="Arimo Bold"/>
                <a:sym typeface="Arimo Bold"/>
              </a:rPr>
              <a:t>extrakty </a:t>
            </a:r>
            <a:r>
              <a:rPr lang="en-US" sz="1950">
                <a:solidFill>
                  <a:srgbClr val="6B4B7D"/>
                </a:solidFill>
                <a:latin typeface="Arimo"/>
                <a:ea typeface="Arimo"/>
                <a:cs typeface="Arimo"/>
                <a:sym typeface="Arimo"/>
              </a:rPr>
              <a:t>jako léčba návalů ne.</a:t>
            </a:r>
          </a:p>
        </p:txBody>
      </p:sp>
      <p:sp>
        <p:nvSpPr>
          <p:cNvPr name="TextBox 22" id="22"/>
          <p:cNvSpPr txBox="true"/>
          <p:nvPr/>
        </p:nvSpPr>
        <p:spPr>
          <a:xfrm rot="0">
            <a:off x="13665203" y="5416553"/>
            <a:ext cx="3559559" cy="368446"/>
          </a:xfrm>
          <a:prstGeom prst="rect">
            <a:avLst/>
          </a:prstGeom>
        </p:spPr>
        <p:txBody>
          <a:bodyPr anchor="t" rtlCol="false" tIns="0" lIns="0" bIns="0" rIns="0">
            <a:spAutoFit/>
          </a:bodyPr>
          <a:lstStyle/>
          <a:p>
            <a:pPr algn="l">
              <a:lnSpc>
                <a:spcPts val="2381"/>
              </a:lnSpc>
            </a:pPr>
            <a:r>
              <a:rPr lang="en-US" sz="1575" spc="189">
                <a:solidFill>
                  <a:srgbClr val="6B4B7D"/>
                </a:solidFill>
                <a:latin typeface="Arimo"/>
                <a:ea typeface="Arimo"/>
                <a:cs typeface="Arimo"/>
                <a:sym typeface="Arimo"/>
              </a:rPr>
              <a:t>LIMIT</a:t>
            </a:r>
          </a:p>
        </p:txBody>
      </p:sp>
      <p:sp>
        <p:nvSpPr>
          <p:cNvPr name="TextBox 23" id="23"/>
          <p:cNvSpPr txBox="true"/>
          <p:nvPr/>
        </p:nvSpPr>
        <p:spPr>
          <a:xfrm rot="0">
            <a:off x="13665203" y="5959621"/>
            <a:ext cx="3559559" cy="1480937"/>
          </a:xfrm>
          <a:prstGeom prst="rect">
            <a:avLst/>
          </a:prstGeom>
        </p:spPr>
        <p:txBody>
          <a:bodyPr anchor="t" rtlCol="false" tIns="0" lIns="0" bIns="0" rIns="0">
            <a:spAutoFit/>
          </a:bodyPr>
          <a:lstStyle/>
          <a:p>
            <a:pPr algn="l">
              <a:lnSpc>
                <a:spcPts val="2651"/>
              </a:lnSpc>
            </a:pPr>
            <a:r>
              <a:rPr lang="en-US" sz="1950">
                <a:solidFill>
                  <a:srgbClr val="6B4B7D"/>
                </a:solidFill>
                <a:latin typeface="Arimo"/>
                <a:ea typeface="Arimo"/>
                <a:cs typeface="Arimo"/>
                <a:sym typeface="Arimo"/>
              </a:rPr>
              <a:t>Heterogenní studie, krátké trvání, malé vzorky. Rozdíl mezi potravinou a extraktem je zásadní.</a:t>
            </a:r>
          </a:p>
        </p:txBody>
      </p:sp>
      <p:sp>
        <p:nvSpPr>
          <p:cNvPr name="TextBox 24" id="24"/>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The Menopause Society, nonhormone statement 2023 · metaanalýza probiotik: vysoké riziko bias</a:t>
            </a:r>
          </a:p>
        </p:txBody>
      </p:sp>
      <p:sp>
        <p:nvSpPr>
          <p:cNvPr name="TextBox 25" id="25"/>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37</a:t>
            </a:r>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01252"/>
            </a:solidFill>
          </p:spPr>
        </p:sp>
      </p:grpSp>
      <p:sp>
        <p:nvSpPr>
          <p:cNvPr name="TextBox 4" id="4"/>
          <p:cNvSpPr txBox="true"/>
          <p:nvPr/>
        </p:nvSpPr>
        <p:spPr>
          <a:xfrm rot="0">
            <a:off x="1168403" y="1292228"/>
            <a:ext cx="6566706" cy="393383"/>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ODPOVĚĎ · EXISTUJE JÍDLO, KTERÉ TO SPRAVÍ?</a:t>
            </a:r>
          </a:p>
        </p:txBody>
      </p:sp>
      <p:sp>
        <p:nvSpPr>
          <p:cNvPr name="TextBox 5" id="5"/>
          <p:cNvSpPr txBox="true"/>
          <p:nvPr/>
        </p:nvSpPr>
        <p:spPr>
          <a:xfrm rot="0">
            <a:off x="1168403" y="4679775"/>
            <a:ext cx="14665328" cy="1610716"/>
          </a:xfrm>
          <a:prstGeom prst="rect">
            <a:avLst/>
          </a:prstGeom>
        </p:spPr>
        <p:txBody>
          <a:bodyPr anchor="t" rtlCol="false" tIns="0" lIns="0" bIns="0" rIns="0">
            <a:spAutoFit/>
          </a:bodyPr>
          <a:lstStyle/>
          <a:p>
            <a:pPr algn="l">
              <a:lnSpc>
                <a:spcPts val="6263"/>
              </a:lnSpc>
            </a:pPr>
            <a:r>
              <a:rPr lang="en-US" sz="6300" spc="-175">
                <a:solidFill>
                  <a:srgbClr val="FFFFFF"/>
                </a:solidFill>
                <a:latin typeface="Arimo"/>
                <a:ea typeface="Arimo"/>
                <a:cs typeface="Arimo"/>
                <a:sym typeface="Arimo"/>
              </a:rPr>
              <a:t>Menopauzální dieta neexistuje. Vzorec stravování ano.</a:t>
            </a:r>
          </a:p>
        </p:txBody>
      </p:sp>
      <p:sp>
        <p:nvSpPr>
          <p:cNvPr name="TextBox 6" id="6"/>
          <p:cNvSpPr txBox="true"/>
          <p:nvPr/>
        </p:nvSpPr>
        <p:spPr>
          <a:xfrm rot="0">
            <a:off x="1168403" y="6674672"/>
            <a:ext cx="13684253" cy="980427"/>
          </a:xfrm>
          <a:prstGeom prst="rect">
            <a:avLst/>
          </a:prstGeom>
        </p:spPr>
        <p:txBody>
          <a:bodyPr anchor="t" rtlCol="false" tIns="0" lIns="0" bIns="0" rIns="0">
            <a:spAutoFit/>
          </a:bodyPr>
          <a:lstStyle/>
          <a:p>
            <a:pPr algn="l">
              <a:lnSpc>
                <a:spcPts val="3452"/>
              </a:lnSpc>
            </a:pPr>
            <a:r>
              <a:rPr lang="en-US" sz="2550">
                <a:solidFill>
                  <a:srgbClr val="C9AEDA"/>
                </a:solidFill>
                <a:latin typeface="Arimo"/>
                <a:ea typeface="Arimo"/>
                <a:cs typeface="Arimo"/>
                <a:sym typeface="Arimo"/>
              </a:rPr>
              <a:t>Žádná potravina příznaky nevyléčí. Celkový vzorec, dost bílkovin, dost vlákniny a vápník s vitaminem D, mění to, jak budete fungovat za dvacet let.</a:t>
            </a:r>
          </a:p>
        </p:txBody>
      </p:sp>
      <p:sp>
        <p:nvSpPr>
          <p:cNvPr name="TextBox 7" id="7"/>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38</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9302" r="0" b="-9302"/>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401252">
                    <a:alpha val="97000"/>
                  </a:srgbClr>
                </a:gs>
                <a:gs pos="46000">
                  <a:srgbClr val="401252">
                    <a:alpha val="91000"/>
                  </a:srgbClr>
                </a:gs>
                <a:gs pos="80000">
                  <a:srgbClr val="401252">
                    <a:alpha val="40000"/>
                  </a:srgbClr>
                </a:gs>
                <a:gs pos="100000">
                  <a:srgbClr val="401252">
                    <a:alpha val="12000"/>
                  </a:srgbClr>
                </a:gs>
              </a:gsLst>
              <a:lin ang="0"/>
            </a:gradFill>
          </p:spPr>
        </p:sp>
      </p:grpSp>
      <p:sp>
        <p:nvSpPr>
          <p:cNvPr name="TextBox 6" id="6"/>
          <p:cNvSpPr txBox="true"/>
          <p:nvPr/>
        </p:nvSpPr>
        <p:spPr>
          <a:xfrm rot="0">
            <a:off x="1168403" y="1292228"/>
            <a:ext cx="4833576" cy="393383"/>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ČÁST PÁTÁ · CO MŮŽU ZAČÍT ZÍTRA</a:t>
            </a:r>
          </a:p>
        </p:txBody>
      </p:sp>
      <p:sp>
        <p:nvSpPr>
          <p:cNvPr name="TextBox 7" id="7"/>
          <p:cNvSpPr txBox="true"/>
          <p:nvPr/>
        </p:nvSpPr>
        <p:spPr>
          <a:xfrm rot="0">
            <a:off x="1168403" y="5057499"/>
            <a:ext cx="14198603" cy="883768"/>
          </a:xfrm>
          <a:prstGeom prst="rect">
            <a:avLst/>
          </a:prstGeom>
        </p:spPr>
        <p:txBody>
          <a:bodyPr anchor="t" rtlCol="false" tIns="0" lIns="0" bIns="0" rIns="0">
            <a:spAutoFit/>
          </a:bodyPr>
          <a:lstStyle/>
          <a:p>
            <a:pPr algn="l">
              <a:lnSpc>
                <a:spcPts val="7490"/>
              </a:lnSpc>
            </a:pPr>
            <a:r>
              <a:rPr lang="en-US" sz="7650" spc="-214">
                <a:solidFill>
                  <a:srgbClr val="FFFFFF"/>
                </a:solidFill>
                <a:latin typeface="Arimo"/>
                <a:ea typeface="Arimo"/>
                <a:cs typeface="Arimo"/>
                <a:sym typeface="Arimo"/>
              </a:rPr>
              <a:t>Čím mám začít zítra?</a:t>
            </a:r>
          </a:p>
        </p:txBody>
      </p:sp>
      <p:sp>
        <p:nvSpPr>
          <p:cNvPr name="TextBox 8" id="8"/>
          <p:cNvSpPr txBox="true"/>
          <p:nvPr/>
        </p:nvSpPr>
        <p:spPr>
          <a:xfrm rot="0">
            <a:off x="1168403" y="6325448"/>
            <a:ext cx="12310748" cy="980427"/>
          </a:xfrm>
          <a:prstGeom prst="rect">
            <a:avLst/>
          </a:prstGeom>
        </p:spPr>
        <p:txBody>
          <a:bodyPr anchor="t" rtlCol="false" tIns="0" lIns="0" bIns="0" rIns="0">
            <a:spAutoFit/>
          </a:bodyPr>
          <a:lstStyle/>
          <a:p>
            <a:pPr algn="l">
              <a:lnSpc>
                <a:spcPts val="3452"/>
              </a:lnSpc>
            </a:pPr>
            <a:r>
              <a:rPr lang="en-US" sz="2550">
                <a:solidFill>
                  <a:srgbClr val="C9AEDA"/>
                </a:solidFill>
                <a:latin typeface="Arimo"/>
                <a:ea typeface="Arimo"/>
                <a:cs typeface="Arimo"/>
                <a:sym typeface="Arimo"/>
              </a:rPr>
              <a:t>Koučovací pomůcky z metodiky Precision Nutrition. Neříkají, </a:t>
            </a:r>
            <a:r>
              <a:rPr lang="en-US" sz="2550" i="true">
                <a:solidFill>
                  <a:srgbClr val="C9AEDA"/>
                </a:solidFill>
                <a:latin typeface="Arimo Italics"/>
                <a:ea typeface="Arimo Italics"/>
                <a:cs typeface="Arimo Italics"/>
                <a:sym typeface="Arimo Italics"/>
              </a:rPr>
              <a:t>co je správné</a:t>
            </a:r>
            <a:r>
              <a:rPr lang="en-US" sz="2550">
                <a:solidFill>
                  <a:srgbClr val="C9AEDA"/>
                </a:solidFill>
                <a:latin typeface="Arimo"/>
                <a:ea typeface="Arimo"/>
                <a:cs typeface="Arimo"/>
                <a:sym typeface="Arimo"/>
              </a:rPr>
              <a:t>. Říkají, </a:t>
            </a:r>
            <a:r>
              <a:rPr lang="en-US" sz="2550">
                <a:solidFill>
                  <a:srgbClr val="FFFFFF"/>
                </a:solidFill>
                <a:latin typeface="Arimo"/>
                <a:ea typeface="Arimo"/>
                <a:cs typeface="Arimo"/>
                <a:sym typeface="Arimo"/>
              </a:rPr>
              <a:t>jak to zavést a jak vydržet</a:t>
            </a:r>
            <a:r>
              <a:rPr lang="en-US" sz="2550">
                <a:solidFill>
                  <a:srgbClr val="C9AEDA"/>
                </a:solidFill>
                <a:latin typeface="Arimo"/>
                <a:ea typeface="Arimo"/>
                <a:cs typeface="Arimo"/>
                <a:sym typeface="Arimo"/>
              </a:rPr>
              <a:t>.</a:t>
            </a:r>
          </a:p>
        </p:txBody>
      </p:sp>
      <p:grpSp>
        <p:nvGrpSpPr>
          <p:cNvPr name="Group 9" id="9"/>
          <p:cNvGrpSpPr/>
          <p:nvPr/>
        </p:nvGrpSpPr>
        <p:grpSpPr>
          <a:xfrm rot="0">
            <a:off x="13982700" y="1066800"/>
            <a:ext cx="3314700" cy="729558"/>
            <a:chOff x="0" y="0"/>
            <a:chExt cx="4419600" cy="972744"/>
          </a:xfrm>
        </p:grpSpPr>
        <p:sp>
          <p:nvSpPr>
            <p:cNvPr name="Freeform 10" id="10"/>
            <p:cNvSpPr/>
            <p:nvPr/>
          </p:nvSpPr>
          <p:spPr>
            <a:xfrm flipH="false" flipV="false" rot="0">
              <a:off x="0" y="0"/>
              <a:ext cx="4419600" cy="972693"/>
            </a:xfrm>
            <a:custGeom>
              <a:avLst/>
              <a:gdLst/>
              <a:ahLst/>
              <a:cxnLst/>
              <a:rect r="r" b="b" t="t" l="l"/>
              <a:pathLst>
                <a:path h="972693" w="4419600">
                  <a:moveTo>
                    <a:pt x="0" y="152400"/>
                  </a:moveTo>
                  <a:cubicBezTo>
                    <a:pt x="0" y="68199"/>
                    <a:pt x="68199" y="0"/>
                    <a:pt x="152400" y="0"/>
                  </a:cubicBezTo>
                  <a:lnTo>
                    <a:pt x="4267200" y="0"/>
                  </a:lnTo>
                  <a:cubicBezTo>
                    <a:pt x="4351401" y="0"/>
                    <a:pt x="4419600" y="68199"/>
                    <a:pt x="4419600" y="152400"/>
                  </a:cubicBezTo>
                  <a:lnTo>
                    <a:pt x="4419600" y="820293"/>
                  </a:lnTo>
                  <a:cubicBezTo>
                    <a:pt x="4419600" y="904494"/>
                    <a:pt x="4351401" y="972693"/>
                    <a:pt x="4267200" y="972693"/>
                  </a:cubicBezTo>
                  <a:lnTo>
                    <a:pt x="152400" y="972693"/>
                  </a:lnTo>
                  <a:cubicBezTo>
                    <a:pt x="68199" y="972693"/>
                    <a:pt x="0" y="904494"/>
                    <a:pt x="0" y="820293"/>
                  </a:cubicBezTo>
                  <a:close/>
                </a:path>
              </a:pathLst>
            </a:custGeom>
            <a:solidFill>
              <a:srgbClr val="401252">
                <a:alpha val="90196"/>
              </a:srgbClr>
            </a:solidFill>
          </p:spPr>
        </p:sp>
      </p:grpSp>
      <p:grpSp>
        <p:nvGrpSpPr>
          <p:cNvPr name="Group 11" id="11"/>
          <p:cNvGrpSpPr/>
          <p:nvPr/>
        </p:nvGrpSpPr>
        <p:grpSpPr>
          <a:xfrm rot="0">
            <a:off x="14192250" y="1241079"/>
            <a:ext cx="381000" cy="381000"/>
            <a:chOff x="0" y="0"/>
            <a:chExt cx="508000" cy="508000"/>
          </a:xfrm>
        </p:grpSpPr>
        <p:sp>
          <p:nvSpPr>
            <p:cNvPr name="Freeform 12" id="12"/>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C8ADDB">
                <a:alpha val="4706"/>
              </a:srgbClr>
            </a:solidFill>
          </p:spPr>
        </p:sp>
      </p:grpSp>
      <p:grpSp>
        <p:nvGrpSpPr>
          <p:cNvPr name="Group 13" id="13"/>
          <p:cNvGrpSpPr/>
          <p:nvPr/>
        </p:nvGrpSpPr>
        <p:grpSpPr>
          <a:xfrm rot="0">
            <a:off x="14154150" y="1241079"/>
            <a:ext cx="457200" cy="419100"/>
            <a:chOff x="0" y="0"/>
            <a:chExt cx="609600" cy="558800"/>
          </a:xfrm>
        </p:grpSpPr>
        <p:sp>
          <p:nvSpPr>
            <p:cNvPr name="Freeform 14" id="14"/>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4">
                <a:alphaModFix amt="0"/>
              </a:blip>
              <a:stretch>
                <a:fillRect l="-67611" t="0" r="-67611" b="0"/>
              </a:stretch>
            </a:blipFill>
          </p:spPr>
        </p:sp>
        <p:sp>
          <p:nvSpPr>
            <p:cNvPr name="TextBox 15" id="15"/>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FFFFFF"/>
                  </a:solidFill>
                  <a:latin typeface="Arimo"/>
                  <a:ea typeface="Arimo"/>
                  <a:cs typeface="Arimo"/>
                  <a:sym typeface="Arimo"/>
                </a:rPr>
                <a:t>P</a:t>
              </a:r>
            </a:p>
          </p:txBody>
        </p:sp>
      </p:grpSp>
      <p:sp>
        <p:nvSpPr>
          <p:cNvPr name="TextBox 16" id="16"/>
          <p:cNvSpPr txBox="true"/>
          <p:nvPr/>
        </p:nvSpPr>
        <p:spPr>
          <a:xfrm rot="0">
            <a:off x="14732003" y="1206503"/>
            <a:ext cx="2406653" cy="469202"/>
          </a:xfrm>
          <a:prstGeom prst="rect">
            <a:avLst/>
          </a:prstGeom>
        </p:spPr>
        <p:txBody>
          <a:bodyPr anchor="t" rtlCol="false" tIns="0" lIns="0" bIns="0" rIns="0">
            <a:spAutoFit/>
          </a:bodyPr>
          <a:lstStyle/>
          <a:p>
            <a:pPr algn="l">
              <a:lnSpc>
                <a:spcPts val="1675"/>
              </a:lnSpc>
            </a:pPr>
            <a:r>
              <a:rPr lang="en-US" sz="1350" i="true" spc="27">
                <a:solidFill>
                  <a:srgbClr val="C9AEDA"/>
                </a:solidFill>
                <a:latin typeface="Arimo Italics"/>
                <a:ea typeface="Arimo Italics"/>
                <a:cs typeface="Arimo Italics"/>
                <a:sym typeface="Arimo Italics"/>
              </a:rPr>
              <a:t>Praktický nástroj, ne doporučení</a:t>
            </a:r>
          </a:p>
        </p:txBody>
      </p:sp>
      <p:sp>
        <p:nvSpPr>
          <p:cNvPr name="TextBox 17" id="17"/>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39</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3069784"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NÁSTROJ · VYTRVÁNÍ</a:t>
            </a:r>
          </a:p>
        </p:txBody>
      </p:sp>
      <p:sp>
        <p:nvSpPr>
          <p:cNvPr name="TextBox 3" id="3"/>
          <p:cNvSpPr txBox="true"/>
          <p:nvPr/>
        </p:nvSpPr>
        <p:spPr>
          <a:xfrm rot="0">
            <a:off x="1168403" y="1873253"/>
            <a:ext cx="14617703" cy="600694"/>
          </a:xfrm>
          <a:prstGeom prst="rect">
            <a:avLst/>
          </a:prstGeom>
        </p:spPr>
        <p:txBody>
          <a:bodyPr anchor="t" rtlCol="false" tIns="0" lIns="0" bIns="0" rIns="0">
            <a:spAutoFit/>
          </a:bodyPr>
          <a:lstStyle/>
          <a:p>
            <a:pPr algn="l">
              <a:lnSpc>
                <a:spcPts val="4735"/>
              </a:lnSpc>
            </a:pPr>
            <a:r>
              <a:rPr lang="en-US" sz="4500" spc="-81">
                <a:solidFill>
                  <a:srgbClr val="401252"/>
                </a:solidFill>
                <a:latin typeface="Arimo"/>
                <a:ea typeface="Arimo"/>
                <a:cs typeface="Arimo"/>
                <a:sym typeface="Arimo"/>
              </a:rPr>
              <a:t>Léčba, kterou žena po roce nebere, nefunguje.</a:t>
            </a:r>
          </a:p>
        </p:txBody>
      </p:sp>
      <p:grpSp>
        <p:nvGrpSpPr>
          <p:cNvPr name="Group 4" id="4"/>
          <p:cNvGrpSpPr/>
          <p:nvPr/>
        </p:nvGrpSpPr>
        <p:grpSpPr>
          <a:xfrm rot="0">
            <a:off x="14239875" y="123155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26012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OBSERVAČNÍ DATA, NE RANDOMIZOVANÁ</a:t>
            </a:r>
          </a:p>
        </p:txBody>
      </p:sp>
      <p:sp>
        <p:nvSpPr>
          <p:cNvPr name="TextBox 10" id="10"/>
          <p:cNvSpPr txBox="true"/>
          <p:nvPr/>
        </p:nvSpPr>
        <p:spPr>
          <a:xfrm rot="0">
            <a:off x="1168403" y="4311653"/>
            <a:ext cx="2520582" cy="1350493"/>
          </a:xfrm>
          <a:prstGeom prst="rect">
            <a:avLst/>
          </a:prstGeom>
        </p:spPr>
        <p:txBody>
          <a:bodyPr anchor="t" rtlCol="false" tIns="0" lIns="0" bIns="0" rIns="0">
            <a:spAutoFit/>
          </a:bodyPr>
          <a:lstStyle/>
          <a:p>
            <a:pPr algn="l">
              <a:lnSpc>
                <a:spcPts val="8506"/>
              </a:lnSpc>
            </a:pPr>
            <a:r>
              <a:rPr lang="en-US" sz="5700" spc="-171">
                <a:solidFill>
                  <a:srgbClr val="6D2A8C"/>
                </a:solidFill>
                <a:latin typeface="Arimo"/>
                <a:ea typeface="Arimo"/>
                <a:cs typeface="Arimo"/>
                <a:sym typeface="Arimo"/>
              </a:rPr>
              <a:t>40–50%</a:t>
            </a:r>
          </a:p>
        </p:txBody>
      </p:sp>
      <p:sp>
        <p:nvSpPr>
          <p:cNvPr name="TextBox 11" id="11"/>
          <p:cNvSpPr txBox="true"/>
          <p:nvPr/>
        </p:nvSpPr>
        <p:spPr>
          <a:xfrm rot="0">
            <a:off x="4044582" y="4954591"/>
            <a:ext cx="14387608" cy="5016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žen, které začnou hormonální léčbu, ji </a:t>
            </a:r>
            <a:r>
              <a:rPr lang="en-US" sz="2400" b="true">
                <a:solidFill>
                  <a:srgbClr val="401252"/>
                </a:solidFill>
                <a:latin typeface="Arimo Bold"/>
                <a:ea typeface="Arimo Bold"/>
                <a:cs typeface="Arimo Bold"/>
                <a:sym typeface="Arimo Bold"/>
              </a:rPr>
              <a:t>ukončí do jednoho roku</a:t>
            </a:r>
          </a:p>
        </p:txBody>
      </p:sp>
      <p:sp>
        <p:nvSpPr>
          <p:cNvPr name="TextBox 12" id="12"/>
          <p:cNvSpPr txBox="true"/>
          <p:nvPr/>
        </p:nvSpPr>
        <p:spPr>
          <a:xfrm rot="0">
            <a:off x="1168403" y="5808193"/>
            <a:ext cx="2520582" cy="1350493"/>
          </a:xfrm>
          <a:prstGeom prst="rect">
            <a:avLst/>
          </a:prstGeom>
        </p:spPr>
        <p:txBody>
          <a:bodyPr anchor="t" rtlCol="false" tIns="0" lIns="0" bIns="0" rIns="0">
            <a:spAutoFit/>
          </a:bodyPr>
          <a:lstStyle/>
          <a:p>
            <a:pPr algn="l">
              <a:lnSpc>
                <a:spcPts val="8506"/>
              </a:lnSpc>
            </a:pPr>
            <a:r>
              <a:rPr lang="en-US" sz="5700" spc="-171">
                <a:solidFill>
                  <a:srgbClr val="6D2A8C"/>
                </a:solidFill>
                <a:latin typeface="Arimo"/>
                <a:ea typeface="Arimo"/>
                <a:cs typeface="Arimo"/>
                <a:sym typeface="Arimo"/>
              </a:rPr>
              <a:t>65–75%</a:t>
            </a:r>
          </a:p>
        </p:txBody>
      </p:sp>
      <p:sp>
        <p:nvSpPr>
          <p:cNvPr name="TextBox 13" id="13"/>
          <p:cNvSpPr txBox="true"/>
          <p:nvPr/>
        </p:nvSpPr>
        <p:spPr>
          <a:xfrm rot="0">
            <a:off x="4044582" y="6451130"/>
            <a:ext cx="14387608" cy="5016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ji ukončí </a:t>
            </a:r>
            <a:r>
              <a:rPr lang="en-US" sz="2400" b="true">
                <a:solidFill>
                  <a:srgbClr val="401252"/>
                </a:solidFill>
                <a:latin typeface="Arimo Bold"/>
                <a:ea typeface="Arimo Bold"/>
                <a:cs typeface="Arimo Bold"/>
                <a:sym typeface="Arimo Bold"/>
              </a:rPr>
              <a:t>do dvou let</a:t>
            </a:r>
            <a:r>
              <a:rPr lang="en-US" sz="2400">
                <a:solidFill>
                  <a:srgbClr val="6B4B7D"/>
                </a:solidFill>
                <a:latin typeface="Arimo"/>
                <a:ea typeface="Arimo"/>
                <a:cs typeface="Arimo"/>
                <a:sym typeface="Arimo"/>
              </a:rPr>
              <a:t>, často bez konzultace s lékařem</a:t>
            </a:r>
          </a:p>
        </p:txBody>
      </p:sp>
      <p:sp>
        <p:nvSpPr>
          <p:cNvPr name="TextBox 14" id="14"/>
          <p:cNvSpPr txBox="true"/>
          <p:nvPr/>
        </p:nvSpPr>
        <p:spPr>
          <a:xfrm rot="0">
            <a:off x="1168403" y="7495232"/>
            <a:ext cx="17551403" cy="5016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Nejsou to čísla o účinnosti. Jsou to čísla o vytrvání. Stejně to platí pro pohyb, spánek i stravu.</a:t>
            </a:r>
          </a:p>
        </p:txBody>
      </p:sp>
      <p:sp>
        <p:nvSpPr>
          <p:cNvPr name="TextBox 15" id="15"/>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UpToDate, Treatment of menopausal symptoms with hormone therapy, 2026</a:t>
            </a:r>
          </a:p>
        </p:txBody>
      </p:sp>
      <p:sp>
        <p:nvSpPr>
          <p:cNvPr name="TextBox 16" id="16"/>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40</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3069784"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NÁSTROJ · ZAVÁDĚNÍ</a:t>
            </a:r>
          </a:p>
        </p:txBody>
      </p:sp>
      <p:sp>
        <p:nvSpPr>
          <p:cNvPr name="TextBox 3" id="3"/>
          <p:cNvSpPr txBox="true"/>
          <p:nvPr/>
        </p:nvSpPr>
        <p:spPr>
          <a:xfrm rot="0">
            <a:off x="1168403" y="4148614"/>
            <a:ext cx="8386448" cy="1199207"/>
          </a:xfrm>
          <a:prstGeom prst="rect">
            <a:avLst/>
          </a:prstGeom>
        </p:spPr>
        <p:txBody>
          <a:bodyPr anchor="t" rtlCol="false" tIns="0" lIns="0" bIns="0" rIns="0">
            <a:spAutoFit/>
          </a:bodyPr>
          <a:lstStyle/>
          <a:p>
            <a:pPr algn="l">
              <a:lnSpc>
                <a:spcPts val="4571"/>
              </a:lnSpc>
            </a:pPr>
            <a:r>
              <a:rPr lang="en-US" sz="4350" spc="-77">
                <a:solidFill>
                  <a:srgbClr val="401252"/>
                </a:solidFill>
                <a:latin typeface="Arimo"/>
                <a:ea typeface="Arimo"/>
                <a:cs typeface="Arimo"/>
                <a:sym typeface="Arimo"/>
              </a:rPr>
              <a:t>Jedna změna v čase, dokud nedrží sama.</a:t>
            </a:r>
          </a:p>
        </p:txBody>
      </p:sp>
      <p:sp>
        <p:nvSpPr>
          <p:cNvPr name="TextBox 4" id="4"/>
          <p:cNvSpPr txBox="true"/>
          <p:nvPr/>
        </p:nvSpPr>
        <p:spPr>
          <a:xfrm rot="0">
            <a:off x="1168403" y="5646268"/>
            <a:ext cx="8386448" cy="958853"/>
          </a:xfrm>
          <a:prstGeom prst="rect">
            <a:avLst/>
          </a:prstGeom>
        </p:spPr>
        <p:txBody>
          <a:bodyPr anchor="t" rtlCol="false" tIns="0" lIns="0" bIns="0" rIns="0">
            <a:spAutoFit/>
          </a:bodyPr>
          <a:lstStyle/>
          <a:p>
            <a:pPr algn="l">
              <a:lnSpc>
                <a:spcPts val="3331"/>
              </a:lnSpc>
            </a:pPr>
            <a:r>
              <a:rPr lang="en-US" sz="2400">
                <a:solidFill>
                  <a:srgbClr val="6B4B7D"/>
                </a:solidFill>
                <a:latin typeface="Arimo"/>
                <a:ea typeface="Arimo"/>
                <a:cs typeface="Arimo"/>
                <a:sym typeface="Arimo"/>
              </a:rPr>
              <a:t>Typicky dva až čtyři týdny na jeden návyk. Kdo v lednu mění spánek, jídlo i trénink, má v únoru zpátky nic.</a:t>
            </a:r>
          </a:p>
        </p:txBody>
      </p:sp>
      <p:grpSp>
        <p:nvGrpSpPr>
          <p:cNvPr name="Group 5" id="5"/>
          <p:cNvGrpSpPr/>
          <p:nvPr/>
        </p:nvGrpSpPr>
        <p:grpSpPr>
          <a:xfrm rot="0">
            <a:off x="14249400" y="1200150"/>
            <a:ext cx="381000" cy="381000"/>
            <a:chOff x="0" y="0"/>
            <a:chExt cx="508000" cy="508000"/>
          </a:xfrm>
        </p:grpSpPr>
        <p:sp>
          <p:nvSpPr>
            <p:cNvPr name="Freeform 6" id="6"/>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F4ECFA"/>
            </a:solidFill>
          </p:spPr>
        </p:sp>
      </p:grpSp>
      <p:grpSp>
        <p:nvGrpSpPr>
          <p:cNvPr name="Group 7" id="7"/>
          <p:cNvGrpSpPr/>
          <p:nvPr/>
        </p:nvGrpSpPr>
        <p:grpSpPr>
          <a:xfrm rot="0">
            <a:off x="14211300" y="1200150"/>
            <a:ext cx="457200" cy="419100"/>
            <a:chOff x="0" y="0"/>
            <a:chExt cx="609600" cy="558800"/>
          </a:xfrm>
        </p:grpSpPr>
        <p:sp>
          <p:nvSpPr>
            <p:cNvPr name="Freeform 8" id="8"/>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3">
                <a:alphaModFix amt="0"/>
              </a:blip>
              <a:stretch>
                <a:fillRect l="-67611" t="0" r="-67611" b="0"/>
              </a:stretch>
            </a:blipFill>
          </p:spPr>
        </p:sp>
        <p:sp>
          <p:nvSpPr>
            <p:cNvPr name="TextBox 9" id="9"/>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401252"/>
                  </a:solidFill>
                  <a:latin typeface="Arimo"/>
                  <a:ea typeface="Arimo"/>
                  <a:cs typeface="Arimo"/>
                  <a:sym typeface="Arimo"/>
                </a:rPr>
                <a:t>P</a:t>
              </a:r>
            </a:p>
          </p:txBody>
        </p:sp>
      </p:grpSp>
      <p:sp>
        <p:nvSpPr>
          <p:cNvPr name="TextBox 10" id="10"/>
          <p:cNvSpPr txBox="true"/>
          <p:nvPr/>
        </p:nvSpPr>
        <p:spPr>
          <a:xfrm rot="0">
            <a:off x="14789153" y="1281284"/>
            <a:ext cx="2568578" cy="237782"/>
          </a:xfrm>
          <a:prstGeom prst="rect">
            <a:avLst/>
          </a:prstGeom>
        </p:spPr>
        <p:txBody>
          <a:bodyPr anchor="t" rtlCol="false" tIns="0" lIns="0" bIns="0" rIns="0">
            <a:spAutoFit/>
          </a:bodyPr>
          <a:lstStyle/>
          <a:p>
            <a:pPr algn="l">
              <a:lnSpc>
                <a:spcPts val="1675"/>
              </a:lnSpc>
            </a:pPr>
            <a:r>
              <a:rPr lang="en-US" sz="1350" i="true" spc="27">
                <a:solidFill>
                  <a:srgbClr val="6B4B7D"/>
                </a:solidFill>
                <a:latin typeface="Arimo Italics"/>
                <a:ea typeface="Arimo Italics"/>
                <a:cs typeface="Arimo Italics"/>
                <a:sym typeface="Arimo Italics"/>
              </a:rPr>
              <a:t>Koučovací nástroj</a:t>
            </a:r>
          </a:p>
        </p:txBody>
      </p:sp>
      <p:sp>
        <p:nvSpPr>
          <p:cNvPr name="TextBox 11" id="11"/>
          <p:cNvSpPr txBox="true"/>
          <p:nvPr/>
        </p:nvSpPr>
        <p:spPr>
          <a:xfrm rot="0">
            <a:off x="10312403" y="3279896"/>
            <a:ext cx="7012943"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TEST VELIKOSTI NÁVYKU</a:t>
            </a:r>
          </a:p>
        </p:txBody>
      </p:sp>
      <p:sp>
        <p:nvSpPr>
          <p:cNvPr name="TextBox 12" id="12"/>
          <p:cNvSpPr txBox="true"/>
          <p:nvPr/>
        </p:nvSpPr>
        <p:spPr>
          <a:xfrm rot="0">
            <a:off x="10312403" y="3905050"/>
            <a:ext cx="7012943" cy="980427"/>
          </a:xfrm>
          <a:prstGeom prst="rect">
            <a:avLst/>
          </a:prstGeom>
        </p:spPr>
        <p:txBody>
          <a:bodyPr anchor="t" rtlCol="false" tIns="0" lIns="0" bIns="0" rIns="0">
            <a:spAutoFit/>
          </a:bodyPr>
          <a:lstStyle/>
          <a:p>
            <a:pPr algn="l">
              <a:lnSpc>
                <a:spcPts val="3452"/>
              </a:lnSpc>
            </a:pPr>
            <a:r>
              <a:rPr lang="en-US" sz="2550">
                <a:solidFill>
                  <a:srgbClr val="401252"/>
                </a:solidFill>
                <a:latin typeface="Arimo"/>
                <a:ea typeface="Arimo"/>
                <a:cs typeface="Arimo"/>
                <a:sym typeface="Arimo"/>
              </a:rPr>
              <a:t>Na stupnici 1 až 10: </a:t>
            </a:r>
            <a:r>
              <a:rPr lang="en-US" sz="2550" b="true">
                <a:solidFill>
                  <a:srgbClr val="401252"/>
                </a:solidFill>
                <a:latin typeface="Arimo Bold"/>
                <a:ea typeface="Arimo Bold"/>
                <a:cs typeface="Arimo Bold"/>
                <a:sym typeface="Arimo Bold"/>
              </a:rPr>
              <a:t>jak jistě to zvládnu každý den?</a:t>
            </a:r>
          </a:p>
        </p:txBody>
      </p:sp>
      <p:sp>
        <p:nvSpPr>
          <p:cNvPr name="TextBox 13" id="13"/>
          <p:cNvSpPr txBox="true"/>
          <p:nvPr/>
        </p:nvSpPr>
        <p:spPr>
          <a:xfrm rot="0">
            <a:off x="10312403" y="5117259"/>
            <a:ext cx="1146448" cy="913457"/>
          </a:xfrm>
          <a:prstGeom prst="rect">
            <a:avLst/>
          </a:prstGeom>
        </p:spPr>
        <p:txBody>
          <a:bodyPr anchor="t" rtlCol="false" tIns="0" lIns="0" bIns="0" rIns="0">
            <a:spAutoFit/>
          </a:bodyPr>
          <a:lstStyle/>
          <a:p>
            <a:pPr algn="l">
              <a:lnSpc>
                <a:spcPts val="5797"/>
              </a:lnSpc>
            </a:pPr>
            <a:r>
              <a:rPr lang="en-US" sz="3900" spc="-117">
                <a:solidFill>
                  <a:srgbClr val="6D2A8C"/>
                </a:solidFill>
                <a:latin typeface="Arimo"/>
                <a:ea typeface="Arimo"/>
                <a:cs typeface="Arimo"/>
                <a:sym typeface="Arimo"/>
              </a:rPr>
              <a:t>9–10</a:t>
            </a:r>
          </a:p>
        </p:txBody>
      </p:sp>
      <p:sp>
        <p:nvSpPr>
          <p:cNvPr name="TextBox 14" id="14"/>
          <p:cNvSpPr txBox="true"/>
          <p:nvPr/>
        </p:nvSpPr>
        <p:spPr>
          <a:xfrm rot="0">
            <a:off x="11700148" y="5445871"/>
            <a:ext cx="5966479" cy="473078"/>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Začněte.</a:t>
            </a:r>
          </a:p>
        </p:txBody>
      </p:sp>
      <p:sp>
        <p:nvSpPr>
          <p:cNvPr name="TextBox 15" id="15"/>
          <p:cNvSpPr txBox="true"/>
          <p:nvPr/>
        </p:nvSpPr>
        <p:spPr>
          <a:xfrm rot="0">
            <a:off x="10312403" y="6129137"/>
            <a:ext cx="1146448" cy="913457"/>
          </a:xfrm>
          <a:prstGeom prst="rect">
            <a:avLst/>
          </a:prstGeom>
        </p:spPr>
        <p:txBody>
          <a:bodyPr anchor="t" rtlCol="false" tIns="0" lIns="0" bIns="0" rIns="0">
            <a:spAutoFit/>
          </a:bodyPr>
          <a:lstStyle/>
          <a:p>
            <a:pPr algn="l">
              <a:lnSpc>
                <a:spcPts val="5797"/>
              </a:lnSpc>
            </a:pPr>
            <a:r>
              <a:rPr lang="en-US" sz="3900" spc="-117">
                <a:solidFill>
                  <a:srgbClr val="6D2A8C"/>
                </a:solidFill>
                <a:latin typeface="Arimo"/>
                <a:ea typeface="Arimo"/>
                <a:cs typeface="Arimo"/>
                <a:sym typeface="Arimo"/>
              </a:rPr>
              <a:t>≤ 8</a:t>
            </a:r>
          </a:p>
        </p:txBody>
      </p:sp>
      <p:sp>
        <p:nvSpPr>
          <p:cNvPr name="TextBox 16" id="16"/>
          <p:cNvSpPr txBox="true"/>
          <p:nvPr/>
        </p:nvSpPr>
        <p:spPr>
          <a:xfrm rot="0">
            <a:off x="11700148" y="6457750"/>
            <a:ext cx="5583565" cy="901703"/>
          </a:xfrm>
          <a:prstGeom prst="rect">
            <a:avLst/>
          </a:prstGeom>
        </p:spPr>
        <p:txBody>
          <a:bodyPr anchor="t" rtlCol="false" tIns="0" lIns="0" bIns="0" rIns="0">
            <a:spAutoFit/>
          </a:bodyPr>
          <a:lstStyle/>
          <a:p>
            <a:pPr algn="l">
              <a:lnSpc>
                <a:spcPts val="3115"/>
              </a:lnSpc>
            </a:pPr>
            <a:r>
              <a:rPr lang="en-US" sz="2250">
                <a:solidFill>
                  <a:srgbClr val="6B4B7D"/>
                </a:solidFill>
                <a:latin typeface="Arimo"/>
                <a:ea typeface="Arimo"/>
                <a:cs typeface="Arimo"/>
                <a:sym typeface="Arimo"/>
              </a:rPr>
              <a:t>Návyk je moc velký. </a:t>
            </a:r>
            <a:r>
              <a:rPr lang="en-US" sz="2250" b="true">
                <a:solidFill>
                  <a:srgbClr val="401252"/>
                </a:solidFill>
                <a:latin typeface="Arimo Bold"/>
                <a:ea typeface="Arimo Bold"/>
                <a:cs typeface="Arimo Bold"/>
                <a:sym typeface="Arimo Bold"/>
              </a:rPr>
              <a:t>Zmenšete ho </a:t>
            </a:r>
            <a:r>
              <a:rPr lang="en-US" sz="2250">
                <a:solidFill>
                  <a:srgbClr val="6B4B7D"/>
                </a:solidFill>
                <a:latin typeface="Arimo"/>
                <a:ea typeface="Arimo"/>
                <a:cs typeface="Arimo"/>
                <a:sym typeface="Arimo"/>
              </a:rPr>
              <a:t>, nesnažte se víc.</a:t>
            </a:r>
          </a:p>
        </p:txBody>
      </p:sp>
      <p:sp>
        <p:nvSpPr>
          <p:cNvPr name="TextBox 17" id="17"/>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41</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4330236"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NÁSTROJ · PORCE PODLE RUKY</a:t>
            </a:r>
          </a:p>
        </p:txBody>
      </p:sp>
      <p:sp>
        <p:nvSpPr>
          <p:cNvPr name="TextBox 3" id="3"/>
          <p:cNvSpPr txBox="true"/>
          <p:nvPr/>
        </p:nvSpPr>
        <p:spPr>
          <a:xfrm rot="0">
            <a:off x="1168403" y="1901828"/>
            <a:ext cx="14617703" cy="702935"/>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Čtyři míry, které máte po ruce.</a:t>
            </a:r>
          </a:p>
        </p:txBody>
      </p:sp>
      <p:grpSp>
        <p:nvGrpSpPr>
          <p:cNvPr name="Group 4" id="4"/>
          <p:cNvGrpSpPr/>
          <p:nvPr/>
        </p:nvGrpSpPr>
        <p:grpSpPr>
          <a:xfrm rot="0">
            <a:off x="14249400" y="1241079"/>
            <a:ext cx="381000" cy="381000"/>
            <a:chOff x="0" y="0"/>
            <a:chExt cx="508000" cy="508000"/>
          </a:xfrm>
        </p:grpSpPr>
        <p:sp>
          <p:nvSpPr>
            <p:cNvPr name="Freeform 5" id="5"/>
            <p:cNvSpPr/>
            <p:nvPr/>
          </p:nvSpPr>
          <p:spPr>
            <a:xfrm flipH="false" flipV="false" rot="0">
              <a:off x="0" y="0"/>
              <a:ext cx="508000" cy="508000"/>
            </a:xfrm>
            <a:custGeom>
              <a:avLst/>
              <a:gdLst/>
              <a:ahLst/>
              <a:cxnLst/>
              <a:rect r="r" b="b" t="t" l="l"/>
              <a:pathLst>
                <a:path h="508000" w="508000">
                  <a:moveTo>
                    <a:pt x="0" y="114300"/>
                  </a:moveTo>
                  <a:cubicBezTo>
                    <a:pt x="0" y="51181"/>
                    <a:pt x="51181" y="0"/>
                    <a:pt x="114300" y="0"/>
                  </a:cubicBezTo>
                  <a:lnTo>
                    <a:pt x="393700" y="0"/>
                  </a:lnTo>
                  <a:cubicBezTo>
                    <a:pt x="456819" y="0"/>
                    <a:pt x="508000" y="51181"/>
                    <a:pt x="508000" y="114300"/>
                  </a:cubicBezTo>
                  <a:lnTo>
                    <a:pt x="508000" y="393700"/>
                  </a:lnTo>
                  <a:cubicBezTo>
                    <a:pt x="508000" y="456819"/>
                    <a:pt x="456819" y="508000"/>
                    <a:pt x="393700" y="508000"/>
                  </a:cubicBezTo>
                  <a:lnTo>
                    <a:pt x="114300" y="508000"/>
                  </a:lnTo>
                  <a:cubicBezTo>
                    <a:pt x="51181" y="508000"/>
                    <a:pt x="0" y="456819"/>
                    <a:pt x="0" y="393700"/>
                  </a:cubicBezTo>
                  <a:close/>
                </a:path>
              </a:pathLst>
            </a:custGeom>
            <a:solidFill>
              <a:srgbClr val="F4ECFA"/>
            </a:solidFill>
          </p:spPr>
        </p:sp>
      </p:grpSp>
      <p:grpSp>
        <p:nvGrpSpPr>
          <p:cNvPr name="Group 6" id="6"/>
          <p:cNvGrpSpPr/>
          <p:nvPr/>
        </p:nvGrpSpPr>
        <p:grpSpPr>
          <a:xfrm rot="0">
            <a:off x="14211300" y="1241079"/>
            <a:ext cx="457200" cy="419100"/>
            <a:chOff x="0" y="0"/>
            <a:chExt cx="609600" cy="558800"/>
          </a:xfrm>
        </p:grpSpPr>
        <p:sp>
          <p:nvSpPr>
            <p:cNvPr name="Freeform 7" id="7"/>
            <p:cNvSpPr/>
            <p:nvPr/>
          </p:nvSpPr>
          <p:spPr>
            <a:xfrm flipH="false" flipV="false" rot="0">
              <a:off x="0" y="0"/>
              <a:ext cx="609600" cy="558800"/>
            </a:xfrm>
            <a:custGeom>
              <a:avLst/>
              <a:gdLst/>
              <a:ahLst/>
              <a:cxnLst/>
              <a:rect r="r" b="b" t="t" l="l"/>
              <a:pathLst>
                <a:path h="558800" w="609600">
                  <a:moveTo>
                    <a:pt x="0" y="0"/>
                  </a:moveTo>
                  <a:lnTo>
                    <a:pt x="609600" y="0"/>
                  </a:lnTo>
                  <a:lnTo>
                    <a:pt x="609600" y="558800"/>
                  </a:lnTo>
                  <a:lnTo>
                    <a:pt x="0" y="558800"/>
                  </a:lnTo>
                  <a:close/>
                </a:path>
              </a:pathLst>
            </a:custGeom>
            <a:blipFill>
              <a:blip r:embed="rId3">
                <a:alphaModFix amt="0"/>
              </a:blip>
              <a:stretch>
                <a:fillRect l="-67611" t="0" r="-67611" b="0"/>
              </a:stretch>
            </a:blipFill>
          </p:spPr>
        </p:sp>
        <p:sp>
          <p:nvSpPr>
            <p:cNvPr name="TextBox 8" id="8"/>
            <p:cNvSpPr txBox="true"/>
            <p:nvPr/>
          </p:nvSpPr>
          <p:spPr>
            <a:xfrm>
              <a:off x="0" y="-57150"/>
              <a:ext cx="609600" cy="615950"/>
            </a:xfrm>
            <a:prstGeom prst="rect">
              <a:avLst/>
            </a:prstGeom>
          </p:spPr>
          <p:txBody>
            <a:bodyPr anchor="ctr" rtlCol="false" tIns="0" lIns="0" bIns="0" rIns="0"/>
            <a:lstStyle/>
            <a:p>
              <a:pPr algn="ctr">
                <a:lnSpc>
                  <a:spcPts val="2243"/>
                </a:lnSpc>
              </a:pPr>
              <a:r>
                <a:rPr lang="en-US" sz="1500">
                  <a:solidFill>
                    <a:srgbClr val="401252"/>
                  </a:solidFill>
                  <a:latin typeface="Arimo"/>
                  <a:ea typeface="Arimo"/>
                  <a:cs typeface="Arimo"/>
                  <a:sym typeface="Arimo"/>
                </a:rPr>
                <a:t>P</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i="true" spc="27">
                <a:solidFill>
                  <a:srgbClr val="6B4B7D"/>
                </a:solidFill>
                <a:latin typeface="Arimo Italics"/>
                <a:ea typeface="Arimo Italics"/>
                <a:cs typeface="Arimo Italics"/>
                <a:sym typeface="Arimo Italics"/>
              </a:rPr>
              <a:t>Koučovací nástroj, ne dávkování</a:t>
            </a:r>
          </a:p>
        </p:txBody>
      </p:sp>
      <p:grpSp>
        <p:nvGrpSpPr>
          <p:cNvPr name="Group 10" id="10"/>
          <p:cNvGrpSpPr/>
          <p:nvPr/>
        </p:nvGrpSpPr>
        <p:grpSpPr>
          <a:xfrm rot="0">
            <a:off x="1866900" y="3695700"/>
            <a:ext cx="2209800" cy="2209800"/>
            <a:chOff x="0" y="0"/>
            <a:chExt cx="2946400" cy="2946400"/>
          </a:xfrm>
        </p:grpSpPr>
        <p:sp>
          <p:nvSpPr>
            <p:cNvPr name="Freeform 11" id="11"/>
            <p:cNvSpPr/>
            <p:nvPr/>
          </p:nvSpPr>
          <p:spPr>
            <a:xfrm flipH="false" flipV="false" rot="0">
              <a:off x="0" y="0"/>
              <a:ext cx="2946400" cy="2946400"/>
            </a:xfrm>
            <a:custGeom>
              <a:avLst/>
              <a:gdLst/>
              <a:ahLst/>
              <a:cxnLst/>
              <a:rect r="r" b="b" t="t" l="l"/>
              <a:pathLst>
                <a:path h="2946400" w="2946400">
                  <a:moveTo>
                    <a:pt x="0" y="1473200"/>
                  </a:moveTo>
                  <a:cubicBezTo>
                    <a:pt x="0" y="659511"/>
                    <a:pt x="659511" y="0"/>
                    <a:pt x="1473200" y="0"/>
                  </a:cubicBezTo>
                  <a:cubicBezTo>
                    <a:pt x="2286889" y="0"/>
                    <a:pt x="2946400" y="659511"/>
                    <a:pt x="2946400" y="1473200"/>
                  </a:cubicBezTo>
                  <a:cubicBezTo>
                    <a:pt x="2946400" y="2286889"/>
                    <a:pt x="2286889" y="2946400"/>
                    <a:pt x="1473200" y="2946400"/>
                  </a:cubicBezTo>
                  <a:cubicBezTo>
                    <a:pt x="659511" y="2946400"/>
                    <a:pt x="0" y="2286889"/>
                    <a:pt x="0" y="1473200"/>
                  </a:cubicBezTo>
                  <a:close/>
                </a:path>
              </a:pathLst>
            </a:custGeom>
            <a:solidFill>
              <a:srgbClr val="F4ECFA"/>
            </a:solidFill>
          </p:spPr>
        </p:sp>
      </p:grpSp>
      <p:grpSp>
        <p:nvGrpSpPr>
          <p:cNvPr name="Group 12" id="12"/>
          <p:cNvGrpSpPr/>
          <p:nvPr/>
        </p:nvGrpSpPr>
        <p:grpSpPr>
          <a:xfrm rot="0">
            <a:off x="1866900" y="3695700"/>
            <a:ext cx="2209800" cy="2209800"/>
            <a:chOff x="0" y="0"/>
            <a:chExt cx="2946400" cy="2946400"/>
          </a:xfrm>
        </p:grpSpPr>
        <p:sp>
          <p:nvSpPr>
            <p:cNvPr name="Freeform 13" id="13"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4"/>
              <a:stretch>
                <a:fillRect l="0" t="0" r="0" b="0"/>
              </a:stretch>
            </a:blipFill>
          </p:spPr>
        </p:sp>
      </p:grpSp>
      <p:sp>
        <p:nvSpPr>
          <p:cNvPr name="TextBox 14" id="14"/>
          <p:cNvSpPr txBox="true"/>
          <p:nvPr/>
        </p:nvSpPr>
        <p:spPr>
          <a:xfrm rot="0">
            <a:off x="2592314" y="6121403"/>
            <a:ext cx="758895" cy="398736"/>
          </a:xfrm>
          <a:prstGeom prst="rect">
            <a:avLst/>
          </a:prstGeom>
        </p:spPr>
        <p:txBody>
          <a:bodyPr anchor="t" rtlCol="false" tIns="0" lIns="0" bIns="0" rIns="0">
            <a:spAutoFit/>
          </a:bodyPr>
          <a:lstStyle/>
          <a:p>
            <a:pPr algn="ctr">
              <a:lnSpc>
                <a:spcPts val="3010"/>
              </a:lnSpc>
            </a:pPr>
            <a:r>
              <a:rPr lang="en-US" sz="2700">
                <a:solidFill>
                  <a:srgbClr val="401252"/>
                </a:solidFill>
                <a:latin typeface="Arimo"/>
                <a:ea typeface="Arimo"/>
                <a:cs typeface="Arimo"/>
                <a:sym typeface="Arimo"/>
              </a:rPr>
              <a:t>Dlaň</a:t>
            </a:r>
          </a:p>
        </p:txBody>
      </p:sp>
      <p:sp>
        <p:nvSpPr>
          <p:cNvPr name="TextBox 15" id="15"/>
          <p:cNvSpPr txBox="true"/>
          <p:nvPr/>
        </p:nvSpPr>
        <p:spPr>
          <a:xfrm rot="0">
            <a:off x="2270693" y="6580461"/>
            <a:ext cx="1402137" cy="393383"/>
          </a:xfrm>
          <a:prstGeom prst="rect">
            <a:avLst/>
          </a:prstGeom>
        </p:spPr>
        <p:txBody>
          <a:bodyPr anchor="t" rtlCol="false" tIns="0" lIns="0" bIns="0" rIns="0">
            <a:spAutoFit/>
          </a:bodyPr>
          <a:lstStyle/>
          <a:p>
            <a:pPr algn="ctr">
              <a:lnSpc>
                <a:spcPts val="2476"/>
              </a:lnSpc>
            </a:pPr>
            <a:r>
              <a:rPr lang="en-US" sz="1650" spc="214">
                <a:solidFill>
                  <a:srgbClr val="6B4B7D"/>
                </a:solidFill>
                <a:latin typeface="Arimo"/>
                <a:ea typeface="Arimo"/>
                <a:cs typeface="Arimo"/>
                <a:sym typeface="Arimo"/>
              </a:rPr>
              <a:t>BÍLKOVINY</a:t>
            </a:r>
          </a:p>
        </p:txBody>
      </p:sp>
      <p:sp>
        <p:nvSpPr>
          <p:cNvPr name="TextBox 16" id="16"/>
          <p:cNvSpPr txBox="true"/>
          <p:nvPr/>
        </p:nvSpPr>
        <p:spPr>
          <a:xfrm rot="0">
            <a:off x="1329376" y="7100840"/>
            <a:ext cx="3284858" cy="1158878"/>
          </a:xfrm>
          <a:prstGeom prst="rect">
            <a:avLst/>
          </a:prstGeom>
        </p:spPr>
        <p:txBody>
          <a:bodyPr anchor="t" rtlCol="false" tIns="0" lIns="0" bIns="0" rIns="0">
            <a:spAutoFit/>
          </a:bodyPr>
          <a:lstStyle/>
          <a:p>
            <a:pPr algn="ctr">
              <a:lnSpc>
                <a:spcPts val="2724"/>
              </a:lnSpc>
            </a:pPr>
            <a:r>
              <a:rPr lang="en-US" sz="1950">
                <a:solidFill>
                  <a:srgbClr val="6B4B7D"/>
                </a:solidFill>
                <a:latin typeface="Arimo"/>
                <a:ea typeface="Arimo"/>
                <a:cs typeface="Arimo"/>
                <a:sym typeface="Arimo"/>
              </a:rPr>
              <a:t>U masa nebo tofu je porcí plocha a tloušťka dlaně. Prsty se nepočítají.</a:t>
            </a:r>
          </a:p>
        </p:txBody>
      </p:sp>
      <p:sp>
        <p:nvSpPr>
          <p:cNvPr name="TextBox 17" id="17"/>
          <p:cNvSpPr txBox="true"/>
          <p:nvPr/>
        </p:nvSpPr>
        <p:spPr>
          <a:xfrm rot="0">
            <a:off x="2014528" y="8348615"/>
            <a:ext cx="1914468" cy="415928"/>
          </a:xfrm>
          <a:prstGeom prst="rect">
            <a:avLst/>
          </a:prstGeom>
        </p:spPr>
        <p:txBody>
          <a:bodyPr anchor="t" rtlCol="false" tIns="0" lIns="0" bIns="0" rIns="0">
            <a:spAutoFit/>
          </a:bodyPr>
          <a:lstStyle/>
          <a:p>
            <a:pPr algn="ctr">
              <a:lnSpc>
                <a:spcPts val="2724"/>
              </a:lnSpc>
            </a:pPr>
            <a:r>
              <a:rPr lang="en-US" sz="1950" i="true">
                <a:solidFill>
                  <a:srgbClr val="6B4B7D"/>
                </a:solidFill>
                <a:latin typeface="Arimo Italics"/>
                <a:ea typeface="Arimo Italics"/>
                <a:cs typeface="Arimo Italics"/>
                <a:sym typeface="Arimo Italics"/>
              </a:rPr>
              <a:t>maso, ryby, tofu</a:t>
            </a:r>
          </a:p>
        </p:txBody>
      </p:sp>
      <p:grpSp>
        <p:nvGrpSpPr>
          <p:cNvPr name="Group 18" id="18"/>
          <p:cNvGrpSpPr/>
          <p:nvPr/>
        </p:nvGrpSpPr>
        <p:grpSpPr>
          <a:xfrm rot="0">
            <a:off x="5981700" y="3695700"/>
            <a:ext cx="2209800" cy="2209800"/>
            <a:chOff x="0" y="0"/>
            <a:chExt cx="2946400" cy="2946400"/>
          </a:xfrm>
        </p:grpSpPr>
        <p:sp>
          <p:nvSpPr>
            <p:cNvPr name="Freeform 19" id="19"/>
            <p:cNvSpPr/>
            <p:nvPr/>
          </p:nvSpPr>
          <p:spPr>
            <a:xfrm flipH="false" flipV="false" rot="0">
              <a:off x="0" y="0"/>
              <a:ext cx="2946400" cy="2946400"/>
            </a:xfrm>
            <a:custGeom>
              <a:avLst/>
              <a:gdLst/>
              <a:ahLst/>
              <a:cxnLst/>
              <a:rect r="r" b="b" t="t" l="l"/>
              <a:pathLst>
                <a:path h="2946400" w="2946400">
                  <a:moveTo>
                    <a:pt x="0" y="1473200"/>
                  </a:moveTo>
                  <a:cubicBezTo>
                    <a:pt x="0" y="659511"/>
                    <a:pt x="659511" y="0"/>
                    <a:pt x="1473200" y="0"/>
                  </a:cubicBezTo>
                  <a:cubicBezTo>
                    <a:pt x="2286889" y="0"/>
                    <a:pt x="2946400" y="659511"/>
                    <a:pt x="2946400" y="1473200"/>
                  </a:cubicBezTo>
                  <a:cubicBezTo>
                    <a:pt x="2946400" y="2286889"/>
                    <a:pt x="2286889" y="2946400"/>
                    <a:pt x="1473200" y="2946400"/>
                  </a:cubicBezTo>
                  <a:cubicBezTo>
                    <a:pt x="659511" y="2946400"/>
                    <a:pt x="0" y="2286889"/>
                    <a:pt x="0" y="1473200"/>
                  </a:cubicBezTo>
                  <a:close/>
                </a:path>
              </a:pathLst>
            </a:custGeom>
            <a:solidFill>
              <a:srgbClr val="F4ECFA"/>
            </a:solidFill>
          </p:spPr>
        </p:sp>
      </p:grpSp>
      <p:grpSp>
        <p:nvGrpSpPr>
          <p:cNvPr name="Group 20" id="20"/>
          <p:cNvGrpSpPr/>
          <p:nvPr/>
        </p:nvGrpSpPr>
        <p:grpSpPr>
          <a:xfrm rot="0">
            <a:off x="5981700" y="3695700"/>
            <a:ext cx="2209800" cy="2209800"/>
            <a:chOff x="0" y="0"/>
            <a:chExt cx="2946400" cy="2946400"/>
          </a:xfrm>
        </p:grpSpPr>
        <p:sp>
          <p:nvSpPr>
            <p:cNvPr name="Freeform 21" id="21"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5"/>
              <a:stretch>
                <a:fillRect l="0" t="0" r="0" b="0"/>
              </a:stretch>
            </a:blipFill>
          </p:spPr>
        </p:sp>
      </p:grpSp>
      <p:sp>
        <p:nvSpPr>
          <p:cNvPr name="TextBox 22" id="22"/>
          <p:cNvSpPr txBox="true"/>
          <p:nvPr/>
        </p:nvSpPr>
        <p:spPr>
          <a:xfrm rot="0">
            <a:off x="6705181" y="6121403"/>
            <a:ext cx="762848" cy="398736"/>
          </a:xfrm>
          <a:prstGeom prst="rect">
            <a:avLst/>
          </a:prstGeom>
        </p:spPr>
        <p:txBody>
          <a:bodyPr anchor="t" rtlCol="false" tIns="0" lIns="0" bIns="0" rIns="0">
            <a:spAutoFit/>
          </a:bodyPr>
          <a:lstStyle/>
          <a:p>
            <a:pPr algn="ctr">
              <a:lnSpc>
                <a:spcPts val="3010"/>
              </a:lnSpc>
            </a:pPr>
            <a:r>
              <a:rPr lang="en-US" sz="2700">
                <a:solidFill>
                  <a:srgbClr val="401252"/>
                </a:solidFill>
                <a:latin typeface="Arimo"/>
                <a:ea typeface="Arimo"/>
                <a:cs typeface="Arimo"/>
                <a:sym typeface="Arimo"/>
              </a:rPr>
              <a:t>Pěst</a:t>
            </a:r>
          </a:p>
        </p:txBody>
      </p:sp>
      <p:sp>
        <p:nvSpPr>
          <p:cNvPr name="TextBox 23" id="23"/>
          <p:cNvSpPr txBox="true"/>
          <p:nvPr/>
        </p:nvSpPr>
        <p:spPr>
          <a:xfrm rot="0">
            <a:off x="6461989" y="6580461"/>
            <a:ext cx="1249213" cy="393383"/>
          </a:xfrm>
          <a:prstGeom prst="rect">
            <a:avLst/>
          </a:prstGeom>
        </p:spPr>
        <p:txBody>
          <a:bodyPr anchor="t" rtlCol="false" tIns="0" lIns="0" bIns="0" rIns="0">
            <a:spAutoFit/>
          </a:bodyPr>
          <a:lstStyle/>
          <a:p>
            <a:pPr algn="ctr">
              <a:lnSpc>
                <a:spcPts val="2476"/>
              </a:lnSpc>
            </a:pPr>
            <a:r>
              <a:rPr lang="en-US" sz="1650" spc="214">
                <a:solidFill>
                  <a:srgbClr val="6B4B7D"/>
                </a:solidFill>
                <a:latin typeface="Arimo"/>
                <a:ea typeface="Arimo"/>
                <a:cs typeface="Arimo"/>
                <a:sym typeface="Arimo"/>
              </a:rPr>
              <a:t>ZELENINA</a:t>
            </a:r>
          </a:p>
        </p:txBody>
      </p:sp>
      <p:sp>
        <p:nvSpPr>
          <p:cNvPr name="TextBox 24" id="24"/>
          <p:cNvSpPr txBox="true"/>
          <p:nvPr/>
        </p:nvSpPr>
        <p:spPr>
          <a:xfrm rot="0">
            <a:off x="5444176" y="7100840"/>
            <a:ext cx="3284858" cy="1158878"/>
          </a:xfrm>
          <a:prstGeom prst="rect">
            <a:avLst/>
          </a:prstGeom>
        </p:spPr>
        <p:txBody>
          <a:bodyPr anchor="t" rtlCol="false" tIns="0" lIns="0" bIns="0" rIns="0">
            <a:spAutoFit/>
          </a:bodyPr>
          <a:lstStyle/>
          <a:p>
            <a:pPr algn="ctr">
              <a:lnSpc>
                <a:spcPts val="2724"/>
              </a:lnSpc>
            </a:pPr>
            <a:r>
              <a:rPr lang="en-US" sz="1950">
                <a:solidFill>
                  <a:srgbClr val="6B4B7D"/>
                </a:solidFill>
                <a:latin typeface="Arimo"/>
                <a:ea typeface="Arimo"/>
                <a:cs typeface="Arimo"/>
                <a:sym typeface="Arimo"/>
              </a:rPr>
              <a:t>Objem sevřené pěsti slouží jako orientační míra porce zeleniny.</a:t>
            </a:r>
          </a:p>
        </p:txBody>
      </p:sp>
      <p:sp>
        <p:nvSpPr>
          <p:cNvPr name="TextBox 25" id="25"/>
          <p:cNvSpPr txBox="true"/>
          <p:nvPr/>
        </p:nvSpPr>
        <p:spPr>
          <a:xfrm rot="0">
            <a:off x="5616826" y="8348615"/>
            <a:ext cx="2939548" cy="415928"/>
          </a:xfrm>
          <a:prstGeom prst="rect">
            <a:avLst/>
          </a:prstGeom>
        </p:spPr>
        <p:txBody>
          <a:bodyPr anchor="t" rtlCol="false" tIns="0" lIns="0" bIns="0" rIns="0">
            <a:spAutoFit/>
          </a:bodyPr>
          <a:lstStyle/>
          <a:p>
            <a:pPr algn="ctr">
              <a:lnSpc>
                <a:spcPts val="2724"/>
              </a:lnSpc>
            </a:pPr>
            <a:r>
              <a:rPr lang="en-US" sz="1950" i="true">
                <a:solidFill>
                  <a:srgbClr val="6B4B7D"/>
                </a:solidFill>
                <a:latin typeface="Arimo Italics"/>
                <a:ea typeface="Arimo Italics"/>
                <a:cs typeface="Arimo Italics"/>
                <a:sym typeface="Arimo Italics"/>
              </a:rPr>
              <a:t>brokolice, mrkev, květák</a:t>
            </a:r>
          </a:p>
        </p:txBody>
      </p:sp>
      <p:grpSp>
        <p:nvGrpSpPr>
          <p:cNvPr name="Group 26" id="26"/>
          <p:cNvGrpSpPr/>
          <p:nvPr/>
        </p:nvGrpSpPr>
        <p:grpSpPr>
          <a:xfrm rot="0">
            <a:off x="10096500" y="3695700"/>
            <a:ext cx="2209800" cy="2209800"/>
            <a:chOff x="0" y="0"/>
            <a:chExt cx="2946400" cy="2946400"/>
          </a:xfrm>
        </p:grpSpPr>
        <p:sp>
          <p:nvSpPr>
            <p:cNvPr name="Freeform 27" id="27"/>
            <p:cNvSpPr/>
            <p:nvPr/>
          </p:nvSpPr>
          <p:spPr>
            <a:xfrm flipH="false" flipV="false" rot="0">
              <a:off x="0" y="0"/>
              <a:ext cx="2946400" cy="2946400"/>
            </a:xfrm>
            <a:custGeom>
              <a:avLst/>
              <a:gdLst/>
              <a:ahLst/>
              <a:cxnLst/>
              <a:rect r="r" b="b" t="t" l="l"/>
              <a:pathLst>
                <a:path h="2946400" w="2946400">
                  <a:moveTo>
                    <a:pt x="0" y="1473200"/>
                  </a:moveTo>
                  <a:cubicBezTo>
                    <a:pt x="0" y="659511"/>
                    <a:pt x="659511" y="0"/>
                    <a:pt x="1473200" y="0"/>
                  </a:cubicBezTo>
                  <a:cubicBezTo>
                    <a:pt x="2286889" y="0"/>
                    <a:pt x="2946400" y="659511"/>
                    <a:pt x="2946400" y="1473200"/>
                  </a:cubicBezTo>
                  <a:cubicBezTo>
                    <a:pt x="2946400" y="2286889"/>
                    <a:pt x="2286889" y="2946400"/>
                    <a:pt x="1473200" y="2946400"/>
                  </a:cubicBezTo>
                  <a:cubicBezTo>
                    <a:pt x="659511" y="2946400"/>
                    <a:pt x="0" y="2286889"/>
                    <a:pt x="0" y="1473200"/>
                  </a:cubicBezTo>
                  <a:close/>
                </a:path>
              </a:pathLst>
            </a:custGeom>
            <a:solidFill>
              <a:srgbClr val="F4ECFA"/>
            </a:solidFill>
          </p:spPr>
        </p:sp>
      </p:grpSp>
      <p:grpSp>
        <p:nvGrpSpPr>
          <p:cNvPr name="Group 28" id="28"/>
          <p:cNvGrpSpPr/>
          <p:nvPr/>
        </p:nvGrpSpPr>
        <p:grpSpPr>
          <a:xfrm rot="0">
            <a:off x="10096500" y="3695700"/>
            <a:ext cx="2209800" cy="2209800"/>
            <a:chOff x="0" y="0"/>
            <a:chExt cx="2946400" cy="2946400"/>
          </a:xfrm>
        </p:grpSpPr>
        <p:sp>
          <p:nvSpPr>
            <p:cNvPr name="Freeform 29" id="29"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6"/>
              <a:stretch>
                <a:fillRect l="0" t="0" r="0" b="0"/>
              </a:stretch>
            </a:blipFill>
          </p:spPr>
        </p:sp>
      </p:grpSp>
      <p:sp>
        <p:nvSpPr>
          <p:cNvPr name="TextBox 30" id="30"/>
          <p:cNvSpPr txBox="true"/>
          <p:nvPr/>
        </p:nvSpPr>
        <p:spPr>
          <a:xfrm rot="0">
            <a:off x="10846918" y="6121403"/>
            <a:ext cx="708965" cy="398736"/>
          </a:xfrm>
          <a:prstGeom prst="rect">
            <a:avLst/>
          </a:prstGeom>
        </p:spPr>
        <p:txBody>
          <a:bodyPr anchor="t" rtlCol="false" tIns="0" lIns="0" bIns="0" rIns="0">
            <a:spAutoFit/>
          </a:bodyPr>
          <a:lstStyle/>
          <a:p>
            <a:pPr algn="ctr">
              <a:lnSpc>
                <a:spcPts val="3010"/>
              </a:lnSpc>
            </a:pPr>
            <a:r>
              <a:rPr lang="en-US" sz="2700">
                <a:solidFill>
                  <a:srgbClr val="401252"/>
                </a:solidFill>
                <a:latin typeface="Arimo"/>
                <a:ea typeface="Arimo"/>
                <a:cs typeface="Arimo"/>
                <a:sym typeface="Arimo"/>
              </a:rPr>
              <a:t>Hrst</a:t>
            </a:r>
          </a:p>
        </p:txBody>
      </p:sp>
      <p:sp>
        <p:nvSpPr>
          <p:cNvPr name="TextBox 31" id="31"/>
          <p:cNvSpPr txBox="true"/>
          <p:nvPr/>
        </p:nvSpPr>
        <p:spPr>
          <a:xfrm rot="0">
            <a:off x="10500293" y="6580461"/>
            <a:ext cx="1402137" cy="393383"/>
          </a:xfrm>
          <a:prstGeom prst="rect">
            <a:avLst/>
          </a:prstGeom>
        </p:spPr>
        <p:txBody>
          <a:bodyPr anchor="t" rtlCol="false" tIns="0" lIns="0" bIns="0" rIns="0">
            <a:spAutoFit/>
          </a:bodyPr>
          <a:lstStyle/>
          <a:p>
            <a:pPr algn="ctr">
              <a:lnSpc>
                <a:spcPts val="2476"/>
              </a:lnSpc>
            </a:pPr>
            <a:r>
              <a:rPr lang="en-US" sz="1650" spc="214">
                <a:solidFill>
                  <a:srgbClr val="6B4B7D"/>
                </a:solidFill>
                <a:latin typeface="Arimo"/>
                <a:ea typeface="Arimo"/>
                <a:cs typeface="Arimo"/>
                <a:sym typeface="Arimo"/>
              </a:rPr>
              <a:t>SACHARIDY</a:t>
            </a:r>
          </a:p>
        </p:txBody>
      </p:sp>
      <p:sp>
        <p:nvSpPr>
          <p:cNvPr name="TextBox 32" id="32"/>
          <p:cNvSpPr txBox="true"/>
          <p:nvPr/>
        </p:nvSpPr>
        <p:spPr>
          <a:xfrm rot="0">
            <a:off x="9558976" y="7100840"/>
            <a:ext cx="3284858" cy="1158878"/>
          </a:xfrm>
          <a:prstGeom prst="rect">
            <a:avLst/>
          </a:prstGeom>
        </p:spPr>
        <p:txBody>
          <a:bodyPr anchor="t" rtlCol="false" tIns="0" lIns="0" bIns="0" rIns="0">
            <a:spAutoFit/>
          </a:bodyPr>
          <a:lstStyle/>
          <a:p>
            <a:pPr algn="ctr">
              <a:lnSpc>
                <a:spcPts val="2724"/>
              </a:lnSpc>
            </a:pPr>
            <a:r>
              <a:rPr lang="en-US" sz="1950">
                <a:solidFill>
                  <a:srgbClr val="6B4B7D"/>
                </a:solidFill>
                <a:latin typeface="Arimo"/>
                <a:ea typeface="Arimo"/>
                <a:cs typeface="Arimo"/>
                <a:sym typeface="Arimo"/>
              </a:rPr>
              <a:t>Prohněte dlaň do mističky a spojte prsty. Co se do ní vejde, je porce přílohy.</a:t>
            </a:r>
          </a:p>
        </p:txBody>
      </p:sp>
      <p:sp>
        <p:nvSpPr>
          <p:cNvPr name="TextBox 33" id="33"/>
          <p:cNvSpPr txBox="true"/>
          <p:nvPr/>
        </p:nvSpPr>
        <p:spPr>
          <a:xfrm rot="0">
            <a:off x="9668685" y="8348615"/>
            <a:ext cx="3065355" cy="415928"/>
          </a:xfrm>
          <a:prstGeom prst="rect">
            <a:avLst/>
          </a:prstGeom>
        </p:spPr>
        <p:txBody>
          <a:bodyPr anchor="t" rtlCol="false" tIns="0" lIns="0" bIns="0" rIns="0">
            <a:spAutoFit/>
          </a:bodyPr>
          <a:lstStyle/>
          <a:p>
            <a:pPr algn="ctr">
              <a:lnSpc>
                <a:spcPts val="2724"/>
              </a:lnSpc>
            </a:pPr>
            <a:r>
              <a:rPr lang="en-US" sz="1950" i="true">
                <a:solidFill>
                  <a:srgbClr val="6B4B7D"/>
                </a:solidFill>
                <a:latin typeface="Arimo Italics"/>
                <a:ea typeface="Arimo Italics"/>
                <a:cs typeface="Arimo Italics"/>
                <a:sym typeface="Arimo Italics"/>
              </a:rPr>
              <a:t>rýže, brambory, těstoviny</a:t>
            </a:r>
          </a:p>
        </p:txBody>
      </p:sp>
      <p:grpSp>
        <p:nvGrpSpPr>
          <p:cNvPr name="Group 34" id="34"/>
          <p:cNvGrpSpPr/>
          <p:nvPr/>
        </p:nvGrpSpPr>
        <p:grpSpPr>
          <a:xfrm rot="0">
            <a:off x="14211300" y="3695700"/>
            <a:ext cx="2209800" cy="2209800"/>
            <a:chOff x="0" y="0"/>
            <a:chExt cx="2946400" cy="2946400"/>
          </a:xfrm>
        </p:grpSpPr>
        <p:sp>
          <p:nvSpPr>
            <p:cNvPr name="Freeform 35" id="35"/>
            <p:cNvSpPr/>
            <p:nvPr/>
          </p:nvSpPr>
          <p:spPr>
            <a:xfrm flipH="false" flipV="false" rot="0">
              <a:off x="0" y="0"/>
              <a:ext cx="2946400" cy="2946400"/>
            </a:xfrm>
            <a:custGeom>
              <a:avLst/>
              <a:gdLst/>
              <a:ahLst/>
              <a:cxnLst/>
              <a:rect r="r" b="b" t="t" l="l"/>
              <a:pathLst>
                <a:path h="2946400" w="2946400">
                  <a:moveTo>
                    <a:pt x="0" y="1473200"/>
                  </a:moveTo>
                  <a:cubicBezTo>
                    <a:pt x="0" y="659511"/>
                    <a:pt x="659511" y="0"/>
                    <a:pt x="1473200" y="0"/>
                  </a:cubicBezTo>
                  <a:cubicBezTo>
                    <a:pt x="2286889" y="0"/>
                    <a:pt x="2946400" y="659511"/>
                    <a:pt x="2946400" y="1473200"/>
                  </a:cubicBezTo>
                  <a:cubicBezTo>
                    <a:pt x="2946400" y="2286889"/>
                    <a:pt x="2286889" y="2946400"/>
                    <a:pt x="1473200" y="2946400"/>
                  </a:cubicBezTo>
                  <a:cubicBezTo>
                    <a:pt x="659511" y="2946400"/>
                    <a:pt x="0" y="2286889"/>
                    <a:pt x="0" y="1473200"/>
                  </a:cubicBezTo>
                  <a:close/>
                </a:path>
              </a:pathLst>
            </a:custGeom>
            <a:solidFill>
              <a:srgbClr val="F4ECFA"/>
            </a:solidFill>
          </p:spPr>
        </p:sp>
      </p:grpSp>
      <p:grpSp>
        <p:nvGrpSpPr>
          <p:cNvPr name="Group 36" id="36"/>
          <p:cNvGrpSpPr/>
          <p:nvPr/>
        </p:nvGrpSpPr>
        <p:grpSpPr>
          <a:xfrm rot="0">
            <a:off x="14211300" y="3695700"/>
            <a:ext cx="2209800" cy="2209800"/>
            <a:chOff x="0" y="0"/>
            <a:chExt cx="2946400" cy="2946400"/>
          </a:xfrm>
        </p:grpSpPr>
        <p:sp>
          <p:nvSpPr>
            <p:cNvPr name="Freeform 37" id="37"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7"/>
              <a:stretch>
                <a:fillRect l="0" t="0" r="0" b="0"/>
              </a:stretch>
            </a:blipFill>
          </p:spPr>
        </p:sp>
      </p:grpSp>
      <p:sp>
        <p:nvSpPr>
          <p:cNvPr name="TextBox 38" id="38"/>
          <p:cNvSpPr txBox="true"/>
          <p:nvPr/>
        </p:nvSpPr>
        <p:spPr>
          <a:xfrm rot="0">
            <a:off x="14858657" y="6121403"/>
            <a:ext cx="915095" cy="398736"/>
          </a:xfrm>
          <a:prstGeom prst="rect">
            <a:avLst/>
          </a:prstGeom>
        </p:spPr>
        <p:txBody>
          <a:bodyPr anchor="t" rtlCol="false" tIns="0" lIns="0" bIns="0" rIns="0">
            <a:spAutoFit/>
          </a:bodyPr>
          <a:lstStyle/>
          <a:p>
            <a:pPr algn="ctr">
              <a:lnSpc>
                <a:spcPts val="3010"/>
              </a:lnSpc>
            </a:pPr>
            <a:r>
              <a:rPr lang="en-US" sz="2700">
                <a:solidFill>
                  <a:srgbClr val="401252"/>
                </a:solidFill>
                <a:latin typeface="Arimo"/>
                <a:ea typeface="Arimo"/>
                <a:cs typeface="Arimo"/>
                <a:sym typeface="Arimo"/>
              </a:rPr>
              <a:t>Palec</a:t>
            </a:r>
          </a:p>
        </p:txBody>
      </p:sp>
      <p:sp>
        <p:nvSpPr>
          <p:cNvPr name="TextBox 39" id="39"/>
          <p:cNvSpPr txBox="true"/>
          <p:nvPr/>
        </p:nvSpPr>
        <p:spPr>
          <a:xfrm rot="0">
            <a:off x="14997513" y="6580461"/>
            <a:ext cx="637308" cy="393383"/>
          </a:xfrm>
          <a:prstGeom prst="rect">
            <a:avLst/>
          </a:prstGeom>
        </p:spPr>
        <p:txBody>
          <a:bodyPr anchor="t" rtlCol="false" tIns="0" lIns="0" bIns="0" rIns="0">
            <a:spAutoFit/>
          </a:bodyPr>
          <a:lstStyle/>
          <a:p>
            <a:pPr algn="ctr">
              <a:lnSpc>
                <a:spcPts val="2476"/>
              </a:lnSpc>
            </a:pPr>
            <a:r>
              <a:rPr lang="en-US" sz="1650" spc="214">
                <a:solidFill>
                  <a:srgbClr val="6B4B7D"/>
                </a:solidFill>
                <a:latin typeface="Arimo"/>
                <a:ea typeface="Arimo"/>
                <a:cs typeface="Arimo"/>
                <a:sym typeface="Arimo"/>
              </a:rPr>
              <a:t>TUKY</a:t>
            </a:r>
          </a:p>
        </p:txBody>
      </p:sp>
      <p:sp>
        <p:nvSpPr>
          <p:cNvPr name="TextBox 40" id="40"/>
          <p:cNvSpPr txBox="true"/>
          <p:nvPr/>
        </p:nvSpPr>
        <p:spPr>
          <a:xfrm rot="0">
            <a:off x="13673776" y="7100840"/>
            <a:ext cx="3284858" cy="787403"/>
          </a:xfrm>
          <a:prstGeom prst="rect">
            <a:avLst/>
          </a:prstGeom>
        </p:spPr>
        <p:txBody>
          <a:bodyPr anchor="t" rtlCol="false" tIns="0" lIns="0" bIns="0" rIns="0">
            <a:spAutoFit/>
          </a:bodyPr>
          <a:lstStyle/>
          <a:p>
            <a:pPr algn="ctr">
              <a:lnSpc>
                <a:spcPts val="2724"/>
              </a:lnSpc>
            </a:pPr>
            <a:r>
              <a:rPr lang="en-US" sz="1950">
                <a:solidFill>
                  <a:srgbClr val="6B4B7D"/>
                </a:solidFill>
                <a:latin typeface="Arimo"/>
                <a:ea typeface="Arimo"/>
                <a:cs typeface="Arimo"/>
                <a:sym typeface="Arimo"/>
              </a:rPr>
              <a:t>Objem celého palce od kořene ke špičce.</a:t>
            </a:r>
          </a:p>
        </p:txBody>
      </p:sp>
      <p:sp>
        <p:nvSpPr>
          <p:cNvPr name="TextBox 41" id="41"/>
          <p:cNvSpPr txBox="true"/>
          <p:nvPr/>
        </p:nvSpPr>
        <p:spPr>
          <a:xfrm rot="0">
            <a:off x="13592270" y="7977140"/>
            <a:ext cx="3447869" cy="415928"/>
          </a:xfrm>
          <a:prstGeom prst="rect">
            <a:avLst/>
          </a:prstGeom>
        </p:spPr>
        <p:txBody>
          <a:bodyPr anchor="t" rtlCol="false" tIns="0" lIns="0" bIns="0" rIns="0">
            <a:spAutoFit/>
          </a:bodyPr>
          <a:lstStyle/>
          <a:p>
            <a:pPr algn="ctr">
              <a:lnSpc>
                <a:spcPts val="2724"/>
              </a:lnSpc>
            </a:pPr>
            <a:r>
              <a:rPr lang="en-US" sz="1950" i="true">
                <a:solidFill>
                  <a:srgbClr val="6B4B7D"/>
                </a:solidFill>
                <a:latin typeface="Arimo Italics"/>
                <a:ea typeface="Arimo Italics"/>
                <a:cs typeface="Arimo Italics"/>
                <a:sym typeface="Arimo Italics"/>
              </a:rPr>
              <a:t>ořechy, olej, ořechové máslo</a:t>
            </a:r>
          </a:p>
        </p:txBody>
      </p:sp>
      <p:sp>
        <p:nvSpPr>
          <p:cNvPr name="TextBox 42" id="42"/>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Stejný průvodce jako na webu · metoda dle Precision Nutrition · ilustrace nejsou měřítko</a:t>
            </a:r>
          </a:p>
        </p:txBody>
      </p:sp>
      <p:sp>
        <p:nvSpPr>
          <p:cNvPr name="TextBox 43" id="43"/>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42</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2597106"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NÁSTROJ · PRÁCE</a:t>
            </a:r>
          </a:p>
        </p:txBody>
      </p:sp>
      <p:sp>
        <p:nvSpPr>
          <p:cNvPr name="TextBox 3" id="3"/>
          <p:cNvSpPr txBox="true"/>
          <p:nvPr/>
        </p:nvSpPr>
        <p:spPr>
          <a:xfrm rot="0">
            <a:off x="1168403" y="1873253"/>
            <a:ext cx="14617703" cy="600694"/>
          </a:xfrm>
          <a:prstGeom prst="rect">
            <a:avLst/>
          </a:prstGeom>
        </p:spPr>
        <p:txBody>
          <a:bodyPr anchor="t" rtlCol="false" tIns="0" lIns="0" bIns="0" rIns="0">
            <a:spAutoFit/>
          </a:bodyPr>
          <a:lstStyle/>
          <a:p>
            <a:pPr algn="l">
              <a:lnSpc>
                <a:spcPts val="4735"/>
              </a:lnSpc>
            </a:pPr>
            <a:r>
              <a:rPr lang="en-US" sz="4500" spc="-81">
                <a:solidFill>
                  <a:srgbClr val="401252"/>
                </a:solidFill>
                <a:latin typeface="Arimo"/>
                <a:ea typeface="Arimo"/>
                <a:cs typeface="Arimo"/>
                <a:sym typeface="Arimo"/>
              </a:rPr>
              <a:t>Přechod se odehrává v práci, ne jen v ordinaci.</a:t>
            </a:r>
          </a:p>
        </p:txBody>
      </p:sp>
      <p:grpSp>
        <p:nvGrpSpPr>
          <p:cNvPr name="Group 4" id="4"/>
          <p:cNvGrpSpPr/>
          <p:nvPr/>
        </p:nvGrpSpPr>
        <p:grpSpPr>
          <a:xfrm rot="0">
            <a:off x="14239875" y="1231554"/>
            <a:ext cx="400050" cy="400050"/>
            <a:chOff x="0" y="0"/>
            <a:chExt cx="533400" cy="533400"/>
          </a:xfrm>
        </p:grpSpPr>
        <p:sp>
          <p:nvSpPr>
            <p:cNvPr name="Freeform 5" id="5"/>
            <p:cNvSpPr/>
            <p:nvPr/>
          </p:nvSpPr>
          <p:spPr>
            <a:xfrm flipH="false" flipV="false" rot="0">
              <a:off x="0" y="0"/>
              <a:ext cx="533400" cy="533400"/>
            </a:xfrm>
            <a:custGeom>
              <a:avLst/>
              <a:gdLst/>
              <a:ahLst/>
              <a:cxnLst/>
              <a:rect r="r" b="b" t="t" l="l"/>
              <a:pathLst>
                <a:path h="533400" w="533400">
                  <a:moveTo>
                    <a:pt x="0" y="120015"/>
                  </a:moveTo>
                  <a:cubicBezTo>
                    <a:pt x="0" y="53721"/>
                    <a:pt x="53721" y="0"/>
                    <a:pt x="120015" y="0"/>
                  </a:cubicBezTo>
                  <a:lnTo>
                    <a:pt x="413385" y="0"/>
                  </a:lnTo>
                  <a:cubicBezTo>
                    <a:pt x="479679" y="0"/>
                    <a:pt x="533400" y="53721"/>
                    <a:pt x="533400" y="120015"/>
                  </a:cubicBezTo>
                  <a:lnTo>
                    <a:pt x="533400" y="413385"/>
                  </a:lnTo>
                  <a:cubicBezTo>
                    <a:pt x="533400" y="479679"/>
                    <a:pt x="479679" y="533400"/>
                    <a:pt x="413385" y="533400"/>
                  </a:cubicBezTo>
                  <a:lnTo>
                    <a:pt x="120015" y="533400"/>
                  </a:lnTo>
                  <a:cubicBezTo>
                    <a:pt x="53721" y="533400"/>
                    <a:pt x="0" y="479679"/>
                    <a:pt x="0" y="413385"/>
                  </a:cubicBezTo>
                  <a:close/>
                </a:path>
              </a:pathLst>
            </a:custGeom>
            <a:blipFill>
              <a:blip r:embed="rId3">
                <a:alphaModFix amt="0"/>
              </a:blip>
              <a:stretch>
                <a:fillRect l="-78303" t="0" r="-78303" b="0"/>
              </a:stretch>
            </a:blipFill>
            <a:ln w="19050" cap="sq">
              <a:solidFill>
                <a:srgbClr val="6D2A8C"/>
              </a:solidFill>
              <a:prstDash val="solid"/>
              <a:miter/>
            </a:ln>
          </p:spPr>
        </p:sp>
      </p:grpSp>
      <p:grpSp>
        <p:nvGrpSpPr>
          <p:cNvPr name="Group 6" id="6"/>
          <p:cNvGrpSpPr/>
          <p:nvPr/>
        </p:nvGrpSpPr>
        <p:grpSpPr>
          <a:xfrm rot="0">
            <a:off x="14230350" y="1260129"/>
            <a:ext cx="419100" cy="381000"/>
            <a:chOff x="0" y="0"/>
            <a:chExt cx="558800" cy="508000"/>
          </a:xfrm>
        </p:grpSpPr>
        <p:sp>
          <p:nvSpPr>
            <p:cNvPr name="Freeform 7" id="7"/>
            <p:cNvSpPr/>
            <p:nvPr/>
          </p:nvSpPr>
          <p:spPr>
            <a:xfrm flipH="false" flipV="false" rot="0">
              <a:off x="0" y="0"/>
              <a:ext cx="558800" cy="508000"/>
            </a:xfrm>
            <a:custGeom>
              <a:avLst/>
              <a:gdLst/>
              <a:ahLst/>
              <a:cxnLst/>
              <a:rect r="r" b="b" t="t" l="l"/>
              <a:pathLst>
                <a:path h="508000" w="558800">
                  <a:moveTo>
                    <a:pt x="0" y="0"/>
                  </a:moveTo>
                  <a:lnTo>
                    <a:pt x="558800" y="0"/>
                  </a:lnTo>
                  <a:lnTo>
                    <a:pt x="558800" y="508000"/>
                  </a:lnTo>
                  <a:lnTo>
                    <a:pt x="0" y="508000"/>
                  </a:lnTo>
                  <a:close/>
                </a:path>
              </a:pathLst>
            </a:custGeom>
            <a:blipFill>
              <a:blip r:embed="rId3">
                <a:alphaModFix amt="0"/>
              </a:blip>
              <a:stretch>
                <a:fillRect l="-66639" t="0" r="-66639" b="0"/>
              </a:stretch>
            </a:blipFill>
          </p:spPr>
        </p:sp>
        <p:sp>
          <p:nvSpPr>
            <p:cNvPr name="TextBox 8" id="8"/>
            <p:cNvSpPr txBox="true"/>
            <p:nvPr/>
          </p:nvSpPr>
          <p:spPr>
            <a:xfrm>
              <a:off x="0" y="-57150"/>
              <a:ext cx="558800" cy="565150"/>
            </a:xfrm>
            <a:prstGeom prst="rect">
              <a:avLst/>
            </a:prstGeom>
          </p:spPr>
          <p:txBody>
            <a:bodyPr anchor="ctr" rtlCol="false" tIns="0" lIns="0" bIns="0" rIns="0"/>
            <a:lstStyle/>
            <a:p>
              <a:pPr algn="ctr">
                <a:lnSpc>
                  <a:spcPts val="2243"/>
                </a:lnSpc>
              </a:pPr>
              <a:r>
                <a:rPr lang="en-US" sz="1500">
                  <a:solidFill>
                    <a:srgbClr val="6D2A8C"/>
                  </a:solidFill>
                  <a:latin typeface="Arimo"/>
                  <a:ea typeface="Arimo"/>
                  <a:cs typeface="Arimo"/>
                  <a:sym typeface="Arimo"/>
                </a:rPr>
                <a:t>B</a:t>
              </a:r>
            </a:p>
          </p:txBody>
        </p:sp>
      </p:grpSp>
      <p:sp>
        <p:nvSpPr>
          <p:cNvPr name="TextBox 9" id="9"/>
          <p:cNvSpPr txBox="true"/>
          <p:nvPr/>
        </p:nvSpPr>
        <p:spPr>
          <a:xfrm rot="0">
            <a:off x="14789153" y="1206503"/>
            <a:ext cx="2406653" cy="469202"/>
          </a:xfrm>
          <a:prstGeom prst="rect">
            <a:avLst/>
          </a:prstGeom>
        </p:spPr>
        <p:txBody>
          <a:bodyPr anchor="t" rtlCol="false" tIns="0" lIns="0" bIns="0" rIns="0">
            <a:spAutoFit/>
          </a:bodyPr>
          <a:lstStyle/>
          <a:p>
            <a:pPr algn="l">
              <a:lnSpc>
                <a:spcPts val="1675"/>
              </a:lnSpc>
            </a:pPr>
            <a:r>
              <a:rPr lang="en-US" sz="1350" spc="135">
                <a:solidFill>
                  <a:srgbClr val="6B4B7D"/>
                </a:solidFill>
                <a:latin typeface="Arimo"/>
                <a:ea typeface="Arimo"/>
                <a:cs typeface="Arimo"/>
                <a:sym typeface="Arimo"/>
              </a:rPr>
              <a:t>PRŮZKUMY A OBSERVAČNÍ DATA</a:t>
            </a:r>
          </a:p>
        </p:txBody>
      </p:sp>
      <p:grpSp>
        <p:nvGrpSpPr>
          <p:cNvPr name="Group 10" id="10"/>
          <p:cNvGrpSpPr/>
          <p:nvPr/>
        </p:nvGrpSpPr>
        <p:grpSpPr>
          <a:xfrm rot="0">
            <a:off x="1133475" y="4086225"/>
            <a:ext cx="7753350" cy="3139754"/>
            <a:chOff x="0" y="0"/>
            <a:chExt cx="10337800" cy="4186339"/>
          </a:xfrm>
        </p:grpSpPr>
        <p:sp>
          <p:nvSpPr>
            <p:cNvPr name="Freeform 11" id="11"/>
            <p:cNvSpPr/>
            <p:nvPr/>
          </p:nvSpPr>
          <p:spPr>
            <a:xfrm flipH="false" flipV="false" rot="0">
              <a:off x="0" y="0"/>
              <a:ext cx="10337800" cy="4186301"/>
            </a:xfrm>
            <a:custGeom>
              <a:avLst/>
              <a:gdLst/>
              <a:ahLst/>
              <a:cxnLst/>
              <a:rect r="r" b="b" t="t" l="l"/>
              <a:pathLst>
                <a:path h="4186301" w="10337800">
                  <a:moveTo>
                    <a:pt x="0" y="153289"/>
                  </a:moveTo>
                  <a:cubicBezTo>
                    <a:pt x="0" y="68707"/>
                    <a:pt x="68707" y="0"/>
                    <a:pt x="153289" y="0"/>
                  </a:cubicBezTo>
                  <a:lnTo>
                    <a:pt x="10184511" y="0"/>
                  </a:lnTo>
                  <a:cubicBezTo>
                    <a:pt x="10269093" y="0"/>
                    <a:pt x="10337800" y="68707"/>
                    <a:pt x="10337800" y="153289"/>
                  </a:cubicBezTo>
                  <a:lnTo>
                    <a:pt x="10337800" y="4033012"/>
                  </a:lnTo>
                  <a:cubicBezTo>
                    <a:pt x="10337800" y="4117721"/>
                    <a:pt x="10269093" y="4186301"/>
                    <a:pt x="10184511" y="4186301"/>
                  </a:cubicBezTo>
                  <a:lnTo>
                    <a:pt x="153289" y="4186301"/>
                  </a:lnTo>
                  <a:cubicBezTo>
                    <a:pt x="68707" y="4186301"/>
                    <a:pt x="0" y="4117721"/>
                    <a:pt x="0" y="4033012"/>
                  </a:cubicBezTo>
                  <a:close/>
                </a:path>
              </a:pathLst>
            </a:custGeom>
            <a:blipFill>
              <a:blip r:embed="rId3">
                <a:alphaModFix amt="0"/>
              </a:blip>
              <a:stretch>
                <a:fillRect l="-1957" t="0" r="-1957" b="0"/>
              </a:stretch>
            </a:blipFill>
            <a:ln w="19050" cap="sq">
              <a:solidFill>
                <a:srgbClr val="CDB3DC"/>
              </a:solidFill>
              <a:prstDash val="dash"/>
              <a:miter/>
            </a:ln>
          </p:spPr>
        </p:sp>
      </p:grpSp>
      <p:sp>
        <p:nvSpPr>
          <p:cNvPr name="TextBox 12" id="12"/>
          <p:cNvSpPr txBox="true"/>
          <p:nvPr/>
        </p:nvSpPr>
        <p:spPr>
          <a:xfrm rot="0">
            <a:off x="1568453" y="4416428"/>
            <a:ext cx="7091429" cy="393383"/>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CO OBTÍŽE ZHORŠUJE</a:t>
            </a:r>
          </a:p>
        </p:txBody>
      </p:sp>
      <p:sp>
        <p:nvSpPr>
          <p:cNvPr name="TextBox 13" id="13"/>
          <p:cNvSpPr txBox="true"/>
          <p:nvPr/>
        </p:nvSpPr>
        <p:spPr>
          <a:xfrm rot="0">
            <a:off x="1415101" y="5003483"/>
            <a:ext cx="7112956" cy="1863728"/>
          </a:xfrm>
          <a:prstGeom prst="rect">
            <a:avLst/>
          </a:prstGeom>
        </p:spPr>
        <p:txBody>
          <a:bodyPr anchor="t" rtlCol="false" tIns="0" lIns="0" bIns="0" rIns="0">
            <a:spAutoFit/>
          </a:bodyPr>
          <a:lstStyle/>
          <a:p>
            <a:pPr algn="l">
              <a:lnSpc>
                <a:spcPts val="2380"/>
              </a:lnSpc>
            </a:pPr>
            <a:r>
              <a:rPr lang="en-US" sz="1725">
                <a:solidFill>
                  <a:srgbClr val="6B4B7D"/>
                </a:solidFill>
                <a:latin typeface="Arimo"/>
                <a:ea typeface="Arimo"/>
                <a:cs typeface="Arimo"/>
                <a:sym typeface="Arimo"/>
              </a:rPr>
              <a:t>vysoké nároky a malá možnost rozhodovat</a:t>
            </a:r>
          </a:p>
          <a:p>
            <a:pPr algn="l">
              <a:lnSpc>
                <a:spcPts val="2380"/>
              </a:lnSpc>
            </a:pPr>
            <a:r>
              <a:rPr lang="en-US" sz="1725">
                <a:solidFill>
                  <a:srgbClr val="6B4B7D"/>
                </a:solidFill>
                <a:latin typeface="Arimo"/>
                <a:ea typeface="Arimo"/>
                <a:cs typeface="Arimo"/>
                <a:sym typeface="Arimo"/>
              </a:rPr>
              <a:t>směny a nepružná pracovní doba</a:t>
            </a:r>
          </a:p>
          <a:p>
            <a:pPr algn="l">
              <a:lnSpc>
                <a:spcPts val="2380"/>
              </a:lnSpc>
            </a:pPr>
            <a:r>
              <a:rPr lang="en-US" sz="1725">
                <a:solidFill>
                  <a:srgbClr val="6B4B7D"/>
                </a:solidFill>
                <a:latin typeface="Arimo"/>
                <a:ea typeface="Arimo"/>
                <a:cs typeface="Arimo"/>
                <a:sym typeface="Arimo"/>
              </a:rPr>
              <a:t>nemožnost ovlivnit teplotu a větrání</a:t>
            </a:r>
          </a:p>
          <a:p>
            <a:pPr algn="l">
              <a:lnSpc>
                <a:spcPts val="2380"/>
              </a:lnSpc>
            </a:pPr>
            <a:r>
              <a:rPr lang="en-US" sz="1725">
                <a:solidFill>
                  <a:srgbClr val="6B4B7D"/>
                </a:solidFill>
                <a:latin typeface="Arimo"/>
                <a:ea typeface="Arimo"/>
                <a:cs typeface="Arimo"/>
                <a:sym typeface="Arimo"/>
              </a:rPr>
              <a:t>prostředí, kde se o tom nemluví</a:t>
            </a:r>
          </a:p>
        </p:txBody>
      </p:sp>
      <p:grpSp>
        <p:nvGrpSpPr>
          <p:cNvPr name="Group 14" id="14"/>
          <p:cNvGrpSpPr/>
          <p:nvPr/>
        </p:nvGrpSpPr>
        <p:grpSpPr>
          <a:xfrm rot="0">
            <a:off x="9410700" y="4095750"/>
            <a:ext cx="7734300" cy="3082604"/>
            <a:chOff x="0" y="0"/>
            <a:chExt cx="10312400" cy="4110139"/>
          </a:xfrm>
        </p:grpSpPr>
        <p:sp>
          <p:nvSpPr>
            <p:cNvPr name="Freeform 15" id="15"/>
            <p:cNvSpPr/>
            <p:nvPr/>
          </p:nvSpPr>
          <p:spPr>
            <a:xfrm flipH="false" flipV="false" rot="0">
              <a:off x="0" y="0"/>
              <a:ext cx="10312400" cy="4110101"/>
            </a:xfrm>
            <a:custGeom>
              <a:avLst/>
              <a:gdLst/>
              <a:ahLst/>
              <a:cxnLst/>
              <a:rect r="r" b="b" t="t" l="l"/>
              <a:pathLst>
                <a:path h="4110101" w="10312400">
                  <a:moveTo>
                    <a:pt x="0" y="152400"/>
                  </a:moveTo>
                  <a:cubicBezTo>
                    <a:pt x="0" y="68199"/>
                    <a:pt x="68199" y="0"/>
                    <a:pt x="152400" y="0"/>
                  </a:cubicBezTo>
                  <a:lnTo>
                    <a:pt x="10160000" y="0"/>
                  </a:lnTo>
                  <a:cubicBezTo>
                    <a:pt x="10244201" y="0"/>
                    <a:pt x="10312400" y="68199"/>
                    <a:pt x="10312400" y="152400"/>
                  </a:cubicBezTo>
                  <a:lnTo>
                    <a:pt x="10312400" y="3957701"/>
                  </a:lnTo>
                  <a:cubicBezTo>
                    <a:pt x="10312400" y="4041902"/>
                    <a:pt x="10244201" y="4110101"/>
                    <a:pt x="10160000" y="4110101"/>
                  </a:cubicBezTo>
                  <a:lnTo>
                    <a:pt x="152400" y="4110101"/>
                  </a:lnTo>
                  <a:cubicBezTo>
                    <a:pt x="68199" y="4110101"/>
                    <a:pt x="0" y="4041902"/>
                    <a:pt x="0" y="3957701"/>
                  </a:cubicBezTo>
                  <a:close/>
                </a:path>
              </a:pathLst>
            </a:custGeom>
            <a:solidFill>
              <a:srgbClr val="F4ECFA"/>
            </a:solidFill>
          </p:spPr>
        </p:sp>
      </p:grpSp>
      <p:sp>
        <p:nvSpPr>
          <p:cNvPr name="TextBox 16" id="16"/>
          <p:cNvSpPr txBox="true"/>
          <p:nvPr/>
        </p:nvSpPr>
        <p:spPr>
          <a:xfrm rot="0">
            <a:off x="9817103" y="4397378"/>
            <a:ext cx="7130672"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CO POMÁHÁ</a:t>
            </a:r>
          </a:p>
        </p:txBody>
      </p:sp>
      <p:sp>
        <p:nvSpPr>
          <p:cNvPr name="TextBox 17" id="17"/>
          <p:cNvSpPr txBox="true"/>
          <p:nvPr/>
        </p:nvSpPr>
        <p:spPr>
          <a:xfrm rot="0">
            <a:off x="9663751" y="4984433"/>
            <a:ext cx="7151056" cy="1863728"/>
          </a:xfrm>
          <a:prstGeom prst="rect">
            <a:avLst/>
          </a:prstGeom>
        </p:spPr>
        <p:txBody>
          <a:bodyPr anchor="t" rtlCol="false" tIns="0" lIns="0" bIns="0" rIns="0">
            <a:spAutoFit/>
          </a:bodyPr>
          <a:lstStyle/>
          <a:p>
            <a:pPr algn="l">
              <a:lnSpc>
                <a:spcPts val="2380"/>
              </a:lnSpc>
            </a:pPr>
            <a:r>
              <a:rPr lang="en-US" sz="1725">
                <a:solidFill>
                  <a:srgbClr val="6B4B7D"/>
                </a:solidFill>
                <a:latin typeface="Arimo"/>
                <a:ea typeface="Arimo"/>
                <a:cs typeface="Arimo"/>
                <a:sym typeface="Arimo"/>
              </a:rPr>
              <a:t>pružná pracovní doba</a:t>
            </a:r>
          </a:p>
          <a:p>
            <a:pPr algn="l">
              <a:lnSpc>
                <a:spcPts val="2380"/>
              </a:lnSpc>
            </a:pPr>
            <a:r>
              <a:rPr lang="en-US" sz="1725">
                <a:solidFill>
                  <a:srgbClr val="6B4B7D"/>
                </a:solidFill>
                <a:latin typeface="Arimo"/>
                <a:ea typeface="Arimo"/>
                <a:cs typeface="Arimo"/>
                <a:sym typeface="Arimo"/>
              </a:rPr>
              <a:t>vedoucí, který o tom něco ví</a:t>
            </a:r>
          </a:p>
          <a:p>
            <a:pPr algn="l">
              <a:lnSpc>
                <a:spcPts val="2380"/>
              </a:lnSpc>
            </a:pPr>
            <a:r>
              <a:rPr lang="en-US" sz="1725">
                <a:solidFill>
                  <a:srgbClr val="6B4B7D"/>
                </a:solidFill>
                <a:latin typeface="Arimo"/>
                <a:ea typeface="Arimo"/>
                <a:cs typeface="Arimo"/>
                <a:sym typeface="Arimo"/>
              </a:rPr>
              <a:t>možnost regulovat teplotu, klidné místo</a:t>
            </a:r>
          </a:p>
          <a:p>
            <a:pPr algn="l">
              <a:lnSpc>
                <a:spcPts val="2380"/>
              </a:lnSpc>
            </a:pPr>
            <a:r>
              <a:rPr lang="en-US" sz="1725">
                <a:solidFill>
                  <a:srgbClr val="6B4B7D"/>
                </a:solidFill>
                <a:latin typeface="Arimo"/>
                <a:ea typeface="Arimo"/>
                <a:cs typeface="Arimo"/>
                <a:sym typeface="Arimo"/>
              </a:rPr>
              <a:t>otevřená domluva místo omluv</a:t>
            </a:r>
          </a:p>
        </p:txBody>
      </p:sp>
      <p:sp>
        <p:nvSpPr>
          <p:cNvPr name="TextBox 18" id="18"/>
          <p:cNvSpPr txBox="true"/>
          <p:nvPr/>
        </p:nvSpPr>
        <p:spPr>
          <a:xfrm rot="0">
            <a:off x="1168403" y="7588253"/>
            <a:ext cx="16431263" cy="787403"/>
          </a:xfrm>
          <a:prstGeom prst="rect">
            <a:avLst/>
          </a:prstGeom>
        </p:spPr>
        <p:txBody>
          <a:bodyPr anchor="t" rtlCol="false" tIns="0" lIns="0" bIns="0" rIns="0">
            <a:spAutoFit/>
          </a:bodyPr>
          <a:lstStyle/>
          <a:p>
            <a:pPr algn="l">
              <a:lnSpc>
                <a:spcPts val="2724"/>
              </a:lnSpc>
            </a:pPr>
            <a:r>
              <a:rPr lang="en-US" sz="1950">
                <a:solidFill>
                  <a:srgbClr val="6B4B7D"/>
                </a:solidFill>
                <a:latin typeface="Arimo"/>
                <a:ea typeface="Arimo"/>
                <a:cs typeface="Arimo"/>
                <a:sym typeface="Arimo"/>
              </a:rPr>
              <a:t>Nejhůř na tom jsou ženy v </a:t>
            </a:r>
            <a:r>
              <a:rPr lang="en-US" sz="1950" b="true">
                <a:solidFill>
                  <a:srgbClr val="401252"/>
                </a:solidFill>
                <a:latin typeface="Arimo Bold"/>
                <a:ea typeface="Arimo Bold"/>
                <a:cs typeface="Arimo Bold"/>
                <a:sym typeface="Arimo Bold"/>
              </a:rPr>
              <a:t>hůř placených, fyzicky náročných a směnných profesích </a:t>
            </a:r>
            <a:r>
              <a:rPr lang="en-US" sz="1950">
                <a:solidFill>
                  <a:srgbClr val="6B4B7D"/>
                </a:solidFill>
                <a:latin typeface="Arimo"/>
                <a:ea typeface="Arimo"/>
                <a:cs typeface="Arimo"/>
                <a:sym typeface="Arimo"/>
              </a:rPr>
              <a:t>: nejvíc příznaků a nejmenší možnost si podmínky upravit.</a:t>
            </a:r>
          </a:p>
        </p:txBody>
      </p:sp>
      <p:sp>
        <p:nvSpPr>
          <p:cNvPr name="TextBox 19" id="19"/>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EMAS 2026, Healthy menopause, Maturitas</a:t>
            </a:r>
          </a:p>
        </p:txBody>
      </p:sp>
      <p:sp>
        <p:nvSpPr>
          <p:cNvPr name="TextBox 20" id="20"/>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43</a:t>
            </a:r>
          </a:p>
        </p:txBody>
      </p:sp>
    </p:spTree>
  </p:cSld>
  <p:clrMapOvr>
    <a:masterClrMapping/>
  </p:clrMapOvr>
</p:sld>
</file>

<file path=ppt/slides/slide44.xml><?xml version="1.0" encoding="utf-8"?>
<p:sld xmlns:p="http://schemas.openxmlformats.org/presentationml/2006/main" xmlns:a="http://schemas.openxmlformats.org/drawingml/2006/main">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01252"/>
            </a:solidFill>
          </p:spPr>
        </p:sp>
      </p:grpSp>
      <p:sp>
        <p:nvSpPr>
          <p:cNvPr name="TextBox 4" id="4"/>
          <p:cNvSpPr txBox="true"/>
          <p:nvPr/>
        </p:nvSpPr>
        <p:spPr>
          <a:xfrm rot="0">
            <a:off x="1168403" y="1292228"/>
            <a:ext cx="4675984" cy="393383"/>
          </a:xfrm>
          <a:prstGeom prst="rect">
            <a:avLst/>
          </a:prstGeom>
        </p:spPr>
        <p:txBody>
          <a:bodyPr anchor="t" rtlCol="false" tIns="0" lIns="0" bIns="0" rIns="0">
            <a:spAutoFit/>
          </a:bodyPr>
          <a:lstStyle/>
          <a:p>
            <a:pPr algn="l">
              <a:lnSpc>
                <a:spcPts val="2476"/>
              </a:lnSpc>
            </a:pPr>
            <a:r>
              <a:rPr lang="en-US" sz="1650" spc="214">
                <a:solidFill>
                  <a:srgbClr val="D8A6F5"/>
                </a:solidFill>
                <a:latin typeface="Arimo"/>
                <a:ea typeface="Arimo"/>
                <a:cs typeface="Arimo"/>
                <a:sym typeface="Arimo"/>
              </a:rPr>
              <a:t>ODPOVĚĎ · ČÍM MÁM ZAČÍT ZÍTRA?</a:t>
            </a:r>
          </a:p>
        </p:txBody>
      </p:sp>
      <p:sp>
        <p:nvSpPr>
          <p:cNvPr name="TextBox 5" id="5"/>
          <p:cNvSpPr txBox="true"/>
          <p:nvPr/>
        </p:nvSpPr>
        <p:spPr>
          <a:xfrm rot="0">
            <a:off x="1168403" y="5111820"/>
            <a:ext cx="15665453" cy="746617"/>
          </a:xfrm>
          <a:prstGeom prst="rect">
            <a:avLst/>
          </a:prstGeom>
        </p:spPr>
        <p:txBody>
          <a:bodyPr anchor="t" rtlCol="false" tIns="0" lIns="0" bIns="0" rIns="0">
            <a:spAutoFit/>
          </a:bodyPr>
          <a:lstStyle/>
          <a:p>
            <a:pPr algn="l">
              <a:lnSpc>
                <a:spcPts val="6263"/>
              </a:lnSpc>
            </a:pPr>
            <a:r>
              <a:rPr lang="en-US" sz="6300" spc="-175">
                <a:solidFill>
                  <a:srgbClr val="FFFFFF"/>
                </a:solidFill>
                <a:latin typeface="Arimo"/>
                <a:ea typeface="Arimo"/>
                <a:cs typeface="Arimo"/>
                <a:sym typeface="Arimo"/>
              </a:rPr>
              <a:t>Jedna změna. Dva týdny. Pak další.</a:t>
            </a:r>
          </a:p>
        </p:txBody>
      </p:sp>
      <p:sp>
        <p:nvSpPr>
          <p:cNvPr name="TextBox 6" id="6"/>
          <p:cNvSpPr txBox="true"/>
          <p:nvPr/>
        </p:nvSpPr>
        <p:spPr>
          <a:xfrm rot="0">
            <a:off x="1168403" y="6242618"/>
            <a:ext cx="13684253" cy="980427"/>
          </a:xfrm>
          <a:prstGeom prst="rect">
            <a:avLst/>
          </a:prstGeom>
        </p:spPr>
        <p:txBody>
          <a:bodyPr anchor="t" rtlCol="false" tIns="0" lIns="0" bIns="0" rIns="0">
            <a:spAutoFit/>
          </a:bodyPr>
          <a:lstStyle/>
          <a:p>
            <a:pPr algn="l">
              <a:lnSpc>
                <a:spcPts val="3452"/>
              </a:lnSpc>
            </a:pPr>
            <a:r>
              <a:rPr lang="en-US" sz="2550">
                <a:solidFill>
                  <a:srgbClr val="C9AEDA"/>
                </a:solidFill>
                <a:latin typeface="Arimo"/>
                <a:ea typeface="Arimo"/>
                <a:cs typeface="Arimo"/>
                <a:sym typeface="Arimo"/>
              </a:rPr>
              <a:t>Ne dokonalý plán, ale ten, který vydržíte. Vyberte si jednu věc, u které si na stupnici 1 až 10 věříte aspoň na devítku.</a:t>
            </a:r>
          </a:p>
        </p:txBody>
      </p:sp>
      <p:sp>
        <p:nvSpPr>
          <p:cNvPr name="TextBox 7" id="7"/>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44</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7491" r="0" b="-11238"/>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401252">
                    <a:alpha val="97000"/>
                  </a:srgbClr>
                </a:gs>
                <a:gs pos="46000">
                  <a:srgbClr val="401252">
                    <a:alpha val="91000"/>
                  </a:srgbClr>
                </a:gs>
                <a:gs pos="80000">
                  <a:srgbClr val="401252">
                    <a:alpha val="42000"/>
                  </a:srgbClr>
                </a:gs>
                <a:gs pos="100000">
                  <a:srgbClr val="401252">
                    <a:alpha val="12000"/>
                  </a:srgbClr>
                </a:gs>
              </a:gsLst>
              <a:lin ang="0"/>
            </a:gradFill>
          </p:spPr>
        </p:sp>
      </p:grpSp>
      <p:sp>
        <p:nvSpPr>
          <p:cNvPr name="TextBox 6" id="6"/>
          <p:cNvSpPr txBox="true"/>
          <p:nvPr/>
        </p:nvSpPr>
        <p:spPr>
          <a:xfrm rot="0">
            <a:off x="1168403" y="4523584"/>
            <a:ext cx="13095608" cy="1913582"/>
          </a:xfrm>
          <a:prstGeom prst="rect">
            <a:avLst/>
          </a:prstGeom>
        </p:spPr>
        <p:txBody>
          <a:bodyPr anchor="t" rtlCol="false" tIns="0" lIns="0" bIns="0" rIns="0">
            <a:spAutoFit/>
          </a:bodyPr>
          <a:lstStyle/>
          <a:p>
            <a:pPr algn="l">
              <a:lnSpc>
                <a:spcPts val="7490"/>
              </a:lnSpc>
            </a:pPr>
            <a:r>
              <a:rPr lang="en-US" sz="7650" spc="-214">
                <a:solidFill>
                  <a:srgbClr val="FFFFFF"/>
                </a:solidFill>
                <a:latin typeface="Arimo"/>
                <a:ea typeface="Arimo"/>
                <a:cs typeface="Arimo"/>
                <a:sym typeface="Arimo"/>
              </a:rPr>
              <a:t>Zdravé stárnutí nezačíná po menopauze.</a:t>
            </a:r>
          </a:p>
        </p:txBody>
      </p:sp>
      <p:sp>
        <p:nvSpPr>
          <p:cNvPr name="TextBox 7" id="7"/>
          <p:cNvSpPr txBox="true"/>
          <p:nvPr/>
        </p:nvSpPr>
        <p:spPr>
          <a:xfrm rot="0">
            <a:off x="1168403" y="6859438"/>
            <a:ext cx="12114533" cy="980427"/>
          </a:xfrm>
          <a:prstGeom prst="rect">
            <a:avLst/>
          </a:prstGeom>
        </p:spPr>
        <p:txBody>
          <a:bodyPr anchor="t" rtlCol="false" tIns="0" lIns="0" bIns="0" rIns="0">
            <a:spAutoFit/>
          </a:bodyPr>
          <a:lstStyle/>
          <a:p>
            <a:pPr algn="l">
              <a:lnSpc>
                <a:spcPts val="3452"/>
              </a:lnSpc>
            </a:pPr>
            <a:r>
              <a:rPr lang="en-US" sz="2550">
                <a:solidFill>
                  <a:srgbClr val="C9AEDA"/>
                </a:solidFill>
                <a:latin typeface="Arimo"/>
                <a:ea typeface="Arimo"/>
                <a:cs typeface="Arimo"/>
                <a:sym typeface="Arimo"/>
              </a:rPr>
              <a:t>Příznaky se dají léčit, pokud berou funkci. Dlouhodobé riziko se dá ovlivnit, a to nástroji, které </a:t>
            </a:r>
            <a:r>
              <a:rPr lang="en-US" sz="2550">
                <a:solidFill>
                  <a:srgbClr val="FFFFFF"/>
                </a:solidFill>
                <a:latin typeface="Arimo"/>
                <a:ea typeface="Arimo"/>
                <a:cs typeface="Arimo"/>
                <a:sym typeface="Arimo"/>
              </a:rPr>
              <a:t>nikdo neprodává v lahvičce</a:t>
            </a:r>
            <a:r>
              <a:rPr lang="en-US" sz="2550">
                <a:solidFill>
                  <a:srgbClr val="C9AEDA"/>
                </a:solidFill>
                <a:latin typeface="Arimo"/>
                <a:ea typeface="Arimo"/>
                <a:cs typeface="Arimo"/>
                <a:sym typeface="Arimo"/>
              </a:rPr>
              <a:t>.</a:t>
            </a:r>
          </a:p>
        </p:txBody>
      </p:sp>
      <p:sp>
        <p:nvSpPr>
          <p:cNvPr name="TextBox 8" id="8"/>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C9AEDA"/>
                </a:solidFill>
                <a:latin typeface="Arimo"/>
                <a:ea typeface="Arimo"/>
                <a:cs typeface="Arimo"/>
                <a:sym typeface="Arimo"/>
              </a:rPr>
              <a:t>45</a:t>
            </a:r>
          </a:p>
        </p:txBody>
      </p:sp>
    </p:spTree>
  </p:cSld>
  <p:clrMapOvr>
    <a:masterClrMapping/>
  </p:clrMapOvr>
</p:sld>
</file>

<file path=ppt/slides/slide46.xml><?xml version="1.0" encoding="utf-8"?>
<p:sld xmlns:p="http://schemas.openxmlformats.org/presentationml/2006/main" xmlns:a="http://schemas.openxmlformats.org/drawingml/2006/main">
  <p:cSld>
    <p:bg>
      <p:bgPr>
        <a:solidFill>
          <a:srgbClr val="FBF5FE"/>
        </a:solidFill>
      </p:bgPr>
    </p:bg>
    <p:spTree>
      <p:nvGrpSpPr>
        <p:cNvPr id="1" name=""/>
        <p:cNvGrpSpPr/>
        <p:nvPr/>
      </p:nvGrpSpPr>
      <p:grpSpPr>
        <a:xfrm>
          <a:off x="0" y="0"/>
          <a:ext cx="0" cy="0"/>
          <a:chOff x="0" y="0"/>
          <a:chExt cx="0" cy="0"/>
        </a:xfrm>
      </p:grpSpPr>
      <p:sp>
        <p:nvSpPr>
          <p:cNvPr name="TextBox 2" id="2"/>
          <p:cNvSpPr txBox="true"/>
          <p:nvPr/>
        </p:nvSpPr>
        <p:spPr>
          <a:xfrm rot="0">
            <a:off x="1168403" y="1292228"/>
            <a:ext cx="1219448" cy="393383"/>
          </a:xfrm>
          <a:prstGeom prst="rect">
            <a:avLst/>
          </a:prstGeom>
        </p:spPr>
        <p:txBody>
          <a:bodyPr anchor="t" rtlCol="false" tIns="0" lIns="0" bIns="0" rIns="0">
            <a:spAutoFit/>
          </a:bodyPr>
          <a:lstStyle/>
          <a:p>
            <a:pPr algn="l">
              <a:lnSpc>
                <a:spcPts val="2476"/>
              </a:lnSpc>
            </a:pPr>
            <a:r>
              <a:rPr lang="en-US" sz="1650" spc="214">
                <a:solidFill>
                  <a:srgbClr val="6D2A8C"/>
                </a:solidFill>
                <a:latin typeface="Arimo"/>
                <a:ea typeface="Arimo"/>
                <a:cs typeface="Arimo"/>
                <a:sym typeface="Arimo"/>
              </a:rPr>
              <a:t>ZDROJE</a:t>
            </a:r>
          </a:p>
        </p:txBody>
      </p:sp>
      <p:sp>
        <p:nvSpPr>
          <p:cNvPr name="TextBox 3" id="3"/>
          <p:cNvSpPr txBox="true"/>
          <p:nvPr/>
        </p:nvSpPr>
        <p:spPr>
          <a:xfrm rot="0">
            <a:off x="1168403" y="1901828"/>
            <a:ext cx="14617703" cy="702935"/>
          </a:xfrm>
          <a:prstGeom prst="rect">
            <a:avLst/>
          </a:prstGeom>
        </p:spPr>
        <p:txBody>
          <a:bodyPr anchor="t" rtlCol="false" tIns="0" lIns="0" bIns="0" rIns="0">
            <a:spAutoFit/>
          </a:bodyPr>
          <a:lstStyle/>
          <a:p>
            <a:pPr algn="l">
              <a:lnSpc>
                <a:spcPts val="5668"/>
              </a:lnSpc>
            </a:pPr>
            <a:r>
              <a:rPr lang="en-US" sz="5550" spc="-133">
                <a:solidFill>
                  <a:srgbClr val="401252"/>
                </a:solidFill>
                <a:latin typeface="Arimo"/>
                <a:ea typeface="Arimo"/>
                <a:cs typeface="Arimo"/>
                <a:sym typeface="Arimo"/>
              </a:rPr>
              <a:t>Z čeho tato přednáška vychází.</a:t>
            </a:r>
          </a:p>
        </p:txBody>
      </p:sp>
      <p:grpSp>
        <p:nvGrpSpPr>
          <p:cNvPr name="Group 4" id="4"/>
          <p:cNvGrpSpPr/>
          <p:nvPr/>
        </p:nvGrpSpPr>
        <p:grpSpPr>
          <a:xfrm rot="0">
            <a:off x="1143000" y="3390900"/>
            <a:ext cx="16002000" cy="9525"/>
            <a:chOff x="0" y="0"/>
            <a:chExt cx="21336000" cy="12700"/>
          </a:xfrm>
        </p:grpSpPr>
        <p:sp>
          <p:nvSpPr>
            <p:cNvPr name="Freeform 5" id="5"/>
            <p:cNvSpPr/>
            <p:nvPr/>
          </p:nvSpPr>
          <p:spPr>
            <a:xfrm flipH="false" flipV="false" rot="0">
              <a:off x="0" y="0"/>
              <a:ext cx="21336000" cy="12700"/>
            </a:xfrm>
            <a:custGeom>
              <a:avLst/>
              <a:gdLst/>
              <a:ahLst/>
              <a:cxnLst/>
              <a:rect r="r" b="b" t="t" l="l"/>
              <a:pathLst>
                <a:path h="12700" w="21336000">
                  <a:moveTo>
                    <a:pt x="0" y="0"/>
                  </a:moveTo>
                  <a:lnTo>
                    <a:pt x="21336000" y="0"/>
                  </a:lnTo>
                  <a:lnTo>
                    <a:pt x="21336000" y="12700"/>
                  </a:lnTo>
                  <a:lnTo>
                    <a:pt x="0" y="12700"/>
                  </a:lnTo>
                  <a:close/>
                </a:path>
              </a:pathLst>
            </a:custGeom>
            <a:solidFill>
              <a:srgbClr val="CDB3DC"/>
            </a:solidFill>
          </p:spPr>
        </p:sp>
      </p:grpSp>
      <p:sp>
        <p:nvSpPr>
          <p:cNvPr name="TextBox 6" id="6"/>
          <p:cNvSpPr txBox="true"/>
          <p:nvPr/>
        </p:nvSpPr>
        <p:spPr>
          <a:xfrm rot="0">
            <a:off x="1168403" y="3482978"/>
            <a:ext cx="2892428" cy="1711328"/>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DOPORUČENÍ</a:t>
            </a:r>
          </a:p>
        </p:txBody>
      </p:sp>
      <p:sp>
        <p:nvSpPr>
          <p:cNvPr name="TextBox 7" id="7"/>
          <p:cNvSpPr txBox="true"/>
          <p:nvPr/>
        </p:nvSpPr>
        <p:spPr>
          <a:xfrm rot="0">
            <a:off x="4483103" y="3492503"/>
            <a:ext cx="6395314" cy="401641"/>
          </a:xfrm>
          <a:prstGeom prst="rect">
            <a:avLst/>
          </a:prstGeom>
        </p:spPr>
        <p:txBody>
          <a:bodyPr anchor="t" rtlCol="false" tIns="0" lIns="0" bIns="0" rIns="0">
            <a:spAutoFit/>
          </a:bodyPr>
          <a:lstStyle/>
          <a:p>
            <a:pPr algn="l">
              <a:lnSpc>
                <a:spcPts val="2596"/>
              </a:lnSpc>
            </a:pPr>
            <a:r>
              <a:rPr lang="en-US" sz="1875">
                <a:solidFill>
                  <a:srgbClr val="401252"/>
                </a:solidFill>
                <a:latin typeface="Arimo"/>
                <a:ea typeface="Arimo"/>
                <a:cs typeface="Arimo"/>
                <a:sym typeface="Arimo"/>
              </a:rPr>
              <a:t>NICE NG23</a:t>
            </a:r>
          </a:p>
        </p:txBody>
      </p:sp>
      <p:sp>
        <p:nvSpPr>
          <p:cNvPr name="TextBox 8" id="8"/>
          <p:cNvSpPr txBox="true"/>
          <p:nvPr/>
        </p:nvSpPr>
        <p:spPr>
          <a:xfrm rot="0">
            <a:off x="10724207" y="3492503"/>
            <a:ext cx="7040013" cy="401641"/>
          </a:xfrm>
          <a:prstGeom prst="rect">
            <a:avLst/>
          </a:prstGeom>
        </p:spPr>
        <p:txBody>
          <a:bodyPr anchor="t" rtlCol="false" tIns="0" lIns="0" bIns="0" rIns="0">
            <a:spAutoFit/>
          </a:bodyPr>
          <a:lstStyle/>
          <a:p>
            <a:pPr algn="l">
              <a:lnSpc>
                <a:spcPts val="2596"/>
              </a:lnSpc>
            </a:pPr>
            <a:r>
              <a:rPr lang="en-US" sz="1875">
                <a:solidFill>
                  <a:srgbClr val="6B4B7D"/>
                </a:solidFill>
                <a:latin typeface="Arimo"/>
                <a:ea typeface="Arimo"/>
                <a:cs typeface="Arimo"/>
                <a:sym typeface="Arimo"/>
              </a:rPr>
              <a:t>Menopause: identification and management, 2026</a:t>
            </a:r>
          </a:p>
        </p:txBody>
      </p:sp>
      <p:sp>
        <p:nvSpPr>
          <p:cNvPr name="TextBox 9" id="9"/>
          <p:cNvSpPr txBox="true"/>
          <p:nvPr/>
        </p:nvSpPr>
        <p:spPr>
          <a:xfrm rot="0">
            <a:off x="4483103" y="3925891"/>
            <a:ext cx="6395314" cy="401641"/>
          </a:xfrm>
          <a:prstGeom prst="rect">
            <a:avLst/>
          </a:prstGeom>
        </p:spPr>
        <p:txBody>
          <a:bodyPr anchor="t" rtlCol="false" tIns="0" lIns="0" bIns="0" rIns="0">
            <a:spAutoFit/>
          </a:bodyPr>
          <a:lstStyle/>
          <a:p>
            <a:pPr algn="l">
              <a:lnSpc>
                <a:spcPts val="2596"/>
              </a:lnSpc>
            </a:pPr>
            <a:r>
              <a:rPr lang="en-US" sz="1875">
                <a:solidFill>
                  <a:srgbClr val="401252"/>
                </a:solidFill>
                <a:latin typeface="Arimo"/>
                <a:ea typeface="Arimo"/>
                <a:cs typeface="Arimo"/>
                <a:sym typeface="Arimo"/>
              </a:rPr>
              <a:t>ESE Clinical Practice Guideline</a:t>
            </a:r>
          </a:p>
        </p:txBody>
      </p:sp>
      <p:sp>
        <p:nvSpPr>
          <p:cNvPr name="TextBox 10" id="10"/>
          <p:cNvSpPr txBox="true"/>
          <p:nvPr/>
        </p:nvSpPr>
        <p:spPr>
          <a:xfrm rot="0">
            <a:off x="10724207" y="3925891"/>
            <a:ext cx="7040013" cy="401641"/>
          </a:xfrm>
          <a:prstGeom prst="rect">
            <a:avLst/>
          </a:prstGeom>
        </p:spPr>
        <p:txBody>
          <a:bodyPr anchor="t" rtlCol="false" tIns="0" lIns="0" bIns="0" rIns="0">
            <a:spAutoFit/>
          </a:bodyPr>
          <a:lstStyle/>
          <a:p>
            <a:pPr algn="l">
              <a:lnSpc>
                <a:spcPts val="2596"/>
              </a:lnSpc>
            </a:pPr>
            <a:r>
              <a:rPr lang="en-US" sz="1875">
                <a:solidFill>
                  <a:srgbClr val="6B4B7D"/>
                </a:solidFill>
                <a:latin typeface="Arimo"/>
                <a:ea typeface="Arimo"/>
                <a:cs typeface="Arimo"/>
                <a:sym typeface="Arimo"/>
              </a:rPr>
              <a:t>Eur J Endocrinol 2025;193(4):G49–G81</a:t>
            </a:r>
          </a:p>
        </p:txBody>
      </p:sp>
      <p:sp>
        <p:nvSpPr>
          <p:cNvPr name="TextBox 11" id="11"/>
          <p:cNvSpPr txBox="true"/>
          <p:nvPr/>
        </p:nvSpPr>
        <p:spPr>
          <a:xfrm rot="0">
            <a:off x="4483103" y="4359278"/>
            <a:ext cx="6395314" cy="401641"/>
          </a:xfrm>
          <a:prstGeom prst="rect">
            <a:avLst/>
          </a:prstGeom>
        </p:spPr>
        <p:txBody>
          <a:bodyPr anchor="t" rtlCol="false" tIns="0" lIns="0" bIns="0" rIns="0">
            <a:spAutoFit/>
          </a:bodyPr>
          <a:lstStyle/>
          <a:p>
            <a:pPr algn="l">
              <a:lnSpc>
                <a:spcPts val="2596"/>
              </a:lnSpc>
            </a:pPr>
            <a:r>
              <a:rPr lang="en-US" sz="1875">
                <a:solidFill>
                  <a:srgbClr val="401252"/>
                </a:solidFill>
                <a:latin typeface="Arimo"/>
                <a:ea typeface="Arimo"/>
                <a:cs typeface="Arimo"/>
                <a:sym typeface="Arimo"/>
              </a:rPr>
              <a:t>The Menopause Society</a:t>
            </a:r>
          </a:p>
        </p:txBody>
      </p:sp>
      <p:sp>
        <p:nvSpPr>
          <p:cNvPr name="TextBox 12" id="12"/>
          <p:cNvSpPr txBox="true"/>
          <p:nvPr/>
        </p:nvSpPr>
        <p:spPr>
          <a:xfrm rot="0">
            <a:off x="10724207" y="4359278"/>
            <a:ext cx="7040013" cy="401641"/>
          </a:xfrm>
          <a:prstGeom prst="rect">
            <a:avLst/>
          </a:prstGeom>
        </p:spPr>
        <p:txBody>
          <a:bodyPr anchor="t" rtlCol="false" tIns="0" lIns="0" bIns="0" rIns="0">
            <a:spAutoFit/>
          </a:bodyPr>
          <a:lstStyle/>
          <a:p>
            <a:pPr algn="l">
              <a:lnSpc>
                <a:spcPts val="2596"/>
              </a:lnSpc>
            </a:pPr>
            <a:r>
              <a:rPr lang="en-US" sz="1875">
                <a:solidFill>
                  <a:srgbClr val="6B4B7D"/>
                </a:solidFill>
                <a:latin typeface="Arimo"/>
                <a:ea typeface="Arimo"/>
                <a:cs typeface="Arimo"/>
                <a:sym typeface="Arimo"/>
              </a:rPr>
              <a:t>nonhormone 2023 · hormone therapy 2022 · GSM 2020</a:t>
            </a:r>
          </a:p>
        </p:txBody>
      </p:sp>
      <p:sp>
        <p:nvSpPr>
          <p:cNvPr name="TextBox 13" id="13"/>
          <p:cNvSpPr txBox="true"/>
          <p:nvPr/>
        </p:nvSpPr>
        <p:spPr>
          <a:xfrm rot="0">
            <a:off x="4483103" y="4792666"/>
            <a:ext cx="6395314" cy="401641"/>
          </a:xfrm>
          <a:prstGeom prst="rect">
            <a:avLst/>
          </a:prstGeom>
        </p:spPr>
        <p:txBody>
          <a:bodyPr anchor="t" rtlCol="false" tIns="0" lIns="0" bIns="0" rIns="0">
            <a:spAutoFit/>
          </a:bodyPr>
          <a:lstStyle/>
          <a:p>
            <a:pPr algn="l">
              <a:lnSpc>
                <a:spcPts val="2596"/>
              </a:lnSpc>
            </a:pPr>
            <a:r>
              <a:rPr lang="en-US" sz="1875">
                <a:solidFill>
                  <a:srgbClr val="401252"/>
                </a:solidFill>
                <a:latin typeface="Arimo"/>
                <a:ea typeface="Arimo"/>
                <a:cs typeface="Arimo"/>
                <a:sym typeface="Arimo"/>
              </a:rPr>
              <a:t>EMAS</a:t>
            </a:r>
          </a:p>
        </p:txBody>
      </p:sp>
      <p:sp>
        <p:nvSpPr>
          <p:cNvPr name="TextBox 14" id="14"/>
          <p:cNvSpPr txBox="true"/>
          <p:nvPr/>
        </p:nvSpPr>
        <p:spPr>
          <a:xfrm rot="0">
            <a:off x="10724207" y="4792666"/>
            <a:ext cx="7040013" cy="401641"/>
          </a:xfrm>
          <a:prstGeom prst="rect">
            <a:avLst/>
          </a:prstGeom>
        </p:spPr>
        <p:txBody>
          <a:bodyPr anchor="t" rtlCol="false" tIns="0" lIns="0" bIns="0" rIns="0">
            <a:spAutoFit/>
          </a:bodyPr>
          <a:lstStyle/>
          <a:p>
            <a:pPr algn="l">
              <a:lnSpc>
                <a:spcPts val="2596"/>
              </a:lnSpc>
            </a:pPr>
            <a:r>
              <a:rPr lang="en-US" sz="1875">
                <a:solidFill>
                  <a:srgbClr val="6B4B7D"/>
                </a:solidFill>
                <a:latin typeface="Arimo"/>
                <a:ea typeface="Arimo"/>
                <a:cs typeface="Arimo"/>
                <a:sym typeface="Arimo"/>
              </a:rPr>
              <a:t>Healthy menopause, Maturitas 2026</a:t>
            </a:r>
          </a:p>
        </p:txBody>
      </p:sp>
      <p:grpSp>
        <p:nvGrpSpPr>
          <p:cNvPr name="Group 15" id="15"/>
          <p:cNvGrpSpPr/>
          <p:nvPr/>
        </p:nvGrpSpPr>
        <p:grpSpPr>
          <a:xfrm rot="0">
            <a:off x="1143000" y="5305425"/>
            <a:ext cx="16002000" cy="9525"/>
            <a:chOff x="0" y="0"/>
            <a:chExt cx="21336000" cy="12700"/>
          </a:xfrm>
        </p:grpSpPr>
        <p:sp>
          <p:nvSpPr>
            <p:cNvPr name="Freeform 16" id="16"/>
            <p:cNvSpPr/>
            <p:nvPr/>
          </p:nvSpPr>
          <p:spPr>
            <a:xfrm flipH="false" flipV="false" rot="0">
              <a:off x="0" y="0"/>
              <a:ext cx="21336000" cy="12700"/>
            </a:xfrm>
            <a:custGeom>
              <a:avLst/>
              <a:gdLst/>
              <a:ahLst/>
              <a:cxnLst/>
              <a:rect r="r" b="b" t="t" l="l"/>
              <a:pathLst>
                <a:path h="12700" w="21336000">
                  <a:moveTo>
                    <a:pt x="0" y="0"/>
                  </a:moveTo>
                  <a:lnTo>
                    <a:pt x="21336000" y="0"/>
                  </a:lnTo>
                  <a:lnTo>
                    <a:pt x="21336000" y="12700"/>
                  </a:lnTo>
                  <a:lnTo>
                    <a:pt x="0" y="12700"/>
                  </a:lnTo>
                  <a:close/>
                </a:path>
              </a:pathLst>
            </a:custGeom>
            <a:solidFill>
              <a:srgbClr val="CDB3DC"/>
            </a:solidFill>
          </p:spPr>
        </p:sp>
      </p:grpSp>
      <p:sp>
        <p:nvSpPr>
          <p:cNvPr name="TextBox 17" id="17"/>
          <p:cNvSpPr txBox="true"/>
          <p:nvPr/>
        </p:nvSpPr>
        <p:spPr>
          <a:xfrm rot="0">
            <a:off x="1168403" y="5397503"/>
            <a:ext cx="2892428" cy="1277941"/>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PŘEHLEDOVÉ PRÁCE</a:t>
            </a:r>
          </a:p>
        </p:txBody>
      </p:sp>
      <p:sp>
        <p:nvSpPr>
          <p:cNvPr name="TextBox 18" id="18"/>
          <p:cNvSpPr txBox="true"/>
          <p:nvPr/>
        </p:nvSpPr>
        <p:spPr>
          <a:xfrm rot="0">
            <a:off x="4483103" y="5407028"/>
            <a:ext cx="6395314" cy="401641"/>
          </a:xfrm>
          <a:prstGeom prst="rect">
            <a:avLst/>
          </a:prstGeom>
        </p:spPr>
        <p:txBody>
          <a:bodyPr anchor="t" rtlCol="false" tIns="0" lIns="0" bIns="0" rIns="0">
            <a:spAutoFit/>
          </a:bodyPr>
          <a:lstStyle/>
          <a:p>
            <a:pPr algn="l">
              <a:lnSpc>
                <a:spcPts val="2596"/>
              </a:lnSpc>
            </a:pPr>
            <a:r>
              <a:rPr lang="en-US" sz="1875">
                <a:solidFill>
                  <a:srgbClr val="401252"/>
                </a:solidFill>
                <a:latin typeface="Arimo"/>
                <a:ea typeface="Arimo"/>
                <a:cs typeface="Arimo"/>
                <a:sym typeface="Arimo"/>
              </a:rPr>
              <a:t>Curr Nutr Rep 2026;15:69</a:t>
            </a:r>
          </a:p>
        </p:txBody>
      </p:sp>
      <p:sp>
        <p:nvSpPr>
          <p:cNvPr name="TextBox 19" id="19"/>
          <p:cNvSpPr txBox="true"/>
          <p:nvPr/>
        </p:nvSpPr>
        <p:spPr>
          <a:xfrm rot="0">
            <a:off x="10724207" y="5407028"/>
            <a:ext cx="7040013" cy="401641"/>
          </a:xfrm>
          <a:prstGeom prst="rect">
            <a:avLst/>
          </a:prstGeom>
        </p:spPr>
        <p:txBody>
          <a:bodyPr anchor="t" rtlCol="false" tIns="0" lIns="0" bIns="0" rIns="0">
            <a:spAutoFit/>
          </a:bodyPr>
          <a:lstStyle/>
          <a:p>
            <a:pPr algn="l">
              <a:lnSpc>
                <a:spcPts val="2596"/>
              </a:lnSpc>
            </a:pPr>
            <a:r>
              <a:rPr lang="en-US" sz="1875">
                <a:solidFill>
                  <a:srgbClr val="6B4B7D"/>
                </a:solidFill>
                <a:latin typeface="Arimo"/>
                <a:ea typeface="Arimo"/>
                <a:cs typeface="Arimo"/>
                <a:sym typeface="Arimo"/>
              </a:rPr>
              <a:t>Bonnes SLR et al., Metabolic changes of perimenopause</a:t>
            </a:r>
          </a:p>
        </p:txBody>
      </p:sp>
      <p:sp>
        <p:nvSpPr>
          <p:cNvPr name="TextBox 20" id="20"/>
          <p:cNvSpPr txBox="true"/>
          <p:nvPr/>
        </p:nvSpPr>
        <p:spPr>
          <a:xfrm rot="0">
            <a:off x="4483103" y="5840416"/>
            <a:ext cx="6395314" cy="401641"/>
          </a:xfrm>
          <a:prstGeom prst="rect">
            <a:avLst/>
          </a:prstGeom>
        </p:spPr>
        <p:txBody>
          <a:bodyPr anchor="t" rtlCol="false" tIns="0" lIns="0" bIns="0" rIns="0">
            <a:spAutoFit/>
          </a:bodyPr>
          <a:lstStyle/>
          <a:p>
            <a:pPr algn="l">
              <a:lnSpc>
                <a:spcPts val="2596"/>
              </a:lnSpc>
            </a:pPr>
            <a:r>
              <a:rPr lang="en-US" sz="1875">
                <a:solidFill>
                  <a:srgbClr val="401252"/>
                </a:solidFill>
                <a:latin typeface="Arimo"/>
                <a:ea typeface="Arimo"/>
                <a:cs typeface="Arimo"/>
                <a:sym typeface="Arimo"/>
              </a:rPr>
              <a:t>Clin Nutr ESPEN 2026;75:103405</a:t>
            </a:r>
          </a:p>
        </p:txBody>
      </p:sp>
      <p:sp>
        <p:nvSpPr>
          <p:cNvPr name="TextBox 21" id="21"/>
          <p:cNvSpPr txBox="true"/>
          <p:nvPr/>
        </p:nvSpPr>
        <p:spPr>
          <a:xfrm rot="0">
            <a:off x="10724207" y="5840416"/>
            <a:ext cx="7040013" cy="401641"/>
          </a:xfrm>
          <a:prstGeom prst="rect">
            <a:avLst/>
          </a:prstGeom>
        </p:spPr>
        <p:txBody>
          <a:bodyPr anchor="t" rtlCol="false" tIns="0" lIns="0" bIns="0" rIns="0">
            <a:spAutoFit/>
          </a:bodyPr>
          <a:lstStyle/>
          <a:p>
            <a:pPr algn="l">
              <a:lnSpc>
                <a:spcPts val="2596"/>
              </a:lnSpc>
            </a:pPr>
            <a:r>
              <a:rPr lang="en-US" sz="1875">
                <a:solidFill>
                  <a:srgbClr val="6B4B7D"/>
                </a:solidFill>
                <a:latin typeface="Arimo"/>
                <a:ea typeface="Arimo"/>
                <a:cs typeface="Arimo"/>
                <a:sym typeface="Arimo"/>
              </a:rPr>
              <a:t>Baraut MC, Nutrition during the menopausal transition</a:t>
            </a:r>
          </a:p>
        </p:txBody>
      </p:sp>
      <p:sp>
        <p:nvSpPr>
          <p:cNvPr name="TextBox 22" id="22"/>
          <p:cNvSpPr txBox="true"/>
          <p:nvPr/>
        </p:nvSpPr>
        <p:spPr>
          <a:xfrm rot="0">
            <a:off x="4483103" y="6273803"/>
            <a:ext cx="6395314" cy="401641"/>
          </a:xfrm>
          <a:prstGeom prst="rect">
            <a:avLst/>
          </a:prstGeom>
        </p:spPr>
        <p:txBody>
          <a:bodyPr anchor="t" rtlCol="false" tIns="0" lIns="0" bIns="0" rIns="0">
            <a:spAutoFit/>
          </a:bodyPr>
          <a:lstStyle/>
          <a:p>
            <a:pPr algn="l">
              <a:lnSpc>
                <a:spcPts val="2596"/>
              </a:lnSpc>
            </a:pPr>
            <a:r>
              <a:rPr lang="en-US" sz="1875">
                <a:solidFill>
                  <a:srgbClr val="401252"/>
                </a:solidFill>
                <a:latin typeface="Arimo"/>
                <a:ea typeface="Arimo"/>
                <a:cs typeface="Arimo"/>
                <a:sym typeface="Arimo"/>
              </a:rPr>
              <a:t>Alzheimer's &amp; Dementia 2026;22:e71679</a:t>
            </a:r>
          </a:p>
        </p:txBody>
      </p:sp>
      <p:sp>
        <p:nvSpPr>
          <p:cNvPr name="TextBox 23" id="23"/>
          <p:cNvSpPr txBox="true"/>
          <p:nvPr/>
        </p:nvSpPr>
        <p:spPr>
          <a:xfrm rot="0">
            <a:off x="10724207" y="6273803"/>
            <a:ext cx="7040013" cy="401641"/>
          </a:xfrm>
          <a:prstGeom prst="rect">
            <a:avLst/>
          </a:prstGeom>
        </p:spPr>
        <p:txBody>
          <a:bodyPr anchor="t" rtlCol="false" tIns="0" lIns="0" bIns="0" rIns="0">
            <a:spAutoFit/>
          </a:bodyPr>
          <a:lstStyle/>
          <a:p>
            <a:pPr algn="l">
              <a:lnSpc>
                <a:spcPts val="2596"/>
              </a:lnSpc>
            </a:pPr>
            <a:r>
              <a:rPr lang="en-US" sz="1875">
                <a:solidFill>
                  <a:srgbClr val="6B4B7D"/>
                </a:solidFill>
                <a:latin typeface="Arimo"/>
                <a:ea typeface="Arimo"/>
                <a:cs typeface="Arimo"/>
                <a:sym typeface="Arimo"/>
              </a:rPr>
              <a:t>Squires S et al., HRT a riziko demence, UK Biobank</a:t>
            </a:r>
          </a:p>
        </p:txBody>
      </p:sp>
      <p:grpSp>
        <p:nvGrpSpPr>
          <p:cNvPr name="Group 24" id="24"/>
          <p:cNvGrpSpPr/>
          <p:nvPr/>
        </p:nvGrpSpPr>
        <p:grpSpPr>
          <a:xfrm rot="0">
            <a:off x="1143000" y="6786562"/>
            <a:ext cx="16002000" cy="9525"/>
            <a:chOff x="0" y="0"/>
            <a:chExt cx="21336000" cy="12700"/>
          </a:xfrm>
        </p:grpSpPr>
        <p:sp>
          <p:nvSpPr>
            <p:cNvPr name="Freeform 25" id="25"/>
            <p:cNvSpPr/>
            <p:nvPr/>
          </p:nvSpPr>
          <p:spPr>
            <a:xfrm flipH="false" flipV="false" rot="0">
              <a:off x="0" y="0"/>
              <a:ext cx="21336000" cy="12700"/>
            </a:xfrm>
            <a:custGeom>
              <a:avLst/>
              <a:gdLst/>
              <a:ahLst/>
              <a:cxnLst/>
              <a:rect r="r" b="b" t="t" l="l"/>
              <a:pathLst>
                <a:path h="12700" w="21336000">
                  <a:moveTo>
                    <a:pt x="0" y="0"/>
                  </a:moveTo>
                  <a:lnTo>
                    <a:pt x="21336000" y="0"/>
                  </a:lnTo>
                  <a:lnTo>
                    <a:pt x="21336000" y="12700"/>
                  </a:lnTo>
                  <a:lnTo>
                    <a:pt x="0" y="12700"/>
                  </a:lnTo>
                  <a:close/>
                </a:path>
              </a:pathLst>
            </a:custGeom>
            <a:solidFill>
              <a:srgbClr val="CDB3DC"/>
            </a:solidFill>
          </p:spPr>
        </p:sp>
      </p:grpSp>
      <p:sp>
        <p:nvSpPr>
          <p:cNvPr name="TextBox 26" id="26"/>
          <p:cNvSpPr txBox="true"/>
          <p:nvPr/>
        </p:nvSpPr>
        <p:spPr>
          <a:xfrm rot="0">
            <a:off x="1168403" y="6878641"/>
            <a:ext cx="2892428" cy="1635128"/>
          </a:xfrm>
          <a:prstGeom prst="rect">
            <a:avLst/>
          </a:prstGeom>
        </p:spPr>
        <p:txBody>
          <a:bodyPr anchor="t" rtlCol="false" tIns="0" lIns="0" bIns="0" rIns="0">
            <a:spAutoFit/>
          </a:bodyPr>
          <a:lstStyle/>
          <a:p>
            <a:pPr algn="l">
              <a:lnSpc>
                <a:spcPts val="2476"/>
              </a:lnSpc>
            </a:pPr>
            <a:r>
              <a:rPr lang="en-US" sz="1650" spc="214">
                <a:solidFill>
                  <a:srgbClr val="6B4B7D"/>
                </a:solidFill>
                <a:latin typeface="Arimo"/>
                <a:ea typeface="Arimo"/>
                <a:cs typeface="Arimo"/>
                <a:sym typeface="Arimo"/>
              </a:rPr>
              <a:t>UPTODATE 2026</a:t>
            </a:r>
          </a:p>
        </p:txBody>
      </p:sp>
      <p:sp>
        <p:nvSpPr>
          <p:cNvPr name="TextBox 27" id="27"/>
          <p:cNvSpPr txBox="true"/>
          <p:nvPr/>
        </p:nvSpPr>
        <p:spPr>
          <a:xfrm rot="0">
            <a:off x="4483103" y="6888166"/>
            <a:ext cx="6395314" cy="401641"/>
          </a:xfrm>
          <a:prstGeom prst="rect">
            <a:avLst/>
          </a:prstGeom>
        </p:spPr>
        <p:txBody>
          <a:bodyPr anchor="t" rtlCol="false" tIns="0" lIns="0" bIns="0" rIns="0">
            <a:spAutoFit/>
          </a:bodyPr>
          <a:lstStyle/>
          <a:p>
            <a:pPr algn="l">
              <a:lnSpc>
                <a:spcPts val="2596"/>
              </a:lnSpc>
            </a:pPr>
            <a:r>
              <a:rPr lang="en-US" sz="1875">
                <a:solidFill>
                  <a:srgbClr val="401252"/>
                </a:solidFill>
                <a:latin typeface="Arimo"/>
                <a:ea typeface="Arimo"/>
                <a:cs typeface="Arimo"/>
                <a:sym typeface="Arimo"/>
              </a:rPr>
              <a:t>Menopause: clinical features and diagnosis</a:t>
            </a:r>
          </a:p>
        </p:txBody>
      </p:sp>
      <p:sp>
        <p:nvSpPr>
          <p:cNvPr name="TextBox 28" id="28"/>
          <p:cNvSpPr txBox="true"/>
          <p:nvPr/>
        </p:nvSpPr>
        <p:spPr>
          <a:xfrm rot="0">
            <a:off x="10724207" y="6888166"/>
            <a:ext cx="7040013" cy="401641"/>
          </a:xfrm>
          <a:prstGeom prst="rect">
            <a:avLst/>
          </a:prstGeom>
        </p:spPr>
        <p:txBody>
          <a:bodyPr anchor="t" rtlCol="false" tIns="0" lIns="0" bIns="0" rIns="0">
            <a:spAutoFit/>
          </a:bodyPr>
          <a:lstStyle/>
          <a:p>
            <a:pPr algn="l">
              <a:lnSpc>
                <a:spcPts val="2596"/>
              </a:lnSpc>
            </a:pPr>
            <a:r>
              <a:rPr lang="en-US" sz="1875">
                <a:solidFill>
                  <a:srgbClr val="6B4B7D"/>
                </a:solidFill>
                <a:latin typeface="Arimo"/>
                <a:ea typeface="Arimo"/>
                <a:cs typeface="Arimo"/>
                <a:sym typeface="Arimo"/>
              </a:rPr>
              <a:t>Menopausal hot flashes</a:t>
            </a:r>
          </a:p>
        </p:txBody>
      </p:sp>
      <p:sp>
        <p:nvSpPr>
          <p:cNvPr name="TextBox 29" id="29"/>
          <p:cNvSpPr txBox="true"/>
          <p:nvPr/>
        </p:nvSpPr>
        <p:spPr>
          <a:xfrm rot="0">
            <a:off x="4483103" y="7321553"/>
            <a:ext cx="5985110" cy="758828"/>
          </a:xfrm>
          <a:prstGeom prst="rect">
            <a:avLst/>
          </a:prstGeom>
        </p:spPr>
        <p:txBody>
          <a:bodyPr anchor="t" rtlCol="false" tIns="0" lIns="0" bIns="0" rIns="0">
            <a:spAutoFit/>
          </a:bodyPr>
          <a:lstStyle/>
          <a:p>
            <a:pPr algn="l">
              <a:lnSpc>
                <a:spcPts val="2596"/>
              </a:lnSpc>
            </a:pPr>
            <a:r>
              <a:rPr lang="en-US" sz="1875">
                <a:solidFill>
                  <a:srgbClr val="401252"/>
                </a:solidFill>
                <a:latin typeface="Arimo"/>
                <a:ea typeface="Arimo"/>
                <a:cs typeface="Arimo"/>
                <a:sym typeface="Arimo"/>
              </a:rPr>
              <a:t>Treatment of menopausal symptoms with hormone therapy</a:t>
            </a:r>
          </a:p>
        </p:txBody>
      </p:sp>
      <p:sp>
        <p:nvSpPr>
          <p:cNvPr name="TextBox 30" id="30"/>
          <p:cNvSpPr txBox="true"/>
          <p:nvPr/>
        </p:nvSpPr>
        <p:spPr>
          <a:xfrm rot="0">
            <a:off x="10724207" y="7321553"/>
            <a:ext cx="6588776" cy="758828"/>
          </a:xfrm>
          <a:prstGeom prst="rect">
            <a:avLst/>
          </a:prstGeom>
        </p:spPr>
        <p:txBody>
          <a:bodyPr anchor="t" rtlCol="false" tIns="0" lIns="0" bIns="0" rIns="0">
            <a:spAutoFit/>
          </a:bodyPr>
          <a:lstStyle/>
          <a:p>
            <a:pPr algn="l">
              <a:lnSpc>
                <a:spcPts val="2596"/>
              </a:lnSpc>
            </a:pPr>
            <a:r>
              <a:rPr lang="en-US" sz="1875">
                <a:solidFill>
                  <a:srgbClr val="6B4B7D"/>
                </a:solidFill>
                <a:latin typeface="Arimo"/>
                <a:ea typeface="Arimo"/>
                <a:cs typeface="Arimo"/>
                <a:sym typeface="Arimo"/>
              </a:rPr>
              <a:t>Benefits and risks of MHT</a:t>
            </a:r>
          </a:p>
        </p:txBody>
      </p:sp>
      <p:sp>
        <p:nvSpPr>
          <p:cNvPr name="TextBox 31" id="31"/>
          <p:cNvSpPr txBox="true"/>
          <p:nvPr/>
        </p:nvSpPr>
        <p:spPr>
          <a:xfrm rot="0">
            <a:off x="4483103" y="8112128"/>
            <a:ext cx="6395314" cy="401641"/>
          </a:xfrm>
          <a:prstGeom prst="rect">
            <a:avLst/>
          </a:prstGeom>
        </p:spPr>
        <p:txBody>
          <a:bodyPr anchor="t" rtlCol="false" tIns="0" lIns="0" bIns="0" rIns="0">
            <a:spAutoFit/>
          </a:bodyPr>
          <a:lstStyle/>
          <a:p>
            <a:pPr algn="l">
              <a:lnSpc>
                <a:spcPts val="2596"/>
              </a:lnSpc>
            </a:pPr>
            <a:r>
              <a:rPr lang="en-US" sz="1875">
                <a:solidFill>
                  <a:srgbClr val="401252"/>
                </a:solidFill>
                <a:latin typeface="Arimo"/>
                <a:ea typeface="Arimo"/>
                <a:cs typeface="Arimo"/>
                <a:sym typeface="Arimo"/>
              </a:rPr>
              <a:t>Genitourinary syndrome of menopause</a:t>
            </a:r>
          </a:p>
        </p:txBody>
      </p:sp>
      <p:sp>
        <p:nvSpPr>
          <p:cNvPr name="TextBox 32" id="32"/>
          <p:cNvSpPr txBox="true"/>
          <p:nvPr/>
        </p:nvSpPr>
        <p:spPr>
          <a:xfrm rot="0">
            <a:off x="10724207" y="8112128"/>
            <a:ext cx="7040013" cy="401641"/>
          </a:xfrm>
          <a:prstGeom prst="rect">
            <a:avLst/>
          </a:prstGeom>
        </p:spPr>
        <p:txBody>
          <a:bodyPr anchor="t" rtlCol="false" tIns="0" lIns="0" bIns="0" rIns="0">
            <a:spAutoFit/>
          </a:bodyPr>
          <a:lstStyle/>
          <a:p>
            <a:pPr algn="l">
              <a:lnSpc>
                <a:spcPts val="2596"/>
              </a:lnSpc>
            </a:pPr>
            <a:r>
              <a:rPr lang="en-US" sz="1875">
                <a:solidFill>
                  <a:srgbClr val="6B4B7D"/>
                </a:solidFill>
                <a:latin typeface="Arimo"/>
                <a:ea typeface="Arimo"/>
                <a:cs typeface="Arimo"/>
                <a:sym typeface="Arimo"/>
              </a:rPr>
              <a:t>Management of primary ovarian insufficiency</a:t>
            </a:r>
          </a:p>
        </p:txBody>
      </p:sp>
      <p:sp>
        <p:nvSpPr>
          <p:cNvPr name="TextBox 33" id="33"/>
          <p:cNvSpPr txBox="true"/>
          <p:nvPr/>
        </p:nvSpPr>
        <p:spPr>
          <a:xfrm rot="0">
            <a:off x="1168403" y="9116568"/>
            <a:ext cx="13569953" cy="344938"/>
          </a:xfrm>
          <a:prstGeom prst="rect">
            <a:avLst/>
          </a:prstGeom>
        </p:spPr>
        <p:txBody>
          <a:bodyPr anchor="t" rtlCol="false" tIns="0" lIns="0" bIns="0" rIns="0">
            <a:spAutoFit/>
          </a:bodyPr>
          <a:lstStyle/>
          <a:p>
            <a:pPr algn="l">
              <a:lnSpc>
                <a:spcPts val="2278"/>
              </a:lnSpc>
            </a:pPr>
            <a:r>
              <a:rPr lang="en-US" sz="1575" spc="63">
                <a:solidFill>
                  <a:srgbClr val="6B4B7D"/>
                </a:solidFill>
                <a:latin typeface="Arimo"/>
                <a:ea typeface="Arimo"/>
                <a:cs typeface="Arimo"/>
                <a:sym typeface="Arimo"/>
              </a:rPr>
              <a:t>Studie jmenovitě: SWAN · WHI · SKYLIGHT 1 a 2 · OASIS 1 a 2 · Nedeltcheva 2010 · Covassin 2022</a:t>
            </a:r>
          </a:p>
        </p:txBody>
      </p:sp>
      <p:sp>
        <p:nvSpPr>
          <p:cNvPr name="TextBox 34" id="34"/>
          <p:cNvSpPr txBox="true"/>
          <p:nvPr/>
        </p:nvSpPr>
        <p:spPr>
          <a:xfrm rot="0">
            <a:off x="16918876" y="9108453"/>
            <a:ext cx="276920" cy="353044"/>
          </a:xfrm>
          <a:prstGeom prst="rect">
            <a:avLst/>
          </a:prstGeom>
        </p:spPr>
        <p:txBody>
          <a:bodyPr anchor="t" rtlCol="false" tIns="0" lIns="0" bIns="0" rIns="0">
            <a:spAutoFit/>
          </a:bodyPr>
          <a:lstStyle/>
          <a:p>
            <a:pPr algn="l">
              <a:lnSpc>
                <a:spcPts val="2243"/>
              </a:lnSpc>
            </a:pPr>
            <a:r>
              <a:rPr lang="en-US" sz="1500" spc="89">
                <a:solidFill>
                  <a:srgbClr val="6B4B7D"/>
                </a:solidFill>
                <a:latin typeface="Arimo"/>
                <a:ea typeface="Arimo"/>
                <a:cs typeface="Arimo"/>
                <a:sym typeface="Arimo"/>
              </a:rPr>
              <a:t>46</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401252"/>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50000" r="0" b="-116666"/>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gradFill rotWithShape="true">
              <a:gsLst>
                <a:gs pos="0">
                  <a:srgbClr val="401252">
                    <a:alpha val="97000"/>
                  </a:srgbClr>
                </a:gs>
                <a:gs pos="46000">
                  <a:srgbClr val="401252">
                    <a:alpha val="90000"/>
                  </a:srgbClr>
                </a:gs>
                <a:gs pos="80000">
                  <a:srgbClr val="401252">
                    <a:alpha val="38000"/>
                  </a:srgbClr>
                </a:gs>
                <a:gs pos="100000">
                  <a:srgbClr val="401252">
                    <a:alpha val="12000"/>
                  </a:srgbClr>
                </a:gs>
              </a:gsLst>
              <a:lin ang="0"/>
            </a:gradFill>
          </p:spPr>
        </p:sp>
      </p:grpSp>
      <p:grpSp>
        <p:nvGrpSpPr>
          <p:cNvPr name="Group 6" id="6"/>
          <p:cNvGrpSpPr/>
          <p:nvPr/>
        </p:nvGrpSpPr>
        <p:grpSpPr>
          <a:xfrm rot="0">
            <a:off x="1143000" y="914400"/>
            <a:ext cx="1866900" cy="878977"/>
            <a:chOff x="0" y="0"/>
            <a:chExt cx="2489200" cy="1171969"/>
          </a:xfrm>
        </p:grpSpPr>
        <p:sp>
          <p:nvSpPr>
            <p:cNvPr name="Freeform 7" id="7" descr="preencoded.png"/>
            <p:cNvSpPr/>
            <p:nvPr/>
          </p:nvSpPr>
          <p:spPr>
            <a:xfrm flipH="false" flipV="false" rot="0">
              <a:off x="0" y="0"/>
              <a:ext cx="2489200" cy="1171956"/>
            </a:xfrm>
            <a:custGeom>
              <a:avLst/>
              <a:gdLst/>
              <a:ahLst/>
              <a:cxnLst/>
              <a:rect r="r" b="b" t="t" l="l"/>
              <a:pathLst>
                <a:path h="1171956" w="2489200">
                  <a:moveTo>
                    <a:pt x="0" y="0"/>
                  </a:moveTo>
                  <a:lnTo>
                    <a:pt x="2489200" y="0"/>
                  </a:lnTo>
                  <a:lnTo>
                    <a:pt x="2489200" y="1171956"/>
                  </a:lnTo>
                  <a:lnTo>
                    <a:pt x="0" y="1171956"/>
                  </a:lnTo>
                  <a:lnTo>
                    <a:pt x="0" y="0"/>
                  </a:lnTo>
                  <a:close/>
                </a:path>
              </a:pathLst>
            </a:custGeom>
            <a:blipFill>
              <a:blip r:embed="rId4"/>
              <a:stretch>
                <a:fillRect l="0" t="-3" r="0" b="-5"/>
              </a:stretch>
            </a:blipFill>
          </p:spPr>
        </p:sp>
      </p:grpSp>
      <p:sp>
        <p:nvSpPr>
          <p:cNvPr name="TextBox 8" id="8"/>
          <p:cNvSpPr txBox="true"/>
          <p:nvPr/>
        </p:nvSpPr>
        <p:spPr>
          <a:xfrm rot="0">
            <a:off x="1168403" y="3970830"/>
            <a:ext cx="12941303" cy="832714"/>
          </a:xfrm>
          <a:prstGeom prst="rect">
            <a:avLst/>
          </a:prstGeom>
        </p:spPr>
        <p:txBody>
          <a:bodyPr anchor="t" rtlCol="false" tIns="0" lIns="0" bIns="0" rIns="0">
            <a:spAutoFit/>
          </a:bodyPr>
          <a:lstStyle/>
          <a:p>
            <a:pPr algn="l">
              <a:lnSpc>
                <a:spcPts val="7033"/>
              </a:lnSpc>
            </a:pPr>
            <a:r>
              <a:rPr lang="en-US" sz="7200" spc="-202">
                <a:solidFill>
                  <a:srgbClr val="FFFFFF"/>
                </a:solidFill>
                <a:latin typeface="Arimo"/>
                <a:ea typeface="Arimo"/>
                <a:cs typeface="Arimo"/>
                <a:sym typeface="Arimo"/>
              </a:rPr>
              <a:t>Děkuji za pozornost.</a:t>
            </a:r>
          </a:p>
        </p:txBody>
      </p:sp>
      <p:sp>
        <p:nvSpPr>
          <p:cNvPr name="TextBox 9" id="9"/>
          <p:cNvSpPr txBox="true"/>
          <p:nvPr/>
        </p:nvSpPr>
        <p:spPr>
          <a:xfrm rot="0">
            <a:off x="1168403" y="5263925"/>
            <a:ext cx="12114533" cy="2398690"/>
          </a:xfrm>
          <a:prstGeom prst="rect">
            <a:avLst/>
          </a:prstGeom>
        </p:spPr>
        <p:txBody>
          <a:bodyPr anchor="t" rtlCol="false" tIns="0" lIns="0" bIns="0" rIns="0">
            <a:spAutoFit/>
          </a:bodyPr>
          <a:lstStyle/>
          <a:p>
            <a:pPr algn="l">
              <a:lnSpc>
                <a:spcPts val="3452"/>
              </a:lnSpc>
            </a:pPr>
            <a:r>
              <a:rPr lang="en-US" sz="2550">
                <a:solidFill>
                  <a:srgbClr val="C9AEDA"/>
                </a:solidFill>
                <a:latin typeface="Arimo"/>
                <a:ea typeface="Arimo"/>
                <a:cs typeface="Arimo"/>
                <a:sym typeface="Arimo"/>
              </a:rPr>
              <a:t>Mgr. Ing. Tereza Vágnerová, Ph.D. Healthy Longevity Clinic Klinika geriatrie a interní medicíny 1. LF UK a VFN Klinika endokrinologie a metabolismu 1. LF UK a VFN EFAD – European Federation of the Associations of Dietitians</a:t>
            </a:r>
          </a:p>
        </p:txBody>
      </p:sp>
      <p:sp>
        <p:nvSpPr>
          <p:cNvPr name="TextBox 10" id="10"/>
          <p:cNvSpPr txBox="true"/>
          <p:nvPr/>
        </p:nvSpPr>
        <p:spPr>
          <a:xfrm rot="0">
            <a:off x="1168403" y="7989637"/>
            <a:ext cx="12114533" cy="393383"/>
          </a:xfrm>
          <a:prstGeom prst="rect">
            <a:avLst/>
          </a:prstGeom>
        </p:spPr>
        <p:txBody>
          <a:bodyPr anchor="t" rtlCol="false" tIns="0" lIns="0" bIns="0" rIns="0">
            <a:spAutoFit/>
          </a:bodyPr>
          <a:lstStyle/>
          <a:p>
            <a:pPr algn="l">
              <a:lnSpc>
                <a:spcPts val="2476"/>
              </a:lnSpc>
            </a:pPr>
            <a:r>
              <a:rPr lang="en-US" sz="1650" spc="66">
                <a:solidFill>
                  <a:srgbClr val="D8A6F5"/>
                </a:solidFill>
                <a:latin typeface="Arimo"/>
                <a:ea typeface="Arimo"/>
                <a:cs typeface="Arimo"/>
                <a:sym typeface="Arimo"/>
              </a:rPr>
              <a:t>tereza.vagnerova@lf1.cuni.cz · +420 774 355 768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DAHVKRus3Es</dc:identifier>
  <dcterms:modified xsi:type="dcterms:W3CDTF">2011-08-01T06:04:30Z</dcterms:modified>
  <cp:revision>1</cp:revision>
  <dc:title>Women Longevity.pptx</dc:title>
</cp:coreProperties>
</file>