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Přivítání. Rámec dneška: nebudeme mluvit o menopauze jako o hormonální krizi. Budeme mluvit o středním věku jako o období, kdy se zdravotní trajektorie stávají viditelnými a zároveň ovlivnitelnými. Postup: co se děje, co je medicínsky důležité, co skutečně funguje, co můžete začít zítra. Otázky na konci.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slib pro dnešek. Pět otázek, pět částí, na konci každé části dostanete odpověď jednou větou. U každého tvrzení uvidíte vpravo nahoře, jak jisté to je, a co to písmeno znamená, vysvětlím hned na dalším slidu.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Tenhle slide je klíč k celé přednášce. Většina zmatku ve veřejné debatě o menopauze vzniká tím, že se tyto tři věci míchají. Hormonální léčba je léčba příznaků, ne prevence chronických nemocí. Pohyb je prevence, ale na návaly horka podle přehledů nefunguje. Porce podle ruky je koučovací nástroj, ne doporučený postup. Tvary u každého nadpisu se budou opakovat v celé přednášce, takže poznáte, ve které ze tří kategorií právě jsme.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moje pojistka proti tomu, abych všechno tvrdila stejně silně. Značka je v pravém horním rohu každého slidu. A znamená vysokou jistotu důkazů, závěr je spolehlivý. B střední jistotu, závěr je pravděpodobný. C nízkou nebo velmi nízkou jistotu, závěr zůstává nejistý. P vůbec není hodnocení důkazů, je to praktický nástroj. Když na slidu chybí značka, jde o rámec nebo o definici, ne o tvrzení.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Přechod do první části. Klíčová věta: trajektorie se ve středním věku nezakládá, ona se zviditelní. Rizikový profil se ve čtyřicátých letech začíná měřitelně rozbíhat a právě proto je to nejlepší období, kdy zasáhnout.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Fáze podle stagingu: pozdní reprodukční období, kdy se cyklus ještě jeví pravidelný, ale mění se jeho délka a kvalita luteální fáze. Časná perimenopauza, definovaná změnou délky cyklu o 7 a více dní mezi po sobě jdoucími cykly. Pozdní perimenopauza, tedy interval bez menstruace 60 a více dní. Menopauza je retrospektivní diagnóza, 12 měsíců po poslední menstruaci. Postmenopauza je zbytek života. Pointa: pacientka přichází obvykle v časné perimenopauze a v tu dobu ještě neví, že v ní 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Vlevo premenopauzální cyklus: estrogen roste k ovulačnímu vrcholu, progesteron stoupá po ovulaci a drží se do menstruace. Předvídatelný vzorec, na který se dá plánovat zátěž i regenerace. Vpravo perimenopauza: estradiol kolísá nepravidelně, v části cyklů chybí ovulace, takže chybí i progesteronová fáze. FSH stoupá, ale kolísá také, proto jedno laboratorní vyšetření hormonů perimenopauzu nepotvrdí ani nevyloučí. Diagnóza je klinická. Právě nepředvídatelnost, ne nízká hladina, vysvětluje většinu obtíží v tomto období.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Vazomotorické symptomy, tedy návaly horka a noční pocení, uvádí 75 až 80 procent žen, přesný podíl závisí na kohortě a definici. Dále poruchy spánku, výkyvy nálad, urogenitální obtíže včetně vaginální suchosti a snížené libido, bolesti kloubů, potíže se soustředěním a změna tělesného složení. Důležité pro laické publikum: tohle není seznam nemocí, je to seznam běžných projevů přechodu. Pojmenování obtíže je první krok k tomu, aby se dala léčit.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První dvojice mýtus a fakt. Tady se dá čekat souhlasné pokyvování, protože náhlý konec je nejrozšířenější představa.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Shrnutí první části jednou větou. Nechte ji chvíli viset, než přejdete dál.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Přechod do druhé části. Citace z přehledu v Clinical Nutrition ESPEN 2026: přechod představuje okno zranitelnosti pro akceleraci dlouhodobého rizika chronických nemocí, nezávisle na chronologickém stárnutí. Tohle je nejdůležitější věta celé přednášky z medicínského hlediska. Zranitelnost je totéž jako ovlivnitelnost.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Prostá aritmetika, ale publikum ji zpravidla nikdy neslyšelo. Medián menopauzy 51,4 let. Česká žena, která se dožila padesáti, má podle Eurostatu 2024 před sebou ještě 34,1 roku. Naděje dožití žen v Česku je 83,2 roku, zdravých let při narození 62,6. O to se dnes hraje: ne o přidané roky, ale o roky ve zdraví.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druhé části. Pět oblastí, kde se v přechodu mění dlouhodobé riziko: srdce a cévy, metabolismus, kost a sval, mozek a duševní zdraví, urogenitální a sexuální zdraví. Projdeme je v tomto pořadí. Upozorněte publikum, že ani jedna z nich není záležitost jednoho orgánu, všechny se prolínají přes spánek, zátěž a stravu.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Tady se vyvrací dva mýty v jednom. Metabolismus se v menopauze nezhroutí, klidový energetický výdej klesá v tomto období pozvolna a hlavně kvůli ztrátě svalové hmoty. Co se skutečně mění měřitelně, je složení těla a rozložení tuku: podle studie SWAN ubývá tukuprosté masy průměrně 0,2 procenta za rok a tukové hmoty přibývá asi 0,45 kg za rok, k tomu se tuk přesouvá z boků do oblasti pasu. Důsledek pro praxi: váha je špatný ukazatel. Sledujte obvod pasu, sílu a to, co zvládnete.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Úbytek kostní hmoty má dvě fáze. První v perimenopauze, kdy nedostatek estrogenu zvyšuje kostní resorpci. Druhá 4 až 8 let po tranzici, kdy se zpomaluje novotvorba. Klinický důsledek: první fáze je z hlediska prevence nejcennější a zpravidla se prošvihne, protože v ní nikdo denzitometrii neindikuje. Proto se bavíme o zátěži a o příjmu bílkovin, vápníku a vitaminu D ve čtyřiceti, ne v šedesáti.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Menopauzu lze chápat i jako neurologický přechod: mozek jinak hospodaří s energií. Estrogen kognitivní funkce chrání a Alzheimerova choroba je u žen častější než u mužů. Zároveň je třeba být opatrná: to, že poruchy spánku jsou popisovány jako rizikový a patogenetický faktor rozvoje demence, neznamená, že jeden špatný rok spánku někomu způsobí demenci. Data jsou observační a spánek je v nich propletený s depresí, stresem a cévním rizikem. Co z toho plyne prakticky: léčit spánek se vyplatí, a to bez ohledu na to, jak silný je ten kognitivní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Perimenopauza je popisována jako období zvýšené zranitelnosti pro depresivní epizodu, uváděné riziko je 2 až 4krát vyšší, zejména u žen s depresí v anamnéze a s výraznými vazomotorickými symptomy. Důležité rozlišení pro publikum: mírná rozladěnost z nevyspání není depresivní porucha. Pokud ale obtíže trvají a berou funkci, je to diagnóza, která má účinnou léčbu. Kognitivně behaviorální terapie je doporučovaná i na vazomotorické symptomy a na insomnii, takže je v tomto období mimořádně užitečný nástroj.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čerstvá práce z roku 2026 a ženy se na ni budou ptát, protože o ní psala média. V britské kohortě sto osmdesáti tří tisíc žen sledovaných v průměru třináct let bylo užívání hormonální léčby spojeno s nižším rizikem demence, hazard ratio nula devadesát. Silnější byla souvislost u žen po chirurgické menopauze, u nosiček varianty APOE4 a u těch, které měly nižší celoživotní expozici estrogenu. Nejvíc profitovalo zahájení mezi čtyřicátým šestým a padesátým šestým rokem, což sedí s myšlenkou okna. Limit ale říkejte nahlas: je to observační studie. Ženy, které hormonální léčbu užívají, se od ostatních liší i jinak, zdravotně i sociálně. Randomizovaná studie s demencí jako cílem neexistuje a hormonální léčba se kvůli prevenci demence nepředepisuje.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jediná skupina obtíží, která sama neodejde, naopak se bez léčby zhoršuje, a zároveň ta, na kterou se ženy ptají nejmíň. Odborně urogenitální syndrom menopauzy. Postup je stupňovitý: začíná se edukací, lubrikanty a hydratačními přípravky, pokračuje nízkodávkovaným lokálním estrogenem, fyzioterapií pánevního dna a případně psychosexuálním poradenstvím. Sexuální zdraví patří podle EMAS do jádra menopauzální péče, ne mezi nepovinné dodatky. Důležitá věta na závěr: lokální estrogen není totéž co systémová hormonální léčba. Hladina estradiolu po něm stoupne jen do nízkého postmenopauzálního rozmezí a observační data s mediánem užívání do tří let neukázala vyšší riziko nádoru prsu ani dělohy. Mnoho žen ho užívá i současně se systémovou léčbou.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Druhá dvojice. Tohle je nejčastější stížnost v ordinaci a zároveň místo, kde se dá publikum nejvíc uklidnit.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Shrnutí druhé části. Tohle je hlavní důvod, proč se o přechodu bavíme v kontextu dlouhověkosti.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Přechod do třetí části. Zásadní věta: léčba příznaků a prevence nemocí nejsou totéž a nepoužívají stejné nástroje. Pohyb je vynikající prevence a na návaly podle přehledů nefunguje. Hormonální léčba je vynikající na návaly a není nástroj prevence. Když se to mísí, vznikají jak zbytečná zklamání, tak zbytečná rizika.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Formulace musí být přesná: hormonální léčba je nejúčinnější dostupná léčba vazomotorických symptomů. To není reklama, to je shrnutí guidelines. Zároveň není pro každou: kontraindikace zahrnují hormonálně dependentní karcinom prsu, aktivní tromboembolickou nemoc a některé jaterní stavy, u řady dalších stavů rozhoduje forma a cesta podání. Pro ženy, které ji nemohou nebo nechtějí, existují dnes účinné nehormonální možnosti a to je obsah dalšího slidu.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Třetí evidenční karta a nejcitlivější téma přednášky. Hormonální léčba je nejúčinnější léčbou vazomotorických symptomů a je účinná i na kost. Indikací jsou příznaky, respektive časná menopauza a ovariální insuficience. Prevence chronických nemocí sama o sobě indikací není, guidelines ji v této roli nedoporučují. Poměr přínosu a rizika je nejpříznivější u žen, které začínají do 60 let věku nebo do 10 let od menopauzy. Riziko závisí na formě, dávce a cestě podání, transdermální estrogen má nižší tromboembolické riziko než perorální. Rozhodnutí je vždy individuální a patří do ordinace, ne na webinář.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Nejdůležitější slide celé třetí části. Vychází z position statementu The Menopause Society k nehormonální léčbě, doplněného o novější léky. Doporučeno na úrovni I: kognitivně behaviorální terapie, klinická hypnóza, SSRI a SNRI, gabapentin a fezolinetant. Slabší doporučení: oxybutynin, redukce hmotnosti, stelátní blokáda. Nedoporučeno, protože účinek nebyl prokázán: doplňky a bylinné přípravky, sójové extrakty a metabolit equol, dechová cvičení, chladicí techniky, vyhýbání se spouštěčům, jóga, mindfulness, akupunktura a úprava jídelníčku. Zdůrazněte, že nedoporučeno na návaly neznamená nesmyslné obecně. Pohyb, jóga i strava mají výborné důvody, jen ne tento.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Oddělte tuto skupinu jasně, protože se na ni celá debata o rizicích hormonální léčby nevztahuje. Primární ovariální insuficience je primární hypogonadismus před čtyřicátým rokem. Není vzácná: přibližně jedna z dvou set padesáti žen do třiceti pěti let a jedna ze sta do čtyřiceti let. Časná menopauza je mezi čtyřiceti a čtyřiceti pěti lety. U těchto žen se data z WHI nepoužívají, protože ta studie sledovala ženy nad šedesát let. Léčba se zahajuje v jiném věku a s jiným cílem: nahradit roky estrogenu, které by žena normálně měla, a předejít předčasné ztrátě kosti a kardiovaskulárnímu riziku. Guidelines se shodují, že se pokračuje přibližně do věku průměrné menopauzy, tedy asi do padesáti až padesáti jedna let. Pro tyto ženy je to prevence, ne volba mezi komfortem a rizikem.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Tenhle slide je jádro celé přednášky a zároveň nejlepší ilustrace tří kategorií. Pohyb podle přehledů nesnižuje frekvenci ani intenzitu návalů, proto je v position statementu v kategorii nedoporučeno pro tuto konkrétní indikaci. Současně je to jedna z nejsilnějších intervencí, které v tomto období máme, ale na jiné cíle: kardiovaskulární riziko, inzulinová senzitivita, kostní hustota, síla a funkce, spánek a nálada. Pointa pro publikum: když vám cvičení nezabralo na návaly, neznamená to, že nefunguje. Znamená to, že jste od něj chtěli něco, co neumí.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Doporučení WHO pro dospělé: 150 až 300 minut středně intenzivní aerobní aktivity týdně, nebo 75 až 150 minut vysoce intenzivní, nebo kombinace. K tomu posilování velkých svalových skupin alespoň dva dny v týdnu. Pro ženy v tomto období je právě ta druhá věta ta důležitá a nejčastěji vynechávaná. Praktický překlad pro publikum: chůze se počítá, ale chůze nestačí. Odporový trénink není doplněk, je to samostatná povinná složka.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Pokud je hlavním problémem nespavost, první volbou je kognitivně behaviorální terapie insomnie, tedy KBT-I. Účinek je srovnatelný s léky a na rozdíl od nich přetrvává po ukončení. Dostupná je i v digitální podobě. Hypnotika mají místo krátkodobě a cíleně. Melatonin má doloženou roli spíš u poruch cirkadiánního rytmu než u klasické insomnie. A pokud spánek boří noční pocení, pak má smysl léčit primárně ty, tedy vazomotorické symptomy, protože bez toho KBT-I naráží.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Třetí dvojice a nejcitlivější. Říkejte to pomalu a doplňte, že rozhodnutí je vždy individuální.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Shrnutí třetí části. Tohle je věta, kterou si publikum má odnést nejvíc.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Přechod do čtvrté části. Nejdůležitější věta: menopauzální dieta neexistuje. Neexistuje jídelníček, který by cílil na hormony. Existuje strava, která chrání srdce a cévy, udrží sval a kost a pokryje mikronutrienty. To je jiná, méně atraktivní, ale pravdivější nabídka. Vliv stravy na samotné návaly je skromný a nekonzistentní, a právě proto ho nebudu nadsazovat.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Takhle rámuji výživové poradenství v tomto období. Čtyři cíle: kardiometabolické zdraví, udržení svalu a kosti, tělesné složení a nutriční adekvátnost. Ani jeden z nich nezní jako marketing a každý z nich má měřitelný výstup. Vliv stravy na vazomotorické symptomy do tohoto seznamu nepatří jako hlavní cíl, protože je skromný a nekonzistentní. Tohle je nejlepší ochrana proti tomu, aby klientka utrácela za doplňky.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Nejlépe podložený je celkový vzorec stravování středomořského typu: zelenina, ovoce, celozrnné obiloviny, luštěniny, olivový olej, ryby, málo ultrazpracovaných potravin a málo červeného masa. Účinek na kardiometabolické ukazatele je konzistentní. Účinek na samotné návaly je skromný a nekonzistentní a nesmí se prezentovat jako řešení. Alkohol je zvláštní kategorie: na návaly je vyhýbání se spouštěčům slabě podloženo, ale alkohol má prokázané riziko pro nádory prsu a pro spánek, takže o něm mluvím z jiného důvodu, ne jako o léčbě návalů.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Tady je potřeba být poctivá o tom, kde končí guideline a kde začíná rozumný odhad. ESPEN a ESCEO doporučují pro zdravé starší dospělé 1,0 až 1,2 g bílkovin na kilogram hmotnosti denně, s rozložením 20 až 25 g kvalitní bílkoviny na jídlo. To je úroveň A až B. Vyšší cíl 1,2 až 1,6 g na kilogram se v praxi používá u žen, které aktivně posilují a chtějí udržet svalovou hmotu, a to je úroveň B, tedy rozumné, ne prokázané guidelinem. Klíčová je kombinace: bílkovina sama sval neudrží, anabolická odpověď na bílkovinu se zvyšuje odporovým tréninkem. Leucinem bohaté zdroje jsou mléčné výrobky, vejce, luštěniny a ryby.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kost: vápník především z jídla, zakysané mléčné výrobky, sýry, sardinky s kostí, mák, sezam, tvrdé minerální vody. Vitamin D suplementovat, protože v našich zeměpisných šířkách se z jídla a ze slunce nedá pokrýt. Bílkoviny a odporový trénink jsou stejně důležité jako minerály. Vitamin K2 ve formě MK-4 a kreatin monohydrát jsou oblasti se slibnými, ale nejistými daty, proto úroveň C, a mluvím o nich jako o možnosti, ne jako o doporučení. Pozor na jednu věc, kterou publikum často nevím: potřeba železa po menopauze klesá, takže rutinní suplementace železa bez vyšetření je chyba.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odpověď na nejčastější dotaz z publika: co si mám koupit. Neexistuje jeden menopauzální suplement. Každá látka míří na jiný dominantní problém a každá má jinou sílu důkazů. Na tomhle slidu jsou tři, které cílí na návaly. Nejlépe podložený botanický přípravek je black cohosh, tedy ploštičník, u standardizovaných extraktů je jistota účinku na vazomotorické symptomy střední, a vzácně bylo hlášeno poškození jater. Genistein a sójové izoflavony mají dat hodně, ale efekt na návaly je nekonzistentní a odpověď může částečně záviset na tom, jestli střevní mikrobiom umí tvořit S-equol. Pískavice je zatím nedostatečně podložená, a pokud se ptají na libido, ten signál pochází z premenopauzálních žen a z firemních extraktů, ne z menopauzální populace.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Druhá skupina botanik nemíří na návaly, ale na náladu, stres a cyklus. Ashwagandha: malé randomizované studie naznačují zlepšení symptomů a stresu, chybí ale nezávislá replikace, a opatrnost je na místě u onemocnění štítné žlázy a jater. Šafrán: data jsou zajímavější pro náladu a úzkost než pro samotné návaly, ve studiích se obvykle používá 30 mg denně. Drmek patří spíš k premenstruačním a cyklickým obtížím než k menopauze, pro menopauzu je evidence slabá. Všechny tři jsou na úrovni C, tedy nízká jistota. Proto se nevybírá podle názvu na etiketě, ale podle toho, co ženu nejvíc bere.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Druhá skupina nemíří na symptomy, ale na metabolismus a na funkci. Berberin není menopauzální léčba, u osob s metabolickým rizikem ale může mírně snižovat glykemii nalačno, triglyceridy, LDL a obvod pasu. Používá se jen při konkrétní metabolické indikaci a je potřeba myslet na gastrointestinální nežádoucí účinky a lékové interakce. Kreatin monohydrát má dobrá data u postmenopauzálních žen, zejména v kombinaci se silovým tréninkem, podporuje sílu a svalovou hmotu, spolehlivý benefit pro kostní denzitu ale neprokazuje. Melatonin není univerzální menopauzální přípravek na spánek, má místo při konkrétní chronobiologické indikaci. Takeaway pro celý blok: suplement není strategie.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závěr celého bloku o suplementech. Otázka z publika skoro vždy zní: co si mám koupit. Správné pořadí je opačné. Nejdřív pojmenujeme cíl, tedy jestli ženu nejvíc bere spánek, nálada, návaly, metabolické riziko nebo sval. Teprve potom se ptáme, jestli na ten cíl existuje nástroj a jak jistá je u něj evidence. Suplement je nástroj, ne plán.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Pátá evidenční karta a nejčastější dotaz z publika. Izoflavony ze sóji: efekt na návaly je v metaanalýzách malý a nekonzistentní, sójové extrakty a metabolit equol jsou v position statementu v kategorii nedoporučeno pro léčbu vazomotorických symptomů. To neznamená, že sója je špatná, sójové potraviny jsou naopak dobrým zdrojem bílkoviny v kardioprotektivním jídelníčku. Probiotika: metaanalýza v Clinical Nutrition ESPEN nalezla příznivé efekty na menopauzální symptomy, urogenitální a kostní zdraví, ale sama uvádí vysoké riziko bias a heterogenitu zahrnutých studií, takže výsledek je slibný signál, nikoli podklad k doporučení. Zdůrazněte rozdíl mezi potravinou a extraktem a mezi slibným a prokázaným.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Shrnutí čtvrté části. Očekávejte dotazy na konkrétní doplňky, vracejte je k tomuto slidu.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Přechod do poslední části a nejdůležitější disclaimer celé přednášky. To, co teď přijde, nejsou zdravotnická doporučení. Jsou to koučovací nástroje z metodiky Precision Nutrition, tedy pomůcky, jak vůbec začít a jak vydržet. Mají jinou povahu než guideline: neříkají, co je správné, ale jak to zavést. Proto mají svou vlastní značku P a proto jsou až na konci, ne na začátku.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je důvod, proč má pátá část decku vůbec smysl. Observační data říkají, že čtyřicet až padesát procent žen, které začnou hormonální léčbu, ji do roka ukončí, a šedesát pět až sedmdesát pět procent do dvou let, často bez konzultace s lékařem. Nejsou to čísla o účinnosti, jsou to čísla o vytrvání. Platí to samozřejmě i pro pohyb, spánkovou hygienu a stravu. Proto nemá cenu mít dokonalé doporučení a nemít nástroj na jeho zavedení.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Nejúčinnější nástroj z celé metodiky a zároveň nejméně atraktivní: jedna změna v čase, dokud nedrží sama. Typicky dva až čtyři týdny na jeden návyk. Důvod je prozaický: většina lidí nezvládne v lednu změnit spánek, jídlo i trénink, a v únoru je zpátky u ničeho. Praktické vodítko, které používám: vyberte návyk, o kterém si na stupnici od 1 do 10 troufnete říct alespoň 9, že ho zvládnete. Pokud je odpověď 7, návyk je moc velký a je potřeba ho zmenšit, ne se víc snažit.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Nejčastější věta v ordinaci není nechci, ale nemám čas. Tenhle nástroj ji testuje. Vyberte jeden běžný den a zapisujte činnosti po třiceti minutách, ideálně jednou za hodinu, aby byla vzpomínka přesná. U spánku nebo dlouhé práce stačí doplnit blok dodatečně. Nemusí to být podrobné, jde o obraz dne. Pak se hledají dvě věci: vzorce, tedy co se opakuje, a místa, kde čas uniká. Většina lidí najde třicet až šedesát minut, o kterých nevěděla. Teprve potom má smysl plánovat, protože plán se staví na skutečném dnu, ne na tom vysněném.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Praktické řešení pro dny, kdy jídlo nevyjde. Není to náhrada jídla z lahvičky, je to jídlo ve skle, které se dá složit z běžných potravin a vypít v autě nebo mezi pacienty. Sestava má pět složek: bílkovina, zelenina, ovoce, tuk a tekutina. Klíčové je dávkování bílkoviny, protože právě to bývá v tekutém jídle nejslabší místo. Cíl je dvacet až třicet gramů kvalitní bílkoviny na jednu dávku, což je stejný cíl jako u hlavního jídla, a při denním příjmu jednoho celého dva až jednoho celého šesti gramu na kilogram hmotnosti. Míry zelenina hrst a tuk palec navazují na porce podle ruky z předchozího slidu.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Stejný průvodce, jaký máme na webu v sekci Porce podle ruky, jen ve fialové a v deckovém měřítku. Dlaň je míra bílkovinné potraviny, u masa nebo tofu jde o plochu a tloušťku dlaně, prsty se nepočítají. Pěst je objemová míra zeleniny. Hrst, tedy dlaň prohnutá do mističky se spojenými prsty, je míra sacharidové přílohy. Palec od kořene ke špičce je míra tuků. Výhoda je, že ruka roste s tělem a je vždycky s sebou, takže to funguje bez vážení a bez aplikace. Dvě věci řekněte nahlas: ilustrace není kalibrované měřítko a počet kusů jídla na obrázku není návod k odměřování. A pořád jde o koučovací nástroj, ne o doporučený postup ani o individuální jídelníček.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Tohle téma v českých přednáškách skoro nezaznívá, přitom v přechodu je většina žen zaměstnaná a často na vrcholu kariéry. Návaly, nespavost, únava a potíže se soustředěním se pojí s horším výkonem, s prezentismem, s absencemi a někdy i s předčasným odchodem z trhu práce. Co to zhoršuje: vysoké nároky s malou mírou kontroly, směny, nemožnost ovlivnit teplotu, nepružná pracovní doba a prostředí, kde se o tom nemluví. Co pomáhá: pružná doba, informovaní vedoucí, možnost větrat a regulovat teplotu, klidné místo a otevřená domluva. Řekněte nahlas i tu nerovnost: nejhůř na tom jsou ženy v hůř placených, fyzicky náročných a směnných profesích, které mají nejmenší možnost si podmínky upravit.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Závěrečné shrnutí páté části a zároveň přechod k závěru přednášky.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Závěr. Zdravé stárnutí nezačíná po menopauze. Střední věk je prevenční okno pro srdce, metabolismus, kost a sval, psychiku i sexuální zdraví, a to okno je otevřené právě teď. Dvě věty, které chci, aby si publikum odneslo: příznaky se dají léčit a mají se léčit, pokud berou funkci. A dlouhodobé riziko se dá ovlivnit, a to nástroji, které nikdo neprodává v lahvičce.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Zdroje. Doporučení a position statements vlevo, přehledové práce a klinické zdroje vpravo. Každé tvrzení v decku nese stupeň jistoty podle toho, z čeho pochází, takže když se někdo zeptá na konkrétní číslo, dá se dohledat.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Děkuji. Prostor pro otázky. Kontakt je na slidu. Pokud se někdo ptá na konkrétní léčbu nebo dávkování, odkazuji do ordinace, na webináři to nejde rozhodovat.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905000" y="0"/>
            <a:ext cx="16383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36000">
                <a:srgbClr val="401252">
                  <a:alpha val="90000"/>
                </a:srgbClr>
              </a:gs>
              <a:gs pos="66000">
                <a:srgbClr val="401252">
                  <a:alpha val="70000"/>
                </a:srgbClr>
              </a:gs>
              <a:gs pos="84000">
                <a:srgbClr val="401252">
                  <a:alpha val="25000"/>
                </a:srgbClr>
              </a:gs>
              <a:gs pos="100000">
                <a:srgbClr val="401252">
                  <a:alpha val="5000"/>
                </a:srgbClr>
              </a:gs>
            </a:gsLst>
            <a:lin ang="540000" scaled="0"/>
          </a:gradFill>
          <a:ln/>
        </p:spPr>
      </p:sp>
      <p:pic>
        <p:nvPicPr>
          <p:cNvPr id="4" name="Image 1" descr="preencoded.png">    </p:cNvPr>
          <p:cNvPicPr>
            <a:picLocks noChangeAspect="1"/>
          </p:cNvPicPr>
          <p:nvPr/>
        </p:nvPicPr>
        <p:blipFill>
          <a:blip r:embed="rId2"/>
          <a:stretch>
            <a:fillRect/>
          </a:stretch>
        </p:blipFill>
        <p:spPr>
          <a:xfrm>
            <a:off x="1143000" y="914400"/>
            <a:ext cx="1866900" cy="878979"/>
          </a:xfrm>
          <a:prstGeom prst="rect">
            <a:avLst/>
          </a:prstGeom>
        </p:spPr>
      </p:pic>
      <p:sp>
        <p:nvSpPr>
          <p:cNvPr id="5" name="Text 1"/>
          <p:cNvSpPr/>
          <p:nvPr/>
        </p:nvSpPr>
        <p:spPr>
          <a:xfrm>
            <a:off x="1143000" y="5214193"/>
            <a:ext cx="1334262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ŽENSKÉ ZDRAVÍ · DLOUHOVĚKOST</a:t>
            </a:r>
            <a:endParaRPr lang="en-US" sz="1650" dirty="0"/>
          </a:p>
        </p:txBody>
      </p:sp>
      <p:sp>
        <p:nvSpPr>
          <p:cNvPr id="6" name="Text 2"/>
          <p:cNvSpPr/>
          <p:nvPr/>
        </p:nvSpPr>
        <p:spPr>
          <a:xfrm>
            <a:off x="1143000" y="5934596"/>
            <a:ext cx="13342620" cy="1895773"/>
          </a:xfrm>
          <a:prstGeom prst="rect">
            <a:avLst/>
          </a:prstGeom>
          <a:noFill/>
          <a:ln/>
        </p:spPr>
        <p:txBody>
          <a:bodyPr wrap="square" lIns="25400" tIns="25400" rIns="25400" bIns="25400" rtlCol="0" anchor="t">
            <a:normAutofit/>
          </a:bodyPr>
          <a:lstStyle/>
          <a:p>
            <a:pPr algn="l" indent="0" marL="0">
              <a:lnSpc>
                <a:spcPct val="81607"/>
              </a:lnSpc>
              <a:buNone/>
            </a:pPr>
            <a:r>
              <a:rPr lang="en-US" sz="6900" spc="-193" kern="0" dirty="0">
                <a:solidFill>
                  <a:srgbClr val="FFFFFF"/>
                </a:solidFill>
                <a:latin typeface="Geist" pitchFamily="34" charset="0"/>
                <a:ea typeface="Geist" pitchFamily="34" charset="-122"/>
                <a:cs typeface="Geist" pitchFamily="34" charset="-120"/>
              </a:rPr>
              <a:t>Women's Health: vitalita v kontextu longevity medicíny</a:t>
            </a:r>
            <a:endParaRPr lang="en-US" sz="6900" dirty="0"/>
          </a:p>
        </p:txBody>
      </p:sp>
      <p:sp>
        <p:nvSpPr>
          <p:cNvPr id="7" name="Text 3"/>
          <p:cNvSpPr/>
          <p:nvPr/>
        </p:nvSpPr>
        <p:spPr>
          <a:xfrm>
            <a:off x="1143000" y="8058969"/>
            <a:ext cx="142494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C9AEDA"/>
                </a:solidFill>
                <a:latin typeface="Geist" pitchFamily="34" charset="0"/>
                <a:ea typeface="Geist" pitchFamily="34" charset="-122"/>
                <a:cs typeface="Geist" pitchFamily="34" charset="-120"/>
              </a:rPr>
              <a:t>Střední věk jako okno příležitosti pro zdravé stárnutí</a:t>
            </a:r>
            <a:endParaRPr lang="en-US" sz="2700" dirty="0"/>
          </a:p>
        </p:txBody>
      </p:sp>
      <p:sp>
        <p:nvSpPr>
          <p:cNvPr id="8" name="Text 4"/>
          <p:cNvSpPr/>
          <p:nvPr/>
        </p:nvSpPr>
        <p:spPr>
          <a:xfrm>
            <a:off x="1143000" y="8851404"/>
            <a:ext cx="14249400"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FFFFFF"/>
                </a:solidFill>
                <a:latin typeface="Inter" pitchFamily="34" charset="0"/>
                <a:ea typeface="Inter" pitchFamily="34" charset="-122"/>
                <a:cs typeface="Inter" pitchFamily="34" charset="-120"/>
              </a:rPr>
              <a:t>Mgr. Ing. Tereza Vágnerová, Ph.D.</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99365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CO SI DNES ODNESETE</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Pět klíčových otázek. Odpovědi opřené o aktuální vědecké důkazy.</a:t>
            </a:r>
            <a:endParaRPr lang="en-US" sz="5550" dirty="0"/>
          </a:p>
        </p:txBody>
      </p:sp>
      <p:sp>
        <p:nvSpPr>
          <p:cNvPr id="4" name="Text 2"/>
          <p:cNvSpPr/>
          <p:nvPr/>
        </p:nvSpPr>
        <p:spPr>
          <a:xfrm>
            <a:off x="1143000" y="4000500"/>
            <a:ext cx="554013" cy="716979"/>
          </a:xfrm>
          <a:prstGeom prst="rect">
            <a:avLst/>
          </a:prstGeom>
          <a:noFill/>
          <a:ln/>
        </p:spPr>
        <p:txBody>
          <a:bodyPr wrap="none" lIns="25400" tIns="25400" rIns="25400" bIns="25400" rtlCol="0" anchor="t">
            <a:normAutofit/>
          </a:bodyPr>
          <a:lstStyle/>
          <a:p>
            <a:pPr algn="l" indent="0" marL="0">
              <a:lnSpc>
                <a:spcPct val="125053"/>
              </a:lnSpc>
              <a:buNone/>
            </a:pPr>
            <a:r>
              <a:rPr lang="en-US" sz="3300" spc="-99" kern="0" dirty="0">
                <a:solidFill>
                  <a:srgbClr val="6D2A8C"/>
                </a:solidFill>
                <a:latin typeface="Geist" pitchFamily="34" charset="0"/>
                <a:ea typeface="Geist" pitchFamily="34" charset="-122"/>
                <a:cs typeface="Geist" pitchFamily="34" charset="-120"/>
              </a:rPr>
              <a:t>01</a:t>
            </a:r>
            <a:endParaRPr lang="en-US" sz="3300" dirty="0"/>
          </a:p>
        </p:txBody>
      </p:sp>
      <p:sp>
        <p:nvSpPr>
          <p:cNvPr id="5" name="Text 3"/>
          <p:cNvSpPr/>
          <p:nvPr/>
        </p:nvSpPr>
        <p:spPr>
          <a:xfrm>
            <a:off x="2039913" y="4152900"/>
            <a:ext cx="16615596"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Co se v těle během menopauzální tranzice skutečně mění?</a:t>
            </a:r>
            <a:endParaRPr lang="en-US" sz="2400" dirty="0"/>
          </a:p>
        </p:txBody>
      </p:sp>
      <p:sp>
        <p:nvSpPr>
          <p:cNvPr id="6" name="Text 4"/>
          <p:cNvSpPr/>
          <p:nvPr/>
        </p:nvSpPr>
        <p:spPr>
          <a:xfrm>
            <a:off x="1143000" y="4965129"/>
            <a:ext cx="554013" cy="716979"/>
          </a:xfrm>
          <a:prstGeom prst="rect">
            <a:avLst/>
          </a:prstGeom>
          <a:noFill/>
          <a:ln/>
        </p:spPr>
        <p:txBody>
          <a:bodyPr wrap="none" lIns="25400" tIns="25400" rIns="25400" bIns="25400" rtlCol="0" anchor="t">
            <a:normAutofit/>
          </a:bodyPr>
          <a:lstStyle/>
          <a:p>
            <a:pPr algn="l" indent="0" marL="0">
              <a:lnSpc>
                <a:spcPct val="125053"/>
              </a:lnSpc>
              <a:buNone/>
            </a:pPr>
            <a:r>
              <a:rPr lang="en-US" sz="3300" spc="-99" kern="0" dirty="0">
                <a:solidFill>
                  <a:srgbClr val="6D2A8C"/>
                </a:solidFill>
                <a:latin typeface="Geist" pitchFamily="34" charset="0"/>
                <a:ea typeface="Geist" pitchFamily="34" charset="-122"/>
                <a:cs typeface="Geist" pitchFamily="34" charset="-120"/>
              </a:rPr>
              <a:t>02</a:t>
            </a:r>
            <a:endParaRPr lang="en-US" sz="3300" dirty="0"/>
          </a:p>
        </p:txBody>
      </p:sp>
      <p:sp>
        <p:nvSpPr>
          <p:cNvPr id="7" name="Text 5"/>
          <p:cNvSpPr/>
          <p:nvPr/>
        </p:nvSpPr>
        <p:spPr>
          <a:xfrm>
            <a:off x="2039913" y="5117529"/>
            <a:ext cx="16615596"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Proč na těchto změnách záleží i z pohledu zdraví za deset či dvacet let?</a:t>
            </a:r>
            <a:endParaRPr lang="en-US" sz="2400" dirty="0"/>
          </a:p>
        </p:txBody>
      </p:sp>
      <p:sp>
        <p:nvSpPr>
          <p:cNvPr id="8" name="Text 6"/>
          <p:cNvSpPr/>
          <p:nvPr/>
        </p:nvSpPr>
        <p:spPr>
          <a:xfrm>
            <a:off x="1143000" y="5929759"/>
            <a:ext cx="554013" cy="716979"/>
          </a:xfrm>
          <a:prstGeom prst="rect">
            <a:avLst/>
          </a:prstGeom>
          <a:noFill/>
          <a:ln/>
        </p:spPr>
        <p:txBody>
          <a:bodyPr wrap="none" lIns="25400" tIns="25400" rIns="25400" bIns="25400" rtlCol="0" anchor="t">
            <a:normAutofit/>
          </a:bodyPr>
          <a:lstStyle/>
          <a:p>
            <a:pPr algn="l" indent="0" marL="0">
              <a:lnSpc>
                <a:spcPct val="125053"/>
              </a:lnSpc>
              <a:buNone/>
            </a:pPr>
            <a:r>
              <a:rPr lang="en-US" sz="3300" spc="-99" kern="0" dirty="0">
                <a:solidFill>
                  <a:srgbClr val="6D2A8C"/>
                </a:solidFill>
                <a:latin typeface="Geist" pitchFamily="34" charset="0"/>
                <a:ea typeface="Geist" pitchFamily="34" charset="-122"/>
                <a:cs typeface="Geist" pitchFamily="34" charset="-120"/>
              </a:rPr>
              <a:t>03</a:t>
            </a:r>
            <a:endParaRPr lang="en-US" sz="3300" dirty="0"/>
          </a:p>
        </p:txBody>
      </p:sp>
      <p:sp>
        <p:nvSpPr>
          <p:cNvPr id="9" name="Text 7"/>
          <p:cNvSpPr/>
          <p:nvPr/>
        </p:nvSpPr>
        <p:spPr>
          <a:xfrm>
            <a:off x="2039913" y="6082159"/>
            <a:ext cx="16615596"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Které intervence mají skutečně prokázaný efekt?</a:t>
            </a:r>
            <a:endParaRPr lang="en-US" sz="2400" dirty="0"/>
          </a:p>
        </p:txBody>
      </p:sp>
      <p:sp>
        <p:nvSpPr>
          <p:cNvPr id="10" name="Text 8"/>
          <p:cNvSpPr/>
          <p:nvPr/>
        </p:nvSpPr>
        <p:spPr>
          <a:xfrm>
            <a:off x="1143000" y="6894388"/>
            <a:ext cx="554013" cy="716979"/>
          </a:xfrm>
          <a:prstGeom prst="rect">
            <a:avLst/>
          </a:prstGeom>
          <a:noFill/>
          <a:ln/>
        </p:spPr>
        <p:txBody>
          <a:bodyPr wrap="none" lIns="25400" tIns="25400" rIns="25400" bIns="25400" rtlCol="0" anchor="t">
            <a:normAutofit/>
          </a:bodyPr>
          <a:lstStyle/>
          <a:p>
            <a:pPr algn="l" indent="0" marL="0">
              <a:lnSpc>
                <a:spcPct val="125053"/>
              </a:lnSpc>
              <a:buNone/>
            </a:pPr>
            <a:r>
              <a:rPr lang="en-US" sz="3300" spc="-99" kern="0" dirty="0">
                <a:solidFill>
                  <a:srgbClr val="6D2A8C"/>
                </a:solidFill>
                <a:latin typeface="Geist" pitchFamily="34" charset="0"/>
                <a:ea typeface="Geist" pitchFamily="34" charset="-122"/>
                <a:cs typeface="Geist" pitchFamily="34" charset="-120"/>
              </a:rPr>
              <a:t>04</a:t>
            </a:r>
            <a:endParaRPr lang="en-US" sz="3300" dirty="0"/>
          </a:p>
        </p:txBody>
      </p:sp>
      <p:sp>
        <p:nvSpPr>
          <p:cNvPr id="11" name="Text 9"/>
          <p:cNvSpPr/>
          <p:nvPr/>
        </p:nvSpPr>
        <p:spPr>
          <a:xfrm>
            <a:off x="2039913" y="7046788"/>
            <a:ext cx="16615596"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Existuje způsob stravování, který může tyto změny významně ovlivnit?</a:t>
            </a:r>
            <a:endParaRPr lang="en-US" sz="2400" dirty="0"/>
          </a:p>
        </p:txBody>
      </p:sp>
      <p:sp>
        <p:nvSpPr>
          <p:cNvPr id="12" name="Text 10"/>
          <p:cNvSpPr/>
          <p:nvPr/>
        </p:nvSpPr>
        <p:spPr>
          <a:xfrm>
            <a:off x="1143000" y="7859018"/>
            <a:ext cx="554013" cy="716979"/>
          </a:xfrm>
          <a:prstGeom prst="rect">
            <a:avLst/>
          </a:prstGeom>
          <a:noFill/>
          <a:ln/>
        </p:spPr>
        <p:txBody>
          <a:bodyPr wrap="none" lIns="25400" tIns="25400" rIns="25400" bIns="25400" rtlCol="0" anchor="t">
            <a:normAutofit/>
          </a:bodyPr>
          <a:lstStyle/>
          <a:p>
            <a:pPr algn="l" indent="0" marL="0">
              <a:lnSpc>
                <a:spcPct val="125053"/>
              </a:lnSpc>
              <a:buNone/>
            </a:pPr>
            <a:r>
              <a:rPr lang="en-US" sz="3300" spc="-99" kern="0" dirty="0">
                <a:solidFill>
                  <a:srgbClr val="6D2A8C"/>
                </a:solidFill>
                <a:latin typeface="Geist" pitchFamily="34" charset="0"/>
                <a:ea typeface="Geist" pitchFamily="34" charset="-122"/>
                <a:cs typeface="Geist" pitchFamily="34" charset="-120"/>
              </a:rPr>
              <a:t>05</a:t>
            </a:r>
            <a:endParaRPr lang="en-US" sz="3300" dirty="0"/>
          </a:p>
        </p:txBody>
      </p:sp>
      <p:sp>
        <p:nvSpPr>
          <p:cNvPr id="13" name="Text 11"/>
          <p:cNvSpPr/>
          <p:nvPr/>
        </p:nvSpPr>
        <p:spPr>
          <a:xfrm>
            <a:off x="2039913" y="8011418"/>
            <a:ext cx="16615596"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Co má smysl začít dělat už zítra?</a:t>
            </a:r>
            <a:endParaRPr lang="en-US" sz="2400" dirty="0"/>
          </a:p>
        </p:txBody>
      </p:sp>
      <p:sp>
        <p:nvSpPr>
          <p:cNvPr id="14" name="Text 12"/>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Každá část končí jasnou odpovědí na danou otázku a hodnocením síly dostupných důkazů.</a:t>
            </a:r>
            <a:endParaRPr lang="en-US" sz="1575" dirty="0"/>
          </a:p>
        </p:txBody>
      </p:sp>
      <p:sp>
        <p:nvSpPr>
          <p:cNvPr id="15"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84110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RÁMEC</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Tři roviny, které se v debatě o menopauze často zaměňují.</a:t>
            </a:r>
            <a:endParaRPr lang="en-US" sz="4500" dirty="0"/>
          </a:p>
        </p:txBody>
      </p:sp>
      <p:sp>
        <p:nvSpPr>
          <p:cNvPr id="4" name="Shape 2"/>
          <p:cNvSpPr/>
          <p:nvPr/>
        </p:nvSpPr>
        <p:spPr>
          <a:xfrm>
            <a:off x="1143000" y="4762500"/>
            <a:ext cx="4978375" cy="3246388"/>
          </a:xfrm>
          <a:prstGeom prst="rect">
            <a:avLst/>
          </a:prstGeom>
          <a:solidFill>
            <a:srgbClr val="FFFFFF"/>
          </a:solidFill>
          <a:ln w="9525">
            <a:solidFill>
              <a:srgbClr val="CDB3DC"/>
            </a:solidFill>
            <a:prstDash val="solid"/>
          </a:ln>
        </p:spPr>
      </p:sp>
      <p:sp>
        <p:nvSpPr>
          <p:cNvPr id="5" name="Text 3"/>
          <p:cNvSpPr/>
          <p:nvPr/>
        </p:nvSpPr>
        <p:spPr>
          <a:xfrm>
            <a:off x="1571625" y="5191125"/>
            <a:ext cx="42447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a:t>
            </a:r>
            <a:endParaRPr lang="en-US" sz="1650" dirty="0"/>
          </a:p>
        </p:txBody>
      </p:sp>
      <p:sp>
        <p:nvSpPr>
          <p:cNvPr id="6" name="Text 4"/>
          <p:cNvSpPr/>
          <p:nvPr/>
        </p:nvSpPr>
        <p:spPr>
          <a:xfrm>
            <a:off x="1571625" y="5778178"/>
            <a:ext cx="4533238"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Zmírnit aktuální obtíže</a:t>
            </a:r>
            <a:endParaRPr lang="en-US" sz="2700" dirty="0"/>
          </a:p>
        </p:txBody>
      </p:sp>
      <p:sp>
        <p:nvSpPr>
          <p:cNvPr id="7" name="Text 5"/>
          <p:cNvSpPr/>
          <p:nvPr/>
        </p:nvSpPr>
        <p:spPr>
          <a:xfrm>
            <a:off x="1571625" y="6380113"/>
            <a:ext cx="4244759" cy="12382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Návaly, spánek, vaginální suchost, nálada.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Cíl - lepší kvalita života teď.</a:t>
            </a:r>
            <a:endParaRPr lang="en-US" sz="2100" dirty="0"/>
          </a:p>
        </p:txBody>
      </p:sp>
      <p:sp>
        <p:nvSpPr>
          <p:cNvPr id="8" name="Shape 6"/>
          <p:cNvSpPr/>
          <p:nvPr/>
        </p:nvSpPr>
        <p:spPr>
          <a:xfrm>
            <a:off x="6654775" y="4762500"/>
            <a:ext cx="4978375" cy="3246388"/>
          </a:xfrm>
          <a:prstGeom prst="rect">
            <a:avLst/>
          </a:prstGeom>
          <a:solidFill>
            <a:srgbClr val="FFFFFF"/>
          </a:solidFill>
          <a:ln w="9525">
            <a:solidFill>
              <a:srgbClr val="CDB3DC"/>
            </a:solidFill>
            <a:prstDash val="solid"/>
          </a:ln>
        </p:spPr>
      </p:sp>
      <p:sp>
        <p:nvSpPr>
          <p:cNvPr id="9" name="Text 7"/>
          <p:cNvSpPr/>
          <p:nvPr/>
        </p:nvSpPr>
        <p:spPr>
          <a:xfrm>
            <a:off x="7083400" y="5191125"/>
            <a:ext cx="42447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NEMOCÍ</a:t>
            </a:r>
            <a:endParaRPr lang="en-US" sz="1650" dirty="0"/>
          </a:p>
        </p:txBody>
      </p:sp>
      <p:sp>
        <p:nvSpPr>
          <p:cNvPr id="10" name="Text 8"/>
          <p:cNvSpPr/>
          <p:nvPr/>
        </p:nvSpPr>
        <p:spPr>
          <a:xfrm>
            <a:off x="7083400" y="5778178"/>
            <a:ext cx="4533238"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Vliv na zdraví v letech</a:t>
            </a:r>
            <a:endParaRPr lang="en-US" sz="2700" dirty="0"/>
          </a:p>
        </p:txBody>
      </p:sp>
      <p:sp>
        <p:nvSpPr>
          <p:cNvPr id="11" name="Text 9"/>
          <p:cNvSpPr/>
          <p:nvPr/>
        </p:nvSpPr>
        <p:spPr>
          <a:xfrm>
            <a:off x="7083400" y="6380113"/>
            <a:ext cx="4244759" cy="12382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Srdce, metabolismus, kosti, svaly, mozek.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Cíl - více let ve zdraví.</a:t>
            </a:r>
            <a:endParaRPr lang="en-US" sz="2100" dirty="0"/>
          </a:p>
        </p:txBody>
      </p:sp>
      <p:sp>
        <p:nvSpPr>
          <p:cNvPr id="12" name="Shape 10"/>
          <p:cNvSpPr/>
          <p:nvPr/>
        </p:nvSpPr>
        <p:spPr>
          <a:xfrm>
            <a:off x="12166550" y="4762500"/>
            <a:ext cx="4978450" cy="3246388"/>
          </a:xfrm>
          <a:prstGeom prst="rect">
            <a:avLst/>
          </a:prstGeom>
          <a:solidFill>
            <a:srgbClr val="FFFFFF"/>
          </a:solidFill>
          <a:ln w="9525">
            <a:solidFill>
              <a:srgbClr val="CDB3DC"/>
            </a:solidFill>
            <a:prstDash val="solid"/>
          </a:ln>
        </p:spPr>
      </p:sp>
      <p:sp>
        <p:nvSpPr>
          <p:cNvPr id="13" name="Text 11"/>
          <p:cNvSpPr/>
          <p:nvPr/>
        </p:nvSpPr>
        <p:spPr>
          <a:xfrm>
            <a:off x="12595175" y="5191125"/>
            <a:ext cx="424483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PODPORA ZMĚNY CHOVÁNÍ</a:t>
            </a:r>
            <a:endParaRPr lang="en-US" sz="1650" dirty="0"/>
          </a:p>
        </p:txBody>
      </p:sp>
      <p:sp>
        <p:nvSpPr>
          <p:cNvPr id="14" name="Text 12"/>
          <p:cNvSpPr/>
          <p:nvPr/>
        </p:nvSpPr>
        <p:spPr>
          <a:xfrm>
            <a:off x="12595175" y="5778178"/>
            <a:ext cx="453332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Doporučení do praxe</a:t>
            </a:r>
            <a:endParaRPr lang="en-US" sz="2700" dirty="0"/>
          </a:p>
        </p:txBody>
      </p:sp>
      <p:sp>
        <p:nvSpPr>
          <p:cNvPr id="15" name="Text 13"/>
          <p:cNvSpPr/>
          <p:nvPr/>
        </p:nvSpPr>
        <p:spPr>
          <a:xfrm>
            <a:off x="12595175" y="6380113"/>
            <a:ext cx="4244836" cy="12382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Návyky, prostředí, motivace, plánování.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Cíl - změnu skutečně udržet.</a:t>
            </a:r>
            <a:endParaRPr lang="en-US" sz="2100" dirty="0"/>
          </a:p>
        </p:txBody>
      </p:sp>
      <p:sp>
        <p:nvSpPr>
          <p:cNvPr id="16" name="Text 1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84110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RÁMEC</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U každého tvrzení uvedena jistotu důkazů.</a:t>
            </a:r>
            <a:endParaRPr lang="en-US" sz="5550" dirty="0"/>
          </a:p>
        </p:txBody>
      </p:sp>
      <p:sp>
        <p:nvSpPr>
          <p:cNvPr id="4" name="Shape 2"/>
          <p:cNvSpPr/>
          <p:nvPr/>
        </p:nvSpPr>
        <p:spPr>
          <a:xfrm>
            <a:off x="1143000" y="5372100"/>
            <a:ext cx="16002000" cy="9525"/>
          </a:xfrm>
          <a:prstGeom prst="rect">
            <a:avLst/>
          </a:prstGeom>
          <a:solidFill>
            <a:srgbClr val="CDB3DC"/>
          </a:solidFill>
          <a:ln/>
        </p:spPr>
      </p:sp>
      <p:sp>
        <p:nvSpPr>
          <p:cNvPr id="5" name="Shape 3"/>
          <p:cNvSpPr/>
          <p:nvPr/>
        </p:nvSpPr>
        <p:spPr>
          <a:xfrm>
            <a:off x="1143000" y="4476750"/>
            <a:ext cx="685800" cy="685800"/>
          </a:xfrm>
          <a:prstGeom prst="roundRect">
            <a:avLst>
              <a:gd name="adj" fmla="val 19444"/>
            </a:avLst>
          </a:prstGeom>
          <a:solidFill>
            <a:srgbClr val="6D2A8C"/>
          </a:solidFill>
          <a:ln/>
        </p:spPr>
      </p:sp>
      <p:sp>
        <p:nvSpPr>
          <p:cNvPr id="6" name="Text 4"/>
          <p:cNvSpPr/>
          <p:nvPr/>
        </p:nvSpPr>
        <p:spPr>
          <a:xfrm>
            <a:off x="1104900" y="4476750"/>
            <a:ext cx="762000" cy="723900"/>
          </a:xfrm>
          <a:prstGeom prst="rect">
            <a:avLst/>
          </a:prstGeom>
          <a:noFill/>
          <a:ln/>
        </p:spPr>
        <p:txBody>
          <a:bodyPr wrap="square" lIns="25400" tIns="25400" rIns="25400" bIns="25400" rtlCol="0" anchor="t">
            <a:normAutofit/>
          </a:bodyPr>
          <a:lstStyle/>
          <a:p>
            <a:pPr algn="ctr" indent="0" marL="0">
              <a:lnSpc>
                <a:spcPct val="90909"/>
              </a:lnSpc>
              <a:buNone/>
            </a:pPr>
            <a:r>
              <a:rPr lang="en-US" sz="2550" dirty="0">
                <a:solidFill>
                  <a:srgbClr val="FFFFFF"/>
                </a:solidFill>
                <a:latin typeface="Geist Mono" pitchFamily="34" charset="0"/>
                <a:ea typeface="Geist Mono" pitchFamily="34" charset="-122"/>
                <a:cs typeface="Geist Mono" pitchFamily="34" charset="-120"/>
              </a:rPr>
              <a:t>A</a:t>
            </a:r>
            <a:endParaRPr lang="en-US" sz="2550" dirty="0"/>
          </a:p>
        </p:txBody>
      </p:sp>
      <p:sp>
        <p:nvSpPr>
          <p:cNvPr id="7" name="Text 5"/>
          <p:cNvSpPr/>
          <p:nvPr/>
        </p:nvSpPr>
        <p:spPr>
          <a:xfrm>
            <a:off x="2476500" y="4636740"/>
            <a:ext cx="4819650" cy="403845"/>
          </a:xfrm>
          <a:prstGeom prst="rect">
            <a:avLst/>
          </a:prstGeom>
          <a:noFill/>
          <a:ln/>
        </p:spPr>
        <p:txBody>
          <a:bodyPr wrap="square" lIns="25400" tIns="25400" rIns="25400" bIns="25400" rtlCol="0" anchor="t">
            <a:normAutofit/>
          </a:bodyPr>
          <a:lstStyle/>
          <a:p>
            <a:pPr algn="l" indent="0" marL="0">
              <a:lnSpc>
                <a:spcPct val="92530"/>
              </a:lnSpc>
              <a:buNone/>
            </a:pPr>
            <a:r>
              <a:rPr lang="en-US" sz="2400" dirty="0">
                <a:solidFill>
                  <a:srgbClr val="401252"/>
                </a:solidFill>
                <a:latin typeface="Geist" pitchFamily="34" charset="0"/>
                <a:ea typeface="Geist" pitchFamily="34" charset="-122"/>
                <a:cs typeface="Geist" pitchFamily="34" charset="-120"/>
              </a:rPr>
              <a:t>Vysoká jistota</a:t>
            </a:r>
            <a:endParaRPr lang="en-US" sz="2400" dirty="0"/>
          </a:p>
        </p:txBody>
      </p:sp>
      <p:sp>
        <p:nvSpPr>
          <p:cNvPr id="8" name="Text 6"/>
          <p:cNvSpPr/>
          <p:nvPr/>
        </p:nvSpPr>
        <p:spPr>
          <a:xfrm>
            <a:off x="7277100" y="4641056"/>
            <a:ext cx="1085469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Kvalitní a konzistentní důkazy.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Závěr je velmi spolehlivý.</a:t>
            </a:r>
            <a:endParaRPr lang="en-US" sz="1875" dirty="0"/>
          </a:p>
        </p:txBody>
      </p:sp>
      <p:sp>
        <p:nvSpPr>
          <p:cNvPr id="9" name="Shape 7"/>
          <p:cNvSpPr/>
          <p:nvPr/>
        </p:nvSpPr>
        <p:spPr>
          <a:xfrm>
            <a:off x="1143000" y="6657975"/>
            <a:ext cx="16002000" cy="9525"/>
          </a:xfrm>
          <a:prstGeom prst="rect">
            <a:avLst/>
          </a:prstGeom>
          <a:solidFill>
            <a:srgbClr val="CDB3DC"/>
          </a:solidFill>
          <a:ln/>
        </p:spPr>
      </p:sp>
      <p:sp>
        <p:nvSpPr>
          <p:cNvPr id="10" name="Shape 8"/>
          <p:cNvSpPr/>
          <p:nvPr/>
        </p:nvSpPr>
        <p:spPr>
          <a:xfrm>
            <a:off x="1143000" y="5762625"/>
            <a:ext cx="685800" cy="685800"/>
          </a:xfrm>
          <a:prstGeom prst="roundRect">
            <a:avLst>
              <a:gd name="adj" fmla="val 19444"/>
            </a:avLst>
          </a:prstGeom>
          <a:ln w="19050">
            <a:solidFill>
              <a:srgbClr val="6D2A8C"/>
            </a:solidFill>
            <a:prstDash val="solid"/>
          </a:ln>
        </p:spPr>
      </p:sp>
      <p:sp>
        <p:nvSpPr>
          <p:cNvPr id="11" name="Text 9"/>
          <p:cNvSpPr/>
          <p:nvPr/>
        </p:nvSpPr>
        <p:spPr>
          <a:xfrm>
            <a:off x="1123950" y="5781675"/>
            <a:ext cx="723900" cy="685800"/>
          </a:xfrm>
          <a:prstGeom prst="rect">
            <a:avLst/>
          </a:prstGeom>
          <a:noFill/>
          <a:ln/>
        </p:spPr>
        <p:txBody>
          <a:bodyPr wrap="square" lIns="25400" tIns="25400" rIns="25400" bIns="25400" rtlCol="0" anchor="t">
            <a:normAutofit/>
          </a:bodyPr>
          <a:lstStyle/>
          <a:p>
            <a:pPr algn="ctr" indent="0" marL="0">
              <a:lnSpc>
                <a:spcPct val="90909"/>
              </a:lnSpc>
              <a:buNone/>
            </a:pPr>
            <a:r>
              <a:rPr lang="en-US" sz="2550" dirty="0">
                <a:solidFill>
                  <a:srgbClr val="6D2A8C"/>
                </a:solidFill>
                <a:latin typeface="Geist Mono" pitchFamily="34" charset="0"/>
                <a:ea typeface="Geist Mono" pitchFamily="34" charset="-122"/>
                <a:cs typeface="Geist Mono" pitchFamily="34" charset="-120"/>
              </a:rPr>
              <a:t>B</a:t>
            </a:r>
            <a:endParaRPr lang="en-US" sz="2550" dirty="0"/>
          </a:p>
        </p:txBody>
      </p:sp>
      <p:sp>
        <p:nvSpPr>
          <p:cNvPr id="12" name="Text 10"/>
          <p:cNvSpPr/>
          <p:nvPr/>
        </p:nvSpPr>
        <p:spPr>
          <a:xfrm>
            <a:off x="2476500" y="5922615"/>
            <a:ext cx="4819650" cy="403845"/>
          </a:xfrm>
          <a:prstGeom prst="rect">
            <a:avLst/>
          </a:prstGeom>
          <a:noFill/>
          <a:ln/>
        </p:spPr>
        <p:txBody>
          <a:bodyPr wrap="square" lIns="25400" tIns="25400" rIns="25400" bIns="25400" rtlCol="0" anchor="t">
            <a:normAutofit/>
          </a:bodyPr>
          <a:lstStyle/>
          <a:p>
            <a:pPr algn="l" indent="0" marL="0">
              <a:lnSpc>
                <a:spcPct val="92530"/>
              </a:lnSpc>
              <a:buNone/>
            </a:pPr>
            <a:r>
              <a:rPr lang="en-US" sz="2400" dirty="0">
                <a:solidFill>
                  <a:srgbClr val="401252"/>
                </a:solidFill>
                <a:latin typeface="Geist" pitchFamily="34" charset="0"/>
                <a:ea typeface="Geist" pitchFamily="34" charset="-122"/>
                <a:cs typeface="Geist" pitchFamily="34" charset="-120"/>
              </a:rPr>
              <a:t>Střední jistota</a:t>
            </a:r>
            <a:endParaRPr lang="en-US" sz="2400" dirty="0"/>
          </a:p>
        </p:txBody>
      </p:sp>
      <p:sp>
        <p:nvSpPr>
          <p:cNvPr id="13" name="Text 11"/>
          <p:cNvSpPr/>
          <p:nvPr/>
        </p:nvSpPr>
        <p:spPr>
          <a:xfrm>
            <a:off x="7277100" y="5926931"/>
            <a:ext cx="1085469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Důkazy jsou přesvědčivé, ale mají určitá omezení.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Závěr je pravděpodobný.</a:t>
            </a:r>
            <a:endParaRPr lang="en-US" sz="1875" dirty="0"/>
          </a:p>
        </p:txBody>
      </p:sp>
      <p:sp>
        <p:nvSpPr>
          <p:cNvPr id="14" name="Shape 12"/>
          <p:cNvSpPr/>
          <p:nvPr/>
        </p:nvSpPr>
        <p:spPr>
          <a:xfrm>
            <a:off x="1143000" y="7943850"/>
            <a:ext cx="16002000" cy="9525"/>
          </a:xfrm>
          <a:prstGeom prst="rect">
            <a:avLst/>
          </a:prstGeom>
          <a:solidFill>
            <a:srgbClr val="CDB3DC"/>
          </a:solidFill>
          <a:ln/>
        </p:spPr>
      </p:sp>
      <p:sp>
        <p:nvSpPr>
          <p:cNvPr id="15" name="Shape 13"/>
          <p:cNvSpPr/>
          <p:nvPr/>
        </p:nvSpPr>
        <p:spPr>
          <a:xfrm>
            <a:off x="1143000" y="7048500"/>
            <a:ext cx="685800" cy="685800"/>
          </a:xfrm>
          <a:prstGeom prst="roundRect">
            <a:avLst>
              <a:gd name="adj" fmla="val 19444"/>
            </a:avLst>
          </a:prstGeom>
          <a:ln w="19050">
            <a:solidFill>
              <a:srgbClr val="6B4B7D"/>
            </a:solidFill>
            <a:prstDash val="dash"/>
          </a:ln>
        </p:spPr>
      </p:sp>
      <p:sp>
        <p:nvSpPr>
          <p:cNvPr id="16" name="Text 14"/>
          <p:cNvSpPr/>
          <p:nvPr/>
        </p:nvSpPr>
        <p:spPr>
          <a:xfrm>
            <a:off x="1123950" y="7067550"/>
            <a:ext cx="723900" cy="685800"/>
          </a:xfrm>
          <a:prstGeom prst="rect">
            <a:avLst/>
          </a:prstGeom>
          <a:noFill/>
          <a:ln/>
        </p:spPr>
        <p:txBody>
          <a:bodyPr wrap="square" lIns="25400" tIns="25400" rIns="25400" bIns="25400" rtlCol="0" anchor="t">
            <a:normAutofit/>
          </a:bodyPr>
          <a:lstStyle/>
          <a:p>
            <a:pPr algn="ctr" indent="0" marL="0">
              <a:lnSpc>
                <a:spcPct val="90909"/>
              </a:lnSpc>
              <a:buNone/>
            </a:pPr>
            <a:r>
              <a:rPr lang="en-US" sz="2550" dirty="0">
                <a:solidFill>
                  <a:srgbClr val="6B4B7D"/>
                </a:solidFill>
                <a:latin typeface="Geist Mono" pitchFamily="34" charset="0"/>
                <a:ea typeface="Geist Mono" pitchFamily="34" charset="-122"/>
                <a:cs typeface="Geist Mono" pitchFamily="34" charset="-120"/>
              </a:rPr>
              <a:t>C</a:t>
            </a:r>
            <a:endParaRPr lang="en-US" sz="2550" dirty="0"/>
          </a:p>
        </p:txBody>
      </p:sp>
      <p:sp>
        <p:nvSpPr>
          <p:cNvPr id="17" name="Text 15"/>
          <p:cNvSpPr/>
          <p:nvPr/>
        </p:nvSpPr>
        <p:spPr>
          <a:xfrm>
            <a:off x="2476500" y="7208490"/>
            <a:ext cx="4819650" cy="403845"/>
          </a:xfrm>
          <a:prstGeom prst="rect">
            <a:avLst/>
          </a:prstGeom>
          <a:noFill/>
          <a:ln/>
        </p:spPr>
        <p:txBody>
          <a:bodyPr wrap="square" lIns="25400" tIns="25400" rIns="25400" bIns="25400" rtlCol="0" anchor="t">
            <a:normAutofit/>
          </a:bodyPr>
          <a:lstStyle/>
          <a:p>
            <a:pPr algn="l" indent="0" marL="0">
              <a:lnSpc>
                <a:spcPct val="92530"/>
              </a:lnSpc>
              <a:buNone/>
            </a:pPr>
            <a:r>
              <a:rPr lang="en-US" sz="2400" dirty="0">
                <a:solidFill>
                  <a:srgbClr val="6B4B7D"/>
                </a:solidFill>
                <a:latin typeface="Geist" pitchFamily="34" charset="0"/>
                <a:ea typeface="Geist" pitchFamily="34" charset="-122"/>
                <a:cs typeface="Geist" pitchFamily="34" charset="-120"/>
              </a:rPr>
              <a:t>Nízká / velmi nízká jistota</a:t>
            </a:r>
            <a:endParaRPr lang="en-US" sz="2400" dirty="0"/>
          </a:p>
        </p:txBody>
      </p:sp>
      <p:sp>
        <p:nvSpPr>
          <p:cNvPr id="18" name="Text 16"/>
          <p:cNvSpPr/>
          <p:nvPr/>
        </p:nvSpPr>
        <p:spPr>
          <a:xfrm>
            <a:off x="7277100" y="7212806"/>
            <a:ext cx="1085469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Důkazy jsou omezené, nepřesné nebo nekonzistentní.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Závěr zůstává nejistý.</a:t>
            </a:r>
            <a:endParaRPr lang="en-US" sz="1875" dirty="0"/>
          </a:p>
        </p:txBody>
      </p:sp>
      <p:sp>
        <p:nvSpPr>
          <p:cNvPr id="19" name="Shape 17"/>
          <p:cNvSpPr/>
          <p:nvPr/>
        </p:nvSpPr>
        <p:spPr>
          <a:xfrm>
            <a:off x="1143000" y="8334375"/>
            <a:ext cx="685800" cy="685800"/>
          </a:xfrm>
          <a:prstGeom prst="roundRect">
            <a:avLst>
              <a:gd name="adj" fmla="val 19444"/>
            </a:avLst>
          </a:prstGeom>
          <a:solidFill>
            <a:srgbClr val="F4ECFA"/>
          </a:solidFill>
          <a:ln/>
        </p:spPr>
      </p:sp>
      <p:sp>
        <p:nvSpPr>
          <p:cNvPr id="20" name="Text 18"/>
          <p:cNvSpPr/>
          <p:nvPr/>
        </p:nvSpPr>
        <p:spPr>
          <a:xfrm>
            <a:off x="1104900" y="8334375"/>
            <a:ext cx="762000" cy="723900"/>
          </a:xfrm>
          <a:prstGeom prst="rect">
            <a:avLst/>
          </a:prstGeom>
          <a:noFill/>
          <a:ln/>
        </p:spPr>
        <p:txBody>
          <a:bodyPr wrap="square" lIns="25400" tIns="25400" rIns="25400" bIns="25400" rtlCol="0" anchor="t">
            <a:normAutofit/>
          </a:bodyPr>
          <a:lstStyle/>
          <a:p>
            <a:pPr algn="ctr" indent="0" marL="0">
              <a:lnSpc>
                <a:spcPct val="90909"/>
              </a:lnSpc>
              <a:buNone/>
            </a:pPr>
            <a:r>
              <a:rPr lang="en-US" sz="2550" dirty="0">
                <a:solidFill>
                  <a:srgbClr val="401252"/>
                </a:solidFill>
                <a:latin typeface="Geist Mono" pitchFamily="34" charset="0"/>
                <a:ea typeface="Geist Mono" pitchFamily="34" charset="-122"/>
                <a:cs typeface="Geist Mono" pitchFamily="34" charset="-120"/>
              </a:rPr>
              <a:t>P</a:t>
            </a:r>
            <a:endParaRPr lang="en-US" sz="2550" dirty="0"/>
          </a:p>
        </p:txBody>
      </p:sp>
      <p:sp>
        <p:nvSpPr>
          <p:cNvPr id="21" name="Text 19"/>
          <p:cNvSpPr/>
          <p:nvPr/>
        </p:nvSpPr>
        <p:spPr>
          <a:xfrm>
            <a:off x="2476500" y="8494365"/>
            <a:ext cx="4819650" cy="403845"/>
          </a:xfrm>
          <a:prstGeom prst="rect">
            <a:avLst/>
          </a:prstGeom>
          <a:noFill/>
          <a:ln/>
        </p:spPr>
        <p:txBody>
          <a:bodyPr wrap="square" lIns="25400" tIns="25400" rIns="25400" bIns="25400" rtlCol="0" anchor="t">
            <a:normAutofit/>
          </a:bodyPr>
          <a:lstStyle/>
          <a:p>
            <a:pPr algn="l" indent="0" marL="0">
              <a:lnSpc>
                <a:spcPct val="92530"/>
              </a:lnSpc>
              <a:buNone/>
            </a:pPr>
            <a:r>
              <a:rPr lang="en-US" sz="2400" i="1" dirty="0">
                <a:solidFill>
                  <a:srgbClr val="401252"/>
                </a:solidFill>
                <a:latin typeface="Geist" pitchFamily="34" charset="0"/>
                <a:ea typeface="Geist" pitchFamily="34" charset="-122"/>
                <a:cs typeface="Geist" pitchFamily="34" charset="-120"/>
              </a:rPr>
              <a:t>Praktický nástroj</a:t>
            </a:r>
            <a:endParaRPr lang="en-US" sz="2400" dirty="0"/>
          </a:p>
        </p:txBody>
      </p:sp>
      <p:sp>
        <p:nvSpPr>
          <p:cNvPr id="22" name="Text 20"/>
          <p:cNvSpPr/>
          <p:nvPr/>
        </p:nvSpPr>
        <p:spPr>
          <a:xfrm>
            <a:off x="7277100" y="8498681"/>
            <a:ext cx="1085469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Pomůcka pro zavedení doporučení do praxe. </a:t>
            </a:r>
            <a:pPr algn="l" indent="0" marL="0">
              <a:lnSpc>
                <a:spcPct val="125000"/>
              </a:lnSpc>
              <a:buNone/>
            </a:pPr>
            <a:r>
              <a:rPr lang="en-US" sz="1875" i="1" dirty="0">
                <a:solidFill>
                  <a:srgbClr val="6B4B7D"/>
                </a:solidFill>
                <a:latin typeface="Inter" pitchFamily="34" charset="0"/>
                <a:ea typeface="Inter" pitchFamily="34" charset="-122"/>
                <a:cs typeface="Inter" pitchFamily="34" charset="-120"/>
              </a:rPr>
              <a:t>Nejde o hodnocení důkazů.</a:t>
            </a:r>
            <a:endParaRPr lang="en-US" sz="1875" dirty="0"/>
          </a:p>
        </p:txBody>
      </p:sp>
      <p:sp>
        <p:nvSpPr>
          <p:cNvPr id="23" name="Text 21"/>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2000">
                <a:srgbClr val="401252">
                  <a:alpha val="88000"/>
                </a:srgbClr>
              </a:gs>
              <a:gs pos="68000">
                <a:srgbClr val="401252">
                  <a:alpha val="70000"/>
                </a:srgbClr>
              </a:gs>
              <a:gs pos="85000">
                <a:srgbClr val="401252">
                  <a:alpha val="22000"/>
                </a:srgbClr>
              </a:gs>
              <a:gs pos="100000">
                <a:srgbClr val="401252">
                  <a:alpha val="4000"/>
                </a:srgbClr>
              </a:gs>
            </a:gsLst>
            <a:lin ang="0" scaled="0"/>
          </a:gradFill>
          <a:ln/>
        </p:spPr>
      </p:sp>
      <p:sp>
        <p:nvSpPr>
          <p:cNvPr id="4" name="Text 1"/>
          <p:cNvSpPr/>
          <p:nvPr/>
        </p:nvSpPr>
        <p:spPr>
          <a:xfrm>
            <a:off x="1143000" y="1333500"/>
            <a:ext cx="50419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ČÁST PRVNÍ · FYZIOLOGIE PŘECHODU</a:t>
            </a:r>
            <a:endParaRPr lang="en-US" sz="1650" dirty="0"/>
          </a:p>
        </p:txBody>
      </p:sp>
      <p:sp>
        <p:nvSpPr>
          <p:cNvPr id="5" name="Text 2"/>
          <p:cNvSpPr/>
          <p:nvPr/>
        </p:nvSpPr>
        <p:spPr>
          <a:xfrm>
            <a:off x="1143000" y="4926509"/>
            <a:ext cx="14039850" cy="1067916"/>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Co se vlastně v těle děje?</a:t>
            </a:r>
            <a:endParaRPr lang="en-US" sz="7650" dirty="0"/>
          </a:p>
        </p:txBody>
      </p:sp>
      <p:sp>
        <p:nvSpPr>
          <p:cNvPr id="6" name="Text 3"/>
          <p:cNvSpPr/>
          <p:nvPr/>
        </p:nvSpPr>
        <p:spPr>
          <a:xfrm>
            <a:off x="1143000" y="6375425"/>
            <a:ext cx="1177290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Biologické změny jsou reálné.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Střední věk je ale zároveň obdobím, kdy lze ovlivnit další trajektorii zdraví.</a:t>
            </a:r>
            <a:endParaRPr lang="en-US" sz="2400" dirty="0"/>
          </a:p>
        </p:txBody>
      </p:sp>
      <p:sp>
        <p:nvSpPr>
          <p:cNvPr id="7"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05</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53869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STAGING STRAW+10</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Menopauza je konkrétní bod v čase. Přechod trvá několik let.</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STAGING PODLE KLINICKÝCH KRITÉRIÍ</a:t>
            </a:r>
            <a:endParaRPr lang="en-US" sz="1350" dirty="0"/>
          </a:p>
        </p:txBody>
      </p:sp>
      <p:sp>
        <p:nvSpPr>
          <p:cNvPr id="7" name="Shape 5"/>
          <p:cNvSpPr/>
          <p:nvPr/>
        </p:nvSpPr>
        <p:spPr>
          <a:xfrm>
            <a:off x="1143000" y="5991225"/>
            <a:ext cx="4101554" cy="762000"/>
          </a:xfrm>
          <a:prstGeom prst="roundRect">
            <a:avLst>
              <a:gd name="adj" fmla="val 7500"/>
            </a:avLst>
          </a:prstGeom>
          <a:solidFill>
            <a:srgbClr val="6C2C8B">
              <a:alpha val="25000"/>
            </a:srgbClr>
          </a:solidFill>
          <a:ln/>
        </p:spPr>
      </p:sp>
      <p:sp>
        <p:nvSpPr>
          <p:cNvPr id="8" name="Text 6"/>
          <p:cNvSpPr/>
          <p:nvPr/>
        </p:nvSpPr>
        <p:spPr>
          <a:xfrm>
            <a:off x="1390650" y="6210226"/>
            <a:ext cx="1828428"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POZDNÍ REPRO</a:t>
            </a:r>
            <a:endParaRPr lang="en-US" sz="1575" dirty="0"/>
          </a:p>
        </p:txBody>
      </p:sp>
      <p:sp>
        <p:nvSpPr>
          <p:cNvPr id="9" name="Shape 7"/>
          <p:cNvSpPr/>
          <p:nvPr/>
        </p:nvSpPr>
        <p:spPr>
          <a:xfrm>
            <a:off x="5320754" y="5762625"/>
            <a:ext cx="2682180" cy="990600"/>
          </a:xfrm>
          <a:prstGeom prst="roundRect">
            <a:avLst>
              <a:gd name="adj" fmla="val 5769"/>
            </a:avLst>
          </a:prstGeom>
          <a:solidFill>
            <a:srgbClr val="6E2A8B">
              <a:alpha val="50000"/>
            </a:srgbClr>
          </a:solidFill>
          <a:ln/>
        </p:spPr>
      </p:sp>
      <p:sp>
        <p:nvSpPr>
          <p:cNvPr id="10" name="Text 8"/>
          <p:cNvSpPr/>
          <p:nvPr/>
        </p:nvSpPr>
        <p:spPr>
          <a:xfrm>
            <a:off x="5511254" y="6103590"/>
            <a:ext cx="146685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401252"/>
                </a:solidFill>
                <a:latin typeface="Geist Mono" pitchFamily="34" charset="0"/>
                <a:ea typeface="Geist Mono" pitchFamily="34" charset="-122"/>
                <a:cs typeface="Geist Mono" pitchFamily="34" charset="-120"/>
              </a:rPr>
              <a:t>ČASNÁ PERI</a:t>
            </a:r>
            <a:endParaRPr lang="en-US" sz="1500" dirty="0"/>
          </a:p>
        </p:txBody>
      </p:sp>
      <p:sp>
        <p:nvSpPr>
          <p:cNvPr id="11" name="Shape 9"/>
          <p:cNvSpPr/>
          <p:nvPr/>
        </p:nvSpPr>
        <p:spPr>
          <a:xfrm>
            <a:off x="8079135" y="5572125"/>
            <a:ext cx="1735931" cy="1181100"/>
          </a:xfrm>
          <a:prstGeom prst="roundRect">
            <a:avLst>
              <a:gd name="adj" fmla="val 4839"/>
            </a:avLst>
          </a:prstGeom>
          <a:solidFill>
            <a:srgbClr val="6D2A8C"/>
          </a:solidFill>
          <a:ln/>
        </p:spPr>
      </p:sp>
      <p:sp>
        <p:nvSpPr>
          <p:cNvPr id="12" name="Text 10"/>
          <p:cNvSpPr/>
          <p:nvPr/>
        </p:nvSpPr>
        <p:spPr>
          <a:xfrm>
            <a:off x="8491761" y="5924550"/>
            <a:ext cx="910605" cy="514350"/>
          </a:xfrm>
          <a:prstGeom prst="rect">
            <a:avLst/>
          </a:prstGeom>
          <a:noFill/>
          <a:ln/>
        </p:spPr>
        <p:txBody>
          <a:bodyPr wrap="none" lIns="25400" tIns="25400" rIns="25400" bIns="25400" rtlCol="0" anchor="t">
            <a:normAutofit/>
          </a:bodyPr>
          <a:lstStyle/>
          <a:p>
            <a:pPr algn="ctr" indent="0" marL="0">
              <a:lnSpc>
                <a:spcPct val="96154"/>
              </a:lnSpc>
              <a:buNone/>
            </a:pPr>
            <a:r>
              <a:rPr lang="en-US" sz="1500" spc="195" kern="0" dirty="0">
                <a:solidFill>
                  <a:srgbClr val="FFFFFF"/>
                </a:solidFill>
                <a:latin typeface="Geist Mono" pitchFamily="34" charset="0"/>
                <a:ea typeface="Geist Mono" pitchFamily="34" charset="-122"/>
                <a:cs typeface="Geist Mono" pitchFamily="34" charset="-120"/>
              </a:rPr>
              <a:t>POZDNÍ PERI</a:t>
            </a:r>
            <a:endParaRPr lang="en-US" sz="1500" dirty="0"/>
          </a:p>
        </p:txBody>
      </p:sp>
      <p:sp>
        <p:nvSpPr>
          <p:cNvPr id="13" name="Shape 11"/>
          <p:cNvSpPr/>
          <p:nvPr/>
        </p:nvSpPr>
        <p:spPr>
          <a:xfrm>
            <a:off x="9891266" y="5991225"/>
            <a:ext cx="7253734" cy="762000"/>
          </a:xfrm>
          <a:prstGeom prst="roundRect">
            <a:avLst>
              <a:gd name="adj" fmla="val 7500"/>
            </a:avLst>
          </a:prstGeom>
          <a:solidFill>
            <a:srgbClr val="6C2C8B">
              <a:alpha val="25000"/>
            </a:srgbClr>
          </a:solidFill>
          <a:ln/>
        </p:spPr>
      </p:sp>
      <p:sp>
        <p:nvSpPr>
          <p:cNvPr id="14" name="Text 12"/>
          <p:cNvSpPr/>
          <p:nvPr/>
        </p:nvSpPr>
        <p:spPr>
          <a:xfrm>
            <a:off x="10138916" y="6210226"/>
            <a:ext cx="197450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POSTMENOPAUZA</a:t>
            </a:r>
            <a:endParaRPr lang="en-US" sz="1575" dirty="0"/>
          </a:p>
        </p:txBody>
      </p:sp>
      <p:sp>
        <p:nvSpPr>
          <p:cNvPr id="15" name="Shape 13"/>
          <p:cNvSpPr/>
          <p:nvPr/>
        </p:nvSpPr>
        <p:spPr>
          <a:xfrm>
            <a:off x="1143000" y="6924675"/>
            <a:ext cx="16002000" cy="9525"/>
          </a:xfrm>
          <a:prstGeom prst="rect">
            <a:avLst/>
          </a:prstGeom>
          <a:solidFill>
            <a:srgbClr val="CDB3DC"/>
          </a:solidFill>
          <a:ln/>
        </p:spPr>
      </p:sp>
      <p:sp>
        <p:nvSpPr>
          <p:cNvPr id="16" name="Text 14"/>
          <p:cNvSpPr/>
          <p:nvPr/>
        </p:nvSpPr>
        <p:spPr>
          <a:xfrm>
            <a:off x="1143000" y="7162800"/>
            <a:ext cx="3904305"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Cyklus působí pravidelně, mění se ale jeho délka.</a:t>
            </a:r>
            <a:endParaRPr lang="en-US" sz="2100" dirty="0"/>
          </a:p>
        </p:txBody>
      </p:sp>
      <p:sp>
        <p:nvSpPr>
          <p:cNvPr id="17" name="Text 15"/>
          <p:cNvSpPr/>
          <p:nvPr/>
        </p:nvSpPr>
        <p:spPr>
          <a:xfrm>
            <a:off x="5303490" y="7162800"/>
            <a:ext cx="2420889"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Přetrvávající rozdíl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 7 dní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v délce po sobě jdoucích cyklů.</a:t>
            </a:r>
            <a:endParaRPr lang="en-US" sz="2100" dirty="0"/>
          </a:p>
        </p:txBody>
      </p:sp>
      <p:sp>
        <p:nvSpPr>
          <p:cNvPr id="18" name="Text 16"/>
          <p:cNvSpPr/>
          <p:nvPr/>
        </p:nvSpPr>
        <p:spPr>
          <a:xfrm>
            <a:off x="8023771" y="7162800"/>
            <a:ext cx="1455390"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Pauza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60 a více dní</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a:t>
            </a:r>
            <a:endParaRPr lang="en-US" sz="2100" dirty="0"/>
          </a:p>
        </p:txBody>
      </p:sp>
      <p:sp>
        <p:nvSpPr>
          <p:cNvPr id="19" name="Text 17"/>
          <p:cNvSpPr/>
          <p:nvPr/>
        </p:nvSpPr>
        <p:spPr>
          <a:xfrm>
            <a:off x="9783961" y="7162800"/>
            <a:ext cx="7581717"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Menopauza je určena retrospektivně po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12 měsících amenorey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(po poslední menstruaci).</a:t>
            </a:r>
            <a:endParaRPr lang="en-US" sz="2100" dirty="0"/>
          </a:p>
        </p:txBody>
      </p:sp>
      <p:sp>
        <p:nvSpPr>
          <p:cNvPr id="20" name="Text 18"/>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Kritéria stagingu dle ESE Clinical Practice Guideline 2025 a NICE NG23, 2026</a:t>
            </a:r>
            <a:endParaRPr lang="en-US" sz="1575" dirty="0"/>
          </a:p>
        </p:txBody>
      </p:sp>
      <p:sp>
        <p:nvSpPr>
          <p:cNvPr id="21" name="Text 19"/>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011377"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FYZIOLOGIE PŘECHODU</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Nejde „jen“ o pokles hormonů. Jde o ztrátu předvídatelného hormonálního vzorce.</a:t>
            </a:r>
            <a:endParaRPr lang="en-US" sz="450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LONGITUDINÁLNÍ HORMONÁLNÍ DATA</a:t>
            </a:r>
            <a:endParaRPr lang="en-US" sz="1350" dirty="0"/>
          </a:p>
        </p:txBody>
      </p:sp>
      <p:sp>
        <p:nvSpPr>
          <p:cNvPr id="7" name="Text 5"/>
          <p:cNvSpPr/>
          <p:nvPr/>
        </p:nvSpPr>
        <p:spPr>
          <a:xfrm>
            <a:off x="1143000" y="3390900"/>
            <a:ext cx="804481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REPRODUKČNÍ OBDOBÍ</a:t>
            </a:r>
            <a:endParaRPr lang="en-US" sz="16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3882703"/>
            <a:ext cx="7810500" cy="4410075"/>
          </a:xfrm>
          <a:prstGeom prst="rect">
            <a:avLst/>
          </a:prstGeom>
        </p:spPr>
      </p:pic>
      <p:sp>
        <p:nvSpPr>
          <p:cNvPr id="9" name="Text 6"/>
          <p:cNvSpPr/>
          <p:nvPr/>
        </p:nvSpPr>
        <p:spPr>
          <a:xfrm>
            <a:off x="9334500" y="3390900"/>
            <a:ext cx="804481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PERIMENOPAUZA</a:t>
            </a:r>
            <a:endParaRPr lang="en-US" sz="1650" dirty="0"/>
          </a:p>
        </p:txBody>
      </p:sp>
      <p:pic>
        <p:nvPicPr>
          <p:cNvPr id="10" name="Image 1" descr="preencoded.png">    </p:cNvPr>
          <p:cNvPicPr>
            <a:picLocks noChangeAspect="1"/>
          </p:cNvPicPr>
          <p:nvPr/>
        </p:nvPicPr>
        <p:blipFill>
          <a:blip r:embed="rId3"/>
          <a:stretch>
            <a:fillRect/>
          </a:stretch>
        </p:blipFill>
        <p:spPr>
          <a:xfrm>
            <a:off x="9334500" y="3882703"/>
            <a:ext cx="7810500" cy="1857375"/>
          </a:xfrm>
          <a:prstGeom prst="rect">
            <a:avLst/>
          </a:prstGeom>
        </p:spPr>
      </p:pic>
      <p:pic>
        <p:nvPicPr>
          <p:cNvPr id="11" name="Image 2" descr="preencoded.png">    </p:cNvPr>
          <p:cNvPicPr>
            <a:picLocks noChangeAspect="1"/>
          </p:cNvPicPr>
          <p:nvPr/>
        </p:nvPicPr>
        <p:blipFill>
          <a:blip r:embed="rId4"/>
          <a:stretch>
            <a:fillRect/>
          </a:stretch>
        </p:blipFill>
        <p:spPr>
          <a:xfrm>
            <a:off x="9334500" y="5835328"/>
            <a:ext cx="7810500" cy="2305050"/>
          </a:xfrm>
          <a:prstGeom prst="rect">
            <a:avLst/>
          </a:prstGeom>
        </p:spPr>
      </p:pic>
      <p:pic>
        <p:nvPicPr>
          <p:cNvPr id="12"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3000" y="8570565"/>
            <a:ext cx="323850" cy="76200"/>
          </a:xfrm>
          <a:prstGeom prst="rect">
            <a:avLst/>
          </a:prstGeom>
        </p:spPr>
      </p:pic>
      <p:sp>
        <p:nvSpPr>
          <p:cNvPr id="13" name="Text 7"/>
          <p:cNvSpPr/>
          <p:nvPr/>
        </p:nvSpPr>
        <p:spPr>
          <a:xfrm>
            <a:off x="1552575" y="8482980"/>
            <a:ext cx="1207815" cy="285750"/>
          </a:xfrm>
          <a:prstGeom prst="rect">
            <a:avLst/>
          </a:prstGeom>
          <a:noFill/>
          <a:ln/>
        </p:spPr>
        <p:txBody>
          <a:bodyPr wrap="square" lIns="0" tIns="0" rIns="0" bIns="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estradiol</a:t>
            </a:r>
            <a:endParaRPr lang="en-US" sz="1500" dirty="0"/>
          </a:p>
        </p:txBody>
      </p:sp>
      <p:pic>
        <p:nvPicPr>
          <p:cNvPr id="14"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31840" y="8570565"/>
            <a:ext cx="323850" cy="76200"/>
          </a:xfrm>
          <a:prstGeom prst="rect">
            <a:avLst/>
          </a:prstGeom>
        </p:spPr>
      </p:pic>
      <p:sp>
        <p:nvSpPr>
          <p:cNvPr id="15" name="Text 8"/>
          <p:cNvSpPr/>
          <p:nvPr/>
        </p:nvSpPr>
        <p:spPr>
          <a:xfrm>
            <a:off x="3341415" y="8482980"/>
            <a:ext cx="1459260" cy="285750"/>
          </a:xfrm>
          <a:prstGeom prst="rect">
            <a:avLst/>
          </a:prstGeom>
          <a:noFill/>
          <a:ln/>
        </p:spPr>
        <p:txBody>
          <a:bodyPr wrap="square" lIns="0" tIns="0" rIns="0" bIns="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progesteron</a:t>
            </a:r>
            <a:endParaRPr lang="en-US" sz="1500" dirty="0"/>
          </a:p>
        </p:txBody>
      </p:sp>
      <p:pic>
        <p:nvPicPr>
          <p:cNvPr id="16" name="Image 5"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72124" y="8570565"/>
            <a:ext cx="323850" cy="76200"/>
          </a:xfrm>
          <a:prstGeom prst="rect">
            <a:avLst/>
          </a:prstGeom>
        </p:spPr>
      </p:pic>
      <p:sp>
        <p:nvSpPr>
          <p:cNvPr id="17" name="Text 9"/>
          <p:cNvSpPr/>
          <p:nvPr/>
        </p:nvSpPr>
        <p:spPr>
          <a:xfrm>
            <a:off x="5381699" y="8482980"/>
            <a:ext cx="453405" cy="285750"/>
          </a:xfrm>
          <a:prstGeom prst="rect">
            <a:avLst/>
          </a:prstGeom>
          <a:noFill/>
          <a:ln/>
        </p:spPr>
        <p:txBody>
          <a:bodyPr wrap="square" lIns="0" tIns="0" rIns="0" bIns="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FSH</a:t>
            </a:r>
            <a:endParaRPr lang="en-US" sz="1500" dirty="0"/>
          </a:p>
        </p:txBody>
      </p:sp>
      <p:pic>
        <p:nvPicPr>
          <p:cNvPr id="18" name="Image 6"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06554" y="8570565"/>
            <a:ext cx="323850" cy="76200"/>
          </a:xfrm>
          <a:prstGeom prst="rect">
            <a:avLst/>
          </a:prstGeom>
        </p:spPr>
      </p:pic>
      <p:sp>
        <p:nvSpPr>
          <p:cNvPr id="19" name="Text 10"/>
          <p:cNvSpPr/>
          <p:nvPr/>
        </p:nvSpPr>
        <p:spPr>
          <a:xfrm>
            <a:off x="6416129" y="8482980"/>
            <a:ext cx="327720" cy="285750"/>
          </a:xfrm>
          <a:prstGeom prst="rect">
            <a:avLst/>
          </a:prstGeom>
          <a:noFill/>
          <a:ln/>
        </p:spPr>
        <p:txBody>
          <a:bodyPr wrap="square" lIns="0" tIns="0" rIns="0" bIns="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LH</a:t>
            </a:r>
            <a:endParaRPr lang="en-US" sz="1500" dirty="0"/>
          </a:p>
        </p:txBody>
      </p:sp>
      <p:pic>
        <p:nvPicPr>
          <p:cNvPr id="20" name="Image 7"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915299" y="8570565"/>
            <a:ext cx="323850" cy="76200"/>
          </a:xfrm>
          <a:prstGeom prst="rect">
            <a:avLst/>
          </a:prstGeom>
        </p:spPr>
      </p:pic>
      <p:sp>
        <p:nvSpPr>
          <p:cNvPr id="21" name="Text 11"/>
          <p:cNvSpPr/>
          <p:nvPr/>
        </p:nvSpPr>
        <p:spPr>
          <a:xfrm>
            <a:off x="7324874" y="8482980"/>
            <a:ext cx="956370" cy="285750"/>
          </a:xfrm>
          <a:prstGeom prst="rect">
            <a:avLst/>
          </a:prstGeom>
          <a:noFill/>
          <a:ln/>
        </p:spPr>
        <p:txBody>
          <a:bodyPr wrap="square" lIns="0" tIns="0" rIns="0" bIns="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inhibin</a:t>
            </a:r>
            <a:endParaRPr lang="en-US" sz="1500" dirty="0"/>
          </a:p>
        </p:txBody>
      </p:sp>
      <p:sp>
        <p:nvSpPr>
          <p:cNvPr id="22" name="Text 12"/>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Jednorázové stanovení hormonů perimenopauzu obvykle nepotvrdí ani nevyloučí. Diagnóza je u žen především klinická. · Tvar křivek dle záznamu Hee J et al., Maturitas 1993;18:9</a:t>
            </a:r>
            <a:endParaRPr lang="en-US" sz="1575" dirty="0"/>
          </a:p>
        </p:txBody>
      </p:sp>
      <p:sp>
        <p:nvSpPr>
          <p:cNvPr id="23"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07</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532647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LÉČBA PŘÍZNAKŮ · AKTUÁLNÍ OBTÍŽE</a:t>
            </a:r>
            <a:endParaRPr lang="en-US" sz="1650" dirty="0"/>
          </a:p>
        </p:txBody>
      </p:sp>
      <p:sp>
        <p:nvSpPr>
          <p:cNvPr id="4" name="Text 2"/>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FFFFFF"/>
                </a:solidFill>
                <a:latin typeface="Geist" pitchFamily="34" charset="0"/>
                <a:ea typeface="Geist" pitchFamily="34" charset="-122"/>
                <a:cs typeface="Geist" pitchFamily="34" charset="-120"/>
              </a:rPr>
              <a:t>Návaly jsou běžné, ne výjimečné.</a:t>
            </a:r>
            <a:endParaRPr lang="en-US" sz="5550" dirty="0"/>
          </a:p>
        </p:txBody>
      </p:sp>
      <p:sp>
        <p:nvSpPr>
          <p:cNvPr id="5" name="Shape 3"/>
          <p:cNvSpPr/>
          <p:nvPr/>
        </p:nvSpPr>
        <p:spPr>
          <a:xfrm>
            <a:off x="14401800" y="1107728"/>
            <a:ext cx="381000" cy="381000"/>
          </a:xfrm>
          <a:prstGeom prst="roundRect">
            <a:avLst>
              <a:gd name="adj" fmla="val 22500"/>
            </a:avLst>
          </a:prstGeom>
          <a:ln w="19050">
            <a:solidFill>
              <a:srgbClr val="D8A6F5"/>
            </a:solidFill>
            <a:prstDash val="solid"/>
          </a:ln>
        </p:spPr>
      </p:sp>
      <p:sp>
        <p:nvSpPr>
          <p:cNvPr id="6" name="Text 4"/>
          <p:cNvSpPr/>
          <p:nvPr/>
        </p:nvSpPr>
        <p:spPr>
          <a:xfrm>
            <a:off x="14382750" y="112677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D8A6F5"/>
                </a:solidFill>
                <a:latin typeface="Geist Mono" pitchFamily="34" charset="0"/>
                <a:ea typeface="Geist Mono" pitchFamily="34" charset="-122"/>
                <a:cs typeface="Geist Mono" pitchFamily="34" charset="-120"/>
              </a:rPr>
              <a:t>B</a:t>
            </a:r>
            <a:endParaRPr lang="en-US" sz="1500" dirty="0"/>
          </a:p>
        </p:txBody>
      </p:sp>
      <p:sp>
        <p:nvSpPr>
          <p:cNvPr id="7" name="Text 5"/>
          <p:cNvSpPr/>
          <p:nvPr/>
        </p:nvSpPr>
        <p:spPr>
          <a:xfrm>
            <a:off x="14916150" y="106680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C9AEDA"/>
                </a:solidFill>
                <a:latin typeface="Geist Mono" pitchFamily="34" charset="0"/>
                <a:ea typeface="Geist Mono" pitchFamily="34" charset="-122"/>
                <a:cs typeface="Geist Mono" pitchFamily="34" charset="-120"/>
              </a:rPr>
              <a:t>PODÍL ZÁVISÍ NA KOHORTĚ A DEFINICI</a:t>
            </a:r>
            <a:endParaRPr lang="en-US" sz="1350" dirty="0"/>
          </a:p>
        </p:txBody>
      </p:sp>
      <p:sp>
        <p:nvSpPr>
          <p:cNvPr id="8" name="Shape 6"/>
          <p:cNvSpPr/>
          <p:nvPr/>
        </p:nvSpPr>
        <p:spPr>
          <a:xfrm>
            <a:off x="9705975" y="3429000"/>
            <a:ext cx="9525" cy="4897338"/>
          </a:xfrm>
          <a:prstGeom prst="rect">
            <a:avLst/>
          </a:prstGeom>
          <a:solidFill>
            <a:srgbClr val="D8A6F5">
              <a:alpha val="28000"/>
            </a:srgbClr>
          </a:solidFill>
          <a:ln/>
        </p:spPr>
      </p:sp>
      <p:sp>
        <p:nvSpPr>
          <p:cNvPr id="9" name="Text 7"/>
          <p:cNvSpPr/>
          <p:nvPr/>
        </p:nvSpPr>
        <p:spPr>
          <a:xfrm>
            <a:off x="1143000" y="3429000"/>
            <a:ext cx="8581073" cy="1545282"/>
          </a:xfrm>
          <a:prstGeom prst="rect">
            <a:avLst/>
          </a:prstGeom>
          <a:noFill/>
          <a:ln/>
        </p:spPr>
        <p:txBody>
          <a:bodyPr wrap="none" lIns="25400" tIns="25400" rIns="25400" bIns="25400" rtlCol="0" anchor="t">
            <a:normAutofit/>
          </a:bodyPr>
          <a:lstStyle/>
          <a:p>
            <a:pPr algn="l" indent="0" marL="0">
              <a:lnSpc>
                <a:spcPct val="66071"/>
              </a:lnSpc>
              <a:buNone/>
            </a:pPr>
            <a:r>
              <a:rPr lang="en-US" sz="13800" spc="-414" kern="0" dirty="0">
                <a:solidFill>
                  <a:srgbClr val="D8A6F5"/>
                </a:solidFill>
                <a:latin typeface="Geist" pitchFamily="34" charset="0"/>
                <a:ea typeface="Geist" pitchFamily="34" charset="-122"/>
                <a:cs typeface="Geist" pitchFamily="34" charset="-120"/>
              </a:rPr>
              <a:t>80</a:t>
            </a:r>
            <a:pPr algn="l" indent="0" marL="0">
              <a:lnSpc>
                <a:spcPct val="66071"/>
              </a:lnSpc>
              <a:buNone/>
            </a:pPr>
            <a:r>
              <a:rPr lang="en-US" sz="6072" spc="-414" kern="0" dirty="0">
                <a:solidFill>
                  <a:srgbClr val="D8A6F5"/>
                </a:solidFill>
                <a:latin typeface="Geist" pitchFamily="34" charset="0"/>
                <a:ea typeface="Geist" pitchFamily="34" charset="-122"/>
                <a:cs typeface="Geist" pitchFamily="34" charset="-120"/>
              </a:rPr>
              <a:t>%</a:t>
            </a:r>
            <a:endParaRPr lang="en-US" sz="13800" dirty="0"/>
          </a:p>
        </p:txBody>
      </p:sp>
      <p:sp>
        <p:nvSpPr>
          <p:cNvPr id="10" name="Text 8"/>
          <p:cNvSpPr/>
          <p:nvPr/>
        </p:nvSpPr>
        <p:spPr>
          <a:xfrm>
            <a:off x="1143000" y="5145732"/>
            <a:ext cx="7652385" cy="687586"/>
          </a:xfrm>
          <a:prstGeom prst="rect">
            <a:avLst/>
          </a:prstGeom>
          <a:noFill/>
          <a:ln/>
        </p:spPr>
        <p:txBody>
          <a:bodyPr wrap="square" lIns="25400" tIns="25400" rIns="25400" bIns="25400" rtlCol="0" anchor="t">
            <a:normAutofit/>
          </a:bodyPr>
          <a:lstStyle/>
          <a:p>
            <a:pPr algn="l" indent="0" marL="0">
              <a:lnSpc>
                <a:spcPct val="119649"/>
              </a:lnSpc>
              <a:buNone/>
            </a:pPr>
            <a:r>
              <a:rPr lang="en-US" sz="1650" spc="215" kern="0" dirty="0">
                <a:solidFill>
                  <a:srgbClr val="C9AEDA"/>
                </a:solidFill>
                <a:latin typeface="Geist Mono" pitchFamily="34" charset="0"/>
                <a:ea typeface="Geist Mono" pitchFamily="34" charset="-122"/>
                <a:cs typeface="Geist Mono" pitchFamily="34" charset="-120"/>
              </a:rPr>
              <a:t>ŽEN MÁ V POZDNÍ FÁZI PŘECHODU / ČASNÉ POSTMENOPAUZY NÁVALY</a:t>
            </a:r>
            <a:endParaRPr lang="en-US" sz="1650" dirty="0"/>
          </a:p>
        </p:txBody>
      </p:sp>
      <p:sp>
        <p:nvSpPr>
          <p:cNvPr id="11" name="Text 9"/>
          <p:cNvSpPr/>
          <p:nvPr/>
        </p:nvSpPr>
        <p:spPr>
          <a:xfrm>
            <a:off x="1143000" y="6214318"/>
            <a:ext cx="1787351"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D8A6F5"/>
                </a:solidFill>
                <a:latin typeface="Geist" pitchFamily="34" charset="0"/>
                <a:ea typeface="Geist" pitchFamily="34" charset="-122"/>
                <a:cs typeface="Geist" pitchFamily="34" charset="-120"/>
              </a:rPr>
              <a:t>7,4</a:t>
            </a:r>
            <a:endParaRPr lang="en-US" sz="3900" dirty="0"/>
          </a:p>
        </p:txBody>
      </p:sp>
      <p:sp>
        <p:nvSpPr>
          <p:cNvPr id="12" name="Text 10"/>
          <p:cNvSpPr/>
          <p:nvPr/>
        </p:nvSpPr>
        <p:spPr>
          <a:xfrm>
            <a:off x="3139901" y="6495306"/>
            <a:ext cx="5978196"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C9AEDA"/>
                </a:solidFill>
                <a:latin typeface="Inter" pitchFamily="34" charset="0"/>
                <a:ea typeface="Inter" pitchFamily="34" charset="-122"/>
                <a:cs typeface="Inter" pitchFamily="34" charset="-120"/>
              </a:rPr>
              <a:t>roku medián trvání, z toho </a:t>
            </a:r>
            <a:pPr algn="l" indent="0" marL="0">
              <a:lnSpc>
                <a:spcPct val="123529"/>
              </a:lnSpc>
              <a:buNone/>
            </a:pPr>
            <a:r>
              <a:rPr lang="en-US" sz="2100" b="1" dirty="0">
                <a:solidFill>
                  <a:srgbClr val="FFFFFF"/>
                </a:solidFill>
                <a:latin typeface="Inter" pitchFamily="34" charset="0"/>
                <a:ea typeface="Inter" pitchFamily="34" charset="-122"/>
                <a:cs typeface="Inter" pitchFamily="34" charset="-120"/>
              </a:rPr>
              <a:t>4,5 roku po poslední menstruaci </a:t>
            </a:r>
            <a:pPr algn="l" indent="0" marL="0">
              <a:lnSpc>
                <a:spcPct val="123529"/>
              </a:lnSpc>
              <a:buNone/>
            </a:pPr>
            <a:r>
              <a:rPr lang="en-US" sz="2100" dirty="0">
                <a:solidFill>
                  <a:srgbClr val="C9AEDA"/>
                </a:solidFill>
                <a:latin typeface="Inter" pitchFamily="34" charset="0"/>
                <a:ea typeface="Inter" pitchFamily="34" charset="-122"/>
                <a:cs typeface="Inter" pitchFamily="34" charset="-120"/>
              </a:rPr>
              <a:t>(≥ 6 dní / 2 týdny)</a:t>
            </a:r>
            <a:endParaRPr lang="en-US" sz="2100" dirty="0"/>
          </a:p>
        </p:txBody>
      </p:sp>
      <p:sp>
        <p:nvSpPr>
          <p:cNvPr id="13" name="Text 11"/>
          <p:cNvSpPr/>
          <p:nvPr/>
        </p:nvSpPr>
        <p:spPr>
          <a:xfrm>
            <a:off x="1143000" y="7524006"/>
            <a:ext cx="1787351"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D8A6F5"/>
                </a:solidFill>
                <a:latin typeface="Geist" pitchFamily="34" charset="0"/>
                <a:ea typeface="Geist" pitchFamily="34" charset="-122"/>
                <a:cs typeface="Geist" pitchFamily="34" charset="-120"/>
              </a:rPr>
              <a:t>20–30</a:t>
            </a:r>
            <a:pPr algn="l" indent="0" marL="0">
              <a:lnSpc>
                <a:spcPct val="123882"/>
              </a:lnSpc>
              <a:buNone/>
            </a:pPr>
            <a:r>
              <a:rPr lang="en-US" sz="1950" spc="-117" kern="0" dirty="0">
                <a:solidFill>
                  <a:srgbClr val="D8A6F5"/>
                </a:solidFill>
                <a:latin typeface="Geist" pitchFamily="34" charset="0"/>
                <a:ea typeface="Geist" pitchFamily="34" charset="-122"/>
                <a:cs typeface="Geist" pitchFamily="34" charset="-120"/>
              </a:rPr>
              <a:t>%</a:t>
            </a:r>
            <a:endParaRPr lang="en-US" sz="3900" dirty="0"/>
          </a:p>
        </p:txBody>
      </p:sp>
      <p:sp>
        <p:nvSpPr>
          <p:cNvPr id="14" name="Text 12"/>
          <p:cNvSpPr/>
          <p:nvPr/>
        </p:nvSpPr>
        <p:spPr>
          <a:xfrm>
            <a:off x="3139901" y="7804993"/>
            <a:ext cx="6384481"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C9AEDA"/>
                </a:solidFill>
                <a:latin typeface="Inter" pitchFamily="34" charset="0"/>
                <a:ea typeface="Inter" pitchFamily="34" charset="-122"/>
                <a:cs typeface="Inter" pitchFamily="34" charset="-120"/>
              </a:rPr>
              <a:t>žen kvůli nim vyhledá lékaře (pouze)</a:t>
            </a:r>
            <a:endParaRPr lang="en-US" sz="2100" dirty="0"/>
          </a:p>
        </p:txBody>
      </p:sp>
      <p:sp>
        <p:nvSpPr>
          <p:cNvPr id="15" name="Text 13"/>
          <p:cNvSpPr/>
          <p:nvPr/>
        </p:nvSpPr>
        <p:spPr>
          <a:xfrm>
            <a:off x="10477500" y="3429000"/>
            <a:ext cx="686752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C9AEDA"/>
                </a:solidFill>
                <a:latin typeface="Geist Mono" pitchFamily="34" charset="0"/>
                <a:ea typeface="Geist Mono" pitchFamily="34" charset="-122"/>
                <a:cs typeface="Geist Mono" pitchFamily="34" charset="-120"/>
              </a:rPr>
              <a:t>DALŠÍ ČASTÉ PROJEVY</a:t>
            </a:r>
            <a:endParaRPr lang="en-US" sz="1650" dirty="0"/>
          </a:p>
        </p:txBody>
      </p:sp>
      <p:sp>
        <p:nvSpPr>
          <p:cNvPr id="16" name="Text 14"/>
          <p:cNvSpPr/>
          <p:nvPr/>
        </p:nvSpPr>
        <p:spPr>
          <a:xfrm>
            <a:off x="10477500" y="4016053"/>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poruchy spánku (buzení, nízká kvalita / délka)</a:t>
            </a:r>
            <a:endParaRPr lang="en-US" sz="1875" dirty="0"/>
          </a:p>
        </p:txBody>
      </p:sp>
      <p:sp>
        <p:nvSpPr>
          <p:cNvPr id="17" name="Text 15"/>
          <p:cNvSpPr/>
          <p:nvPr/>
        </p:nvSpPr>
        <p:spPr>
          <a:xfrm>
            <a:off x="10477500" y="4525640"/>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výkyvy nálad, úzkost</a:t>
            </a:r>
            <a:endParaRPr lang="en-US" sz="1875" dirty="0"/>
          </a:p>
        </p:txBody>
      </p:sp>
      <p:sp>
        <p:nvSpPr>
          <p:cNvPr id="18" name="Text 16"/>
          <p:cNvSpPr/>
          <p:nvPr/>
        </p:nvSpPr>
        <p:spPr>
          <a:xfrm>
            <a:off x="10477500" y="5035228"/>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vaginální suchost, snížené libido</a:t>
            </a:r>
            <a:endParaRPr lang="en-US" sz="1875" dirty="0"/>
          </a:p>
        </p:txBody>
      </p:sp>
      <p:sp>
        <p:nvSpPr>
          <p:cNvPr id="19" name="Text 17"/>
          <p:cNvSpPr/>
          <p:nvPr/>
        </p:nvSpPr>
        <p:spPr>
          <a:xfrm>
            <a:off x="10477500" y="5544815"/>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bolesti kloubů</a:t>
            </a:r>
            <a:endParaRPr lang="en-US" sz="1875" dirty="0"/>
          </a:p>
        </p:txBody>
      </p:sp>
      <p:sp>
        <p:nvSpPr>
          <p:cNvPr id="20" name="Text 18"/>
          <p:cNvSpPr/>
          <p:nvPr/>
        </p:nvSpPr>
        <p:spPr>
          <a:xfrm>
            <a:off x="10477500" y="6054403"/>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zapomnětlivost, potíže se soustředěním („brain fog“)</a:t>
            </a:r>
            <a:endParaRPr lang="en-US" sz="1875" dirty="0"/>
          </a:p>
        </p:txBody>
      </p:sp>
      <p:sp>
        <p:nvSpPr>
          <p:cNvPr id="21" name="Text 19"/>
          <p:cNvSpPr/>
          <p:nvPr/>
        </p:nvSpPr>
        <p:spPr>
          <a:xfrm>
            <a:off x="10477500" y="6563990"/>
            <a:ext cx="733425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změny tělesného složení (nárůst viscerálního tuku)</a:t>
            </a:r>
            <a:endParaRPr lang="en-US" sz="1875" dirty="0"/>
          </a:p>
        </p:txBody>
      </p:sp>
      <p:sp>
        <p:nvSpPr>
          <p:cNvPr id="22" name="Text 20"/>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C9AEDA"/>
                </a:solidFill>
                <a:latin typeface="Geist Mono" pitchFamily="34" charset="0"/>
                <a:ea typeface="Geist Mono" pitchFamily="34" charset="-122"/>
                <a:cs typeface="Geist Mono" pitchFamily="34" charset="-120"/>
              </a:rPr>
              <a:t>SWAN, medián trvání návalů 7,4 roku · UpToDate, Menopausal hot flashes, 2026</a:t>
            </a:r>
            <a:endParaRPr lang="en-US" sz="1575" dirty="0"/>
          </a:p>
        </p:txBody>
      </p:sp>
      <p:sp>
        <p:nvSpPr>
          <p:cNvPr id="23" name="Text 21"/>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08</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18814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MÝTUS A FAKT</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Co se o přechodu říká a co o něm víme?</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KOHORTOVÁ DATA, ŠIROKÝ ROZPTYL</a:t>
            </a:r>
            <a:endParaRPr lang="en-US" sz="1350" dirty="0"/>
          </a:p>
        </p:txBody>
      </p:sp>
      <p:sp>
        <p:nvSpPr>
          <p:cNvPr id="7" name="Shape 5"/>
          <p:cNvSpPr/>
          <p:nvPr/>
        </p:nvSpPr>
        <p:spPr>
          <a:xfrm>
            <a:off x="1143000" y="4838700"/>
            <a:ext cx="7734300" cy="2554114"/>
          </a:xfrm>
          <a:prstGeom prst="rect">
            <a:avLst/>
          </a:prstGeom>
          <a:ln w="19050">
            <a:solidFill>
              <a:srgbClr val="CDB3DC"/>
            </a:solidFill>
            <a:prstDash val="dash"/>
          </a:ln>
        </p:spPr>
      </p:sp>
      <p:sp>
        <p:nvSpPr>
          <p:cNvPr id="8" name="Text 6"/>
          <p:cNvSpPr/>
          <p:nvPr/>
        </p:nvSpPr>
        <p:spPr>
          <a:xfrm>
            <a:off x="1657350" y="5372100"/>
            <a:ext cx="690676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MÝTUS</a:t>
            </a:r>
            <a:endParaRPr lang="en-US" sz="1650" dirty="0"/>
          </a:p>
        </p:txBody>
      </p:sp>
      <p:sp>
        <p:nvSpPr>
          <p:cNvPr id="9" name="Text 7"/>
          <p:cNvSpPr/>
          <p:nvPr/>
        </p:nvSpPr>
        <p:spPr>
          <a:xfrm>
            <a:off x="1657350" y="5997253"/>
            <a:ext cx="6906768" cy="900261"/>
          </a:xfrm>
          <a:prstGeom prst="rect">
            <a:avLst/>
          </a:prstGeom>
          <a:noFill/>
          <a:ln/>
        </p:spPr>
        <p:txBody>
          <a:bodyPr wrap="square" lIns="25400" tIns="25400" rIns="25400" bIns="25400" rtlCol="0" anchor="t">
            <a:normAutofit/>
          </a:bodyPr>
          <a:lstStyle/>
          <a:p>
            <a:pPr algn="l" indent="0" marL="0">
              <a:lnSpc>
                <a:spcPct val="120693"/>
              </a:lnSpc>
              <a:buNone/>
            </a:pPr>
            <a:r>
              <a:rPr lang="en-US" sz="2325" dirty="0">
                <a:solidFill>
                  <a:srgbClr val="6B4B7D"/>
                </a:solidFill>
                <a:latin typeface="Inter" pitchFamily="34" charset="0"/>
                <a:ea typeface="Inter" pitchFamily="34" charset="-122"/>
                <a:cs typeface="Inter" pitchFamily="34" charset="-120"/>
              </a:rPr>
              <a:t>„Přechod začíná, až když začne vynechávat menstruace.“</a:t>
            </a:r>
            <a:endParaRPr lang="en-US" sz="2325" dirty="0"/>
          </a:p>
        </p:txBody>
      </p:sp>
      <p:sp>
        <p:nvSpPr>
          <p:cNvPr id="10" name="Shape 8"/>
          <p:cNvSpPr/>
          <p:nvPr/>
        </p:nvSpPr>
        <p:spPr>
          <a:xfrm>
            <a:off x="9410700" y="4838700"/>
            <a:ext cx="7734300" cy="3378175"/>
          </a:xfrm>
          <a:prstGeom prst="rect">
            <a:avLst/>
          </a:prstGeom>
          <a:solidFill>
            <a:srgbClr val="F4ECFA"/>
          </a:solidFill>
          <a:ln/>
        </p:spPr>
      </p:sp>
      <p:sp>
        <p:nvSpPr>
          <p:cNvPr id="11" name="Text 9"/>
          <p:cNvSpPr/>
          <p:nvPr/>
        </p:nvSpPr>
        <p:spPr>
          <a:xfrm>
            <a:off x="9906000" y="5353050"/>
            <a:ext cx="694601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FAKT</a:t>
            </a:r>
            <a:endParaRPr lang="en-US" sz="1650" dirty="0"/>
          </a:p>
        </p:txBody>
      </p:sp>
      <p:sp>
        <p:nvSpPr>
          <p:cNvPr id="12" name="Text 10"/>
          <p:cNvSpPr/>
          <p:nvPr/>
        </p:nvSpPr>
        <p:spPr>
          <a:xfrm>
            <a:off x="9906000" y="5978203"/>
            <a:ext cx="6946011" cy="1762423"/>
          </a:xfrm>
          <a:prstGeom prst="rect">
            <a:avLst/>
          </a:prstGeom>
          <a:noFill/>
          <a:ln/>
        </p:spPr>
        <p:txBody>
          <a:bodyPr wrap="square" lIns="25400" tIns="25400" rIns="25400" bIns="25400" rtlCol="0" anchor="t">
            <a:normAutofit/>
          </a:bodyPr>
          <a:lstStyle/>
          <a:p>
            <a:pPr algn="l" indent="0" marL="0">
              <a:lnSpc>
                <a:spcPct val="120693"/>
              </a:lnSpc>
              <a:buNone/>
            </a:pPr>
            <a:r>
              <a:rPr lang="en-US" sz="2325" b="1" dirty="0">
                <a:solidFill>
                  <a:srgbClr val="401252"/>
                </a:solidFill>
                <a:latin typeface="Inter" pitchFamily="34" charset="0"/>
                <a:ea typeface="Inter" pitchFamily="34" charset="-122"/>
                <a:cs typeface="Inter" pitchFamily="34" charset="-120"/>
              </a:rPr>
              <a:t>Změny mohou začít dříve. </a:t>
            </a:r>
            <a:pPr algn="l" indent="0" marL="0">
              <a:lnSpc>
                <a:spcPct val="120693"/>
              </a:lnSpc>
              <a:buNone/>
            </a:pPr>
            <a:r>
              <a:rPr lang="en-US" sz="2325" dirty="0">
                <a:solidFill>
                  <a:srgbClr val="401252"/>
                </a:solidFill>
                <a:latin typeface="Inter" pitchFamily="34" charset="0"/>
                <a:ea typeface="Inter" pitchFamily="34" charset="-122"/>
                <a:cs typeface="Inter" pitchFamily="34" charset="-120"/>
              </a:rPr>
              <a:t>Menstruační cyklus se zprvu mění jen nenápadně a hormonální i některé symptomatické změny mohou předcházet výrazné nepravidelnosti.</a:t>
            </a:r>
            <a:endParaRPr lang="en-US" sz="2325" dirty="0"/>
          </a:p>
        </p:txBody>
      </p:sp>
      <p:sp>
        <p:nvSpPr>
          <p:cNvPr id="13" name="Text 11"/>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09</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567222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ODPOVĚĎ · CO SE VLASTNĚ DĚJE V TĚLE?</a:t>
            </a:r>
            <a:endParaRPr lang="en-US" sz="1650" dirty="0"/>
          </a:p>
        </p:txBody>
      </p:sp>
      <p:sp>
        <p:nvSpPr>
          <p:cNvPr id="4" name="Text 2"/>
          <p:cNvSpPr/>
          <p:nvPr/>
        </p:nvSpPr>
        <p:spPr>
          <a:xfrm>
            <a:off x="1143000" y="4354860"/>
            <a:ext cx="1471612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Nejde o náhlý hormonální pád. Jde o několik let proměny.</a:t>
            </a:r>
            <a:endParaRPr lang="en-US" sz="6300" dirty="0"/>
          </a:p>
        </p:txBody>
      </p:sp>
      <p:sp>
        <p:nvSpPr>
          <p:cNvPr id="5" name="Text 3"/>
          <p:cNvSpPr/>
          <p:nvPr/>
        </p:nvSpPr>
        <p:spPr>
          <a:xfrm>
            <a:off x="1143000" y="6502152"/>
            <a:ext cx="13735050"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Menopauza je konkrétní bod v čase, přechod ale trvá roky. Nejtěžší na ní nebývá „nízký estrogen“, ale jeho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nepředvídatelnost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 Je přechodným obdobím nestability, po kterém přichází stabilnější hormonální fáze.</a:t>
            </a:r>
            <a:endParaRPr lang="en-US" sz="2400" dirty="0"/>
          </a:p>
        </p:txBody>
      </p:sp>
      <p:sp>
        <p:nvSpPr>
          <p:cNvPr id="6"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10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8000">
                <a:srgbClr val="401252">
                  <a:alpha val="88000"/>
                </a:srgbClr>
              </a:gs>
              <a:gs pos="76000">
                <a:srgbClr val="401252">
                  <a:alpha val="70000"/>
                </a:srgbClr>
              </a:gs>
              <a:gs pos="90000">
                <a:srgbClr val="401252">
                  <a:alpha val="22000"/>
                </a:srgbClr>
              </a:gs>
              <a:gs pos="100000">
                <a:srgbClr val="401252">
                  <a:alpha val="4000"/>
                </a:srgbClr>
              </a:gs>
            </a:gsLst>
            <a:lin ang="0" scaled="0"/>
          </a:gradFill>
          <a:ln/>
        </p:spPr>
      </p:sp>
      <p:sp>
        <p:nvSpPr>
          <p:cNvPr id="4" name="Text 1"/>
          <p:cNvSpPr/>
          <p:nvPr/>
        </p:nvSpPr>
        <p:spPr>
          <a:xfrm>
            <a:off x="1143000" y="1333500"/>
            <a:ext cx="409660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ČÁST DRUHÁ · DŮSLEDKY ZMĚN</a:t>
            </a:r>
            <a:endParaRPr lang="en-US" sz="1650" dirty="0"/>
          </a:p>
        </p:txBody>
      </p:sp>
      <p:sp>
        <p:nvSpPr>
          <p:cNvPr id="5" name="Text 2"/>
          <p:cNvSpPr/>
          <p:nvPr/>
        </p:nvSpPr>
        <p:spPr>
          <a:xfrm>
            <a:off x="1143000" y="4189140"/>
            <a:ext cx="13735050" cy="2097732"/>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Proč na těchto změnách záleží z pohledu longevity?</a:t>
            </a:r>
            <a:endParaRPr lang="en-US" sz="7650" dirty="0"/>
          </a:p>
        </p:txBody>
      </p:sp>
      <p:sp>
        <p:nvSpPr>
          <p:cNvPr id="6" name="Text 3"/>
          <p:cNvSpPr/>
          <p:nvPr/>
        </p:nvSpPr>
        <p:spPr>
          <a:xfrm>
            <a:off x="1143000" y="6667872"/>
            <a:ext cx="12361545"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V období kolem menopauzy se některé změny kostí, lipidů a tělesného složení zrychlují nad rámec samotného stárnutí. Právě proto je střední věk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důležitým obdobím pro prevenci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a:t>
            </a:r>
            <a:endParaRPr lang="en-US" sz="2400" dirty="0"/>
          </a:p>
        </p:txBody>
      </p:sp>
      <p:sp>
        <p:nvSpPr>
          <p:cNvPr id="7"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11</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43575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PROČ TEĎ?</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Po menopauze žijete víc než třetinu života.</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POPULAČNÍ DATA, EUROSTAT</a:t>
            </a:r>
            <a:endParaRPr lang="en-US" sz="1350" dirty="0"/>
          </a:p>
        </p:txBody>
      </p:sp>
      <p:sp>
        <p:nvSpPr>
          <p:cNvPr id="7" name="Text 5"/>
          <p:cNvSpPr/>
          <p:nvPr/>
        </p:nvSpPr>
        <p:spPr>
          <a:xfrm>
            <a:off x="1143000" y="3733800"/>
            <a:ext cx="3951736" cy="1341090"/>
          </a:xfrm>
          <a:prstGeom prst="rect">
            <a:avLst/>
          </a:prstGeom>
          <a:noFill/>
          <a:ln/>
        </p:spPr>
        <p:txBody>
          <a:bodyPr wrap="none" lIns="25400" tIns="25400" rIns="25400" bIns="25400" rtlCol="0" anchor="t">
            <a:normAutofit/>
          </a:bodyPr>
          <a:lstStyle/>
          <a:p>
            <a:pPr algn="l" indent="0" marL="0">
              <a:lnSpc>
                <a:spcPct val="69091"/>
              </a:lnSpc>
              <a:buNone/>
            </a:pPr>
            <a:r>
              <a:rPr lang="en-US" sz="11400" spc="-342" kern="0" dirty="0">
                <a:solidFill>
                  <a:srgbClr val="6D2A8C"/>
                </a:solidFill>
                <a:latin typeface="Geist" pitchFamily="34" charset="0"/>
                <a:ea typeface="Geist" pitchFamily="34" charset="-122"/>
                <a:cs typeface="Geist" pitchFamily="34" charset="-120"/>
              </a:rPr>
              <a:t>34,1</a:t>
            </a:r>
            <a:pPr algn="l" indent="0" marL="0">
              <a:lnSpc>
                <a:spcPct val="69091"/>
              </a:lnSpc>
              <a:buNone/>
            </a:pPr>
            <a:r>
              <a:rPr lang="en-US" sz="5016" spc="-342" kern="0" dirty="0">
                <a:solidFill>
                  <a:srgbClr val="6D2A8C"/>
                </a:solidFill>
                <a:latin typeface="Geist" pitchFamily="34" charset="0"/>
                <a:ea typeface="Geist" pitchFamily="34" charset="-122"/>
                <a:cs typeface="Geist" pitchFamily="34" charset="-120"/>
              </a:rPr>
              <a:t>let</a:t>
            </a:r>
            <a:endParaRPr lang="en-US" sz="11400" dirty="0"/>
          </a:p>
        </p:txBody>
      </p:sp>
      <p:sp>
        <p:nvSpPr>
          <p:cNvPr id="8" name="Text 6"/>
          <p:cNvSpPr/>
          <p:nvPr/>
        </p:nvSpPr>
        <p:spPr>
          <a:xfrm>
            <a:off x="5192688" y="4652963"/>
            <a:ext cx="1231088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ZBÝVAJÍCÍ LIFE EXPECTANCY</a:t>
            </a:r>
            <a:endParaRPr lang="en-US" sz="1650" dirty="0"/>
          </a:p>
        </p:txBody>
      </p:sp>
      <p:sp>
        <p:nvSpPr>
          <p:cNvPr id="9" name="Text 7"/>
          <p:cNvSpPr/>
          <p:nvPr/>
        </p:nvSpPr>
        <p:spPr>
          <a:xfrm>
            <a:off x="5192688" y="5087615"/>
            <a:ext cx="12310882"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50" kern="0" dirty="0">
                <a:solidFill>
                  <a:srgbClr val="6B4B7D"/>
                </a:solidFill>
                <a:latin typeface="Geist Mono" pitchFamily="34" charset="0"/>
                <a:ea typeface="Geist Mono" pitchFamily="34" charset="-122"/>
                <a:cs typeface="Geist Mono" pitchFamily="34" charset="-120"/>
              </a:rPr>
              <a:t>ČESKÁ ŽENA, KTERÁ SE DOŽILA 50 LET</a:t>
            </a:r>
            <a:endParaRPr lang="en-US" sz="1500" dirty="0"/>
          </a:p>
        </p:txBody>
      </p:sp>
      <p:sp>
        <p:nvSpPr>
          <p:cNvPr id="10" name="Text 8"/>
          <p:cNvSpPr/>
          <p:nvPr/>
        </p:nvSpPr>
        <p:spPr>
          <a:xfrm>
            <a:off x="9272997" y="5848350"/>
            <a:ext cx="362392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MENOPAUZA 51,4 (MEDIÁN)</a:t>
            </a:r>
            <a:endParaRPr lang="en-US" sz="1650" dirty="0"/>
          </a:p>
        </p:txBody>
      </p:sp>
      <p:sp>
        <p:nvSpPr>
          <p:cNvPr id="11" name="Shape 9"/>
          <p:cNvSpPr/>
          <p:nvPr/>
        </p:nvSpPr>
        <p:spPr>
          <a:xfrm>
            <a:off x="1143000" y="6324600"/>
            <a:ext cx="9889182" cy="990600"/>
          </a:xfrm>
          <a:prstGeom prst="rect">
            <a:avLst/>
          </a:prstGeom>
          <a:solidFill>
            <a:srgbClr val="6C2C8B">
              <a:alpha val="25000"/>
            </a:srgbClr>
          </a:solidFill>
          <a:ln/>
        </p:spPr>
      </p:sp>
      <p:sp>
        <p:nvSpPr>
          <p:cNvPr id="12" name="Text 10"/>
          <p:cNvSpPr/>
          <p:nvPr/>
        </p:nvSpPr>
        <p:spPr>
          <a:xfrm>
            <a:off x="1428750" y="6665565"/>
            <a:ext cx="4583613"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401252"/>
                </a:solidFill>
                <a:latin typeface="Geist Mono" pitchFamily="34" charset="0"/>
                <a:ea typeface="Geist Mono" pitchFamily="34" charset="-122"/>
                <a:cs typeface="Geist Mono" pitchFamily="34" charset="-120"/>
              </a:rPr>
              <a:t>62,6 HEALTHY LIFE YEARS AT BIRTH</a:t>
            </a:r>
            <a:endParaRPr lang="en-US" sz="1500" dirty="0"/>
          </a:p>
        </p:txBody>
      </p:sp>
      <p:sp>
        <p:nvSpPr>
          <p:cNvPr id="13" name="Shape 11"/>
          <p:cNvSpPr/>
          <p:nvPr/>
        </p:nvSpPr>
        <p:spPr>
          <a:xfrm>
            <a:off x="11032182" y="6324600"/>
            <a:ext cx="3440385" cy="990600"/>
          </a:xfrm>
          <a:prstGeom prst="rect">
            <a:avLst/>
          </a:prstGeom>
          <a:solidFill>
            <a:srgbClr val="6D2A8C"/>
          </a:solidFill>
          <a:ln/>
        </p:spPr>
      </p:sp>
      <p:sp>
        <p:nvSpPr>
          <p:cNvPr id="14" name="Text 12"/>
          <p:cNvSpPr/>
          <p:nvPr/>
        </p:nvSpPr>
        <p:spPr>
          <a:xfrm>
            <a:off x="11279832" y="6665565"/>
            <a:ext cx="3007991"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FFFFFF"/>
                </a:solidFill>
                <a:latin typeface="Geist Mono" pitchFamily="34" charset="0"/>
                <a:ea typeface="Geist Mono" pitchFamily="34" charset="-122"/>
                <a:cs typeface="Geist Mono" pitchFamily="34" charset="-120"/>
              </a:rPr>
              <a:t>17,9 ROKU BEZ OMEZENÍ</a:t>
            </a:r>
            <a:endParaRPr lang="en-US" sz="1500" dirty="0"/>
          </a:p>
        </p:txBody>
      </p:sp>
      <p:sp>
        <p:nvSpPr>
          <p:cNvPr id="15" name="Shape 13"/>
          <p:cNvSpPr/>
          <p:nvPr/>
        </p:nvSpPr>
        <p:spPr>
          <a:xfrm>
            <a:off x="14472568" y="6324600"/>
            <a:ext cx="2672283" cy="990600"/>
          </a:xfrm>
          <a:prstGeom prst="rect">
            <a:avLst/>
          </a:prstGeom>
          <a:solidFill>
            <a:srgbClr val="D9C5E2"/>
          </a:solidFill>
          <a:ln/>
        </p:spPr>
      </p:sp>
      <p:sp>
        <p:nvSpPr>
          <p:cNvPr id="16" name="Shape 14"/>
          <p:cNvSpPr/>
          <p:nvPr/>
        </p:nvSpPr>
        <p:spPr>
          <a:xfrm>
            <a:off x="11032182" y="6210300"/>
            <a:ext cx="19050" cy="1219200"/>
          </a:xfrm>
          <a:prstGeom prst="rect">
            <a:avLst/>
          </a:prstGeom>
          <a:solidFill>
            <a:srgbClr val="401252"/>
          </a:solidFill>
          <a:ln/>
        </p:spPr>
      </p:sp>
      <p:sp>
        <p:nvSpPr>
          <p:cNvPr id="17" name="Text 15"/>
          <p:cNvSpPr/>
          <p:nvPr/>
        </p:nvSpPr>
        <p:spPr>
          <a:xfrm>
            <a:off x="1143000" y="7562850"/>
            <a:ext cx="17602200"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Naděje dožití žen v ČR je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83,2 roku</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Nejde jen o délku života. Jde o to, kolik z těchto let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prožijeme ve zdraví</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t>
            </a:r>
            <a:endParaRPr lang="en-US" sz="2250" dirty="0"/>
          </a:p>
        </p:txBody>
      </p:sp>
      <p:sp>
        <p:nvSpPr>
          <p:cNvPr id="18" name="Text 16"/>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Eurostat 2024, ČR</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12</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64798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MAPA</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Pět oblastí zdraví, které si zaslouží pozornost.</a:t>
            </a:r>
            <a:endParaRPr lang="en-US" sz="55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5" name="Shape 2"/>
          <p:cNvSpPr/>
          <p:nvPr/>
        </p:nvSpPr>
        <p:spPr>
          <a:xfrm>
            <a:off x="1143000" y="4610100"/>
            <a:ext cx="2667000" cy="2667000"/>
          </a:xfrm>
          <a:prstGeom prst="ellipse">
            <a:avLst/>
          </a:prstGeom>
          <a:solidFill>
            <a:srgbClr val="6D2A8C"/>
          </a:solidFill>
          <a:ln/>
        </p:spPr>
      </p:sp>
      <p:sp>
        <p:nvSpPr>
          <p:cNvPr id="6" name="Text 3"/>
          <p:cNvSpPr/>
          <p:nvPr/>
        </p:nvSpPr>
        <p:spPr>
          <a:xfrm>
            <a:off x="1439168" y="5715000"/>
            <a:ext cx="2282049" cy="495300"/>
          </a:xfrm>
          <a:prstGeom prst="rect">
            <a:avLst/>
          </a:prstGeom>
          <a:noFill/>
          <a:ln/>
        </p:spPr>
        <p:txBody>
          <a:bodyPr wrap="square" lIns="25400" tIns="25400" rIns="25400" bIns="25400" rtlCol="0" anchor="t">
            <a:normAutofit/>
          </a:bodyPr>
          <a:lstStyle/>
          <a:p>
            <a:pPr algn="l" indent="0" marL="0">
              <a:lnSpc>
                <a:spcPct val="92308"/>
              </a:lnSpc>
              <a:buNone/>
            </a:pPr>
            <a:r>
              <a:rPr lang="en-US" sz="3000" dirty="0">
                <a:solidFill>
                  <a:srgbClr val="FFFFFF"/>
                </a:solidFill>
                <a:latin typeface="Geist" pitchFamily="34" charset="0"/>
                <a:ea typeface="Geist" pitchFamily="34" charset="-122"/>
                <a:cs typeface="Geist" pitchFamily="34" charset="-120"/>
              </a:rPr>
              <a:t>Menopauza</a:t>
            </a:r>
            <a:endParaRPr lang="en-US" sz="3000" dirty="0"/>
          </a:p>
        </p:txBody>
      </p:sp>
      <p:sp>
        <p:nvSpPr>
          <p:cNvPr id="7" name="Text 4"/>
          <p:cNvSpPr/>
          <p:nvPr/>
        </p:nvSpPr>
        <p:spPr>
          <a:xfrm>
            <a:off x="5715000" y="3752850"/>
            <a:ext cx="3771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Srdce a cévy</a:t>
            </a:r>
            <a:endParaRPr lang="en-US" sz="2700" dirty="0"/>
          </a:p>
        </p:txBody>
      </p:sp>
      <p:sp>
        <p:nvSpPr>
          <p:cNvPr id="8" name="Text 5"/>
          <p:cNvSpPr/>
          <p:nvPr/>
        </p:nvSpPr>
        <p:spPr>
          <a:xfrm>
            <a:off x="9486900" y="3781425"/>
            <a:ext cx="8423910"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Lipidy, tlak, riziko aterosklerózy.</a:t>
            </a:r>
            <a:endParaRPr lang="en-US" sz="2100" dirty="0"/>
          </a:p>
        </p:txBody>
      </p:sp>
      <p:sp>
        <p:nvSpPr>
          <p:cNvPr id="9" name="Text 6"/>
          <p:cNvSpPr/>
          <p:nvPr/>
        </p:nvSpPr>
        <p:spPr>
          <a:xfrm>
            <a:off x="5715000" y="4705350"/>
            <a:ext cx="3771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Metabolismus</a:t>
            </a:r>
            <a:endParaRPr lang="en-US" sz="2700" dirty="0"/>
          </a:p>
        </p:txBody>
      </p:sp>
      <p:sp>
        <p:nvSpPr>
          <p:cNvPr id="10" name="Text 7"/>
          <p:cNvSpPr/>
          <p:nvPr/>
        </p:nvSpPr>
        <p:spPr>
          <a:xfrm>
            <a:off x="9486900" y="4733925"/>
            <a:ext cx="8423910"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Viscerální tuk, inzulinová rezistence.</a:t>
            </a:r>
            <a:endParaRPr lang="en-US" sz="2100" dirty="0"/>
          </a:p>
        </p:txBody>
      </p:sp>
      <p:sp>
        <p:nvSpPr>
          <p:cNvPr id="11" name="Text 8"/>
          <p:cNvSpPr/>
          <p:nvPr/>
        </p:nvSpPr>
        <p:spPr>
          <a:xfrm>
            <a:off x="5715000" y="5657850"/>
            <a:ext cx="3771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Kost a sval</a:t>
            </a:r>
            <a:endParaRPr lang="en-US" sz="2700" dirty="0"/>
          </a:p>
        </p:txBody>
      </p:sp>
      <p:sp>
        <p:nvSpPr>
          <p:cNvPr id="12" name="Text 9"/>
          <p:cNvSpPr/>
          <p:nvPr/>
        </p:nvSpPr>
        <p:spPr>
          <a:xfrm>
            <a:off x="9486900" y="5686425"/>
            <a:ext cx="8423910"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Kostní denzita, svalová hmota/síla, riziko pádů.</a:t>
            </a:r>
            <a:endParaRPr lang="en-US" sz="2100" dirty="0"/>
          </a:p>
        </p:txBody>
      </p:sp>
      <p:sp>
        <p:nvSpPr>
          <p:cNvPr id="13" name="Text 10"/>
          <p:cNvSpPr/>
          <p:nvPr/>
        </p:nvSpPr>
        <p:spPr>
          <a:xfrm>
            <a:off x="5715000" y="6610350"/>
            <a:ext cx="3771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Mozek a psychika</a:t>
            </a:r>
            <a:endParaRPr lang="en-US" sz="2700" dirty="0"/>
          </a:p>
        </p:txBody>
      </p:sp>
      <p:sp>
        <p:nvSpPr>
          <p:cNvPr id="14" name="Text 11"/>
          <p:cNvSpPr/>
          <p:nvPr/>
        </p:nvSpPr>
        <p:spPr>
          <a:xfrm>
            <a:off x="9486900" y="6638925"/>
            <a:ext cx="8423910"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Spánek, nálada, kognice.</a:t>
            </a:r>
            <a:endParaRPr lang="en-US" sz="2100" dirty="0"/>
          </a:p>
        </p:txBody>
      </p:sp>
      <p:sp>
        <p:nvSpPr>
          <p:cNvPr id="15" name="Text 12"/>
          <p:cNvSpPr/>
          <p:nvPr/>
        </p:nvSpPr>
        <p:spPr>
          <a:xfrm>
            <a:off x="5715000" y="7562850"/>
            <a:ext cx="3771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Urogenitál</a:t>
            </a:r>
            <a:endParaRPr lang="en-US" sz="2700" dirty="0"/>
          </a:p>
        </p:txBody>
      </p:sp>
      <p:sp>
        <p:nvSpPr>
          <p:cNvPr id="16" name="Text 13"/>
          <p:cNvSpPr/>
          <p:nvPr/>
        </p:nvSpPr>
        <p:spPr>
          <a:xfrm>
            <a:off x="9486900" y="7591425"/>
            <a:ext cx="8423910"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Suchost, bolest, kontinence, libido.</a:t>
            </a:r>
            <a:endParaRPr lang="en-US" sz="2100" dirty="0"/>
          </a:p>
        </p:txBody>
      </p:sp>
      <p:sp>
        <p:nvSpPr>
          <p:cNvPr id="17" name="Text 14"/>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Nejde o pět oddělených problémů. Jde o jednu propojenou trajektorii zdraví sdílející řadu stejných preventivních nástrojů.</a:t>
            </a:r>
            <a:endParaRPr lang="en-US" sz="1575" dirty="0"/>
          </a:p>
        </p:txBody>
      </p:sp>
      <p:sp>
        <p:nvSpPr>
          <p:cNvPr id="18" name="Text 15"/>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13</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90843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SLOŽENÍ TĚLA</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Hmotnost neříká celý příběh. Složení těla se mění.</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LONGITUDINÁLNÍ KOHORTA SWAN</a:t>
            </a:r>
            <a:endParaRPr lang="en-US" sz="1350" dirty="0"/>
          </a:p>
        </p:txBody>
      </p:sp>
      <p:sp>
        <p:nvSpPr>
          <p:cNvPr id="7" name="Shape 5"/>
          <p:cNvSpPr/>
          <p:nvPr/>
        </p:nvSpPr>
        <p:spPr>
          <a:xfrm>
            <a:off x="6467475" y="5219700"/>
            <a:ext cx="9525" cy="3385096"/>
          </a:xfrm>
          <a:prstGeom prst="rect">
            <a:avLst/>
          </a:prstGeom>
          <a:solidFill>
            <a:srgbClr val="CDB3DC"/>
          </a:solidFill>
          <a:ln/>
        </p:spPr>
      </p:sp>
      <p:sp>
        <p:nvSpPr>
          <p:cNvPr id="8" name="Text 6"/>
          <p:cNvSpPr/>
          <p:nvPr/>
        </p:nvSpPr>
        <p:spPr>
          <a:xfrm>
            <a:off x="1143000" y="5219700"/>
            <a:ext cx="5102543" cy="876300"/>
          </a:xfrm>
          <a:prstGeom prst="rect">
            <a:avLst/>
          </a:prstGeom>
          <a:noFill/>
          <a:ln/>
        </p:spPr>
        <p:txBody>
          <a:bodyPr wrap="none" lIns="25400" tIns="25400" rIns="25400" bIns="25400" rtlCol="0" anchor="t">
            <a:normAutofit/>
          </a:bodyPr>
          <a:lstStyle/>
          <a:p>
            <a:pPr algn="l" indent="0" marL="0">
              <a:lnSpc>
                <a:spcPct val="76856"/>
              </a:lnSpc>
              <a:buNone/>
            </a:pPr>
            <a:r>
              <a:rPr lang="en-US" sz="6600" spc="-198" kern="0" dirty="0">
                <a:solidFill>
                  <a:srgbClr val="6D2A8C"/>
                </a:solidFill>
                <a:latin typeface="Geist" pitchFamily="34" charset="0"/>
                <a:ea typeface="Geist" pitchFamily="34" charset="-122"/>
                <a:cs typeface="Geist" pitchFamily="34" charset="-120"/>
              </a:rPr>
              <a:t>−0,2 %</a:t>
            </a:r>
            <a:endParaRPr lang="en-US" sz="6600" dirty="0"/>
          </a:p>
        </p:txBody>
      </p:sp>
      <p:sp>
        <p:nvSpPr>
          <p:cNvPr id="9" name="Text 7"/>
          <p:cNvSpPr/>
          <p:nvPr/>
        </p:nvSpPr>
        <p:spPr>
          <a:xfrm>
            <a:off x="1143000" y="6248400"/>
            <a:ext cx="477783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TUKUPROSTÉ MASY ZA ROK</a:t>
            </a:r>
            <a:endParaRPr lang="en-US" sz="1650" dirty="0"/>
          </a:p>
        </p:txBody>
      </p:sp>
      <p:sp>
        <p:nvSpPr>
          <p:cNvPr id="10" name="Text 8"/>
          <p:cNvSpPr/>
          <p:nvPr/>
        </p:nvSpPr>
        <p:spPr>
          <a:xfrm>
            <a:off x="1143000" y="6797353"/>
            <a:ext cx="4777835" cy="752475"/>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Ztráta svalu je ta část, která opravdu snižuje energetický výdej.</a:t>
            </a:r>
            <a:endParaRPr lang="en-US" sz="1875" dirty="0"/>
          </a:p>
        </p:txBody>
      </p:sp>
      <p:sp>
        <p:nvSpPr>
          <p:cNvPr id="11" name="Shape 9"/>
          <p:cNvSpPr/>
          <p:nvPr/>
        </p:nvSpPr>
        <p:spPr>
          <a:xfrm>
            <a:off x="11801475" y="5219700"/>
            <a:ext cx="9525" cy="3385096"/>
          </a:xfrm>
          <a:prstGeom prst="rect">
            <a:avLst/>
          </a:prstGeom>
          <a:solidFill>
            <a:srgbClr val="CDB3DC"/>
          </a:solidFill>
          <a:ln/>
        </p:spPr>
      </p:sp>
      <p:sp>
        <p:nvSpPr>
          <p:cNvPr id="12" name="Text 10"/>
          <p:cNvSpPr/>
          <p:nvPr/>
        </p:nvSpPr>
        <p:spPr>
          <a:xfrm>
            <a:off x="7162800" y="5219700"/>
            <a:ext cx="4348163" cy="876300"/>
          </a:xfrm>
          <a:prstGeom prst="rect">
            <a:avLst/>
          </a:prstGeom>
          <a:noFill/>
          <a:ln/>
        </p:spPr>
        <p:txBody>
          <a:bodyPr wrap="none" lIns="25400" tIns="25400" rIns="25400" bIns="25400" rtlCol="0" anchor="t">
            <a:normAutofit/>
          </a:bodyPr>
          <a:lstStyle/>
          <a:p>
            <a:pPr algn="l" indent="0" marL="0">
              <a:lnSpc>
                <a:spcPct val="76856"/>
              </a:lnSpc>
              <a:buNone/>
            </a:pPr>
            <a:r>
              <a:rPr lang="en-US" sz="6600" spc="-198" kern="0" dirty="0">
                <a:solidFill>
                  <a:srgbClr val="6D2A8C"/>
                </a:solidFill>
                <a:latin typeface="Geist" pitchFamily="34" charset="0"/>
                <a:ea typeface="Geist" pitchFamily="34" charset="-122"/>
                <a:cs typeface="Geist" pitchFamily="34" charset="-120"/>
              </a:rPr>
              <a:t>+0,45 kg</a:t>
            </a:r>
            <a:endParaRPr lang="en-US" sz="6600" dirty="0"/>
          </a:p>
        </p:txBody>
      </p:sp>
      <p:sp>
        <p:nvSpPr>
          <p:cNvPr id="13" name="Text 11"/>
          <p:cNvSpPr/>
          <p:nvPr/>
        </p:nvSpPr>
        <p:spPr>
          <a:xfrm>
            <a:off x="7162800" y="6248400"/>
            <a:ext cx="407146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TUKOVÉ HMOTY ZA ROK</a:t>
            </a:r>
            <a:endParaRPr lang="en-US" sz="1650" dirty="0"/>
          </a:p>
        </p:txBody>
      </p:sp>
      <p:sp>
        <p:nvSpPr>
          <p:cNvPr id="14" name="Text 12"/>
          <p:cNvSpPr/>
          <p:nvPr/>
        </p:nvSpPr>
        <p:spPr>
          <a:xfrm>
            <a:off x="7162800" y="6797353"/>
            <a:ext cx="4071461" cy="752475"/>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A přesouvá se: ubývá na bocích, přibývá v pase.</a:t>
            </a:r>
            <a:endParaRPr lang="en-US" sz="1875" dirty="0"/>
          </a:p>
        </p:txBody>
      </p:sp>
      <p:sp>
        <p:nvSpPr>
          <p:cNvPr id="15" name="Text 13"/>
          <p:cNvSpPr/>
          <p:nvPr/>
        </p:nvSpPr>
        <p:spPr>
          <a:xfrm>
            <a:off x="12496800" y="5219700"/>
            <a:ext cx="4787646" cy="860971"/>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Hmotnost může změnu skrýt.</a:t>
            </a:r>
            <a:endParaRPr lang="en-US" sz="2700" dirty="0"/>
          </a:p>
        </p:txBody>
      </p:sp>
      <p:sp>
        <p:nvSpPr>
          <p:cNvPr id="16" name="Text 14"/>
          <p:cNvSpPr/>
          <p:nvPr/>
        </p:nvSpPr>
        <p:spPr>
          <a:xfrm>
            <a:off x="12496800" y="6252121"/>
            <a:ext cx="4787646" cy="1109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Sledujte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obvod pasu, sílu a funkční kapacitu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 Ty se mohou zlepšovat i bez výrazné změny hmotnosti.</a:t>
            </a:r>
            <a:endParaRPr lang="en-US" sz="1875" dirty="0"/>
          </a:p>
        </p:txBody>
      </p:sp>
      <p:sp>
        <p:nvSpPr>
          <p:cNvPr id="17" name="Text 15"/>
          <p:cNvSpPr/>
          <p:nvPr/>
        </p:nvSpPr>
        <p:spPr>
          <a:xfrm>
            <a:off x="12496800" y="7533233"/>
            <a:ext cx="4787646" cy="1109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Ztráta svalů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není nevyhnutelná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 Svalová síla může klesat rychleji než svalová hmota.</a:t>
            </a:r>
            <a:endParaRPr lang="en-US" sz="1875" dirty="0"/>
          </a:p>
        </p:txBody>
      </p:sp>
      <p:sp>
        <p:nvSpPr>
          <p:cNvPr id="18" name="Text 16"/>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SWAN: tempo nárůstu tukové hmoty se během tranzice téměř zdvojnásobilo z přibližně +1,0 % na +1,7 % ročně.</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64798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KOST</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Kost začínáme ztrácet dřív, než ji začneme měřit.</a:t>
            </a:r>
            <a:endParaRPr lang="en-US" sz="5550" dirty="0"/>
          </a:p>
        </p:txBody>
      </p:sp>
      <p:sp>
        <p:nvSpPr>
          <p:cNvPr id="4" name="Shape 2"/>
          <p:cNvSpPr/>
          <p:nvPr/>
        </p:nvSpPr>
        <p:spPr>
          <a:xfrm>
            <a:off x="14249400" y="1356792"/>
            <a:ext cx="381000" cy="381000"/>
          </a:xfrm>
          <a:prstGeom prst="roundRect">
            <a:avLst>
              <a:gd name="adj" fmla="val 22500"/>
            </a:avLst>
          </a:prstGeom>
          <a:ln w="19050">
            <a:solidFill>
              <a:srgbClr val="6D2A8C"/>
            </a:solidFill>
            <a:prstDash val="solid"/>
          </a:ln>
        </p:spPr>
      </p:sp>
      <p:sp>
        <p:nvSpPr>
          <p:cNvPr id="5" name="Text 3"/>
          <p:cNvSpPr/>
          <p:nvPr/>
        </p:nvSpPr>
        <p:spPr>
          <a:xfrm>
            <a:off x="14230350" y="1375842"/>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KOHORTOVÁ A MECHANISTICKÁ DATA</a:t>
            </a:r>
            <a:endParaRPr lang="en-US" sz="13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4095750"/>
            <a:ext cx="16002000" cy="3314700"/>
          </a:xfrm>
          <a:prstGeom prst="rect">
            <a:avLst/>
          </a:prstGeom>
        </p:spPr>
      </p:pic>
      <p:sp>
        <p:nvSpPr>
          <p:cNvPr id="8" name="Shape 5"/>
          <p:cNvSpPr/>
          <p:nvPr/>
        </p:nvSpPr>
        <p:spPr>
          <a:xfrm>
            <a:off x="1143000" y="7753350"/>
            <a:ext cx="16002000" cy="9525"/>
          </a:xfrm>
          <a:prstGeom prst="rect">
            <a:avLst/>
          </a:prstGeom>
          <a:solidFill>
            <a:srgbClr val="CDB3DC"/>
          </a:solidFill>
          <a:ln/>
        </p:spPr>
      </p:sp>
      <p:sp>
        <p:nvSpPr>
          <p:cNvPr id="9" name="Text 6"/>
          <p:cNvSpPr/>
          <p:nvPr/>
        </p:nvSpPr>
        <p:spPr>
          <a:xfrm>
            <a:off x="1143000" y="8048625"/>
            <a:ext cx="4970754" cy="1109663"/>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1. fáze, perimenopauza.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Od 1. roku před do 2 let po poslední menstruaci.</a:t>
            </a:r>
            <a:endParaRPr lang="en-US" sz="1875" dirty="0"/>
          </a:p>
        </p:txBody>
      </p:sp>
      <p:sp>
        <p:nvSpPr>
          <p:cNvPr id="10" name="Text 7"/>
          <p:cNvSpPr/>
          <p:nvPr/>
        </p:nvSpPr>
        <p:spPr>
          <a:xfrm>
            <a:off x="6730975" y="8048625"/>
            <a:ext cx="4970754" cy="1109663"/>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2. fáze, 4 až 8 let po tranzici.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Věkem podmíněné zpomalení novotvorby kostní hmoty.</a:t>
            </a:r>
            <a:endParaRPr lang="en-US" sz="1875" dirty="0"/>
          </a:p>
        </p:txBody>
      </p:sp>
      <p:sp>
        <p:nvSpPr>
          <p:cNvPr id="11" name="Text 8"/>
          <p:cNvSpPr/>
          <p:nvPr/>
        </p:nvSpPr>
        <p:spPr>
          <a:xfrm>
            <a:off x="12318950" y="8048625"/>
            <a:ext cx="4970754" cy="1109663"/>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Nejrychlejší ztráta probíhá před věkem rutinního screeningu.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Indikace DXA se řídí individuálním rizikem.</a:t>
            </a:r>
            <a:endParaRPr lang="en-US" sz="1875" dirty="0"/>
          </a:p>
        </p:txBody>
      </p:sp>
      <p:sp>
        <p:nvSpPr>
          <p:cNvPr id="12" name="Text 9"/>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15</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4000">
                <a:srgbClr val="401252">
                  <a:alpha val="88000"/>
                </a:srgbClr>
              </a:gs>
              <a:gs pos="72000">
                <a:srgbClr val="401252">
                  <a:alpha val="70000"/>
                </a:srgbClr>
              </a:gs>
              <a:gs pos="87000">
                <a:srgbClr val="401252">
                  <a:alpha val="22000"/>
                </a:srgbClr>
              </a:gs>
              <a:gs pos="100000">
                <a:srgbClr val="401252">
                  <a:alpha val="4000"/>
                </a:srgbClr>
              </a:gs>
            </a:gsLst>
            <a:lin ang="0" scaled="0"/>
          </a:gradFill>
          <a:ln/>
        </p:spPr>
      </p:sp>
      <p:sp>
        <p:nvSpPr>
          <p:cNvPr id="4" name="Text 1"/>
          <p:cNvSpPr/>
          <p:nvPr/>
        </p:nvSpPr>
        <p:spPr>
          <a:xfrm>
            <a:off x="1143000" y="1333500"/>
            <a:ext cx="280549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PREVENCE · MOZEK</a:t>
            </a:r>
            <a:endParaRPr lang="en-US" sz="1650" dirty="0"/>
          </a:p>
        </p:txBody>
      </p:sp>
      <p:sp>
        <p:nvSpPr>
          <p:cNvPr id="5" name="Text 2"/>
          <p:cNvSpPr/>
          <p:nvPr/>
        </p:nvSpPr>
        <p:spPr>
          <a:xfrm>
            <a:off x="1143000" y="4577358"/>
            <a:ext cx="1275397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Spánek není jen komfort. Je součástí zdraví mozku.</a:t>
            </a:r>
            <a:endParaRPr lang="en-US" sz="6300" dirty="0"/>
          </a:p>
        </p:txBody>
      </p:sp>
      <p:sp>
        <p:nvSpPr>
          <p:cNvPr id="6" name="Text 3"/>
          <p:cNvSpPr/>
          <p:nvPr/>
        </p:nvSpPr>
        <p:spPr>
          <a:xfrm>
            <a:off x="1143000" y="6724650"/>
            <a:ext cx="1216533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Poruchy spánku jsou v longitudinálních studiích spojeny s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vyšším rizikem kognitivního poklesu a demence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a:t>
            </a:r>
            <a:endParaRPr lang="en-US" sz="2400" dirty="0"/>
          </a:p>
        </p:txBody>
      </p:sp>
      <p:sp>
        <p:nvSpPr>
          <p:cNvPr id="7" name="Shape 4"/>
          <p:cNvSpPr/>
          <p:nvPr/>
        </p:nvSpPr>
        <p:spPr>
          <a:xfrm>
            <a:off x="13982700" y="1066800"/>
            <a:ext cx="3314700" cy="729555"/>
          </a:xfrm>
          <a:prstGeom prst="roundRect">
            <a:avLst>
              <a:gd name="adj" fmla="val 15667"/>
            </a:avLst>
          </a:prstGeom>
          <a:solidFill>
            <a:srgbClr val="401252">
              <a:alpha val="95000"/>
            </a:srgbClr>
          </a:solidFill>
          <a:ln/>
        </p:spPr>
      </p:sp>
      <p:sp>
        <p:nvSpPr>
          <p:cNvPr id="8" name="Shape 5"/>
          <p:cNvSpPr/>
          <p:nvPr/>
        </p:nvSpPr>
        <p:spPr>
          <a:xfrm>
            <a:off x="14192250" y="1241078"/>
            <a:ext cx="381000" cy="381000"/>
          </a:xfrm>
          <a:prstGeom prst="roundRect">
            <a:avLst>
              <a:gd name="adj" fmla="val 22500"/>
            </a:avLst>
          </a:prstGeom>
          <a:ln w="19050">
            <a:solidFill>
              <a:srgbClr val="C9AEDA"/>
            </a:solidFill>
            <a:prstDash val="dash"/>
          </a:ln>
        </p:spPr>
      </p:sp>
      <p:sp>
        <p:nvSpPr>
          <p:cNvPr id="9" name="Text 6"/>
          <p:cNvSpPr/>
          <p:nvPr/>
        </p:nvSpPr>
        <p:spPr>
          <a:xfrm>
            <a:off x="1417320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C9AEDA"/>
                </a:solidFill>
                <a:latin typeface="Geist Mono" pitchFamily="34" charset="0"/>
                <a:ea typeface="Geist Mono" pitchFamily="34" charset="-122"/>
                <a:cs typeface="Geist Mono" pitchFamily="34" charset="-120"/>
              </a:rPr>
              <a:t>C</a:t>
            </a:r>
            <a:endParaRPr lang="en-US" sz="1500" dirty="0"/>
          </a:p>
        </p:txBody>
      </p:sp>
      <p:sp>
        <p:nvSpPr>
          <p:cNvPr id="10" name="Text 7"/>
          <p:cNvSpPr/>
          <p:nvPr/>
        </p:nvSpPr>
        <p:spPr>
          <a:xfrm>
            <a:off x="1470660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C9AEDA"/>
                </a:solidFill>
                <a:latin typeface="Geist Mono" pitchFamily="34" charset="0"/>
                <a:ea typeface="Geist Mono" pitchFamily="34" charset="-122"/>
                <a:cs typeface="Geist Mono" pitchFamily="34" charset="-120"/>
              </a:rPr>
              <a:t>KAUZALITA NEJISTÁ, OPATRNĚ</a:t>
            </a:r>
            <a:endParaRPr lang="en-US" sz="1350" dirty="0"/>
          </a:p>
        </p:txBody>
      </p:sp>
      <p:sp>
        <p:nvSpPr>
          <p:cNvPr id="11" name="Text 8"/>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C9AEDA"/>
                </a:solidFill>
                <a:latin typeface="Geist Mono" pitchFamily="34" charset="0"/>
                <a:ea typeface="Geist Mono" pitchFamily="34" charset="-122"/>
                <a:cs typeface="Geist Mono" pitchFamily="34" charset="-120"/>
              </a:rPr>
              <a:t>Lancet Commission 2024 spánek nezařadila mezi 14 etablovaných modifikovatelných rizikových faktorů demence!</a:t>
            </a:r>
            <a:endParaRPr lang="en-US" sz="1575" dirty="0"/>
          </a:p>
        </p:txBody>
      </p:sp>
      <p:sp>
        <p:nvSpPr>
          <p:cNvPr id="12" name="Text 9"/>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16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48405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PSYCHICKÉ ZDRAVÍ</a:t>
            </a:r>
            <a:endParaRPr lang="en-US" sz="1650" dirty="0"/>
          </a:p>
        </p:txBody>
      </p:sp>
      <p:sp>
        <p:nvSpPr>
          <p:cNvPr id="3" name="Text 1"/>
          <p:cNvSpPr/>
          <p:nvPr/>
        </p:nvSpPr>
        <p:spPr>
          <a:xfrm>
            <a:off x="1143000" y="3574926"/>
            <a:ext cx="8241030" cy="1927399"/>
          </a:xfrm>
          <a:prstGeom prst="rect">
            <a:avLst/>
          </a:prstGeom>
          <a:noFill/>
          <a:ln/>
        </p:spPr>
        <p:txBody>
          <a:bodyPr wrap="square" lIns="25400" tIns="25400" rIns="25400" bIns="25400" rtlCol="0" anchor="t">
            <a:normAutofit/>
          </a:bodyPr>
          <a:lstStyle/>
          <a:p>
            <a:pPr algn="l" indent="0" marL="0">
              <a:lnSpc>
                <a:spcPct val="87576"/>
              </a:lnSpc>
              <a:buNone/>
            </a:pPr>
            <a:r>
              <a:rPr lang="en-US" sz="4350" spc="-78" kern="0" dirty="0">
                <a:solidFill>
                  <a:srgbClr val="401252"/>
                </a:solidFill>
                <a:latin typeface="Geist" pitchFamily="34" charset="0"/>
                <a:ea typeface="Geist" pitchFamily="34" charset="-122"/>
                <a:cs typeface="Geist" pitchFamily="34" charset="-120"/>
              </a:rPr>
              <a:t>Perimenopauza je období zvýšené zranitelnosti – ne diagnóza sama.</a:t>
            </a:r>
            <a:endParaRPr lang="en-US" sz="4350" dirty="0"/>
          </a:p>
        </p:txBody>
      </p:sp>
      <p:sp>
        <p:nvSpPr>
          <p:cNvPr id="4" name="Text 2"/>
          <p:cNvSpPr/>
          <p:nvPr/>
        </p:nvSpPr>
        <p:spPr>
          <a:xfrm>
            <a:off x="1143000" y="5807125"/>
            <a:ext cx="8241030" cy="132397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Nejvyšší zranitelnost mají zejména ženy s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depresí v anamnéze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výraznými psychosociálními stresory a často také s vasomotorickými symptomy či poruchami spánku.</a:t>
            </a:r>
            <a:endParaRPr lang="en-US" sz="2250" dirty="0"/>
          </a:p>
        </p:txBody>
      </p:sp>
      <p:sp>
        <p:nvSpPr>
          <p:cNvPr id="5" name="Shape 3"/>
          <p:cNvSpPr/>
          <p:nvPr/>
        </p:nvSpPr>
        <p:spPr>
          <a:xfrm>
            <a:off x="14249400" y="1356792"/>
            <a:ext cx="381000" cy="381000"/>
          </a:xfrm>
          <a:prstGeom prst="roundRect">
            <a:avLst>
              <a:gd name="adj" fmla="val 22500"/>
            </a:avLst>
          </a:prstGeom>
          <a:ln w="19050">
            <a:solidFill>
              <a:srgbClr val="6D2A8C"/>
            </a:solidFill>
            <a:prstDash val="solid"/>
          </a:ln>
        </p:spPr>
      </p:sp>
      <p:sp>
        <p:nvSpPr>
          <p:cNvPr id="6" name="Text 4"/>
          <p:cNvSpPr/>
          <p:nvPr/>
        </p:nvSpPr>
        <p:spPr>
          <a:xfrm>
            <a:off x="14230350" y="1375842"/>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7" name="Text 5"/>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KOHORTOVÁ DATA, SILNÁ U RIZIKOVÝCH ŽEN</a:t>
            </a:r>
            <a:endParaRPr lang="en-US" sz="1350" dirty="0"/>
          </a:p>
        </p:txBody>
      </p:sp>
      <p:sp>
        <p:nvSpPr>
          <p:cNvPr id="8" name="Text 6"/>
          <p:cNvSpPr/>
          <p:nvPr/>
        </p:nvSpPr>
        <p:spPr>
          <a:xfrm>
            <a:off x="10287000" y="3830762"/>
            <a:ext cx="7543800" cy="1295400"/>
          </a:xfrm>
          <a:prstGeom prst="rect">
            <a:avLst/>
          </a:prstGeom>
          <a:noFill/>
          <a:ln/>
        </p:spPr>
        <p:txBody>
          <a:bodyPr wrap="none" lIns="25400" tIns="25400" rIns="25400" bIns="25400" rtlCol="0" anchor="t">
            <a:normAutofit/>
          </a:bodyPr>
          <a:lstStyle/>
          <a:p>
            <a:pPr algn="l" indent="0" marL="0">
              <a:lnSpc>
                <a:spcPct val="76968"/>
              </a:lnSpc>
              <a:buNone/>
            </a:pPr>
            <a:r>
              <a:rPr lang="en-US" sz="9900" spc="-297" kern="0" dirty="0">
                <a:solidFill>
                  <a:srgbClr val="6D2A8C"/>
                </a:solidFill>
                <a:latin typeface="Geist" pitchFamily="34" charset="0"/>
                <a:ea typeface="Geist" pitchFamily="34" charset="-122"/>
                <a:cs typeface="Geist" pitchFamily="34" charset="-120"/>
              </a:rPr>
              <a:t>2–4×</a:t>
            </a:r>
            <a:endParaRPr lang="en-US" sz="9900" dirty="0"/>
          </a:p>
        </p:txBody>
      </p:sp>
      <p:sp>
        <p:nvSpPr>
          <p:cNvPr id="9" name="Text 7"/>
          <p:cNvSpPr/>
          <p:nvPr/>
        </p:nvSpPr>
        <p:spPr>
          <a:xfrm>
            <a:off x="10287000" y="5316662"/>
            <a:ext cx="706374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VYŠŠÍ RIZIKO DEPRESE V PŘECHODU</a:t>
            </a:r>
            <a:endParaRPr lang="en-US" sz="1650" dirty="0"/>
          </a:p>
        </p:txBody>
      </p:sp>
      <p:sp>
        <p:nvSpPr>
          <p:cNvPr id="10" name="Text 8"/>
          <p:cNvSpPr/>
          <p:nvPr/>
        </p:nvSpPr>
        <p:spPr>
          <a:xfrm>
            <a:off x="10287000" y="5979914"/>
            <a:ext cx="7063740" cy="8953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Přesněji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o 40 % vyšší riziko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depresivních symptomů nebo diagnózy v perimenopauze.</a:t>
            </a:r>
            <a:endParaRPr lang="en-US" sz="2250" dirty="0"/>
          </a:p>
        </p:txBody>
      </p:sp>
      <p:sp>
        <p:nvSpPr>
          <p:cNvPr id="11" name="Text 9"/>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Menopause-specific CBT je doporučenou možností pro VMS a spánkové obtíže.</a:t>
            </a:r>
            <a:endParaRPr lang="en-US" sz="1575" dirty="0"/>
          </a:p>
        </p:txBody>
      </p:sp>
      <p:sp>
        <p:nvSpPr>
          <p:cNvPr id="12" name="Text 10"/>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17</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22352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RIZIKO DEMENCE</a:t>
            </a:r>
            <a:endParaRPr lang="en-US" sz="1650" dirty="0"/>
          </a:p>
        </p:txBody>
      </p:sp>
      <p:sp>
        <p:nvSpPr>
          <p:cNvPr id="3" name="Text 1"/>
          <p:cNvSpPr/>
          <p:nvPr/>
        </p:nvSpPr>
        <p:spPr>
          <a:xfrm>
            <a:off x="1143000" y="1809750"/>
            <a:ext cx="14668500" cy="689595"/>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Chrání hormonální léčba mozek před demencí?</a:t>
            </a:r>
            <a:endParaRPr lang="en-US" sz="450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VELKÁ KOHORTA, NE RANDOMIZACE</a:t>
            </a:r>
            <a:endParaRPr lang="en-US" sz="1350" dirty="0"/>
          </a:p>
        </p:txBody>
      </p:sp>
      <p:sp>
        <p:nvSpPr>
          <p:cNvPr id="7" name="Shape 5"/>
          <p:cNvSpPr/>
          <p:nvPr/>
        </p:nvSpPr>
        <p:spPr>
          <a:xfrm>
            <a:off x="5133975" y="4476750"/>
            <a:ext cx="9525" cy="3203525"/>
          </a:xfrm>
          <a:prstGeom prst="rect">
            <a:avLst/>
          </a:prstGeom>
          <a:solidFill>
            <a:srgbClr val="CDB3DC"/>
          </a:solidFill>
          <a:ln/>
        </p:spPr>
      </p:sp>
      <p:sp>
        <p:nvSpPr>
          <p:cNvPr id="8" name="Text 6"/>
          <p:cNvSpPr/>
          <p:nvPr/>
        </p:nvSpPr>
        <p:spPr>
          <a:xfrm>
            <a:off x="1143000" y="4476750"/>
            <a:ext cx="3600545"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OTÁZKA</a:t>
            </a:r>
            <a:endParaRPr lang="en-US" sz="1575" dirty="0"/>
          </a:p>
        </p:txBody>
      </p:sp>
      <p:sp>
        <p:nvSpPr>
          <p:cNvPr id="9" name="Text 7"/>
          <p:cNvSpPr/>
          <p:nvPr/>
        </p:nvSpPr>
        <p:spPr>
          <a:xfrm>
            <a:off x="1143000" y="5010299"/>
            <a:ext cx="3600545" cy="705594"/>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Souvisí užívání hormonální léčby s rizikem demence?</a:t>
            </a:r>
            <a:endParaRPr lang="en-US" sz="1800" dirty="0"/>
          </a:p>
        </p:txBody>
      </p:sp>
      <p:sp>
        <p:nvSpPr>
          <p:cNvPr id="10" name="Shape 8"/>
          <p:cNvSpPr/>
          <p:nvPr/>
        </p:nvSpPr>
        <p:spPr>
          <a:xfrm>
            <a:off x="9134475" y="4476750"/>
            <a:ext cx="9525" cy="3203525"/>
          </a:xfrm>
          <a:prstGeom prst="rect">
            <a:avLst/>
          </a:prstGeom>
          <a:solidFill>
            <a:srgbClr val="CDB3DC"/>
          </a:solidFill>
          <a:ln/>
        </p:spPr>
      </p:sp>
      <p:sp>
        <p:nvSpPr>
          <p:cNvPr id="11" name="Text 9"/>
          <p:cNvSpPr/>
          <p:nvPr/>
        </p:nvSpPr>
        <p:spPr>
          <a:xfrm>
            <a:off x="5638800" y="447675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D2A8C"/>
                </a:solidFill>
                <a:latin typeface="Geist Mono" pitchFamily="34" charset="0"/>
                <a:ea typeface="Geist Mono" pitchFamily="34" charset="-122"/>
                <a:cs typeface="Geist Mono" pitchFamily="34" charset="-120"/>
              </a:rPr>
              <a:t>ZJIŠTĚNÍ</a:t>
            </a:r>
            <a:endParaRPr lang="en-US" sz="1575" dirty="0"/>
          </a:p>
        </p:txBody>
      </p:sp>
      <p:sp>
        <p:nvSpPr>
          <p:cNvPr id="12" name="Text 10"/>
          <p:cNvSpPr/>
          <p:nvPr/>
        </p:nvSpPr>
        <p:spPr>
          <a:xfrm>
            <a:off x="5638800" y="5010299"/>
            <a:ext cx="3090386" cy="2708077"/>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183 450 postmeno žen, průměrné sledování 13,3 roku. HRT ≥ 1 rok byla spojena s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o 10 % nižším rizikem demence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ze všech příčin. Silněji u chirurgické menopauzy a u nosiček APOE4 (slabší).</a:t>
            </a:r>
            <a:endParaRPr lang="en-US" sz="1800" dirty="0"/>
          </a:p>
        </p:txBody>
      </p:sp>
      <p:sp>
        <p:nvSpPr>
          <p:cNvPr id="13" name="Shape 11"/>
          <p:cNvSpPr/>
          <p:nvPr/>
        </p:nvSpPr>
        <p:spPr>
          <a:xfrm>
            <a:off x="13134975" y="4476750"/>
            <a:ext cx="9525" cy="3203525"/>
          </a:xfrm>
          <a:prstGeom prst="rect">
            <a:avLst/>
          </a:prstGeom>
          <a:solidFill>
            <a:srgbClr val="CDB3DC"/>
          </a:solidFill>
          <a:ln/>
        </p:spPr>
      </p:sp>
      <p:sp>
        <p:nvSpPr>
          <p:cNvPr id="14" name="Text 12"/>
          <p:cNvSpPr/>
          <p:nvPr/>
        </p:nvSpPr>
        <p:spPr>
          <a:xfrm>
            <a:off x="9639300" y="447675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INTERPRETACE</a:t>
            </a:r>
            <a:endParaRPr lang="en-US" sz="1575" dirty="0"/>
          </a:p>
        </p:txBody>
      </p:sp>
      <p:sp>
        <p:nvSpPr>
          <p:cNvPr id="15" name="Text 13"/>
          <p:cNvSpPr/>
          <p:nvPr/>
        </p:nvSpPr>
        <p:spPr>
          <a:xfrm>
            <a:off x="9639300" y="5010299"/>
            <a:ext cx="3090386" cy="2708077"/>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Výsledky jsou kompatibilní s hypotézou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„window of opportunity“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 Nižší riziko bylo pozorováno při zahájení HRT mezi 46–56 lety. Jde ale o observační asociaci, nikoli důkaz neuroprotektivního účinku.</a:t>
            </a:r>
            <a:endParaRPr lang="en-US" sz="1800" dirty="0"/>
          </a:p>
        </p:txBody>
      </p:sp>
      <p:sp>
        <p:nvSpPr>
          <p:cNvPr id="16" name="Text 14"/>
          <p:cNvSpPr/>
          <p:nvPr/>
        </p:nvSpPr>
        <p:spPr>
          <a:xfrm>
            <a:off x="13639800" y="4476750"/>
            <a:ext cx="361035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LIMIT</a:t>
            </a:r>
            <a:endParaRPr lang="en-US" sz="1575" dirty="0"/>
          </a:p>
        </p:txBody>
      </p:sp>
      <p:sp>
        <p:nvSpPr>
          <p:cNvPr id="17" name="Text 15"/>
          <p:cNvSpPr/>
          <p:nvPr/>
        </p:nvSpPr>
        <p:spPr>
          <a:xfrm>
            <a:off x="13639800" y="5010299"/>
            <a:ext cx="3610356" cy="1706835"/>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Observační data – možný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healthy-user bias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 reziduální confounding. Studie nerozlišovala spolehlivě typ, dávku ani cestu podání HRT.</a:t>
            </a:r>
            <a:endParaRPr lang="en-US" sz="1800" dirty="0"/>
          </a:p>
        </p:txBody>
      </p:sp>
      <p:sp>
        <p:nvSpPr>
          <p:cNvPr id="18" name="Text 16"/>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Squires S et al., Alzheimer's &amp; Dementia 2026;22:e71679, UK Biobank</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18</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737477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UROGENITÁL A SEXUÁLNÍ ZDRAVÍ</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Obtíže, které často samy neodejdou. A o kterých se málo mluví.</a:t>
            </a:r>
            <a:endParaRPr lang="en-US" sz="4500" dirty="0"/>
          </a:p>
        </p:txBody>
      </p:sp>
      <p:sp>
        <p:nvSpPr>
          <p:cNvPr id="4" name="Shape 2"/>
          <p:cNvSpPr/>
          <p:nvPr/>
        </p:nvSpPr>
        <p:spPr>
          <a:xfrm>
            <a:off x="14249400" y="1241078"/>
            <a:ext cx="381000" cy="381000"/>
          </a:xfrm>
          <a:prstGeom prst="roundRect">
            <a:avLst>
              <a:gd name="adj" fmla="val 22500"/>
            </a:avLst>
          </a:prstGeom>
          <a:solidFill>
            <a:srgbClr val="6D2A8C"/>
          </a:solidFill>
          <a:ln/>
        </p:spPr>
      </p:sp>
      <p:sp>
        <p:nvSpPr>
          <p:cNvPr id="5" name="Text 3"/>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SHODA DOPORUČENÍ, JASNÝ POSTUP</a:t>
            </a:r>
            <a:endParaRPr lang="en-US" sz="1350" dirty="0"/>
          </a:p>
        </p:txBody>
      </p:sp>
      <p:sp>
        <p:nvSpPr>
          <p:cNvPr id="7" name="Shape 5"/>
          <p:cNvSpPr/>
          <p:nvPr/>
        </p:nvSpPr>
        <p:spPr>
          <a:xfrm>
            <a:off x="9134475" y="3352800"/>
            <a:ext cx="9525" cy="3196903"/>
          </a:xfrm>
          <a:prstGeom prst="rect">
            <a:avLst/>
          </a:prstGeom>
          <a:solidFill>
            <a:srgbClr val="CDB3DC"/>
          </a:solidFill>
          <a:ln/>
        </p:spPr>
      </p:sp>
      <p:sp>
        <p:nvSpPr>
          <p:cNvPr id="8" name="Text 6"/>
          <p:cNvSpPr/>
          <p:nvPr/>
        </p:nvSpPr>
        <p:spPr>
          <a:xfrm>
            <a:off x="1143000" y="3352800"/>
            <a:ext cx="74463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TO JE (UROGENITÁLNÍ SYNDROM MENOPAUZY)</a:t>
            </a:r>
            <a:endParaRPr lang="en-US" sz="1650" dirty="0"/>
          </a:p>
        </p:txBody>
      </p:sp>
      <p:sp>
        <p:nvSpPr>
          <p:cNvPr id="9" name="Text 7"/>
          <p:cNvSpPr/>
          <p:nvPr/>
        </p:nvSpPr>
        <p:spPr>
          <a:xfrm>
            <a:off x="1143000" y="3939853"/>
            <a:ext cx="7446359"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Suchost, pálení či podráždění, bolest při sexu, dysurie, urgence/frekvence močení a recidivující infekce močových cest. Na rozdíl od vasomotorických symptomů GSM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často přetrvává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a bez léčby může postupovat.</a:t>
            </a:r>
            <a:endParaRPr lang="en-US" sz="2100" dirty="0"/>
          </a:p>
        </p:txBody>
      </p:sp>
      <p:sp>
        <p:nvSpPr>
          <p:cNvPr id="10" name="Text 8"/>
          <p:cNvSpPr/>
          <p:nvPr/>
        </p:nvSpPr>
        <p:spPr>
          <a:xfrm>
            <a:off x="1143000" y="5749603"/>
            <a:ext cx="744635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Sexuální zdraví sem patří jako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součást péče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 ne jako nepovinný dodatek.</a:t>
            </a:r>
            <a:endParaRPr lang="en-US" sz="2100" dirty="0"/>
          </a:p>
        </p:txBody>
      </p:sp>
      <p:sp>
        <p:nvSpPr>
          <p:cNvPr id="11" name="Text 9"/>
          <p:cNvSpPr/>
          <p:nvPr/>
        </p:nvSpPr>
        <p:spPr>
          <a:xfrm>
            <a:off x="9906000" y="3352800"/>
            <a:ext cx="745617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JAKÉ JSOU MOŽNOSTI LÉČBY?</a:t>
            </a:r>
            <a:endParaRPr lang="en-US" sz="1650" dirty="0"/>
          </a:p>
        </p:txBody>
      </p:sp>
      <p:sp>
        <p:nvSpPr>
          <p:cNvPr id="12" name="Text 10"/>
          <p:cNvSpPr/>
          <p:nvPr/>
        </p:nvSpPr>
        <p:spPr>
          <a:xfrm>
            <a:off x="9906000" y="3939853"/>
            <a:ext cx="423714" cy="531837"/>
          </a:xfrm>
          <a:prstGeom prst="rect">
            <a:avLst/>
          </a:prstGeom>
          <a:noFill/>
          <a:ln/>
        </p:spPr>
        <p:txBody>
          <a:bodyPr wrap="none" lIns="25400" tIns="25400" rIns="25400" bIns="25400" rtlCol="0" anchor="t">
            <a:normAutofit/>
          </a:bodyPr>
          <a:lstStyle/>
          <a:p>
            <a:pPr algn="l" indent="0" marL="0">
              <a:lnSpc>
                <a:spcPct val="124916"/>
              </a:lnSpc>
              <a:buNone/>
            </a:pPr>
            <a:r>
              <a:rPr lang="en-US" sz="2400" spc="-72" kern="0" dirty="0">
                <a:solidFill>
                  <a:srgbClr val="6D2A8C"/>
                </a:solidFill>
                <a:latin typeface="Geist" pitchFamily="34" charset="0"/>
                <a:ea typeface="Geist" pitchFamily="34" charset="-122"/>
                <a:cs typeface="Geist" pitchFamily="34" charset="-120"/>
              </a:rPr>
              <a:t>01</a:t>
            </a:r>
            <a:endParaRPr lang="en-US" sz="2400" dirty="0"/>
          </a:p>
        </p:txBody>
      </p:sp>
      <p:sp>
        <p:nvSpPr>
          <p:cNvPr id="13" name="Text 11"/>
          <p:cNvSpPr/>
          <p:nvPr/>
        </p:nvSpPr>
        <p:spPr>
          <a:xfrm>
            <a:off x="10501164" y="4030340"/>
            <a:ext cx="730822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nízkodávkovaný </a:t>
            </a:r>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lokální estrogen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 jiná léčiva</a:t>
            </a:r>
            <a:endParaRPr lang="en-US" sz="1875" dirty="0"/>
          </a:p>
        </p:txBody>
      </p:sp>
      <p:sp>
        <p:nvSpPr>
          <p:cNvPr id="14" name="Text 12"/>
          <p:cNvSpPr/>
          <p:nvPr/>
        </p:nvSpPr>
        <p:spPr>
          <a:xfrm>
            <a:off x="9906000" y="4585990"/>
            <a:ext cx="423714" cy="531837"/>
          </a:xfrm>
          <a:prstGeom prst="rect">
            <a:avLst/>
          </a:prstGeom>
          <a:noFill/>
          <a:ln/>
        </p:spPr>
        <p:txBody>
          <a:bodyPr wrap="none" lIns="25400" tIns="25400" rIns="25400" bIns="25400" rtlCol="0" anchor="t">
            <a:normAutofit/>
          </a:bodyPr>
          <a:lstStyle/>
          <a:p>
            <a:pPr algn="l" indent="0" marL="0">
              <a:lnSpc>
                <a:spcPct val="124916"/>
              </a:lnSpc>
              <a:buNone/>
            </a:pPr>
            <a:r>
              <a:rPr lang="en-US" sz="2400" spc="-72" kern="0" dirty="0">
                <a:solidFill>
                  <a:srgbClr val="6D2A8C"/>
                </a:solidFill>
                <a:latin typeface="Geist" pitchFamily="34" charset="0"/>
                <a:ea typeface="Geist" pitchFamily="34" charset="-122"/>
                <a:cs typeface="Geist" pitchFamily="34" charset="-120"/>
              </a:rPr>
              <a:t>02</a:t>
            </a:r>
            <a:endParaRPr lang="en-US" sz="2400" dirty="0"/>
          </a:p>
        </p:txBody>
      </p:sp>
      <p:sp>
        <p:nvSpPr>
          <p:cNvPr id="15" name="Text 13"/>
          <p:cNvSpPr/>
          <p:nvPr/>
        </p:nvSpPr>
        <p:spPr>
          <a:xfrm>
            <a:off x="10501164" y="4676477"/>
            <a:ext cx="730822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lubrikanty a hydratační přípravky</a:t>
            </a:r>
            <a:endParaRPr lang="en-US" sz="1875" dirty="0"/>
          </a:p>
        </p:txBody>
      </p:sp>
      <p:sp>
        <p:nvSpPr>
          <p:cNvPr id="16" name="Text 14"/>
          <p:cNvSpPr/>
          <p:nvPr/>
        </p:nvSpPr>
        <p:spPr>
          <a:xfrm>
            <a:off x="9906000" y="5232127"/>
            <a:ext cx="423714" cy="531837"/>
          </a:xfrm>
          <a:prstGeom prst="rect">
            <a:avLst/>
          </a:prstGeom>
          <a:noFill/>
          <a:ln/>
        </p:spPr>
        <p:txBody>
          <a:bodyPr wrap="none" lIns="25400" tIns="25400" rIns="25400" bIns="25400" rtlCol="0" anchor="t">
            <a:normAutofit/>
          </a:bodyPr>
          <a:lstStyle/>
          <a:p>
            <a:pPr algn="l" indent="0" marL="0">
              <a:lnSpc>
                <a:spcPct val="124916"/>
              </a:lnSpc>
              <a:buNone/>
            </a:pPr>
            <a:r>
              <a:rPr lang="en-US" sz="2400" spc="-72" kern="0" dirty="0">
                <a:solidFill>
                  <a:srgbClr val="6D2A8C"/>
                </a:solidFill>
                <a:latin typeface="Geist" pitchFamily="34" charset="0"/>
                <a:ea typeface="Geist" pitchFamily="34" charset="-122"/>
                <a:cs typeface="Geist" pitchFamily="34" charset="-120"/>
              </a:rPr>
              <a:t>03</a:t>
            </a:r>
            <a:endParaRPr lang="en-US" sz="2400" dirty="0"/>
          </a:p>
        </p:txBody>
      </p:sp>
      <p:sp>
        <p:nvSpPr>
          <p:cNvPr id="17" name="Text 15"/>
          <p:cNvSpPr/>
          <p:nvPr/>
        </p:nvSpPr>
        <p:spPr>
          <a:xfrm>
            <a:off x="10501164" y="5322615"/>
            <a:ext cx="730822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fyzioterapie pánevního dna</a:t>
            </a:r>
            <a:endParaRPr lang="en-US" sz="1875" dirty="0"/>
          </a:p>
        </p:txBody>
      </p:sp>
      <p:sp>
        <p:nvSpPr>
          <p:cNvPr id="18" name="Text 16"/>
          <p:cNvSpPr/>
          <p:nvPr/>
        </p:nvSpPr>
        <p:spPr>
          <a:xfrm>
            <a:off x="9906000" y="5878264"/>
            <a:ext cx="423714" cy="531837"/>
          </a:xfrm>
          <a:prstGeom prst="rect">
            <a:avLst/>
          </a:prstGeom>
          <a:noFill/>
          <a:ln/>
        </p:spPr>
        <p:txBody>
          <a:bodyPr wrap="none" lIns="25400" tIns="25400" rIns="25400" bIns="25400" rtlCol="0" anchor="t">
            <a:normAutofit/>
          </a:bodyPr>
          <a:lstStyle/>
          <a:p>
            <a:pPr algn="l" indent="0" marL="0">
              <a:lnSpc>
                <a:spcPct val="124916"/>
              </a:lnSpc>
              <a:buNone/>
            </a:pPr>
            <a:r>
              <a:rPr lang="en-US" sz="2400" spc="-72" kern="0" dirty="0">
                <a:solidFill>
                  <a:srgbClr val="6D2A8C"/>
                </a:solidFill>
                <a:latin typeface="Geist" pitchFamily="34" charset="0"/>
                <a:ea typeface="Geist" pitchFamily="34" charset="-122"/>
                <a:cs typeface="Geist" pitchFamily="34" charset="-120"/>
              </a:rPr>
              <a:t>04</a:t>
            </a:r>
            <a:endParaRPr lang="en-US" sz="2400" dirty="0"/>
          </a:p>
        </p:txBody>
      </p:sp>
      <p:sp>
        <p:nvSpPr>
          <p:cNvPr id="19" name="Text 17"/>
          <p:cNvSpPr/>
          <p:nvPr/>
        </p:nvSpPr>
        <p:spPr>
          <a:xfrm>
            <a:off x="10501164" y="5968752"/>
            <a:ext cx="7308220" cy="395288"/>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psychosexuální poradenství</a:t>
            </a:r>
            <a:endParaRPr lang="en-US" sz="1875" dirty="0"/>
          </a:p>
        </p:txBody>
      </p:sp>
      <p:sp>
        <p:nvSpPr>
          <p:cNvPr id="20" name="Shape 18"/>
          <p:cNvSpPr/>
          <p:nvPr/>
        </p:nvSpPr>
        <p:spPr>
          <a:xfrm>
            <a:off x="1143000" y="7353300"/>
            <a:ext cx="16002000" cy="1095375"/>
          </a:xfrm>
          <a:prstGeom prst="rect">
            <a:avLst/>
          </a:prstGeom>
          <a:solidFill>
            <a:srgbClr val="F4ECFA"/>
          </a:solidFill>
          <a:ln/>
        </p:spPr>
      </p:sp>
      <p:sp>
        <p:nvSpPr>
          <p:cNvPr id="21" name="Text 19"/>
          <p:cNvSpPr/>
          <p:nvPr/>
        </p:nvSpPr>
        <p:spPr>
          <a:xfrm>
            <a:off x="1447800" y="7543800"/>
            <a:ext cx="15854172" cy="752475"/>
          </a:xfrm>
          <a:prstGeom prst="rect">
            <a:avLst/>
          </a:prstGeom>
          <a:noFill/>
          <a:ln/>
        </p:spPr>
        <p:txBody>
          <a:bodyPr wrap="square" lIns="25400" tIns="25400" rIns="25400" bIns="25400" rtlCol="0" anchor="t">
            <a:normAutofit/>
          </a:bodyPr>
          <a:lstStyle/>
          <a:p>
            <a:pPr algn="l" indent="0" marL="0">
              <a:lnSpc>
                <a:spcPct val="125000"/>
              </a:lnSpc>
              <a:buNone/>
            </a:pPr>
            <a:r>
              <a:rPr lang="en-US" sz="1875" b="1" dirty="0">
                <a:solidFill>
                  <a:srgbClr val="401252"/>
                </a:solidFill>
                <a:latin typeface="Inter" pitchFamily="34" charset="0"/>
                <a:ea typeface="Inter" pitchFamily="34" charset="-122"/>
                <a:cs typeface="Inter" pitchFamily="34" charset="-120"/>
              </a:rPr>
              <a:t>Nízkodávkovaný vaginální estrogen ≠ systémová MHT. </a:t>
            </a:r>
            <a:pPr algn="l" indent="0" marL="0">
              <a:lnSpc>
                <a:spcPct val="125000"/>
              </a:lnSpc>
              <a:buNone/>
            </a:pPr>
            <a:r>
              <a:rPr lang="en-US" sz="1875" dirty="0">
                <a:solidFill>
                  <a:srgbClr val="6B4B7D"/>
                </a:solidFill>
                <a:latin typeface="Inter" pitchFamily="34" charset="0"/>
                <a:ea typeface="Inter" pitchFamily="34" charset="-122"/>
                <a:cs typeface="Inter" pitchFamily="34" charset="-120"/>
              </a:rPr>
              <a:t>Vstřebávání do oběhu je minimální a závažné nežádoucí účinky jsou velmi vzácné. Současná data neukazují zvýšení rizika karcinomu prsu ani endometria. Lze jej používat i současně se systémovou MHT.</a:t>
            </a:r>
            <a:endParaRPr lang="en-US" sz="1875" dirty="0"/>
          </a:p>
        </p:txBody>
      </p:sp>
      <p:sp>
        <p:nvSpPr>
          <p:cNvPr id="22" name="Text 20"/>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EMAS 2026 · UpToDate, Genitourinary syndrome of menopause, 2026 · TMS, GSM statement 2020</a:t>
            </a:r>
            <a:endParaRPr lang="en-US" sz="1575" dirty="0"/>
          </a:p>
        </p:txBody>
      </p:sp>
      <p:sp>
        <p:nvSpPr>
          <p:cNvPr id="23" name="Text 21"/>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19</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18814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MÝTUS A FAKT</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Přibírání v přechodu není jen o hormonech. Ani o vůli.</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KOHORTY A PŘEHLEDOVÉ PRÁCE</a:t>
            </a:r>
            <a:endParaRPr lang="en-US" sz="1350" dirty="0"/>
          </a:p>
        </p:txBody>
      </p:sp>
      <p:sp>
        <p:nvSpPr>
          <p:cNvPr id="7" name="Shape 5"/>
          <p:cNvSpPr/>
          <p:nvPr/>
        </p:nvSpPr>
        <p:spPr>
          <a:xfrm>
            <a:off x="1143000" y="4476750"/>
            <a:ext cx="7734300" cy="2335783"/>
          </a:xfrm>
          <a:prstGeom prst="rect">
            <a:avLst/>
          </a:prstGeom>
          <a:ln w="19050">
            <a:solidFill>
              <a:srgbClr val="CDB3DC"/>
            </a:solidFill>
            <a:prstDash val="dash"/>
          </a:ln>
        </p:spPr>
      </p:sp>
      <p:sp>
        <p:nvSpPr>
          <p:cNvPr id="8" name="Text 6"/>
          <p:cNvSpPr/>
          <p:nvPr/>
        </p:nvSpPr>
        <p:spPr>
          <a:xfrm>
            <a:off x="1619250" y="4914900"/>
            <a:ext cx="698525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MÝTUS</a:t>
            </a:r>
            <a:endParaRPr lang="en-US" sz="1650" dirty="0"/>
          </a:p>
        </p:txBody>
      </p:sp>
      <p:sp>
        <p:nvSpPr>
          <p:cNvPr id="9" name="Text 7"/>
          <p:cNvSpPr/>
          <p:nvPr/>
        </p:nvSpPr>
        <p:spPr>
          <a:xfrm>
            <a:off x="1619250" y="5540053"/>
            <a:ext cx="6985254" cy="872430"/>
          </a:xfrm>
          <a:prstGeom prst="rect">
            <a:avLst/>
          </a:prstGeom>
          <a:noFill/>
          <a:ln/>
        </p:spPr>
        <p:txBody>
          <a:bodyPr wrap="square" lIns="25400" tIns="25400" rIns="25400" bIns="25400" rtlCol="0" anchor="t">
            <a:normAutofit/>
          </a:bodyPr>
          <a:lstStyle/>
          <a:p>
            <a:pPr algn="l" indent="0" marL="0">
              <a:lnSpc>
                <a:spcPct val="121667"/>
              </a:lnSpc>
              <a:buNone/>
            </a:pPr>
            <a:r>
              <a:rPr lang="en-US" sz="2250" dirty="0">
                <a:solidFill>
                  <a:srgbClr val="6B4B7D"/>
                </a:solidFill>
                <a:latin typeface="Inter" pitchFamily="34" charset="0"/>
                <a:ea typeface="Inter" pitchFamily="34" charset="-122"/>
                <a:cs typeface="Inter" pitchFamily="34" charset="-120"/>
              </a:rPr>
              <a:t>„Po padesátce se prostě přibere a nedá se s tím nic dělat.“</a:t>
            </a:r>
            <a:endParaRPr lang="en-US" sz="2250" dirty="0"/>
          </a:p>
        </p:txBody>
      </p:sp>
      <p:sp>
        <p:nvSpPr>
          <p:cNvPr id="10" name="Shape 8"/>
          <p:cNvSpPr/>
          <p:nvPr/>
        </p:nvSpPr>
        <p:spPr>
          <a:xfrm>
            <a:off x="9410700" y="4476750"/>
            <a:ext cx="7734300" cy="3549179"/>
          </a:xfrm>
          <a:prstGeom prst="rect">
            <a:avLst/>
          </a:prstGeom>
          <a:solidFill>
            <a:srgbClr val="F4ECFA"/>
          </a:solidFill>
          <a:ln/>
        </p:spPr>
      </p:sp>
      <p:sp>
        <p:nvSpPr>
          <p:cNvPr id="11" name="Text 9"/>
          <p:cNvSpPr/>
          <p:nvPr/>
        </p:nvSpPr>
        <p:spPr>
          <a:xfrm>
            <a:off x="9867900" y="4895850"/>
            <a:ext cx="7024497"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FAKT</a:t>
            </a:r>
            <a:endParaRPr lang="en-US" sz="1650" dirty="0"/>
          </a:p>
        </p:txBody>
      </p:sp>
      <p:sp>
        <p:nvSpPr>
          <p:cNvPr id="12" name="Text 10"/>
          <p:cNvSpPr/>
          <p:nvPr/>
        </p:nvSpPr>
        <p:spPr>
          <a:xfrm>
            <a:off x="9867900" y="5521003"/>
            <a:ext cx="7024497" cy="2123926"/>
          </a:xfrm>
          <a:prstGeom prst="rect">
            <a:avLst/>
          </a:prstGeom>
          <a:noFill/>
          <a:ln/>
        </p:spPr>
        <p:txBody>
          <a:bodyPr wrap="square" lIns="25400" tIns="25400" rIns="25400" bIns="25400" rtlCol="0" anchor="t">
            <a:normAutofit/>
          </a:bodyPr>
          <a:lstStyle/>
          <a:p>
            <a:pPr algn="l" indent="0" marL="0">
              <a:lnSpc>
                <a:spcPct val="121667"/>
              </a:lnSpc>
              <a:buNone/>
            </a:pPr>
            <a:r>
              <a:rPr lang="en-US" sz="2250" dirty="0">
                <a:solidFill>
                  <a:srgbClr val="401252"/>
                </a:solidFill>
                <a:latin typeface="Inter" pitchFamily="34" charset="0"/>
                <a:ea typeface="Inter" pitchFamily="34" charset="-122"/>
                <a:cs typeface="Inter" pitchFamily="34" charset="-120"/>
              </a:rPr>
              <a:t>Věk, životní styl i menopauzální tranzice se sčítají – mění </a:t>
            </a:r>
            <a:pPr algn="l" indent="0" marL="0">
              <a:lnSpc>
                <a:spcPct val="121667"/>
              </a:lnSpc>
              <a:buNone/>
            </a:pPr>
            <a:r>
              <a:rPr lang="en-US" sz="2250" b="1" dirty="0">
                <a:solidFill>
                  <a:srgbClr val="401252"/>
                </a:solidFill>
                <a:latin typeface="Inter" pitchFamily="34" charset="0"/>
                <a:ea typeface="Inter" pitchFamily="34" charset="-122"/>
                <a:cs typeface="Inter" pitchFamily="34" charset="-120"/>
              </a:rPr>
              <a:t>tělesné složení </a:t>
            </a:r>
            <a:pPr algn="l" indent="0" marL="0">
              <a:lnSpc>
                <a:spcPct val="121667"/>
              </a:lnSpc>
              <a:buNone/>
            </a:pPr>
            <a:r>
              <a:rPr lang="en-US" sz="2250" dirty="0">
                <a:solidFill>
                  <a:srgbClr val="401252"/>
                </a:solidFill>
                <a:latin typeface="Inter" pitchFamily="34" charset="0"/>
                <a:ea typeface="Inter" pitchFamily="34" charset="-122"/>
                <a:cs typeface="Inter" pitchFamily="34" charset="-120"/>
              </a:rPr>
              <a:t>(více tuku se ukládá centrálně a svalová hmota je zranitelnější). Silné symptomy navíc mohou ztížit udržení návyků. Váha proto zachytí jen část změny.</a:t>
            </a:r>
            <a:endParaRPr lang="en-US" sz="2250" dirty="0"/>
          </a:p>
        </p:txBody>
      </p:sp>
      <p:sp>
        <p:nvSpPr>
          <p:cNvPr id="13" name="Text 11"/>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Baraut MC. Clin Nutr ESPEN. 2026 · Greendale GA et al. JCI Insight. 2019 · Jiang Y et al. Front Public Health.</a:t>
            </a:r>
            <a:endParaRPr lang="en-US" sz="1575" dirty="0"/>
          </a:p>
        </p:txBody>
      </p:sp>
      <p:sp>
        <p:nvSpPr>
          <p:cNvPr id="14" name="Text 12"/>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20</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772052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ODPOVĚĎ · PROČ NA TOM ZÁLEŽÍ JEŠTĚ ZA DVACET LET?</a:t>
            </a:r>
            <a:endParaRPr lang="en-US" sz="1650" dirty="0"/>
          </a:p>
        </p:txBody>
      </p:sp>
      <p:sp>
        <p:nvSpPr>
          <p:cNvPr id="4" name="Text 2"/>
          <p:cNvSpPr/>
          <p:nvPr/>
        </p:nvSpPr>
        <p:spPr>
          <a:xfrm>
            <a:off x="1143000" y="3922812"/>
            <a:ext cx="14716125" cy="2630388"/>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Rizikové trajektorie se mění dřív, než vznikne nemoc. Proto je prevence důležitá právě teď.</a:t>
            </a:r>
            <a:endParaRPr lang="en-US" sz="6300" dirty="0"/>
          </a:p>
        </p:txBody>
      </p:sp>
      <p:sp>
        <p:nvSpPr>
          <p:cNvPr id="5" name="Text 3"/>
          <p:cNvSpPr/>
          <p:nvPr/>
        </p:nvSpPr>
        <p:spPr>
          <a:xfrm>
            <a:off x="1143000" y="6934200"/>
            <a:ext cx="13735050"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Během menopauzální tranzice se mohou měnit kardiometabolické riziko, tělesné složení a kostní hmota ještě před vznikem klinického onemocnění. Smyslem prevence je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zachytit a ovlivnit trajektorii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 ne čekat na diagnózu.</a:t>
            </a:r>
            <a:endParaRPr lang="en-US" sz="2400" dirty="0"/>
          </a:p>
        </p:txBody>
      </p:sp>
      <p:sp>
        <p:nvSpPr>
          <p:cNvPr id="6"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21</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4000">
                <a:srgbClr val="401252">
                  <a:alpha val="88000"/>
                </a:srgbClr>
              </a:gs>
              <a:gs pos="72000">
                <a:srgbClr val="401252">
                  <a:alpha val="70000"/>
                </a:srgbClr>
              </a:gs>
              <a:gs pos="87000">
                <a:srgbClr val="401252">
                  <a:alpha val="22000"/>
                </a:srgbClr>
              </a:gs>
              <a:gs pos="100000">
                <a:srgbClr val="401252">
                  <a:alpha val="4000"/>
                </a:srgbClr>
              </a:gs>
            </a:gsLst>
            <a:lin ang="0" scaled="0"/>
          </a:gradFill>
          <a:ln/>
        </p:spPr>
      </p:sp>
      <p:sp>
        <p:nvSpPr>
          <p:cNvPr id="4" name="Text 1"/>
          <p:cNvSpPr/>
          <p:nvPr/>
        </p:nvSpPr>
        <p:spPr>
          <a:xfrm>
            <a:off x="1143000" y="1333500"/>
            <a:ext cx="519954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ČÁST TŘETÍ · CO SKUTEČNĚ FUNGUJE?</a:t>
            </a:r>
            <a:endParaRPr lang="en-US" sz="1650" dirty="0"/>
          </a:p>
        </p:txBody>
      </p:sp>
      <p:sp>
        <p:nvSpPr>
          <p:cNvPr id="5" name="Text 2"/>
          <p:cNvSpPr/>
          <p:nvPr/>
        </p:nvSpPr>
        <p:spPr>
          <a:xfrm>
            <a:off x="1143000" y="4411638"/>
            <a:ext cx="13342620" cy="2097732"/>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Které intervence doopravdy fungují?</a:t>
            </a:r>
            <a:endParaRPr lang="en-US" sz="7650" dirty="0"/>
          </a:p>
        </p:txBody>
      </p:sp>
      <p:sp>
        <p:nvSpPr>
          <p:cNvPr id="6" name="Text 3"/>
          <p:cNvSpPr/>
          <p:nvPr/>
        </p:nvSpPr>
        <p:spPr>
          <a:xfrm>
            <a:off x="1143000" y="6890370"/>
            <a:ext cx="1216533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Léčba symptomů. Prevence. Každodenní návyky. Každé má jinou evidenci a jiný účel.</a:t>
            </a:r>
            <a:endParaRPr lang="en-US" sz="2400" dirty="0"/>
          </a:p>
        </p:txBody>
      </p:sp>
      <p:sp>
        <p:nvSpPr>
          <p:cNvPr id="7"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22</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48405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HORMONÁLNÍ LÉČBA</a:t>
            </a:r>
            <a:endParaRPr lang="en-US" sz="1650" dirty="0"/>
          </a:p>
        </p:txBody>
      </p:sp>
      <p:sp>
        <p:nvSpPr>
          <p:cNvPr id="3" name="Text 1"/>
          <p:cNvSpPr/>
          <p:nvPr/>
        </p:nvSpPr>
        <p:spPr>
          <a:xfrm>
            <a:off x="1143000" y="4558308"/>
            <a:ext cx="1471612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401252"/>
                </a:solidFill>
                <a:latin typeface="Geist" pitchFamily="34" charset="0"/>
                <a:ea typeface="Geist" pitchFamily="34" charset="-122"/>
                <a:cs typeface="Geist" pitchFamily="34" charset="-120"/>
              </a:rPr>
              <a:t>Hormonální terapie je nejúčinnější léčbou VMS. Její volba je ale individuální.</a:t>
            </a:r>
            <a:endParaRPr lang="en-US" sz="6300" dirty="0"/>
          </a:p>
        </p:txBody>
      </p:sp>
      <p:sp>
        <p:nvSpPr>
          <p:cNvPr id="4" name="Text 2"/>
          <p:cNvSpPr/>
          <p:nvPr/>
        </p:nvSpPr>
        <p:spPr>
          <a:xfrm>
            <a:off x="1143000" y="6743700"/>
            <a:ext cx="1412748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Přínosy a rizika se hodnotí individuálně podle věku, anamnézy, symptomů a preferencí. Pro ženy, které MHT nechtějí nebo pro ně není vhodná, </a:t>
            </a:r>
            <a:pPr algn="l" indent="0" marL="0">
              <a:lnSpc>
                <a:spcPct val="121351"/>
              </a:lnSpc>
              <a:buNone/>
            </a:pPr>
            <a:r>
              <a:rPr lang="en-US" sz="2400" b="1" dirty="0">
                <a:solidFill>
                  <a:srgbClr val="401252"/>
                </a:solidFill>
                <a:latin typeface="Inter" pitchFamily="34" charset="0"/>
                <a:ea typeface="Inter" pitchFamily="34" charset="-122"/>
                <a:cs typeface="Inter" pitchFamily="34" charset="-120"/>
              </a:rPr>
              <a:t>existují účinné nehormonální možnosti</a:t>
            </a:r>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a:t>
            </a:r>
            <a:endParaRPr lang="en-US" sz="2400" dirty="0"/>
          </a:p>
        </p:txBody>
      </p:sp>
      <p:sp>
        <p:nvSpPr>
          <p:cNvPr id="5" name="Shape 3"/>
          <p:cNvSpPr/>
          <p:nvPr/>
        </p:nvSpPr>
        <p:spPr>
          <a:xfrm>
            <a:off x="14249400" y="1241078"/>
            <a:ext cx="381000" cy="381000"/>
          </a:xfrm>
          <a:prstGeom prst="roundRect">
            <a:avLst>
              <a:gd name="adj" fmla="val 22500"/>
            </a:avLst>
          </a:prstGeom>
          <a:solidFill>
            <a:srgbClr val="6D2A8C"/>
          </a:solidFill>
          <a:ln/>
        </p:spPr>
      </p:sp>
      <p:sp>
        <p:nvSpPr>
          <p:cNvPr id="6" name="Text 4"/>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7" name="Text 5"/>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NICE NG23 · ESE 2025</a:t>
            </a:r>
            <a:endParaRPr lang="en-US" sz="1350" dirty="0"/>
          </a:p>
        </p:txBody>
      </p:sp>
      <p:sp>
        <p:nvSpPr>
          <p:cNvPr id="8" name="Text 6"/>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23</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38111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EVIDENČNÍ KARTA</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Chrání hormonální léčba před nemocí?</a:t>
            </a:r>
            <a:endParaRPr lang="en-US" sz="5550" dirty="0"/>
          </a:p>
        </p:txBody>
      </p:sp>
      <p:sp>
        <p:nvSpPr>
          <p:cNvPr id="4" name="Shape 2"/>
          <p:cNvSpPr/>
          <p:nvPr/>
        </p:nvSpPr>
        <p:spPr>
          <a:xfrm>
            <a:off x="14249400" y="1241078"/>
            <a:ext cx="381000" cy="381000"/>
          </a:xfrm>
          <a:prstGeom prst="roundRect">
            <a:avLst>
              <a:gd name="adj" fmla="val 22500"/>
            </a:avLst>
          </a:prstGeom>
          <a:solidFill>
            <a:srgbClr val="6D2A8C"/>
          </a:solidFill>
          <a:ln/>
        </p:spPr>
      </p:sp>
      <p:sp>
        <p:nvSpPr>
          <p:cNvPr id="5" name="Text 3"/>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SHODA GUIDELINES 2025 A 2026</a:t>
            </a:r>
            <a:endParaRPr lang="en-US" sz="1350" dirty="0"/>
          </a:p>
        </p:txBody>
      </p:sp>
      <p:sp>
        <p:nvSpPr>
          <p:cNvPr id="7" name="Shape 5"/>
          <p:cNvSpPr/>
          <p:nvPr/>
        </p:nvSpPr>
        <p:spPr>
          <a:xfrm>
            <a:off x="5133975" y="4857750"/>
            <a:ext cx="9525" cy="2536031"/>
          </a:xfrm>
          <a:prstGeom prst="rect">
            <a:avLst/>
          </a:prstGeom>
          <a:solidFill>
            <a:srgbClr val="CDB3DC"/>
          </a:solidFill>
          <a:ln/>
        </p:spPr>
      </p:sp>
      <p:sp>
        <p:nvSpPr>
          <p:cNvPr id="8" name="Text 6"/>
          <p:cNvSpPr/>
          <p:nvPr/>
        </p:nvSpPr>
        <p:spPr>
          <a:xfrm>
            <a:off x="1143000" y="4857750"/>
            <a:ext cx="3600545"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OTÁZKA</a:t>
            </a:r>
            <a:endParaRPr lang="en-US" sz="1575" dirty="0"/>
          </a:p>
        </p:txBody>
      </p:sp>
      <p:sp>
        <p:nvSpPr>
          <p:cNvPr id="9" name="Text 7"/>
          <p:cNvSpPr/>
          <p:nvPr/>
        </p:nvSpPr>
        <p:spPr>
          <a:xfrm>
            <a:off x="1143000" y="5391299"/>
            <a:ext cx="3600545" cy="1039341"/>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Má se hormonální léčba užívat pro prevenci chronických nemocí?</a:t>
            </a:r>
            <a:endParaRPr lang="en-US" sz="1800" dirty="0"/>
          </a:p>
        </p:txBody>
      </p:sp>
      <p:sp>
        <p:nvSpPr>
          <p:cNvPr id="10" name="Shape 8"/>
          <p:cNvSpPr/>
          <p:nvPr/>
        </p:nvSpPr>
        <p:spPr>
          <a:xfrm>
            <a:off x="9134475" y="4857750"/>
            <a:ext cx="9525" cy="2536031"/>
          </a:xfrm>
          <a:prstGeom prst="rect">
            <a:avLst/>
          </a:prstGeom>
          <a:solidFill>
            <a:srgbClr val="CDB3DC"/>
          </a:solidFill>
          <a:ln/>
        </p:spPr>
      </p:sp>
      <p:sp>
        <p:nvSpPr>
          <p:cNvPr id="11" name="Text 9"/>
          <p:cNvSpPr/>
          <p:nvPr/>
        </p:nvSpPr>
        <p:spPr>
          <a:xfrm>
            <a:off x="5638800" y="485775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D2A8C"/>
                </a:solidFill>
                <a:latin typeface="Geist Mono" pitchFamily="34" charset="0"/>
                <a:ea typeface="Geist Mono" pitchFamily="34" charset="-122"/>
                <a:cs typeface="Geist Mono" pitchFamily="34" charset="-120"/>
              </a:rPr>
              <a:t>ZJIŠTĚNÍ</a:t>
            </a:r>
            <a:endParaRPr lang="en-US" sz="1575" dirty="0"/>
          </a:p>
        </p:txBody>
      </p:sp>
      <p:sp>
        <p:nvSpPr>
          <p:cNvPr id="12" name="Text 10"/>
          <p:cNvSpPr/>
          <p:nvPr/>
        </p:nvSpPr>
        <p:spPr>
          <a:xfrm>
            <a:off x="5638800" y="5391299"/>
            <a:ext cx="3090386" cy="1706835"/>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Je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nejúčinnější léčbou návalů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 je účinná na kost. Jako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samostatná primární prevence se nedoporučuje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13134975" y="4857750"/>
            <a:ext cx="9525" cy="2536031"/>
          </a:xfrm>
          <a:prstGeom prst="rect">
            <a:avLst/>
          </a:prstGeom>
          <a:solidFill>
            <a:srgbClr val="CDB3DC"/>
          </a:solidFill>
          <a:ln/>
        </p:spPr>
      </p:sp>
      <p:sp>
        <p:nvSpPr>
          <p:cNvPr id="14" name="Text 12"/>
          <p:cNvSpPr/>
          <p:nvPr/>
        </p:nvSpPr>
        <p:spPr>
          <a:xfrm>
            <a:off x="9639300" y="485775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INTERPRETACE</a:t>
            </a:r>
            <a:endParaRPr lang="en-US" sz="1575" dirty="0"/>
          </a:p>
        </p:txBody>
      </p:sp>
      <p:sp>
        <p:nvSpPr>
          <p:cNvPr id="15" name="Text 13"/>
          <p:cNvSpPr/>
          <p:nvPr/>
        </p:nvSpPr>
        <p:spPr>
          <a:xfrm>
            <a:off x="9639300" y="5391299"/>
            <a:ext cx="3090386" cy="2040582"/>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Indikací jsou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příznaky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 časná menopauza a ovariální insuficience. Poměr přínosu a rizika je nejlepší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do 60 let nebo do 10 let od menopauzy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t>
            </a:r>
            <a:endParaRPr lang="en-US" sz="1800" dirty="0"/>
          </a:p>
        </p:txBody>
      </p:sp>
      <p:sp>
        <p:nvSpPr>
          <p:cNvPr id="16" name="Text 14"/>
          <p:cNvSpPr/>
          <p:nvPr/>
        </p:nvSpPr>
        <p:spPr>
          <a:xfrm>
            <a:off x="13639800" y="4857750"/>
            <a:ext cx="361035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LIMIT</a:t>
            </a:r>
            <a:endParaRPr lang="en-US" sz="1575" dirty="0"/>
          </a:p>
        </p:txBody>
      </p:sp>
      <p:sp>
        <p:nvSpPr>
          <p:cNvPr id="17" name="Text 15"/>
          <p:cNvSpPr/>
          <p:nvPr/>
        </p:nvSpPr>
        <p:spPr>
          <a:xfrm>
            <a:off x="13639800" y="5391299"/>
            <a:ext cx="3610356" cy="1039341"/>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Riziko závisí na formě, dávce a cestě podání. Rozhodnutí je individuální a patří do ordinace.</a:t>
            </a:r>
            <a:endParaRPr lang="en-US" sz="1800" dirty="0"/>
          </a:p>
        </p:txBody>
      </p:sp>
      <p:sp>
        <p:nvSpPr>
          <p:cNvPr id="18" name="Text 16"/>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NICE NG23, 2026 · ESE guideline 2025 · The Menopause Society, position statements</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24</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85379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NEHORMONÁLNÍ</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Nehormonální léčba VMS – co má oporu v důkazech?</a:t>
            </a:r>
            <a:endParaRPr lang="en-US" sz="4500" dirty="0"/>
          </a:p>
        </p:txBody>
      </p:sp>
      <p:sp>
        <p:nvSpPr>
          <p:cNvPr id="4" name="Shape 2"/>
          <p:cNvSpPr/>
          <p:nvPr/>
        </p:nvSpPr>
        <p:spPr>
          <a:xfrm>
            <a:off x="14249400" y="1241078"/>
            <a:ext cx="381000" cy="381000"/>
          </a:xfrm>
          <a:prstGeom prst="roundRect">
            <a:avLst>
              <a:gd name="adj" fmla="val 22500"/>
            </a:avLst>
          </a:prstGeom>
          <a:solidFill>
            <a:srgbClr val="6D2A8C"/>
          </a:solidFill>
          <a:ln/>
        </p:spPr>
      </p:sp>
      <p:sp>
        <p:nvSpPr>
          <p:cNvPr id="5" name="Text 3"/>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POSITION STATEMENT, ÚROVNĚ DŮKAZŮ</a:t>
            </a:r>
            <a:endParaRPr lang="en-US" sz="1350" dirty="0"/>
          </a:p>
        </p:txBody>
      </p:sp>
      <p:sp>
        <p:nvSpPr>
          <p:cNvPr id="7" name="Shape 5"/>
          <p:cNvSpPr/>
          <p:nvPr/>
        </p:nvSpPr>
        <p:spPr>
          <a:xfrm>
            <a:off x="1143000" y="3524250"/>
            <a:ext cx="4978375" cy="571649"/>
          </a:xfrm>
          <a:prstGeom prst="rect">
            <a:avLst/>
          </a:prstGeom>
          <a:solidFill>
            <a:srgbClr val="6D2A8C"/>
          </a:solidFill>
          <a:ln/>
        </p:spPr>
      </p:sp>
      <p:sp>
        <p:nvSpPr>
          <p:cNvPr id="8" name="Text 6"/>
          <p:cNvSpPr/>
          <p:nvPr/>
        </p:nvSpPr>
        <p:spPr>
          <a:xfrm>
            <a:off x="1352550" y="3681413"/>
            <a:ext cx="1606250" cy="295275"/>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FFFFFF"/>
                </a:solidFill>
                <a:latin typeface="Geist Mono" pitchFamily="34" charset="0"/>
                <a:ea typeface="Geist Mono" pitchFamily="34" charset="-122"/>
                <a:cs typeface="Geist Mono" pitchFamily="34" charset="-120"/>
              </a:rPr>
              <a:t>DOPORUČENO</a:t>
            </a:r>
            <a:endParaRPr lang="en-US" sz="1575" dirty="0"/>
          </a:p>
        </p:txBody>
      </p:sp>
      <p:sp>
        <p:nvSpPr>
          <p:cNvPr id="9" name="Text 7"/>
          <p:cNvSpPr/>
          <p:nvPr/>
        </p:nvSpPr>
        <p:spPr>
          <a:xfrm>
            <a:off x="1143000" y="4229249"/>
            <a:ext cx="5127726"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ÚROVEŇ I</a:t>
            </a:r>
            <a:endParaRPr lang="en-US" sz="1500" dirty="0"/>
          </a:p>
        </p:txBody>
      </p:sp>
      <p:sp>
        <p:nvSpPr>
          <p:cNvPr id="10" name="Text 8"/>
          <p:cNvSpPr/>
          <p:nvPr/>
        </p:nvSpPr>
        <p:spPr>
          <a:xfrm>
            <a:off x="989648" y="4728344"/>
            <a:ext cx="5207928" cy="2366963"/>
          </a:xfrm>
          <a:prstGeom prst="rect">
            <a:avLst/>
          </a:prstGeom>
          <a:noFill/>
          <a:ln/>
        </p:spPr>
        <p:txBody>
          <a:bodyPr wrap="square" lIns="25400" tIns="25400" rIns="25400" bIns="25400" rtlCol="0" anchor="t">
            <a:normAutofit/>
          </a:bodyPr>
          <a:lstStyle/>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menopause-specific CBT</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klinická hypnóza</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SSRI / SNRI (ne první volba)</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gabapentin</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fezolinetant</a:t>
            </a:r>
            <a:endParaRPr lang="en-US" sz="1725" dirty="0"/>
          </a:p>
        </p:txBody>
      </p:sp>
      <p:sp>
        <p:nvSpPr>
          <p:cNvPr id="11" name="Shape 9"/>
          <p:cNvSpPr/>
          <p:nvPr/>
        </p:nvSpPr>
        <p:spPr>
          <a:xfrm>
            <a:off x="6654775" y="3524250"/>
            <a:ext cx="4978375" cy="594345"/>
          </a:xfrm>
          <a:prstGeom prst="rect">
            <a:avLst/>
          </a:prstGeom>
          <a:ln w="19050">
            <a:solidFill>
              <a:srgbClr val="6D2A8C"/>
            </a:solidFill>
            <a:prstDash val="solid"/>
          </a:ln>
        </p:spPr>
      </p:sp>
      <p:sp>
        <p:nvSpPr>
          <p:cNvPr id="12" name="Text 10"/>
          <p:cNvSpPr/>
          <p:nvPr/>
        </p:nvSpPr>
        <p:spPr>
          <a:xfrm>
            <a:off x="6883375" y="3695700"/>
            <a:ext cx="2600548" cy="285750"/>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D2A8C"/>
                </a:solidFill>
                <a:latin typeface="Geist Mono" pitchFamily="34" charset="0"/>
                <a:ea typeface="Geist Mono" pitchFamily="34" charset="-122"/>
                <a:cs typeface="Geist Mono" pitchFamily="34" charset="-120"/>
              </a:rPr>
              <a:t>SLABŠÍ DOPORUČENÍ</a:t>
            </a:r>
            <a:endParaRPr lang="en-US" sz="1500" dirty="0"/>
          </a:p>
        </p:txBody>
      </p:sp>
      <p:sp>
        <p:nvSpPr>
          <p:cNvPr id="13" name="Text 11"/>
          <p:cNvSpPr/>
          <p:nvPr/>
        </p:nvSpPr>
        <p:spPr>
          <a:xfrm>
            <a:off x="6654775" y="4251945"/>
            <a:ext cx="5127726"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ZVAŽOVAT INDIVIDUÁLNĚ</a:t>
            </a:r>
            <a:endParaRPr lang="en-US" sz="1500" dirty="0"/>
          </a:p>
        </p:txBody>
      </p:sp>
      <p:sp>
        <p:nvSpPr>
          <p:cNvPr id="14" name="Text 12"/>
          <p:cNvSpPr/>
          <p:nvPr/>
        </p:nvSpPr>
        <p:spPr>
          <a:xfrm>
            <a:off x="6501423" y="4751040"/>
            <a:ext cx="5207928" cy="1366838"/>
          </a:xfrm>
          <a:prstGeom prst="rect">
            <a:avLst/>
          </a:prstGeom>
          <a:noFill/>
          <a:ln/>
        </p:spPr>
        <p:txBody>
          <a:bodyPr wrap="square" lIns="25400" tIns="25400" rIns="25400" bIns="25400" rtlCol="0" anchor="t">
            <a:normAutofit/>
          </a:bodyPr>
          <a:lstStyle/>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oxybutynin</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redukce hmotnosti</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stelátní blokáda</a:t>
            </a:r>
            <a:endParaRPr lang="en-US" sz="1725" dirty="0"/>
          </a:p>
        </p:txBody>
      </p:sp>
      <p:sp>
        <p:nvSpPr>
          <p:cNvPr id="15" name="Shape 13"/>
          <p:cNvSpPr/>
          <p:nvPr/>
        </p:nvSpPr>
        <p:spPr>
          <a:xfrm>
            <a:off x="12166550" y="3524250"/>
            <a:ext cx="4978450" cy="594345"/>
          </a:xfrm>
          <a:prstGeom prst="rect">
            <a:avLst/>
          </a:prstGeom>
          <a:ln w="19050">
            <a:solidFill>
              <a:srgbClr val="CDB3DC"/>
            </a:solidFill>
            <a:prstDash val="dash"/>
          </a:ln>
        </p:spPr>
      </p:sp>
      <p:sp>
        <p:nvSpPr>
          <p:cNvPr id="16" name="Text 14"/>
          <p:cNvSpPr/>
          <p:nvPr/>
        </p:nvSpPr>
        <p:spPr>
          <a:xfrm>
            <a:off x="12395150" y="3695700"/>
            <a:ext cx="2141666" cy="285750"/>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NÍZKÁ EVIDENCE</a:t>
            </a:r>
            <a:endParaRPr lang="en-US" sz="1500" dirty="0"/>
          </a:p>
        </p:txBody>
      </p:sp>
      <p:sp>
        <p:nvSpPr>
          <p:cNvPr id="17" name="Text 15"/>
          <p:cNvSpPr/>
          <p:nvPr/>
        </p:nvSpPr>
        <p:spPr>
          <a:xfrm>
            <a:off x="12166550" y="4251945"/>
            <a:ext cx="5127803"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PODPŮRNÁ TERAPIE</a:t>
            </a:r>
            <a:endParaRPr lang="en-US" sz="1500" dirty="0"/>
          </a:p>
        </p:txBody>
      </p:sp>
      <p:sp>
        <p:nvSpPr>
          <p:cNvPr id="18" name="Text 16"/>
          <p:cNvSpPr/>
          <p:nvPr/>
        </p:nvSpPr>
        <p:spPr>
          <a:xfrm>
            <a:off x="12013198" y="4751040"/>
            <a:ext cx="5208002" cy="3367088"/>
          </a:xfrm>
          <a:prstGeom prst="rect">
            <a:avLst/>
          </a:prstGeom>
          <a:noFill/>
          <a:ln/>
        </p:spPr>
        <p:txBody>
          <a:bodyPr wrap="square" lIns="25400" tIns="25400" rIns="25400" bIns="25400" rtlCol="0" anchor="t">
            <a:normAutofit/>
          </a:bodyPr>
          <a:lstStyle/>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doplňky a bylinné přípravky</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sója, sójové extrakty a equol</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dechová cvičení / paced respiration</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chlazení a vyhýbání se triggerům</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jóga a mindfulness</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akupunktura</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dietní modifikace</a:t>
            </a:r>
            <a:endParaRPr lang="en-US" sz="1725" dirty="0"/>
          </a:p>
        </p:txBody>
      </p:sp>
      <p:sp>
        <p:nvSpPr>
          <p:cNvPr id="19" name="Text 17"/>
          <p:cNvSpPr/>
          <p:nvPr/>
        </p:nvSpPr>
        <p:spPr>
          <a:xfrm>
            <a:off x="1143000" y="8153400"/>
            <a:ext cx="16482060"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Po hormonálně senzitivním nádoru, zejména karcinomu prsu, jsou při VMS zpravidla první volbou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nehormonální možnosti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 Léčba se individualizuje ve spolupráci s onkologem.</a:t>
            </a:r>
            <a:endParaRPr lang="en-US" sz="2100" dirty="0"/>
          </a:p>
        </p:txBody>
      </p:sp>
      <p:sp>
        <p:nvSpPr>
          <p:cNvPr id="20" name="Text 18"/>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The Menopause Society, nonhormone therapy position statement 2023</a:t>
            </a:r>
            <a:endParaRPr lang="en-US" sz="1575" dirty="0"/>
          </a:p>
        </p:txBody>
      </p:sp>
      <p:sp>
        <p:nvSpPr>
          <p:cNvPr id="21" name="Text 19"/>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25</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32647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POI A ČASNÁ MENOPAUZA</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U POI před 40. rokem není hormonální léčba jen léčbou symptomů. Je součástí prevence.</a:t>
            </a:r>
            <a:endParaRPr lang="en-US" sz="4500" dirty="0"/>
          </a:p>
        </p:txBody>
      </p:sp>
      <p:sp>
        <p:nvSpPr>
          <p:cNvPr id="4" name="Shape 2"/>
          <p:cNvSpPr/>
          <p:nvPr/>
        </p:nvSpPr>
        <p:spPr>
          <a:xfrm>
            <a:off x="14249400" y="1356792"/>
            <a:ext cx="381000" cy="381000"/>
          </a:xfrm>
          <a:prstGeom prst="roundRect">
            <a:avLst>
              <a:gd name="adj" fmla="val 22500"/>
            </a:avLst>
          </a:prstGeom>
          <a:solidFill>
            <a:srgbClr val="6D2A8C"/>
          </a:solidFill>
          <a:ln/>
        </p:spPr>
      </p:sp>
      <p:sp>
        <p:nvSpPr>
          <p:cNvPr id="5" name="Text 3"/>
          <p:cNvSpPr/>
          <p:nvPr/>
        </p:nvSpPr>
        <p:spPr>
          <a:xfrm>
            <a:off x="14211300" y="1356792"/>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SHODA GUIDELINES, DATA Z JINÉ POPULACE</a:t>
            </a:r>
            <a:endParaRPr lang="en-US" sz="1350" dirty="0"/>
          </a:p>
        </p:txBody>
      </p:sp>
      <p:sp>
        <p:nvSpPr>
          <p:cNvPr id="7" name="Shape 5"/>
          <p:cNvSpPr/>
          <p:nvPr/>
        </p:nvSpPr>
        <p:spPr>
          <a:xfrm>
            <a:off x="6467475" y="5524500"/>
            <a:ext cx="9525" cy="2892103"/>
          </a:xfrm>
          <a:prstGeom prst="rect">
            <a:avLst/>
          </a:prstGeom>
          <a:solidFill>
            <a:srgbClr val="CDB3DC"/>
          </a:solidFill>
          <a:ln/>
        </p:spPr>
      </p:sp>
      <p:sp>
        <p:nvSpPr>
          <p:cNvPr id="8" name="Text 6"/>
          <p:cNvSpPr/>
          <p:nvPr/>
        </p:nvSpPr>
        <p:spPr>
          <a:xfrm>
            <a:off x="1143000" y="5524500"/>
            <a:ext cx="5102543" cy="952500"/>
          </a:xfrm>
          <a:prstGeom prst="rect">
            <a:avLst/>
          </a:prstGeom>
          <a:noFill/>
          <a:ln/>
        </p:spPr>
        <p:txBody>
          <a:bodyPr wrap="none" lIns="25400" tIns="25400" rIns="25400" bIns="25400" rtlCol="0" anchor="t">
            <a:normAutofit/>
          </a:bodyPr>
          <a:lstStyle/>
          <a:p>
            <a:pPr algn="l" indent="0" marL="0">
              <a:lnSpc>
                <a:spcPct val="76800"/>
              </a:lnSpc>
              <a:buNone/>
            </a:pPr>
            <a:r>
              <a:rPr lang="en-US" sz="7200" spc="-216" kern="0" dirty="0">
                <a:solidFill>
                  <a:srgbClr val="6D2A8C"/>
                </a:solidFill>
                <a:latin typeface="Geist" pitchFamily="34" charset="0"/>
                <a:ea typeface="Geist" pitchFamily="34" charset="-122"/>
                <a:cs typeface="Geist" pitchFamily="34" charset="-120"/>
              </a:rPr>
              <a:t>1</a:t>
            </a:r>
            <a:pPr algn="l" indent="0" marL="0">
              <a:lnSpc>
                <a:spcPct val="76800"/>
              </a:lnSpc>
              <a:buNone/>
            </a:pPr>
            <a:r>
              <a:rPr lang="en-US" sz="3600" spc="-216" kern="0" dirty="0">
                <a:solidFill>
                  <a:srgbClr val="6D2A8C"/>
                </a:solidFill>
                <a:latin typeface="Geist" pitchFamily="34" charset="0"/>
                <a:ea typeface="Geist" pitchFamily="34" charset="-122"/>
                <a:cs typeface="Geist" pitchFamily="34" charset="-120"/>
              </a:rPr>
              <a:t>z</a:t>
            </a:r>
            <a:pPr algn="l" indent="0" marL="0">
              <a:lnSpc>
                <a:spcPct val="76800"/>
              </a:lnSpc>
              <a:buNone/>
            </a:pPr>
            <a:r>
              <a:rPr lang="en-US" sz="7200" spc="-216" kern="0" dirty="0">
                <a:solidFill>
                  <a:srgbClr val="6D2A8C"/>
                </a:solidFill>
                <a:latin typeface="Geist" pitchFamily="34" charset="0"/>
                <a:ea typeface="Geist" pitchFamily="34" charset="-122"/>
                <a:cs typeface="Geist" pitchFamily="34" charset="-120"/>
              </a:rPr>
              <a:t>250</a:t>
            </a:r>
            <a:endParaRPr lang="en-US" sz="7200" dirty="0"/>
          </a:p>
        </p:txBody>
      </p:sp>
      <p:sp>
        <p:nvSpPr>
          <p:cNvPr id="9" name="Text 7"/>
          <p:cNvSpPr/>
          <p:nvPr/>
        </p:nvSpPr>
        <p:spPr>
          <a:xfrm>
            <a:off x="1143000" y="6648450"/>
            <a:ext cx="477783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ŽEN DO 35 LET</a:t>
            </a:r>
            <a:endParaRPr lang="en-US" sz="1650" dirty="0"/>
          </a:p>
        </p:txBody>
      </p:sp>
      <p:sp>
        <p:nvSpPr>
          <p:cNvPr id="10" name="Text 8"/>
          <p:cNvSpPr/>
          <p:nvPr/>
        </p:nvSpPr>
        <p:spPr>
          <a:xfrm>
            <a:off x="1143000" y="7216453"/>
            <a:ext cx="4777835"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Primární ovariální insuficience není vzácnost.</a:t>
            </a:r>
            <a:endParaRPr lang="en-US" sz="2100" dirty="0"/>
          </a:p>
        </p:txBody>
      </p:sp>
      <p:sp>
        <p:nvSpPr>
          <p:cNvPr id="11" name="Shape 9"/>
          <p:cNvSpPr/>
          <p:nvPr/>
        </p:nvSpPr>
        <p:spPr>
          <a:xfrm>
            <a:off x="11801475" y="5524500"/>
            <a:ext cx="9525" cy="2892103"/>
          </a:xfrm>
          <a:prstGeom prst="rect">
            <a:avLst/>
          </a:prstGeom>
          <a:solidFill>
            <a:srgbClr val="CDB3DC"/>
          </a:solidFill>
          <a:ln/>
        </p:spPr>
      </p:sp>
      <p:sp>
        <p:nvSpPr>
          <p:cNvPr id="12" name="Text 10"/>
          <p:cNvSpPr/>
          <p:nvPr/>
        </p:nvSpPr>
        <p:spPr>
          <a:xfrm>
            <a:off x="7162800" y="5524500"/>
            <a:ext cx="4348163" cy="952500"/>
          </a:xfrm>
          <a:prstGeom prst="rect">
            <a:avLst/>
          </a:prstGeom>
          <a:noFill/>
          <a:ln/>
        </p:spPr>
        <p:txBody>
          <a:bodyPr wrap="none" lIns="25400" tIns="25400" rIns="25400" bIns="25400" rtlCol="0" anchor="t">
            <a:normAutofit/>
          </a:bodyPr>
          <a:lstStyle/>
          <a:p>
            <a:pPr algn="l" indent="0" marL="0">
              <a:lnSpc>
                <a:spcPct val="76800"/>
              </a:lnSpc>
              <a:buNone/>
            </a:pPr>
            <a:r>
              <a:rPr lang="en-US" sz="7200" spc="-216" kern="0" dirty="0">
                <a:solidFill>
                  <a:srgbClr val="6D2A8C"/>
                </a:solidFill>
                <a:latin typeface="Geist" pitchFamily="34" charset="0"/>
                <a:ea typeface="Geist" pitchFamily="34" charset="-122"/>
                <a:cs typeface="Geist" pitchFamily="34" charset="-120"/>
              </a:rPr>
              <a:t>1</a:t>
            </a:r>
            <a:pPr algn="l" indent="0" marL="0">
              <a:lnSpc>
                <a:spcPct val="76800"/>
              </a:lnSpc>
              <a:buNone/>
            </a:pPr>
            <a:r>
              <a:rPr lang="en-US" sz="3600" spc="-216" kern="0" dirty="0">
                <a:solidFill>
                  <a:srgbClr val="6D2A8C"/>
                </a:solidFill>
                <a:latin typeface="Geist" pitchFamily="34" charset="0"/>
                <a:ea typeface="Geist" pitchFamily="34" charset="-122"/>
                <a:cs typeface="Geist" pitchFamily="34" charset="-120"/>
              </a:rPr>
              <a:t>z</a:t>
            </a:r>
            <a:pPr algn="l" indent="0" marL="0">
              <a:lnSpc>
                <a:spcPct val="76800"/>
              </a:lnSpc>
              <a:buNone/>
            </a:pPr>
            <a:r>
              <a:rPr lang="en-US" sz="7200" spc="-216" kern="0" dirty="0">
                <a:solidFill>
                  <a:srgbClr val="6D2A8C"/>
                </a:solidFill>
                <a:latin typeface="Geist" pitchFamily="34" charset="0"/>
                <a:ea typeface="Geist" pitchFamily="34" charset="-122"/>
                <a:cs typeface="Geist" pitchFamily="34" charset="-120"/>
              </a:rPr>
              <a:t>100</a:t>
            </a:r>
            <a:endParaRPr lang="en-US" sz="7200" dirty="0"/>
          </a:p>
        </p:txBody>
      </p:sp>
      <p:sp>
        <p:nvSpPr>
          <p:cNvPr id="13" name="Text 11"/>
          <p:cNvSpPr/>
          <p:nvPr/>
        </p:nvSpPr>
        <p:spPr>
          <a:xfrm>
            <a:off x="7162800" y="6648450"/>
            <a:ext cx="407146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ŽEN DO 40 LET</a:t>
            </a:r>
            <a:endParaRPr lang="en-US" sz="1650" dirty="0"/>
          </a:p>
        </p:txBody>
      </p:sp>
      <p:sp>
        <p:nvSpPr>
          <p:cNvPr id="14" name="Text 12"/>
          <p:cNvSpPr/>
          <p:nvPr/>
        </p:nvSpPr>
        <p:spPr>
          <a:xfrm>
            <a:off x="7162800" y="7216453"/>
            <a:ext cx="4071461"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Mezi 40–44. rokem jde o časnou menopauzu.</a:t>
            </a:r>
            <a:endParaRPr lang="en-US" sz="2100" dirty="0"/>
          </a:p>
        </p:txBody>
      </p:sp>
      <p:sp>
        <p:nvSpPr>
          <p:cNvPr id="15" name="Text 13"/>
          <p:cNvSpPr/>
          <p:nvPr/>
        </p:nvSpPr>
        <p:spPr>
          <a:xfrm>
            <a:off x="12496800" y="5524500"/>
            <a:ext cx="5113020" cy="952500"/>
          </a:xfrm>
          <a:prstGeom prst="rect">
            <a:avLst/>
          </a:prstGeom>
          <a:noFill/>
          <a:ln/>
        </p:spPr>
        <p:txBody>
          <a:bodyPr wrap="none" lIns="25400" tIns="25400" rIns="25400" bIns="25400" rtlCol="0" anchor="t">
            <a:normAutofit/>
          </a:bodyPr>
          <a:lstStyle/>
          <a:p>
            <a:pPr algn="l" indent="0" marL="0">
              <a:lnSpc>
                <a:spcPct val="76800"/>
              </a:lnSpc>
              <a:buNone/>
            </a:pPr>
            <a:r>
              <a:rPr lang="en-US" sz="3600" spc="-216" kern="0" dirty="0">
                <a:solidFill>
                  <a:srgbClr val="6D2A8C"/>
                </a:solidFill>
                <a:latin typeface="Geist" pitchFamily="34" charset="0"/>
                <a:ea typeface="Geist" pitchFamily="34" charset="-122"/>
                <a:cs typeface="Geist" pitchFamily="34" charset="-120"/>
              </a:rPr>
              <a:t>do</a:t>
            </a:r>
            <a:pPr algn="l" indent="0" marL="0">
              <a:lnSpc>
                <a:spcPct val="76800"/>
              </a:lnSpc>
              <a:buNone/>
            </a:pPr>
            <a:r>
              <a:rPr lang="en-US" sz="7200" spc="-216" kern="0" dirty="0">
                <a:solidFill>
                  <a:srgbClr val="6D2A8C"/>
                </a:solidFill>
                <a:latin typeface="Geist" pitchFamily="34" charset="0"/>
                <a:ea typeface="Geist" pitchFamily="34" charset="-122"/>
                <a:cs typeface="Geist" pitchFamily="34" charset="-120"/>
              </a:rPr>
              <a:t>51</a:t>
            </a:r>
            <a:pPr algn="l" indent="0" marL="0">
              <a:lnSpc>
                <a:spcPct val="76800"/>
              </a:lnSpc>
              <a:buNone/>
            </a:pPr>
            <a:r>
              <a:rPr lang="en-US" sz="3600" spc="-216" kern="0" dirty="0">
                <a:solidFill>
                  <a:srgbClr val="6D2A8C"/>
                </a:solidFill>
                <a:latin typeface="Geist" pitchFamily="34" charset="0"/>
                <a:ea typeface="Geist" pitchFamily="34" charset="-122"/>
                <a:cs typeface="Geist" pitchFamily="34" charset="-120"/>
              </a:rPr>
              <a:t>let</a:t>
            </a:r>
            <a:endParaRPr lang="en-US" sz="7200" dirty="0"/>
          </a:p>
        </p:txBody>
      </p:sp>
      <p:sp>
        <p:nvSpPr>
          <p:cNvPr id="16" name="Text 14"/>
          <p:cNvSpPr/>
          <p:nvPr/>
        </p:nvSpPr>
        <p:spPr>
          <a:xfrm>
            <a:off x="12496800" y="6648450"/>
            <a:ext cx="478764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TRVÁNÍ LÉČBY</a:t>
            </a:r>
            <a:endParaRPr lang="en-US" sz="1650" dirty="0"/>
          </a:p>
        </p:txBody>
      </p:sp>
      <p:sp>
        <p:nvSpPr>
          <p:cNvPr id="17" name="Text 15"/>
          <p:cNvSpPr/>
          <p:nvPr/>
        </p:nvSpPr>
        <p:spPr>
          <a:xfrm>
            <a:off x="12496800" y="7216453"/>
            <a:ext cx="4787646" cy="12382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Nejde jen o symptomy. Jde o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náhradu předčasného hormonálního deficitu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a:t>
            </a:r>
            <a:endParaRPr lang="en-US" sz="2100" dirty="0"/>
          </a:p>
        </p:txBody>
      </p:sp>
      <p:sp>
        <p:nvSpPr>
          <p:cNvPr id="18" name="Text 16"/>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Výskyt POI nejméně kolem 1–3 % a některé novější globální odhady až kolem 3,7 %!</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26</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011377"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VERSUS LÉČBA PŘÍZNAKŮ</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Pohyb není primární léčbou VMS. Je ale jednou z nejsilnějších intervencí pro zdraví.</a:t>
            </a:r>
            <a:endParaRPr lang="en-US" sz="4500" dirty="0"/>
          </a:p>
        </p:txBody>
      </p:sp>
      <p:sp>
        <p:nvSpPr>
          <p:cNvPr id="4" name="Shape 2"/>
          <p:cNvSpPr/>
          <p:nvPr/>
        </p:nvSpPr>
        <p:spPr>
          <a:xfrm>
            <a:off x="14249400" y="1241078"/>
            <a:ext cx="381000" cy="381000"/>
          </a:xfrm>
          <a:prstGeom prst="roundRect">
            <a:avLst>
              <a:gd name="adj" fmla="val 22500"/>
            </a:avLst>
          </a:prstGeom>
          <a:solidFill>
            <a:srgbClr val="6D2A8C"/>
          </a:solidFill>
          <a:ln/>
        </p:spPr>
      </p:sp>
      <p:sp>
        <p:nvSpPr>
          <p:cNvPr id="5" name="Text 3"/>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PŘEHLEDY PRO OBĚ TVRZENÍ</a:t>
            </a:r>
            <a:endParaRPr lang="en-US" sz="1350" dirty="0"/>
          </a:p>
        </p:txBody>
      </p:sp>
      <p:sp>
        <p:nvSpPr>
          <p:cNvPr id="7" name="Shape 5"/>
          <p:cNvSpPr/>
          <p:nvPr/>
        </p:nvSpPr>
        <p:spPr>
          <a:xfrm>
            <a:off x="9134475" y="5734050"/>
            <a:ext cx="9525" cy="2493913"/>
          </a:xfrm>
          <a:prstGeom prst="rect">
            <a:avLst/>
          </a:prstGeom>
          <a:solidFill>
            <a:srgbClr val="CDB3DC"/>
          </a:solidFill>
          <a:ln/>
        </p:spPr>
      </p:sp>
      <p:sp>
        <p:nvSpPr>
          <p:cNvPr id="8" name="Text 6"/>
          <p:cNvSpPr/>
          <p:nvPr/>
        </p:nvSpPr>
        <p:spPr>
          <a:xfrm>
            <a:off x="1143000" y="5734050"/>
            <a:ext cx="74463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NA NÁVALY</a:t>
            </a:r>
            <a:endParaRPr lang="en-US" sz="1650" dirty="0"/>
          </a:p>
        </p:txBody>
      </p:sp>
      <p:sp>
        <p:nvSpPr>
          <p:cNvPr id="9" name="Text 7"/>
          <p:cNvSpPr/>
          <p:nvPr/>
        </p:nvSpPr>
        <p:spPr>
          <a:xfrm>
            <a:off x="1143000" y="6321103"/>
            <a:ext cx="7952423"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6B4B7D"/>
                </a:solidFill>
                <a:latin typeface="Geist" pitchFamily="34" charset="0"/>
                <a:ea typeface="Geist" pitchFamily="34" charset="-122"/>
                <a:cs typeface="Geist" pitchFamily="34" charset="-120"/>
              </a:rPr>
              <a:t>Nedoporučeno jako primární terapie</a:t>
            </a:r>
            <a:endParaRPr lang="en-US" sz="2700" dirty="0"/>
          </a:p>
        </p:txBody>
      </p:sp>
      <p:sp>
        <p:nvSpPr>
          <p:cNvPr id="10" name="Text 8"/>
          <p:cNvSpPr/>
          <p:nvPr/>
        </p:nvSpPr>
        <p:spPr>
          <a:xfrm>
            <a:off x="1143000" y="6942088"/>
            <a:ext cx="7446359" cy="132397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Pohyb může VMS zmírnit, nejlépe vychází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odporový trénink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Jako spolehlivá samostatná léčba VMS ale zatím není etablován.</a:t>
            </a:r>
            <a:endParaRPr lang="en-US" sz="2250" dirty="0"/>
          </a:p>
        </p:txBody>
      </p:sp>
      <p:sp>
        <p:nvSpPr>
          <p:cNvPr id="11" name="Text 9"/>
          <p:cNvSpPr/>
          <p:nvPr/>
        </p:nvSpPr>
        <p:spPr>
          <a:xfrm>
            <a:off x="9906000" y="5734050"/>
            <a:ext cx="745617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NA DLOUHODOBÉ ZDRAVÍ</a:t>
            </a:r>
            <a:endParaRPr lang="en-US" sz="1650" dirty="0"/>
          </a:p>
        </p:txBody>
      </p:sp>
      <p:sp>
        <p:nvSpPr>
          <p:cNvPr id="12" name="Text 10"/>
          <p:cNvSpPr/>
          <p:nvPr/>
        </p:nvSpPr>
        <p:spPr>
          <a:xfrm>
            <a:off x="9906000" y="6321103"/>
            <a:ext cx="796290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„Polypill“ pro zdraví</a:t>
            </a:r>
            <a:endParaRPr lang="en-US" sz="2700" dirty="0"/>
          </a:p>
        </p:txBody>
      </p:sp>
      <p:sp>
        <p:nvSpPr>
          <p:cNvPr id="13" name="Text 11"/>
          <p:cNvSpPr/>
          <p:nvPr/>
        </p:nvSpPr>
        <p:spPr>
          <a:xfrm>
            <a:off x="9906000" y="6942088"/>
            <a:ext cx="7456170" cy="8953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Kardiovaskulární riziko, inzulinová senzitivita, kostní denzita, svalová funkce a hmota, spánek, nálada.</a:t>
            </a:r>
            <a:endParaRPr lang="en-US" sz="2250" dirty="0"/>
          </a:p>
        </p:txBody>
      </p:sp>
      <p:sp>
        <p:nvSpPr>
          <p:cNvPr id="14" name="Text 12"/>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Pohyb nemusí změnit každý symptom. Mění ale trajektorii zdraví.</a:t>
            </a:r>
            <a:endParaRPr lang="en-US" sz="1575" dirty="0"/>
          </a:p>
        </p:txBody>
      </p:sp>
      <p:sp>
        <p:nvSpPr>
          <p:cNvPr id="15"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27</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5FE"/>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11430000" y="0"/>
            <a:ext cx="6858000" cy="10287000"/>
          </a:xfrm>
          <a:prstGeom prst="rect">
            <a:avLst/>
          </a:prstGeom>
        </p:spPr>
      </p:pic>
      <p:sp>
        <p:nvSpPr>
          <p:cNvPr id="3" name="Text 0"/>
          <p:cNvSpPr/>
          <p:nvPr/>
        </p:nvSpPr>
        <p:spPr>
          <a:xfrm>
            <a:off x="1143000" y="1333500"/>
            <a:ext cx="390843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DÁVKA POHYBU</a:t>
            </a:r>
            <a:endParaRPr lang="en-US" sz="1650" dirty="0"/>
          </a:p>
        </p:txBody>
      </p:sp>
      <p:sp>
        <p:nvSpPr>
          <p:cNvPr id="4" name="Text 1"/>
          <p:cNvSpPr/>
          <p:nvPr/>
        </p:nvSpPr>
        <p:spPr>
          <a:xfrm>
            <a:off x="1143000" y="1809750"/>
            <a:ext cx="9418320" cy="1297632"/>
          </a:xfrm>
          <a:prstGeom prst="rect">
            <a:avLst/>
          </a:prstGeom>
          <a:noFill/>
          <a:ln/>
        </p:spPr>
        <p:txBody>
          <a:bodyPr wrap="square" lIns="25400" tIns="25400" rIns="25400" bIns="25400" rtlCol="0" anchor="t">
            <a:normAutofit/>
          </a:bodyPr>
          <a:lstStyle/>
          <a:p>
            <a:pPr algn="l" indent="0" marL="0">
              <a:lnSpc>
                <a:spcPct val="87576"/>
              </a:lnSpc>
              <a:buNone/>
            </a:pPr>
            <a:r>
              <a:rPr lang="en-US" sz="4350" spc="-78" kern="0" dirty="0">
                <a:solidFill>
                  <a:srgbClr val="401252"/>
                </a:solidFill>
                <a:latin typeface="Geist" pitchFamily="34" charset="0"/>
                <a:ea typeface="Geist" pitchFamily="34" charset="-122"/>
                <a:cs typeface="Geist" pitchFamily="34" charset="-120"/>
              </a:rPr>
              <a:t>Chůze se počítá. Pro sval a kost ale nestačí sama.</a:t>
            </a:r>
            <a:endParaRPr lang="en-US" sz="4350" dirty="0"/>
          </a:p>
        </p:txBody>
      </p:sp>
      <p:sp>
        <p:nvSpPr>
          <p:cNvPr id="5" name="Text 2"/>
          <p:cNvSpPr/>
          <p:nvPr/>
        </p:nvSpPr>
        <p:spPr>
          <a:xfrm>
            <a:off x="1143000" y="4038600"/>
            <a:ext cx="2346796" cy="963885"/>
          </a:xfrm>
          <a:prstGeom prst="rect">
            <a:avLst/>
          </a:prstGeom>
          <a:noFill/>
          <a:ln/>
        </p:spPr>
        <p:txBody>
          <a:bodyPr wrap="none" lIns="25400" tIns="25400" rIns="25400" bIns="25400" rtlCol="0" anchor="t">
            <a:normAutofit/>
          </a:bodyPr>
          <a:lstStyle/>
          <a:p>
            <a:pPr algn="l" indent="0" marL="0">
              <a:lnSpc>
                <a:spcPct val="124615"/>
              </a:lnSpc>
              <a:buNone/>
            </a:pPr>
            <a:r>
              <a:rPr lang="en-US" sz="4500" spc="-135" kern="0" dirty="0">
                <a:solidFill>
                  <a:srgbClr val="6D2A8C"/>
                </a:solidFill>
                <a:latin typeface="Geist" pitchFamily="34" charset="0"/>
                <a:ea typeface="Geist" pitchFamily="34" charset="-122"/>
                <a:cs typeface="Geist" pitchFamily="34" charset="-120"/>
              </a:rPr>
              <a:t>150–300</a:t>
            </a:r>
            <a:endParaRPr lang="en-US" sz="4500" dirty="0"/>
          </a:p>
        </p:txBody>
      </p:sp>
      <p:sp>
        <p:nvSpPr>
          <p:cNvPr id="6" name="Text 3"/>
          <p:cNvSpPr/>
          <p:nvPr/>
        </p:nvSpPr>
        <p:spPr>
          <a:xfrm>
            <a:off x="3718396" y="4386263"/>
            <a:ext cx="6765662" cy="8953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minut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středně intenzivní aerobní aktivity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týdně, nebo 75–150 minut vysoce intenzivní aktivity</a:t>
            </a:r>
            <a:endParaRPr lang="en-US" sz="2250" dirty="0"/>
          </a:p>
        </p:txBody>
      </p:sp>
      <p:sp>
        <p:nvSpPr>
          <p:cNvPr id="7" name="Text 4"/>
          <p:cNvSpPr/>
          <p:nvPr/>
        </p:nvSpPr>
        <p:spPr>
          <a:xfrm>
            <a:off x="1143000" y="5567363"/>
            <a:ext cx="2346796" cy="963885"/>
          </a:xfrm>
          <a:prstGeom prst="rect">
            <a:avLst/>
          </a:prstGeom>
          <a:noFill/>
          <a:ln/>
        </p:spPr>
        <p:txBody>
          <a:bodyPr wrap="none" lIns="25400" tIns="25400" rIns="25400" bIns="25400" rtlCol="0" anchor="t">
            <a:normAutofit/>
          </a:bodyPr>
          <a:lstStyle/>
          <a:p>
            <a:pPr algn="l" indent="0" marL="0">
              <a:lnSpc>
                <a:spcPct val="124615"/>
              </a:lnSpc>
              <a:buNone/>
            </a:pPr>
            <a:r>
              <a:rPr lang="en-US" sz="4500" spc="-135" kern="0" dirty="0">
                <a:solidFill>
                  <a:srgbClr val="6D2A8C"/>
                </a:solidFill>
                <a:latin typeface="Geist" pitchFamily="34" charset="0"/>
                <a:ea typeface="Geist" pitchFamily="34" charset="-122"/>
                <a:cs typeface="Geist" pitchFamily="34" charset="-120"/>
              </a:rPr>
              <a:t>≥ 2×</a:t>
            </a:r>
            <a:endParaRPr lang="en-US" sz="4500" dirty="0"/>
          </a:p>
        </p:txBody>
      </p:sp>
      <p:sp>
        <p:nvSpPr>
          <p:cNvPr id="8" name="Text 5"/>
          <p:cNvSpPr/>
          <p:nvPr/>
        </p:nvSpPr>
        <p:spPr>
          <a:xfrm>
            <a:off x="3718396" y="5915025"/>
            <a:ext cx="6765662" cy="132397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 více týdně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posilování velkých svalových skupin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70 % 1RM) + nárazy. Lepší redukce tuku!</a:t>
            </a:r>
            <a:endParaRPr lang="en-US" sz="2250" dirty="0"/>
          </a:p>
        </p:txBody>
      </p:sp>
      <p:sp>
        <p:nvSpPr>
          <p:cNvPr id="9" name="Text 6"/>
          <p:cNvSpPr/>
          <p:nvPr/>
        </p:nvSpPr>
        <p:spPr>
          <a:xfrm>
            <a:off x="1143000" y="7581900"/>
            <a:ext cx="9418320" cy="8953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Silový trénink není bonus navíc. Je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samostatnou součástí doporučení pro zdraví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t>
            </a:r>
            <a:endParaRPr lang="en-US" sz="2250" dirty="0"/>
          </a:p>
        </p:txBody>
      </p:sp>
      <p:sp>
        <p:nvSpPr>
          <p:cNvPr id="10" name="Shape 7"/>
          <p:cNvSpPr/>
          <p:nvPr/>
        </p:nvSpPr>
        <p:spPr>
          <a:xfrm>
            <a:off x="7391400" y="1200150"/>
            <a:ext cx="381000" cy="381000"/>
          </a:xfrm>
          <a:prstGeom prst="roundRect">
            <a:avLst>
              <a:gd name="adj" fmla="val 22500"/>
            </a:avLst>
          </a:prstGeom>
          <a:solidFill>
            <a:srgbClr val="6D2A8C"/>
          </a:solidFill>
          <a:ln/>
        </p:spPr>
      </p:sp>
      <p:sp>
        <p:nvSpPr>
          <p:cNvPr id="11" name="Text 8"/>
          <p:cNvSpPr/>
          <p:nvPr/>
        </p:nvSpPr>
        <p:spPr>
          <a:xfrm>
            <a:off x="7353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12" name="Text 9"/>
          <p:cNvSpPr/>
          <p:nvPr/>
        </p:nvSpPr>
        <p:spPr>
          <a:xfrm>
            <a:off x="7905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DOPORUČENÍ WHO</a:t>
            </a:r>
            <a:endParaRPr lang="en-US" sz="1350" dirty="0"/>
          </a:p>
        </p:txBody>
      </p:sp>
      <p:sp>
        <p:nvSpPr>
          <p:cNvPr id="13" name="Text 10"/>
          <p:cNvSpPr/>
          <p:nvPr/>
        </p:nvSpPr>
        <p:spPr>
          <a:xfrm>
            <a:off x="10035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28</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90843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SPÁNEK</a:t>
            </a:r>
            <a:endParaRPr lang="en-US" sz="1650" dirty="0"/>
          </a:p>
        </p:txBody>
      </p:sp>
      <p:sp>
        <p:nvSpPr>
          <p:cNvPr id="3" name="Text 1"/>
          <p:cNvSpPr/>
          <p:nvPr/>
        </p:nvSpPr>
        <p:spPr>
          <a:xfrm>
            <a:off x="1143000" y="4558308"/>
            <a:ext cx="1471612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401252"/>
                </a:solidFill>
                <a:latin typeface="Geist" pitchFamily="34" charset="0"/>
                <a:ea typeface="Geist" pitchFamily="34" charset="-122"/>
                <a:cs typeface="Geist" pitchFamily="34" charset="-120"/>
              </a:rPr>
              <a:t>Nedostatek spánku není jen „únava“. Mění i metabolické podmínky.</a:t>
            </a:r>
            <a:endParaRPr lang="en-US" sz="6300" dirty="0"/>
          </a:p>
        </p:txBody>
      </p:sp>
      <p:sp>
        <p:nvSpPr>
          <p:cNvPr id="4" name="Text 2"/>
          <p:cNvSpPr/>
          <p:nvPr/>
        </p:nvSpPr>
        <p:spPr>
          <a:xfrm>
            <a:off x="1143000" y="6743700"/>
            <a:ext cx="13931265"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Nedostatek spánku pak může vytvářet méně příznivé podmínky pro regulaci příjmu energie a tělesného složení ( </a:t>
            </a:r>
            <a:pPr algn="l" indent="0" marL="0">
              <a:lnSpc>
                <a:spcPct val="121351"/>
              </a:lnSpc>
              <a:buNone/>
            </a:pPr>
            <a:r>
              <a:rPr lang="en-US" sz="2400" b="1" dirty="0">
                <a:solidFill>
                  <a:srgbClr val="401252"/>
                </a:solidFill>
                <a:latin typeface="Inter" pitchFamily="34" charset="0"/>
                <a:ea typeface="Inter" pitchFamily="34" charset="-122"/>
                <a:cs typeface="Inter" pitchFamily="34" charset="-120"/>
              </a:rPr>
              <a:t>+308 kcal/den </a:t>
            </a:r>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a zhruba </a:t>
            </a:r>
            <a:pPr algn="l" indent="0" marL="0">
              <a:lnSpc>
                <a:spcPct val="121351"/>
              </a:lnSpc>
              <a:buNone/>
            </a:pPr>
            <a:r>
              <a:rPr lang="en-US" sz="2400" b="1" dirty="0">
                <a:solidFill>
                  <a:srgbClr val="401252"/>
                </a:solidFill>
                <a:latin typeface="Inter" pitchFamily="34" charset="0"/>
                <a:ea typeface="Inter" pitchFamily="34" charset="-122"/>
                <a:cs typeface="Inter" pitchFamily="34" charset="-120"/>
              </a:rPr>
              <a:t>11 % nárůst viscerálního tuku</a:t>
            </a:r>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a:t>
            </a:r>
            <a:endParaRPr lang="en-US" sz="2400" dirty="0"/>
          </a:p>
        </p:txBody>
      </p:sp>
      <p:sp>
        <p:nvSpPr>
          <p:cNvPr id="5" name="Shape 3"/>
          <p:cNvSpPr/>
          <p:nvPr/>
        </p:nvSpPr>
        <p:spPr>
          <a:xfrm>
            <a:off x="14249400" y="1200150"/>
            <a:ext cx="381000" cy="381000"/>
          </a:xfrm>
          <a:prstGeom prst="roundRect">
            <a:avLst>
              <a:gd name="adj" fmla="val 22500"/>
            </a:avLst>
          </a:prstGeom>
          <a:solidFill>
            <a:srgbClr val="6D2A8C"/>
          </a:solidFill>
          <a:ln/>
        </p:spPr>
      </p:sp>
      <p:sp>
        <p:nvSpPr>
          <p:cNvPr id="6" name="Text 4"/>
          <p:cNvSpPr/>
          <p:nvPr/>
        </p:nvSpPr>
        <p:spPr>
          <a:xfrm>
            <a:off x="14211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7" name="Text 5"/>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RTC U MENO</a:t>
            </a:r>
            <a:endParaRPr lang="en-US" sz="1350" dirty="0"/>
          </a:p>
        </p:txBody>
      </p:sp>
      <p:sp>
        <p:nvSpPr>
          <p:cNvPr id="8" name="Text 6"/>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Při spánkové deprivaci byl podíl ztracené hmotnosti pocházející z tuku o 55 % nižší a ztráta FFM byla asi o 60 % vyšší. Patrné zhoršení inzulinové senzitivity i při mírné deprivaci.</a:t>
            </a:r>
            <a:endParaRPr lang="en-US" sz="1575" dirty="0"/>
          </a:p>
        </p:txBody>
      </p:sp>
      <p:sp>
        <p:nvSpPr>
          <p:cNvPr id="9" name="Text 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29</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18814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MÝTUS A FAKT</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Hormonální léčba a rakovina prsu.</a:t>
            </a:r>
            <a:endParaRPr lang="en-US" sz="5550" dirty="0"/>
          </a:p>
        </p:txBody>
      </p:sp>
      <p:sp>
        <p:nvSpPr>
          <p:cNvPr id="4" name="Shape 2"/>
          <p:cNvSpPr/>
          <p:nvPr/>
        </p:nvSpPr>
        <p:spPr>
          <a:xfrm>
            <a:off x="14249400" y="1241078"/>
            <a:ext cx="381000" cy="381000"/>
          </a:xfrm>
          <a:prstGeom prst="roundRect">
            <a:avLst>
              <a:gd name="adj" fmla="val 22500"/>
            </a:avLst>
          </a:prstGeom>
          <a:solidFill>
            <a:srgbClr val="6D2A8C"/>
          </a:solidFill>
          <a:ln/>
        </p:spPr>
      </p:sp>
      <p:sp>
        <p:nvSpPr>
          <p:cNvPr id="5" name="Text 3"/>
          <p:cNvSpPr/>
          <p:nvPr/>
        </p:nvSpPr>
        <p:spPr>
          <a:xfrm>
            <a:off x="14211300" y="1241078"/>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FFFFFF"/>
                </a:solidFill>
                <a:latin typeface="Geist Mono" pitchFamily="34" charset="0"/>
                <a:ea typeface="Geist Mono" pitchFamily="34" charset="-122"/>
                <a:cs typeface="Geist Mono" pitchFamily="34" charset="-120"/>
              </a:rPr>
              <a:t>A</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SHODA DOPORUČENÍ, INDIVIDUÁLNÍ RIZIKO</a:t>
            </a:r>
            <a:endParaRPr lang="en-US" sz="1350" dirty="0"/>
          </a:p>
        </p:txBody>
      </p:sp>
      <p:sp>
        <p:nvSpPr>
          <p:cNvPr id="7" name="Shape 5"/>
          <p:cNvSpPr/>
          <p:nvPr/>
        </p:nvSpPr>
        <p:spPr>
          <a:xfrm>
            <a:off x="1143000" y="4610100"/>
            <a:ext cx="7734300" cy="2123033"/>
          </a:xfrm>
          <a:prstGeom prst="rect">
            <a:avLst/>
          </a:prstGeom>
          <a:ln w="19050">
            <a:solidFill>
              <a:srgbClr val="CDB3DC"/>
            </a:solidFill>
            <a:prstDash val="dash"/>
          </a:ln>
        </p:spPr>
      </p:sp>
      <p:sp>
        <p:nvSpPr>
          <p:cNvPr id="8" name="Text 6"/>
          <p:cNvSpPr/>
          <p:nvPr/>
        </p:nvSpPr>
        <p:spPr>
          <a:xfrm>
            <a:off x="1657350" y="5143500"/>
            <a:ext cx="690676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MÝTUS</a:t>
            </a:r>
            <a:endParaRPr lang="en-US" sz="1650" dirty="0"/>
          </a:p>
        </p:txBody>
      </p:sp>
      <p:sp>
        <p:nvSpPr>
          <p:cNvPr id="9" name="Text 7"/>
          <p:cNvSpPr/>
          <p:nvPr/>
        </p:nvSpPr>
        <p:spPr>
          <a:xfrm>
            <a:off x="1657350" y="5768653"/>
            <a:ext cx="7376160" cy="469181"/>
          </a:xfrm>
          <a:prstGeom prst="rect">
            <a:avLst/>
          </a:prstGeom>
          <a:noFill/>
          <a:ln/>
        </p:spPr>
        <p:txBody>
          <a:bodyPr wrap="square" lIns="25400" tIns="25400" rIns="25400" bIns="25400" rtlCol="0" anchor="t">
            <a:normAutofit/>
          </a:bodyPr>
          <a:lstStyle/>
          <a:p>
            <a:pPr algn="l" indent="0" marL="0">
              <a:lnSpc>
                <a:spcPct val="120693"/>
              </a:lnSpc>
              <a:buNone/>
            </a:pPr>
            <a:r>
              <a:rPr lang="en-US" sz="2325" dirty="0">
                <a:solidFill>
                  <a:srgbClr val="6B4B7D"/>
                </a:solidFill>
                <a:latin typeface="Inter" pitchFamily="34" charset="0"/>
                <a:ea typeface="Inter" pitchFamily="34" charset="-122"/>
                <a:cs typeface="Inter" pitchFamily="34" charset="-120"/>
              </a:rPr>
              <a:t>„Hormonální léčba způsobuje rakovinu prsu.“</a:t>
            </a:r>
            <a:endParaRPr lang="en-US" sz="2325" dirty="0"/>
          </a:p>
        </p:txBody>
      </p:sp>
      <p:sp>
        <p:nvSpPr>
          <p:cNvPr id="10" name="Shape 8"/>
          <p:cNvSpPr/>
          <p:nvPr/>
        </p:nvSpPr>
        <p:spPr>
          <a:xfrm>
            <a:off x="9410700" y="4610100"/>
            <a:ext cx="7734300" cy="4240337"/>
          </a:xfrm>
          <a:prstGeom prst="rect">
            <a:avLst/>
          </a:prstGeom>
          <a:solidFill>
            <a:srgbClr val="F4ECFA"/>
          </a:solidFill>
          <a:ln/>
        </p:spPr>
      </p:sp>
      <p:sp>
        <p:nvSpPr>
          <p:cNvPr id="11" name="Text 9"/>
          <p:cNvSpPr/>
          <p:nvPr/>
        </p:nvSpPr>
        <p:spPr>
          <a:xfrm>
            <a:off x="9906000" y="5124450"/>
            <a:ext cx="694601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FAKT</a:t>
            </a:r>
            <a:endParaRPr lang="en-US" sz="1650" dirty="0"/>
          </a:p>
        </p:txBody>
      </p:sp>
      <p:sp>
        <p:nvSpPr>
          <p:cNvPr id="12" name="Text 10"/>
          <p:cNvSpPr/>
          <p:nvPr/>
        </p:nvSpPr>
        <p:spPr>
          <a:xfrm>
            <a:off x="9906000" y="5749603"/>
            <a:ext cx="6946011" cy="2624584"/>
          </a:xfrm>
          <a:prstGeom prst="rect">
            <a:avLst/>
          </a:prstGeom>
          <a:noFill/>
          <a:ln/>
        </p:spPr>
        <p:txBody>
          <a:bodyPr wrap="square" lIns="25400" tIns="25400" rIns="25400" bIns="25400" rtlCol="0" anchor="t">
            <a:normAutofit/>
          </a:bodyPr>
          <a:lstStyle/>
          <a:p>
            <a:pPr algn="l" indent="0" marL="0">
              <a:lnSpc>
                <a:spcPct val="120693"/>
              </a:lnSpc>
              <a:buNone/>
            </a:pPr>
            <a:r>
              <a:rPr lang="en-US" sz="2325" dirty="0">
                <a:solidFill>
                  <a:srgbClr val="401252"/>
                </a:solidFill>
                <a:latin typeface="Inter" pitchFamily="34" charset="0"/>
                <a:ea typeface="Inter" pitchFamily="34" charset="-122"/>
                <a:cs typeface="Inter" pitchFamily="34" charset="-120"/>
              </a:rPr>
              <a:t>V únoru 2026 FDA schválila změny labelingu šesti MHT přípravků a odstranila z boxed warning mimo jiné </a:t>
            </a:r>
            <a:pPr algn="l" indent="0" marL="0">
              <a:lnSpc>
                <a:spcPct val="120693"/>
              </a:lnSpc>
              <a:buNone/>
            </a:pPr>
            <a:r>
              <a:rPr lang="en-US" sz="2325" b="1" dirty="0">
                <a:solidFill>
                  <a:srgbClr val="401252"/>
                </a:solidFill>
                <a:latin typeface="Inter" pitchFamily="34" charset="0"/>
                <a:ea typeface="Inter" pitchFamily="34" charset="-122"/>
                <a:cs typeface="Inter" pitchFamily="34" charset="-120"/>
              </a:rPr>
              <a:t>obecné varování týkající se karcinomu prsu </a:t>
            </a:r>
            <a:pPr algn="l" indent="0" marL="0">
              <a:lnSpc>
                <a:spcPct val="120693"/>
              </a:lnSpc>
              <a:buNone/>
            </a:pPr>
            <a:r>
              <a:rPr lang="en-US" sz="2325" dirty="0">
                <a:solidFill>
                  <a:srgbClr val="401252"/>
                </a:solidFill>
                <a:latin typeface="Inter" pitchFamily="34" charset="0"/>
                <a:ea typeface="Inter" pitchFamily="34" charset="-122"/>
                <a:cs typeface="Inter" pitchFamily="34" charset="-120"/>
              </a:rPr>
              <a:t>. Samotný estrogen po hysterektomii spojen s nižší incidencí i mortalitou na karcinom prsu.</a:t>
            </a:r>
            <a:endParaRPr lang="en-US" sz="2325" dirty="0"/>
          </a:p>
        </p:txBody>
      </p:sp>
      <p:sp>
        <p:nvSpPr>
          <p:cNvPr id="13" name="Text 11"/>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NICE NG23, 2026 · The Menopause Society, hormone therapy position statement 2022</a:t>
            </a:r>
            <a:endParaRPr lang="en-US" sz="1575" dirty="0"/>
          </a:p>
        </p:txBody>
      </p:sp>
      <p:sp>
        <p:nvSpPr>
          <p:cNvPr id="14" name="Text 12"/>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30</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5987317"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ODPOVĚĎ · CO Z TOHO DOOPRAVDY FUNGUJE?</a:t>
            </a:r>
            <a:endParaRPr lang="en-US" sz="1650" dirty="0"/>
          </a:p>
        </p:txBody>
      </p:sp>
      <p:sp>
        <p:nvSpPr>
          <p:cNvPr id="4" name="Text 2"/>
          <p:cNvSpPr/>
          <p:nvPr/>
        </p:nvSpPr>
        <p:spPr>
          <a:xfrm>
            <a:off x="1143000" y="4354860"/>
            <a:ext cx="1471612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Pohyb, spánek a strava mírní dlouhodobé riziko, ale návaly zcela nespraví.</a:t>
            </a:r>
            <a:endParaRPr lang="en-US" sz="6300" dirty="0"/>
          </a:p>
        </p:txBody>
      </p:sp>
      <p:sp>
        <p:nvSpPr>
          <p:cNvPr id="5" name="Text 3"/>
          <p:cNvSpPr/>
          <p:nvPr/>
        </p:nvSpPr>
        <p:spPr>
          <a:xfrm>
            <a:off x="1143000" y="6502152"/>
            <a:ext cx="13735050"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MHT je nejúčinnější léčbou VMS, u GSM je standardem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lokální vaginální estrogen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 Pohyb, kvalitní spánek a strava jsou základem dlouhodobé prevence a mohou některé symptomy také ovlivnit, nejsou ale náhradou cílené léčby, pokud jsou obtíže výrazné.</a:t>
            </a:r>
            <a:endParaRPr lang="en-US" sz="2400" dirty="0"/>
          </a:p>
        </p:txBody>
      </p:sp>
      <p:sp>
        <p:nvSpPr>
          <p:cNvPr id="6"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31</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pic>
        <p:nvPicPr>
          <p:cNvPr id="3"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4" name="Shape 1"/>
          <p:cNvSpPr/>
          <p:nvPr/>
        </p:nvSpPr>
        <p:spPr>
          <a:xfrm>
            <a:off x="0" y="0"/>
            <a:ext cx="18288000" cy="10287000"/>
          </a:xfrm>
          <a:prstGeom prst="rect">
            <a:avLst/>
          </a:prstGeom>
          <a:gradFill rotWithShape="1">
            <a:gsLst>
              <a:gs pos="0">
                <a:srgbClr val="401252">
                  <a:alpha val="96000"/>
                </a:srgbClr>
              </a:gs>
              <a:gs pos="48000">
                <a:srgbClr val="401252">
                  <a:alpha val="88000"/>
                </a:srgbClr>
              </a:gs>
              <a:gs pos="76000">
                <a:srgbClr val="401252">
                  <a:alpha val="70000"/>
                </a:srgbClr>
              </a:gs>
              <a:gs pos="90000">
                <a:srgbClr val="401252">
                  <a:alpha val="22000"/>
                </a:srgbClr>
              </a:gs>
              <a:gs pos="100000">
                <a:srgbClr val="401252">
                  <a:alpha val="4000"/>
                </a:srgbClr>
              </a:gs>
            </a:gsLst>
            <a:lin ang="0" scaled="0"/>
          </a:gradFill>
          <a:ln/>
        </p:spPr>
      </p:sp>
      <p:sp>
        <p:nvSpPr>
          <p:cNvPr id="5" name="Text 2"/>
          <p:cNvSpPr/>
          <p:nvPr/>
        </p:nvSpPr>
        <p:spPr>
          <a:xfrm>
            <a:off x="1143000" y="1333500"/>
            <a:ext cx="315124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ČÁST ČTVRTÁ · VÝŽIVA</a:t>
            </a:r>
            <a:endParaRPr lang="en-US" sz="1650" dirty="0"/>
          </a:p>
        </p:txBody>
      </p:sp>
      <p:sp>
        <p:nvSpPr>
          <p:cNvPr id="6" name="Text 3"/>
          <p:cNvSpPr/>
          <p:nvPr/>
        </p:nvSpPr>
        <p:spPr>
          <a:xfrm>
            <a:off x="1143000" y="4411638"/>
            <a:ext cx="13146405" cy="2097732"/>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Existuje specifická dieta „pro hormony“?</a:t>
            </a:r>
            <a:endParaRPr lang="en-US" sz="7650" dirty="0"/>
          </a:p>
        </p:txBody>
      </p:sp>
      <p:sp>
        <p:nvSpPr>
          <p:cNvPr id="7" name="Text 4"/>
          <p:cNvSpPr/>
          <p:nvPr/>
        </p:nvSpPr>
        <p:spPr>
          <a:xfrm>
            <a:off x="1143000" y="6890370"/>
            <a:ext cx="1216533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Krátká odpověď – ne, menopauzální dieta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neexistuje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 Existuje strava, která chrání zdraví – srdce, sval, kost a metabolické zdraví.</a:t>
            </a:r>
            <a:endParaRPr lang="en-US" sz="2400" dirty="0"/>
          </a:p>
        </p:txBody>
      </p:sp>
      <p:sp>
        <p:nvSpPr>
          <p:cNvPr id="8" name="Text 5"/>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32</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90843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RÁMEC VÝŽIVY</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Výživa má v tomto období čtyři hlavní cíle. „Balancování hormonů“ mezi nimi není.</a:t>
            </a:r>
            <a:endParaRPr lang="en-US" sz="5550" dirty="0"/>
          </a:p>
        </p:txBody>
      </p:sp>
      <p:sp>
        <p:nvSpPr>
          <p:cNvPr id="4" name="Shape 2"/>
          <p:cNvSpPr/>
          <p:nvPr/>
        </p:nvSpPr>
        <p:spPr>
          <a:xfrm>
            <a:off x="14249400" y="1200150"/>
            <a:ext cx="381000" cy="381000"/>
          </a:xfrm>
          <a:prstGeom prst="roundRect">
            <a:avLst>
              <a:gd name="adj" fmla="val 22500"/>
            </a:avLst>
          </a:prstGeom>
          <a:ln w="19050">
            <a:solidFill>
              <a:srgbClr val="6D2A8C"/>
            </a:solidFill>
            <a:prstDash val="solid"/>
          </a:ln>
        </p:spPr>
      </p:sp>
      <p:sp>
        <p:nvSpPr>
          <p:cNvPr id="5" name="Text 3"/>
          <p:cNvSpPr/>
          <p:nvPr/>
        </p:nvSpPr>
        <p:spPr>
          <a:xfrm>
            <a:off x="14230350" y="1219200"/>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PŘEHLEDY 2026</a:t>
            </a:r>
            <a:endParaRPr lang="en-US" sz="1350" dirty="0"/>
          </a:p>
        </p:txBody>
      </p:sp>
      <p:sp>
        <p:nvSpPr>
          <p:cNvPr id="7" name="Text 5"/>
          <p:cNvSpPr/>
          <p:nvPr/>
        </p:nvSpPr>
        <p:spPr>
          <a:xfrm>
            <a:off x="1143000" y="5848350"/>
            <a:ext cx="3649599" cy="778743"/>
          </a:xfrm>
          <a:prstGeom prst="rect">
            <a:avLst/>
          </a:prstGeom>
          <a:noFill/>
          <a:ln/>
        </p:spPr>
        <p:txBody>
          <a:bodyPr wrap="none" lIns="25400" tIns="25400" rIns="25400" bIns="25400" rtlCol="0" anchor="t">
            <a:normAutofit/>
          </a:bodyPr>
          <a:lstStyle/>
          <a:p>
            <a:pPr algn="l" indent="0" marL="0">
              <a:lnSpc>
                <a:spcPct val="125419"/>
              </a:lnSpc>
              <a:buNone/>
            </a:pPr>
            <a:r>
              <a:rPr lang="en-US" sz="3600" spc="-108" kern="0" dirty="0">
                <a:solidFill>
                  <a:srgbClr val="6D2A8C"/>
                </a:solidFill>
                <a:latin typeface="Geist" pitchFamily="34" charset="0"/>
                <a:ea typeface="Geist" pitchFamily="34" charset="-122"/>
                <a:cs typeface="Geist" pitchFamily="34" charset="-120"/>
              </a:rPr>
              <a:t>01</a:t>
            </a:r>
            <a:endParaRPr lang="en-US" sz="3600" dirty="0"/>
          </a:p>
        </p:txBody>
      </p:sp>
      <p:sp>
        <p:nvSpPr>
          <p:cNvPr id="8" name="Text 6"/>
          <p:cNvSpPr/>
          <p:nvPr/>
        </p:nvSpPr>
        <p:spPr>
          <a:xfrm>
            <a:off x="1143000" y="6779493"/>
            <a:ext cx="3649599" cy="860971"/>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Kardiometabolické zdraví</a:t>
            </a:r>
            <a:endParaRPr lang="en-US" sz="2700" dirty="0"/>
          </a:p>
        </p:txBody>
      </p:sp>
      <p:sp>
        <p:nvSpPr>
          <p:cNvPr id="9" name="Text 7"/>
          <p:cNvSpPr/>
          <p:nvPr/>
        </p:nvSpPr>
        <p:spPr>
          <a:xfrm>
            <a:off x="1143000" y="7754764"/>
            <a:ext cx="364959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Lipidy, krevní tlak, regulace glykemie.</a:t>
            </a:r>
            <a:endParaRPr lang="en-US" sz="2100" dirty="0"/>
          </a:p>
        </p:txBody>
      </p:sp>
      <p:sp>
        <p:nvSpPr>
          <p:cNvPr id="10" name="Text 8"/>
          <p:cNvSpPr/>
          <p:nvPr/>
        </p:nvSpPr>
        <p:spPr>
          <a:xfrm>
            <a:off x="5295900" y="5848350"/>
            <a:ext cx="3649599" cy="778743"/>
          </a:xfrm>
          <a:prstGeom prst="rect">
            <a:avLst/>
          </a:prstGeom>
          <a:noFill/>
          <a:ln/>
        </p:spPr>
        <p:txBody>
          <a:bodyPr wrap="none" lIns="25400" tIns="25400" rIns="25400" bIns="25400" rtlCol="0" anchor="t">
            <a:normAutofit/>
          </a:bodyPr>
          <a:lstStyle/>
          <a:p>
            <a:pPr algn="l" indent="0" marL="0">
              <a:lnSpc>
                <a:spcPct val="125419"/>
              </a:lnSpc>
              <a:buNone/>
            </a:pPr>
            <a:r>
              <a:rPr lang="en-US" sz="3600" spc="-108" kern="0" dirty="0">
                <a:solidFill>
                  <a:srgbClr val="6D2A8C"/>
                </a:solidFill>
                <a:latin typeface="Geist" pitchFamily="34" charset="0"/>
                <a:ea typeface="Geist" pitchFamily="34" charset="-122"/>
                <a:cs typeface="Geist" pitchFamily="34" charset="-120"/>
              </a:rPr>
              <a:t>02</a:t>
            </a:r>
            <a:endParaRPr lang="en-US" sz="3600" dirty="0"/>
          </a:p>
        </p:txBody>
      </p:sp>
      <p:sp>
        <p:nvSpPr>
          <p:cNvPr id="11" name="Text 9"/>
          <p:cNvSpPr/>
          <p:nvPr/>
        </p:nvSpPr>
        <p:spPr>
          <a:xfrm>
            <a:off x="5295900" y="6779493"/>
            <a:ext cx="389763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Sval a kost</a:t>
            </a:r>
            <a:endParaRPr lang="en-US" sz="2700" dirty="0"/>
          </a:p>
        </p:txBody>
      </p:sp>
      <p:sp>
        <p:nvSpPr>
          <p:cNvPr id="12" name="Text 10"/>
          <p:cNvSpPr/>
          <p:nvPr/>
        </p:nvSpPr>
        <p:spPr>
          <a:xfrm>
            <a:off x="5295900" y="7343329"/>
            <a:ext cx="364959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Dostatek bílkovin, vápníků, vitaminu D.</a:t>
            </a:r>
            <a:endParaRPr lang="en-US" sz="2100" dirty="0"/>
          </a:p>
        </p:txBody>
      </p:sp>
      <p:sp>
        <p:nvSpPr>
          <p:cNvPr id="13" name="Text 11"/>
          <p:cNvSpPr/>
          <p:nvPr/>
        </p:nvSpPr>
        <p:spPr>
          <a:xfrm>
            <a:off x="9448800" y="5848350"/>
            <a:ext cx="3649599" cy="778743"/>
          </a:xfrm>
          <a:prstGeom prst="rect">
            <a:avLst/>
          </a:prstGeom>
          <a:noFill/>
          <a:ln/>
        </p:spPr>
        <p:txBody>
          <a:bodyPr wrap="none" lIns="25400" tIns="25400" rIns="25400" bIns="25400" rtlCol="0" anchor="t">
            <a:normAutofit/>
          </a:bodyPr>
          <a:lstStyle/>
          <a:p>
            <a:pPr algn="l" indent="0" marL="0">
              <a:lnSpc>
                <a:spcPct val="125419"/>
              </a:lnSpc>
              <a:buNone/>
            </a:pPr>
            <a:r>
              <a:rPr lang="en-US" sz="3600" spc="-108" kern="0" dirty="0">
                <a:solidFill>
                  <a:srgbClr val="6D2A8C"/>
                </a:solidFill>
                <a:latin typeface="Geist" pitchFamily="34" charset="0"/>
                <a:ea typeface="Geist" pitchFamily="34" charset="-122"/>
                <a:cs typeface="Geist" pitchFamily="34" charset="-120"/>
              </a:rPr>
              <a:t>03</a:t>
            </a:r>
            <a:endParaRPr lang="en-US" sz="3600" dirty="0"/>
          </a:p>
        </p:txBody>
      </p:sp>
      <p:sp>
        <p:nvSpPr>
          <p:cNvPr id="14" name="Text 12"/>
          <p:cNvSpPr/>
          <p:nvPr/>
        </p:nvSpPr>
        <p:spPr>
          <a:xfrm>
            <a:off x="9448800" y="6779493"/>
            <a:ext cx="389763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Tělesné složení</a:t>
            </a:r>
            <a:endParaRPr lang="en-US" sz="2700" dirty="0"/>
          </a:p>
        </p:txBody>
      </p:sp>
      <p:sp>
        <p:nvSpPr>
          <p:cNvPr id="15" name="Text 13"/>
          <p:cNvSpPr/>
          <p:nvPr/>
        </p:nvSpPr>
        <p:spPr>
          <a:xfrm>
            <a:off x="9448800" y="7343329"/>
            <a:ext cx="364959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Složení těla a obvod pasu, ne jen kilogramy.</a:t>
            </a:r>
            <a:endParaRPr lang="en-US" sz="2100" dirty="0"/>
          </a:p>
        </p:txBody>
      </p:sp>
      <p:sp>
        <p:nvSpPr>
          <p:cNvPr id="16" name="Text 14"/>
          <p:cNvSpPr/>
          <p:nvPr/>
        </p:nvSpPr>
        <p:spPr>
          <a:xfrm>
            <a:off x="13601700" y="5848350"/>
            <a:ext cx="3649599" cy="778743"/>
          </a:xfrm>
          <a:prstGeom prst="rect">
            <a:avLst/>
          </a:prstGeom>
          <a:noFill/>
          <a:ln/>
        </p:spPr>
        <p:txBody>
          <a:bodyPr wrap="none" lIns="25400" tIns="25400" rIns="25400" bIns="25400" rtlCol="0" anchor="t">
            <a:normAutofit/>
          </a:bodyPr>
          <a:lstStyle/>
          <a:p>
            <a:pPr algn="l" indent="0" marL="0">
              <a:lnSpc>
                <a:spcPct val="125419"/>
              </a:lnSpc>
              <a:buNone/>
            </a:pPr>
            <a:r>
              <a:rPr lang="en-US" sz="3600" spc="-108" kern="0" dirty="0">
                <a:solidFill>
                  <a:srgbClr val="6D2A8C"/>
                </a:solidFill>
                <a:latin typeface="Geist" pitchFamily="34" charset="0"/>
                <a:ea typeface="Geist" pitchFamily="34" charset="-122"/>
                <a:cs typeface="Geist" pitchFamily="34" charset="-120"/>
              </a:rPr>
              <a:t>04</a:t>
            </a:r>
            <a:endParaRPr lang="en-US" sz="3600" dirty="0"/>
          </a:p>
        </p:txBody>
      </p:sp>
      <p:sp>
        <p:nvSpPr>
          <p:cNvPr id="17" name="Text 15"/>
          <p:cNvSpPr/>
          <p:nvPr/>
        </p:nvSpPr>
        <p:spPr>
          <a:xfrm>
            <a:off x="13601700" y="6779493"/>
            <a:ext cx="3897630" cy="449535"/>
          </a:xfrm>
          <a:prstGeom prst="rect">
            <a:avLst/>
          </a:prstGeom>
          <a:noFill/>
          <a:ln/>
        </p:spPr>
        <p:txBody>
          <a:bodyPr wrap="square" lIns="25400" tIns="25400" rIns="25400" bIns="25400" rtlCol="0" anchor="t">
            <a:normAutofit/>
          </a:bodyPr>
          <a:lstStyle/>
          <a:p>
            <a:pPr algn="l" indent="0" marL="0">
              <a:lnSpc>
                <a:spcPct val="92903"/>
              </a:lnSpc>
              <a:buNone/>
            </a:pPr>
            <a:r>
              <a:rPr lang="en-US" sz="2700" dirty="0">
                <a:solidFill>
                  <a:srgbClr val="401252"/>
                </a:solidFill>
                <a:latin typeface="Geist" pitchFamily="34" charset="0"/>
                <a:ea typeface="Geist" pitchFamily="34" charset="-122"/>
                <a:cs typeface="Geist" pitchFamily="34" charset="-120"/>
              </a:rPr>
              <a:t>Adekvátní nutrice</a:t>
            </a:r>
            <a:endParaRPr lang="en-US" sz="2700" dirty="0"/>
          </a:p>
        </p:txBody>
      </p:sp>
      <p:sp>
        <p:nvSpPr>
          <p:cNvPr id="18" name="Text 16"/>
          <p:cNvSpPr/>
          <p:nvPr/>
        </p:nvSpPr>
        <p:spPr>
          <a:xfrm>
            <a:off x="13601700" y="7343329"/>
            <a:ext cx="364959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Dostatek energie, vlákniny a kritických mikronutrientů.</a:t>
            </a:r>
            <a:endParaRPr lang="en-US" sz="2100" dirty="0"/>
          </a:p>
        </p:txBody>
      </p:sp>
      <p:sp>
        <p:nvSpPr>
          <p:cNvPr id="19" name="Text 17"/>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Curr Nutr Rep 2026 · Baraut MC, Clin Nutr ESPEN 2026</a:t>
            </a:r>
            <a:endParaRPr lang="en-US" sz="1575" dirty="0"/>
          </a:p>
        </p:txBody>
      </p:sp>
      <p:sp>
        <p:nvSpPr>
          <p:cNvPr id="20" name="Text 18"/>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33</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69628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VZOREC STRAVOVÁNÍ</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Rozhoduje vzorec stravování, ne jedna „menopauzální“ potravina.</a:t>
            </a:r>
            <a:endParaRPr lang="en-US" sz="5550" dirty="0"/>
          </a:p>
        </p:txBody>
      </p:sp>
      <p:sp>
        <p:nvSpPr>
          <p:cNvPr id="4" name="Shape 2"/>
          <p:cNvSpPr/>
          <p:nvPr/>
        </p:nvSpPr>
        <p:spPr>
          <a:xfrm>
            <a:off x="14249400" y="1356792"/>
            <a:ext cx="381000" cy="381000"/>
          </a:xfrm>
          <a:prstGeom prst="roundRect">
            <a:avLst>
              <a:gd name="adj" fmla="val 22500"/>
            </a:avLst>
          </a:prstGeom>
          <a:ln w="19050">
            <a:solidFill>
              <a:srgbClr val="6D2A8C"/>
            </a:solidFill>
            <a:prstDash val="solid"/>
          </a:ln>
        </p:spPr>
      </p:sp>
      <p:sp>
        <p:nvSpPr>
          <p:cNvPr id="5" name="Text 3"/>
          <p:cNvSpPr/>
          <p:nvPr/>
        </p:nvSpPr>
        <p:spPr>
          <a:xfrm>
            <a:off x="14230350" y="1375842"/>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SILNÉ NA METABOLISMUS, SLABÉ NA NÁVALY</a:t>
            </a:r>
            <a:endParaRPr lang="en-US" sz="1350" dirty="0"/>
          </a:p>
        </p:txBody>
      </p:sp>
      <p:sp>
        <p:nvSpPr>
          <p:cNvPr id="7" name="Shape 5"/>
          <p:cNvSpPr/>
          <p:nvPr/>
        </p:nvSpPr>
        <p:spPr>
          <a:xfrm>
            <a:off x="6467475" y="4302249"/>
            <a:ext cx="9525" cy="3587428"/>
          </a:xfrm>
          <a:prstGeom prst="rect">
            <a:avLst/>
          </a:prstGeom>
          <a:solidFill>
            <a:srgbClr val="CDB3DC"/>
          </a:solidFill>
          <a:ln/>
        </p:spPr>
      </p:sp>
      <p:sp>
        <p:nvSpPr>
          <p:cNvPr id="8" name="Text 6"/>
          <p:cNvSpPr/>
          <p:nvPr/>
        </p:nvSpPr>
        <p:spPr>
          <a:xfrm>
            <a:off x="1143000" y="4302249"/>
            <a:ext cx="501329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JE PODLOŽENÉ </a:t>
            </a:r>
            <a:pPr algn="l" indent="0" marL="0">
              <a:lnSpc>
                <a:spcPct val="125053"/>
              </a:lnSpc>
              <a:buNone/>
            </a:pPr>
            <a:r>
              <a:rPr lang="en-US" sz="1275" spc="215" kern="0" dirty="0">
                <a:solidFill>
                  <a:srgbClr val="6D2A8C"/>
                </a:solidFill>
                <a:latin typeface="Geist Mono" pitchFamily="34" charset="0"/>
                <a:ea typeface="Geist Mono" pitchFamily="34" charset="-122"/>
                <a:cs typeface="Geist Mono" pitchFamily="34" charset="-120"/>
              </a:rPr>
              <a:t>B</a:t>
            </a:r>
            <a:endParaRPr lang="en-US" sz="1650" dirty="0"/>
          </a:p>
        </p:txBody>
      </p:sp>
      <p:sp>
        <p:nvSpPr>
          <p:cNvPr id="9" name="Text 7"/>
          <p:cNvSpPr/>
          <p:nvPr/>
        </p:nvSpPr>
        <p:spPr>
          <a:xfrm>
            <a:off x="1143000" y="4889302"/>
            <a:ext cx="5013293" cy="303847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Středomořský a DASH-like vzorec: zelenina, luštěniny, celozrnné, olivový olej, ryby. Nejkonzistentnější evidence je pro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krevní tlak, lipidy, glykemickou regulaci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 celkové kardiometabolické zdraví.</a:t>
            </a:r>
            <a:endParaRPr lang="en-US" sz="2250" dirty="0"/>
          </a:p>
        </p:txBody>
      </p:sp>
      <p:sp>
        <p:nvSpPr>
          <p:cNvPr id="10" name="Shape 8"/>
          <p:cNvSpPr/>
          <p:nvPr/>
        </p:nvSpPr>
        <p:spPr>
          <a:xfrm>
            <a:off x="11801475" y="4302249"/>
            <a:ext cx="9525" cy="3587428"/>
          </a:xfrm>
          <a:prstGeom prst="rect">
            <a:avLst/>
          </a:prstGeom>
          <a:solidFill>
            <a:srgbClr val="CDB3DC"/>
          </a:solidFill>
          <a:ln/>
        </p:spPr>
      </p:sp>
      <p:sp>
        <p:nvSpPr>
          <p:cNvPr id="11" name="Text 9"/>
          <p:cNvSpPr/>
          <p:nvPr/>
        </p:nvSpPr>
        <p:spPr>
          <a:xfrm>
            <a:off x="6934200" y="4302249"/>
            <a:ext cx="4542377"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OD STRAVY NEČEKAT </a:t>
            </a:r>
            <a:pPr algn="l" indent="0" marL="0">
              <a:lnSpc>
                <a:spcPct val="125053"/>
              </a:lnSpc>
              <a:buNone/>
            </a:pPr>
            <a:r>
              <a:rPr lang="en-US" sz="1275" spc="215" kern="0" dirty="0">
                <a:solidFill>
                  <a:srgbClr val="6B4B7D"/>
                </a:solidFill>
                <a:latin typeface="Geist Mono" pitchFamily="34" charset="0"/>
                <a:ea typeface="Geist Mono" pitchFamily="34" charset="-122"/>
                <a:cs typeface="Geist Mono" pitchFamily="34" charset="-120"/>
              </a:rPr>
              <a:t>C</a:t>
            </a:r>
            <a:endParaRPr lang="en-US" sz="1650" dirty="0"/>
          </a:p>
        </p:txBody>
      </p:sp>
      <p:sp>
        <p:nvSpPr>
          <p:cNvPr id="12" name="Text 10"/>
          <p:cNvSpPr/>
          <p:nvPr/>
        </p:nvSpPr>
        <p:spPr>
          <a:xfrm>
            <a:off x="6934200" y="4889302"/>
            <a:ext cx="4542377" cy="3038475"/>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Spolehlivou léčbu návalů.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U jednotlivých dietních intervencí je efekt na VMS většinou malý, nekonzistentní nebo nejistý. Výživa má silnější oporu pro dlouhodobé zdraví než pro úlevu od symptomů.</a:t>
            </a:r>
            <a:endParaRPr lang="en-US" sz="2250" dirty="0"/>
          </a:p>
        </p:txBody>
      </p:sp>
      <p:sp>
        <p:nvSpPr>
          <p:cNvPr id="13" name="Text 11"/>
          <p:cNvSpPr/>
          <p:nvPr/>
        </p:nvSpPr>
        <p:spPr>
          <a:xfrm>
            <a:off x="12268200" y="4516562"/>
            <a:ext cx="5023104"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POZOR NA ALKOHOL</a:t>
            </a:r>
            <a:endParaRPr lang="en-US" sz="1650" dirty="0"/>
          </a:p>
        </p:txBody>
      </p:sp>
      <p:sp>
        <p:nvSpPr>
          <p:cNvPr id="14" name="Text 12"/>
          <p:cNvSpPr/>
          <p:nvPr/>
        </p:nvSpPr>
        <p:spPr>
          <a:xfrm>
            <a:off x="12268200" y="5103614"/>
            <a:ext cx="5023104" cy="26098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Alkohol může u některých žen návaly spouštět nebo zhoršovat (opatrně též na kofein a pálivá jídla). I relativně nízká dávka alkoholu před spaním narušuje REM spánek. Též zvyšuje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riziko ca prsu</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t>
            </a:r>
            <a:endParaRPr lang="en-US" sz="2250" dirty="0"/>
          </a:p>
        </p:txBody>
      </p:sp>
      <p:sp>
        <p:nvSpPr>
          <p:cNvPr id="15"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34</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43575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BÍLKOVINY</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Pro sval nestačí protein. Potřebuje i mechanický stimul.</a:t>
            </a:r>
            <a:endParaRPr lang="en-US" sz="5550" dirty="0"/>
          </a:p>
        </p:txBody>
      </p:sp>
      <p:sp>
        <p:nvSpPr>
          <p:cNvPr id="4" name="Shape 2"/>
          <p:cNvSpPr/>
          <p:nvPr/>
        </p:nvSpPr>
        <p:spPr>
          <a:xfrm>
            <a:off x="14249400" y="1200150"/>
            <a:ext cx="381000" cy="381000"/>
          </a:xfrm>
          <a:prstGeom prst="roundRect">
            <a:avLst>
              <a:gd name="adj" fmla="val 22500"/>
            </a:avLst>
          </a:prstGeom>
          <a:ln w="19050">
            <a:solidFill>
              <a:srgbClr val="6D2A8C"/>
            </a:solidFill>
            <a:prstDash val="solid"/>
          </a:ln>
        </p:spPr>
      </p:sp>
      <p:sp>
        <p:nvSpPr>
          <p:cNvPr id="5" name="Text 3"/>
          <p:cNvSpPr/>
          <p:nvPr/>
        </p:nvSpPr>
        <p:spPr>
          <a:xfrm>
            <a:off x="14230350" y="1219200"/>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GUIDELINES</a:t>
            </a:r>
            <a:endParaRPr lang="en-US" sz="1350" dirty="0"/>
          </a:p>
        </p:txBody>
      </p:sp>
      <p:sp>
        <p:nvSpPr>
          <p:cNvPr id="7" name="Shape 5"/>
          <p:cNvSpPr/>
          <p:nvPr/>
        </p:nvSpPr>
        <p:spPr>
          <a:xfrm>
            <a:off x="4343400" y="4838700"/>
            <a:ext cx="3200400" cy="1409700"/>
          </a:xfrm>
          <a:custGeom>
            <a:avLst/>
            <a:gdLst/>
            <a:ahLst/>
            <a:cxnLst/>
            <a:rect l="l" t="t" r="r" b="b"/>
            <a:pathLst>
              <a:path w="3200400" h="1409700">
                <a:moveTo>
                  <a:pt x="95250" y="0"/>
                </a:moveTo>
                <a:lnTo>
                  <a:pt x="3200400" y="0"/>
                </a:lnTo>
                <a:lnTo>
                  <a:pt x="3200400" y="1409700"/>
                </a:lnTo>
                <a:lnTo>
                  <a:pt x="95250" y="1409700"/>
                </a:lnTo>
                <a:arcTo hR="95250" wR="95250" stAng="5400000" swAng="5400000"/>
                <a:lnTo>
                  <a:pt x="0" y="95250"/>
                </a:lnTo>
                <a:arcTo hR="95250" wR="95250" stAng="10800000" swAng="5400000"/>
                <a:close/>
              </a:path>
            </a:pathLst>
          </a:custGeom>
          <a:solidFill>
            <a:srgbClr val="6E2A8B">
              <a:alpha val="50000"/>
            </a:srgbClr>
          </a:solidFill>
          <a:ln/>
        </p:spPr>
      </p:sp>
      <p:sp>
        <p:nvSpPr>
          <p:cNvPr id="8" name="Text 6"/>
          <p:cNvSpPr/>
          <p:nvPr/>
        </p:nvSpPr>
        <p:spPr>
          <a:xfrm>
            <a:off x="5155257" y="4930899"/>
            <a:ext cx="1652811"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401252"/>
                </a:solidFill>
                <a:latin typeface="Geist" pitchFamily="34" charset="0"/>
                <a:ea typeface="Geist" pitchFamily="34" charset="-122"/>
                <a:cs typeface="Geist" pitchFamily="34" charset="-120"/>
              </a:rPr>
              <a:t>1,0–1,2</a:t>
            </a:r>
            <a:endParaRPr lang="en-US" sz="3900" dirty="0"/>
          </a:p>
        </p:txBody>
      </p:sp>
      <p:sp>
        <p:nvSpPr>
          <p:cNvPr id="9" name="Text 7"/>
          <p:cNvSpPr/>
          <p:nvPr/>
        </p:nvSpPr>
        <p:spPr>
          <a:xfrm>
            <a:off x="5068193" y="5847531"/>
            <a:ext cx="182694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401252"/>
                </a:solidFill>
                <a:latin typeface="Geist Mono" pitchFamily="34" charset="0"/>
                <a:ea typeface="Geist Mono" pitchFamily="34" charset="-122"/>
                <a:cs typeface="Geist Mono" pitchFamily="34" charset="-120"/>
              </a:rPr>
              <a:t>GUIDELINE </a:t>
            </a:r>
            <a:pPr algn="l" indent="0" marL="0">
              <a:lnSpc>
                <a:spcPct val="124615"/>
              </a:lnSpc>
              <a:buNone/>
            </a:pPr>
            <a:r>
              <a:rPr lang="en-US" sz="1275" spc="195" kern="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10" name="Shape 8"/>
          <p:cNvSpPr/>
          <p:nvPr/>
        </p:nvSpPr>
        <p:spPr>
          <a:xfrm>
            <a:off x="7543800" y="6229350"/>
            <a:ext cx="6400800" cy="19050"/>
          </a:xfrm>
          <a:prstGeom prst="rect">
            <a:avLst/>
          </a:prstGeom>
          <a:solidFill>
            <a:srgbClr val="6D2A8C"/>
          </a:solidFill>
          <a:ln/>
        </p:spPr>
      </p:sp>
      <p:sp>
        <p:nvSpPr>
          <p:cNvPr id="11" name="Shape 9"/>
          <p:cNvSpPr/>
          <p:nvPr/>
        </p:nvSpPr>
        <p:spPr>
          <a:xfrm>
            <a:off x="7543800" y="4838700"/>
            <a:ext cx="6400800" cy="19050"/>
          </a:xfrm>
          <a:prstGeom prst="rect">
            <a:avLst/>
          </a:prstGeom>
          <a:solidFill>
            <a:srgbClr val="6D2A8C"/>
          </a:solidFill>
          <a:ln/>
        </p:spPr>
      </p:sp>
      <p:sp>
        <p:nvSpPr>
          <p:cNvPr id="12" name="Shape 10"/>
          <p:cNvSpPr/>
          <p:nvPr/>
        </p:nvSpPr>
        <p:spPr>
          <a:xfrm>
            <a:off x="13925550" y="4838700"/>
            <a:ext cx="19050" cy="1409700"/>
          </a:xfrm>
          <a:prstGeom prst="rect">
            <a:avLst/>
          </a:prstGeom>
          <a:solidFill>
            <a:srgbClr val="6D2A8C"/>
          </a:solidFill>
          <a:ln/>
        </p:spPr>
      </p:sp>
      <p:sp>
        <p:nvSpPr>
          <p:cNvPr id="13" name="Text 11"/>
          <p:cNvSpPr/>
          <p:nvPr/>
        </p:nvSpPr>
        <p:spPr>
          <a:xfrm>
            <a:off x="9946332" y="4915495"/>
            <a:ext cx="1652811"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1,4–2,0</a:t>
            </a:r>
            <a:endParaRPr lang="en-US" sz="3900" dirty="0"/>
          </a:p>
        </p:txBody>
      </p:sp>
      <p:sp>
        <p:nvSpPr>
          <p:cNvPr id="14" name="Text 12"/>
          <p:cNvSpPr/>
          <p:nvPr/>
        </p:nvSpPr>
        <p:spPr>
          <a:xfrm>
            <a:off x="8440043" y="5832128"/>
            <a:ext cx="472686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INTENZIVNÍ SILOVÝ TRÉNINK ISSN</a:t>
            </a:r>
            <a:endParaRPr lang="en-US" sz="1650" dirty="0"/>
          </a:p>
        </p:txBody>
      </p:sp>
      <p:sp>
        <p:nvSpPr>
          <p:cNvPr id="15" name="Shape 13"/>
          <p:cNvSpPr/>
          <p:nvPr/>
        </p:nvSpPr>
        <p:spPr>
          <a:xfrm>
            <a:off x="1143000" y="6248400"/>
            <a:ext cx="16002000" cy="9525"/>
          </a:xfrm>
          <a:prstGeom prst="rect">
            <a:avLst/>
          </a:prstGeom>
          <a:solidFill>
            <a:srgbClr val="CDB3DC"/>
          </a:solidFill>
          <a:ln/>
        </p:spPr>
      </p:sp>
      <p:sp>
        <p:nvSpPr>
          <p:cNvPr id="16" name="Shape 14"/>
          <p:cNvSpPr/>
          <p:nvPr/>
        </p:nvSpPr>
        <p:spPr>
          <a:xfrm>
            <a:off x="4343400" y="6248400"/>
            <a:ext cx="19050" cy="123825"/>
          </a:xfrm>
          <a:prstGeom prst="rect">
            <a:avLst/>
          </a:prstGeom>
          <a:solidFill>
            <a:srgbClr val="CDB3DC"/>
          </a:solidFill>
          <a:ln/>
        </p:spPr>
      </p:sp>
      <p:sp>
        <p:nvSpPr>
          <p:cNvPr id="17" name="Shape 15"/>
          <p:cNvSpPr/>
          <p:nvPr/>
        </p:nvSpPr>
        <p:spPr>
          <a:xfrm>
            <a:off x="7543800" y="6248400"/>
            <a:ext cx="19050" cy="123825"/>
          </a:xfrm>
          <a:prstGeom prst="rect">
            <a:avLst/>
          </a:prstGeom>
          <a:solidFill>
            <a:srgbClr val="CDB3DC"/>
          </a:solidFill>
          <a:ln/>
        </p:spPr>
      </p:sp>
      <p:sp>
        <p:nvSpPr>
          <p:cNvPr id="18" name="Shape 16"/>
          <p:cNvSpPr/>
          <p:nvPr/>
        </p:nvSpPr>
        <p:spPr>
          <a:xfrm>
            <a:off x="13944600" y="6248400"/>
            <a:ext cx="19050" cy="123825"/>
          </a:xfrm>
          <a:prstGeom prst="rect">
            <a:avLst/>
          </a:prstGeom>
          <a:solidFill>
            <a:srgbClr val="CDB3DC"/>
          </a:solidFill>
          <a:ln/>
        </p:spPr>
      </p:sp>
      <p:sp>
        <p:nvSpPr>
          <p:cNvPr id="19" name="Text 17"/>
          <p:cNvSpPr/>
          <p:nvPr/>
        </p:nvSpPr>
        <p:spPr>
          <a:xfrm>
            <a:off x="1143000" y="6496050"/>
            <a:ext cx="49344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0,8</a:t>
            </a:r>
            <a:endParaRPr lang="en-US" sz="1500" dirty="0"/>
          </a:p>
        </p:txBody>
      </p:sp>
      <p:sp>
        <p:nvSpPr>
          <p:cNvPr id="20" name="Text 18"/>
          <p:cNvSpPr/>
          <p:nvPr/>
        </p:nvSpPr>
        <p:spPr>
          <a:xfrm>
            <a:off x="4134780" y="6496050"/>
            <a:ext cx="49344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1,0</a:t>
            </a:r>
            <a:endParaRPr lang="en-US" sz="1500" dirty="0"/>
          </a:p>
        </p:txBody>
      </p:sp>
      <p:sp>
        <p:nvSpPr>
          <p:cNvPr id="21" name="Text 19"/>
          <p:cNvSpPr/>
          <p:nvPr/>
        </p:nvSpPr>
        <p:spPr>
          <a:xfrm>
            <a:off x="7335180" y="6496050"/>
            <a:ext cx="49344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1,2</a:t>
            </a:r>
            <a:endParaRPr lang="en-US" sz="1500" dirty="0"/>
          </a:p>
        </p:txBody>
      </p:sp>
      <p:sp>
        <p:nvSpPr>
          <p:cNvPr id="22" name="Text 20"/>
          <p:cNvSpPr/>
          <p:nvPr/>
        </p:nvSpPr>
        <p:spPr>
          <a:xfrm>
            <a:off x="13735980" y="6496050"/>
            <a:ext cx="49344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1,6</a:t>
            </a:r>
            <a:endParaRPr lang="en-US" sz="1500" dirty="0"/>
          </a:p>
        </p:txBody>
      </p:sp>
      <p:sp>
        <p:nvSpPr>
          <p:cNvPr id="23" name="Text 21"/>
          <p:cNvSpPr/>
          <p:nvPr/>
        </p:nvSpPr>
        <p:spPr>
          <a:xfrm>
            <a:off x="15754350" y="6496050"/>
            <a:ext cx="146685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195" kern="0" dirty="0">
                <a:solidFill>
                  <a:srgbClr val="6B4B7D"/>
                </a:solidFill>
                <a:latin typeface="Geist Mono" pitchFamily="34" charset="0"/>
                <a:ea typeface="Geist Mono" pitchFamily="34" charset="-122"/>
                <a:cs typeface="Geist Mono" pitchFamily="34" charset="-120"/>
              </a:rPr>
              <a:t>G/KG DENNĚ</a:t>
            </a:r>
            <a:endParaRPr lang="en-US" sz="1500" dirty="0"/>
          </a:p>
        </p:txBody>
      </p:sp>
      <p:sp>
        <p:nvSpPr>
          <p:cNvPr id="24" name="Text 22"/>
          <p:cNvSpPr/>
          <p:nvPr/>
        </p:nvSpPr>
        <p:spPr>
          <a:xfrm>
            <a:off x="1143000" y="7162800"/>
            <a:ext cx="1873374" cy="933004"/>
          </a:xfrm>
          <a:prstGeom prst="rect">
            <a:avLst/>
          </a:prstGeom>
          <a:noFill/>
          <a:ln/>
        </p:spPr>
        <p:txBody>
          <a:bodyPr wrap="none" lIns="25400" tIns="25400" rIns="25400" bIns="25400" rtlCol="0" anchor="t">
            <a:normAutofit/>
          </a:bodyPr>
          <a:lstStyle/>
          <a:p>
            <a:pPr algn="l" indent="0" marL="0">
              <a:lnSpc>
                <a:spcPct val="124450"/>
              </a:lnSpc>
              <a:buNone/>
            </a:pPr>
            <a:r>
              <a:rPr lang="en-US" sz="4350" spc="-130" kern="0" dirty="0">
                <a:solidFill>
                  <a:srgbClr val="6D2A8C"/>
                </a:solidFill>
                <a:latin typeface="Geist" pitchFamily="34" charset="0"/>
                <a:ea typeface="Geist" pitchFamily="34" charset="-122"/>
                <a:cs typeface="Geist" pitchFamily="34" charset="-120"/>
              </a:rPr>
              <a:t>20–30</a:t>
            </a:r>
            <a:pPr algn="l" indent="0" marL="0">
              <a:lnSpc>
                <a:spcPct val="124450"/>
              </a:lnSpc>
              <a:buNone/>
            </a:pPr>
            <a:r>
              <a:rPr lang="en-US" sz="2175" spc="-130" kern="0" dirty="0">
                <a:solidFill>
                  <a:srgbClr val="6D2A8C"/>
                </a:solidFill>
                <a:latin typeface="Geist" pitchFamily="34" charset="0"/>
                <a:ea typeface="Geist" pitchFamily="34" charset="-122"/>
                <a:cs typeface="Geist" pitchFamily="34" charset="-120"/>
              </a:rPr>
              <a:t>g</a:t>
            </a:r>
            <a:endParaRPr lang="en-US" sz="4350" dirty="0"/>
          </a:p>
        </p:txBody>
      </p:sp>
      <p:sp>
        <p:nvSpPr>
          <p:cNvPr id="25" name="Text 23"/>
          <p:cNvSpPr/>
          <p:nvPr/>
        </p:nvSpPr>
        <p:spPr>
          <a:xfrm>
            <a:off x="3321174" y="7486650"/>
            <a:ext cx="14238541" cy="89535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kvalitní bílkoviny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na každé hlavní jídlo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„sweet spot“ 1,2–1,6 g/kg. Zdroje bohaté na leucin – mléčné výrobky, vejce, luštěniny, ryby.</a:t>
            </a:r>
            <a:endParaRPr lang="en-US" sz="2250" dirty="0"/>
          </a:p>
        </p:txBody>
      </p:sp>
      <p:sp>
        <p:nvSpPr>
          <p:cNvPr id="26" name="Text 24"/>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ESPEN a ESCEO, Curr Nutr Rep 2026</a:t>
            </a:r>
            <a:endParaRPr lang="en-US" sz="1575" dirty="0"/>
          </a:p>
        </p:txBody>
      </p:sp>
      <p:sp>
        <p:nvSpPr>
          <p:cNvPr id="27" name="Text 25"/>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35</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32647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KOST A MIKRONUTRIENTY</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Kost potřebuje výživu i mechanické zatížení.</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EVIDENCE SE LIŠÍ PODLE INTERVENCE</a:t>
            </a:r>
            <a:endParaRPr lang="en-US" sz="1350" dirty="0"/>
          </a:p>
        </p:txBody>
      </p:sp>
      <p:sp>
        <p:nvSpPr>
          <p:cNvPr id="7" name="Shape 5"/>
          <p:cNvSpPr/>
          <p:nvPr/>
        </p:nvSpPr>
        <p:spPr>
          <a:xfrm>
            <a:off x="9134475" y="4476750"/>
            <a:ext cx="9525" cy="4439915"/>
          </a:xfrm>
          <a:prstGeom prst="rect">
            <a:avLst/>
          </a:prstGeom>
          <a:solidFill>
            <a:srgbClr val="CDB3DC"/>
          </a:solidFill>
          <a:ln/>
        </p:spPr>
      </p:sp>
      <p:sp>
        <p:nvSpPr>
          <p:cNvPr id="8" name="Text 6"/>
          <p:cNvSpPr/>
          <p:nvPr/>
        </p:nvSpPr>
        <p:spPr>
          <a:xfrm>
            <a:off x="1143000" y="4476750"/>
            <a:ext cx="74463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MÁ SILNOU OPORU</a:t>
            </a:r>
            <a:endParaRPr lang="en-US" sz="1650" dirty="0"/>
          </a:p>
        </p:txBody>
      </p:sp>
      <p:sp>
        <p:nvSpPr>
          <p:cNvPr id="9" name="Text 7"/>
          <p:cNvSpPr/>
          <p:nvPr/>
        </p:nvSpPr>
        <p:spPr>
          <a:xfrm>
            <a:off x="1447800" y="5082853"/>
            <a:ext cx="7141559" cy="1023938"/>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Vápník 1 000–1 200 mg denně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přednostně z jídla – zakysané mléčné výrobky, sýry, sardinky s kostí, mák, sezam, minerální vody</a:t>
            </a:r>
            <a:endParaRPr lang="en-US" sz="1725" dirty="0"/>
          </a:p>
        </p:txBody>
      </p:sp>
      <p:sp>
        <p:nvSpPr>
          <p:cNvPr id="10" name="Text 8"/>
          <p:cNvSpPr/>
          <p:nvPr/>
        </p:nvSpPr>
        <p:spPr>
          <a:xfrm>
            <a:off x="1447800" y="6240140"/>
            <a:ext cx="7141559" cy="695325"/>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Vitamin D 800–2 000 IU denně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dle laboratorních hodnot, při těžkém deficitu zvážení injekční formy</a:t>
            </a:r>
            <a:endParaRPr lang="en-US" sz="1725" dirty="0"/>
          </a:p>
        </p:txBody>
      </p:sp>
      <p:sp>
        <p:nvSpPr>
          <p:cNvPr id="11" name="Text 9"/>
          <p:cNvSpPr/>
          <p:nvPr/>
        </p:nvSpPr>
        <p:spPr>
          <a:xfrm>
            <a:off x="1447800" y="7068815"/>
            <a:ext cx="7647623" cy="366713"/>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Bílkoviny a odporový trénink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stejně důležité jako minerály!</a:t>
            </a:r>
            <a:endParaRPr lang="en-US" sz="1725" dirty="0"/>
          </a:p>
        </p:txBody>
      </p:sp>
      <p:sp>
        <p:nvSpPr>
          <p:cNvPr id="12" name="Text 10"/>
          <p:cNvSpPr/>
          <p:nvPr/>
        </p:nvSpPr>
        <p:spPr>
          <a:xfrm>
            <a:off x="1143000" y="7645078"/>
            <a:ext cx="7446359"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Adekvátní množství Ca a vitaminu D jsou základ. </a:t>
            </a:r>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Samy o sobě ale nejsou léčbou osteoporózy.</a:t>
            </a:r>
            <a:endParaRPr lang="en-US" sz="2100" dirty="0"/>
          </a:p>
        </p:txBody>
      </p:sp>
      <p:sp>
        <p:nvSpPr>
          <p:cNvPr id="13" name="Text 11"/>
          <p:cNvSpPr/>
          <p:nvPr/>
        </p:nvSpPr>
        <p:spPr>
          <a:xfrm>
            <a:off x="9906000" y="4476750"/>
            <a:ext cx="745617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JE MOŽNÉ DOPLNIT</a:t>
            </a:r>
            <a:endParaRPr lang="en-US" sz="1650" dirty="0"/>
          </a:p>
        </p:txBody>
      </p:sp>
      <p:sp>
        <p:nvSpPr>
          <p:cNvPr id="14" name="Text 12"/>
          <p:cNvSpPr/>
          <p:nvPr/>
        </p:nvSpPr>
        <p:spPr>
          <a:xfrm>
            <a:off x="10210800" y="5082853"/>
            <a:ext cx="7658100" cy="366713"/>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Kreatin monohydrát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pro sval, méně pro kost, slibný pro kognici</a:t>
            </a:r>
            <a:endParaRPr lang="en-US" sz="1725" dirty="0"/>
          </a:p>
        </p:txBody>
      </p:sp>
      <p:sp>
        <p:nvSpPr>
          <p:cNvPr id="15" name="Text 13"/>
          <p:cNvSpPr/>
          <p:nvPr/>
        </p:nvSpPr>
        <p:spPr>
          <a:xfrm>
            <a:off x="10210800" y="5582915"/>
            <a:ext cx="7151370" cy="695325"/>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Magnezium bisglycinát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adekvátní příjem je součástí zdraví kosti, vyšší příjem souvisí s vyšší BMD</a:t>
            </a:r>
            <a:endParaRPr lang="en-US" sz="1725" dirty="0"/>
          </a:p>
        </p:txBody>
      </p:sp>
      <p:sp>
        <p:nvSpPr>
          <p:cNvPr id="16" name="Text 14"/>
          <p:cNvSpPr/>
          <p:nvPr/>
        </p:nvSpPr>
        <p:spPr>
          <a:xfrm>
            <a:off x="10210800" y="6411590"/>
            <a:ext cx="7151370" cy="695325"/>
          </a:xfrm>
          <a:prstGeom prst="rect">
            <a:avLst/>
          </a:prstGeom>
          <a:noFill/>
          <a:ln/>
        </p:spPr>
        <p:txBody>
          <a:bodyPr wrap="square" lIns="25400" tIns="25400" rIns="25400" bIns="25400" rtlCol="0" anchor="t">
            <a:normAutofit/>
          </a:bodyPr>
          <a:lstStyle/>
          <a:p>
            <a:pPr algn="l" indent="0" marL="0">
              <a:lnSpc>
                <a:spcPct val="123214"/>
              </a:lnSpc>
              <a:buNone/>
            </a:pPr>
            <a:r>
              <a:rPr lang="en-US" sz="1725" b="1" dirty="0">
                <a:solidFill>
                  <a:srgbClr val="401252"/>
                </a:solidFill>
                <a:latin typeface="Inter" pitchFamily="34" charset="0"/>
                <a:ea typeface="Inter" pitchFamily="34" charset="-122"/>
                <a:cs typeface="Inter" pitchFamily="34" charset="-120"/>
              </a:rPr>
              <a:t>Vitamin K2 </a:t>
            </a:r>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 ovlivňuje osteokalcin, ale klinický přínos suplementace pro BMD a zlomeniny není spolehlivě prokázán.</a:t>
            </a:r>
            <a:endParaRPr lang="en-US" sz="1725" dirty="0"/>
          </a:p>
        </p:txBody>
      </p:sp>
      <p:sp>
        <p:nvSpPr>
          <p:cNvPr id="17" name="Text 15"/>
          <p:cNvSpPr/>
          <p:nvPr/>
        </p:nvSpPr>
        <p:spPr>
          <a:xfrm>
            <a:off x="9906000" y="7316465"/>
            <a:ext cx="7456170" cy="1638300"/>
          </a:xfrm>
          <a:prstGeom prst="rect">
            <a:avLst/>
          </a:prstGeom>
          <a:noFill/>
          <a:ln/>
        </p:spPr>
        <p:txBody>
          <a:bodyPr wrap="square" lIns="25400" tIns="25400" rIns="25400" bIns="25400" rtlCol="0" anchor="t">
            <a:normAutofit/>
          </a:bodyPr>
          <a:lstStyle/>
          <a:p>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Pozor –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Fe není rutinní „menopauzální suplement“ – po ukončení menstruace potřeba klesá. Při silném krvácení je naopak potřeba myslet na deficit a vyšetřit Hb/ferritin.</a:t>
            </a:r>
            <a:endParaRPr lang="en-US" sz="2100" dirty="0"/>
          </a:p>
        </p:txBody>
      </p:sp>
      <p:sp>
        <p:nvSpPr>
          <p:cNvPr id="18" name="Text 16"/>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Curr Nutr Rep 2026 · Clin Nutr ESPEN 2026</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36</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627182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SUPLEMENTY PODLE CÍLE</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Neexistuje jeden „menopauzální suplement“. Každý míří jinam.</a:t>
            </a:r>
            <a:endParaRPr lang="en-US" sz="5550" dirty="0"/>
          </a:p>
        </p:txBody>
      </p:sp>
      <p:sp>
        <p:nvSpPr>
          <p:cNvPr id="4" name="Shape 2"/>
          <p:cNvSpPr/>
          <p:nvPr/>
        </p:nvSpPr>
        <p:spPr>
          <a:xfrm>
            <a:off x="14249400" y="1356792"/>
            <a:ext cx="381000" cy="381000"/>
          </a:xfrm>
          <a:prstGeom prst="roundRect">
            <a:avLst>
              <a:gd name="adj" fmla="val 22500"/>
            </a:avLst>
          </a:prstGeom>
          <a:ln w="19050">
            <a:solidFill>
              <a:srgbClr val="6B4B7D"/>
            </a:solidFill>
            <a:prstDash val="dash"/>
          </a:ln>
        </p:spPr>
      </p:sp>
      <p:sp>
        <p:nvSpPr>
          <p:cNvPr id="5" name="Text 3"/>
          <p:cNvSpPr/>
          <p:nvPr/>
        </p:nvSpPr>
        <p:spPr>
          <a:xfrm>
            <a:off x="14230350" y="1375842"/>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B4B7D"/>
                </a:solidFill>
                <a:latin typeface="Geist Mono" pitchFamily="34" charset="0"/>
                <a:ea typeface="Geist Mono" pitchFamily="34" charset="-122"/>
                <a:cs typeface="Geist Mono" pitchFamily="34" charset="-120"/>
              </a:rPr>
              <a:t>C</a:t>
            </a:r>
            <a:endParaRPr lang="en-US" sz="1500" dirty="0"/>
          </a:p>
        </p:txBody>
      </p:sp>
      <p:sp>
        <p:nvSpPr>
          <p:cNvPr id="6" name="Text 4"/>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SYMPTOMOVÁ DATA, PŘEVÁŽNĚ NÍZKÁ JISTOTA</a:t>
            </a:r>
            <a:endParaRPr lang="en-US" sz="1350" dirty="0"/>
          </a:p>
        </p:txBody>
      </p:sp>
      <p:sp>
        <p:nvSpPr>
          <p:cNvPr id="7" name="Shape 5"/>
          <p:cNvSpPr/>
          <p:nvPr/>
        </p:nvSpPr>
        <p:spPr>
          <a:xfrm>
            <a:off x="1143000" y="3848100"/>
            <a:ext cx="4095750" cy="9525"/>
          </a:xfrm>
          <a:prstGeom prst="rect">
            <a:avLst/>
          </a:prstGeom>
          <a:solidFill>
            <a:srgbClr val="CDB3DC"/>
          </a:solidFill>
          <a:ln/>
        </p:spPr>
      </p:sp>
      <p:sp>
        <p:nvSpPr>
          <p:cNvPr id="8" name="Text 6"/>
          <p:cNvSpPr/>
          <p:nvPr/>
        </p:nvSpPr>
        <p:spPr>
          <a:xfrm>
            <a:off x="1143000" y="4067175"/>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PLOŠTIČNÍK HROZNATÝ </a:t>
            </a:r>
            <a:pPr algn="l" indent="0" marL="0">
              <a:lnSpc>
                <a:spcPct val="126000"/>
              </a:lnSpc>
              <a:buNone/>
            </a:pPr>
            <a:r>
              <a:rPr lang="en-US" sz="1275" spc="205" kern="0" dirty="0">
                <a:solidFill>
                  <a:srgbClr val="6D2A8C"/>
                </a:solidFill>
                <a:latin typeface="Geist Mono" pitchFamily="34" charset="0"/>
                <a:ea typeface="Geist Mono" pitchFamily="34" charset="-122"/>
                <a:cs typeface="Geist Mono" pitchFamily="34" charset="-120"/>
              </a:rPr>
              <a:t>B</a:t>
            </a:r>
            <a:endParaRPr lang="en-US" sz="1575" dirty="0"/>
          </a:p>
        </p:txBody>
      </p:sp>
      <p:sp>
        <p:nvSpPr>
          <p:cNvPr id="9" name="Text 7"/>
          <p:cNvSpPr/>
          <p:nvPr/>
        </p:nvSpPr>
        <p:spPr>
          <a:xfrm>
            <a:off x="1143000" y="4524524"/>
            <a:ext cx="4218623"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Návaly a celkové menopauzální symptomy</a:t>
            </a:r>
            <a:endParaRPr lang="en-US" sz="1800" dirty="0"/>
          </a:p>
        </p:txBody>
      </p:sp>
      <p:sp>
        <p:nvSpPr>
          <p:cNvPr id="10" name="Shape 8"/>
          <p:cNvSpPr/>
          <p:nvPr/>
        </p:nvSpPr>
        <p:spPr>
          <a:xfrm>
            <a:off x="5810250" y="3848100"/>
            <a:ext cx="11334750" cy="9525"/>
          </a:xfrm>
          <a:prstGeom prst="rect">
            <a:avLst/>
          </a:prstGeom>
          <a:solidFill>
            <a:srgbClr val="CDB3DC"/>
          </a:solidFill>
          <a:ln/>
        </p:spPr>
      </p:sp>
      <p:sp>
        <p:nvSpPr>
          <p:cNvPr id="11" name="Text 9"/>
          <p:cNvSpPr/>
          <p:nvPr/>
        </p:nvSpPr>
        <p:spPr>
          <a:xfrm>
            <a:off x="5810250" y="4067175"/>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Nejlépe podložený botanický přípravek. Jistota je ale jen střední.</a:t>
            </a:r>
            <a:endParaRPr lang="en-US" sz="1950" dirty="0"/>
          </a:p>
        </p:txBody>
      </p:sp>
      <p:sp>
        <p:nvSpPr>
          <p:cNvPr id="12" name="Text 10"/>
          <p:cNvSpPr/>
          <p:nvPr/>
        </p:nvSpPr>
        <p:spPr>
          <a:xfrm>
            <a:off x="5810250" y="4533900"/>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Jen standardizovaný extrakt. Vzácně hlášeno poškození jater.</a:t>
            </a:r>
            <a:endParaRPr lang="en-US" sz="1650" dirty="0"/>
          </a:p>
        </p:txBody>
      </p:sp>
      <p:sp>
        <p:nvSpPr>
          <p:cNvPr id="13" name="Shape 11"/>
          <p:cNvSpPr/>
          <p:nvPr/>
        </p:nvSpPr>
        <p:spPr>
          <a:xfrm>
            <a:off x="1143000" y="5496074"/>
            <a:ext cx="4095750" cy="9525"/>
          </a:xfrm>
          <a:prstGeom prst="rect">
            <a:avLst/>
          </a:prstGeom>
          <a:solidFill>
            <a:srgbClr val="CDB3DC"/>
          </a:solidFill>
          <a:ln/>
        </p:spPr>
      </p:sp>
      <p:sp>
        <p:nvSpPr>
          <p:cNvPr id="14" name="Text 12"/>
          <p:cNvSpPr/>
          <p:nvPr/>
        </p:nvSpPr>
        <p:spPr>
          <a:xfrm>
            <a:off x="1143000" y="5715149"/>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SÓJOVÉ IZOFLAVONY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15" name="Text 13"/>
          <p:cNvSpPr/>
          <p:nvPr/>
        </p:nvSpPr>
        <p:spPr>
          <a:xfrm>
            <a:off x="1143000" y="6172498"/>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Menopauzální symptomy</a:t>
            </a:r>
            <a:endParaRPr lang="en-US" sz="1800" dirty="0"/>
          </a:p>
        </p:txBody>
      </p:sp>
      <p:sp>
        <p:nvSpPr>
          <p:cNvPr id="16" name="Shape 14"/>
          <p:cNvSpPr/>
          <p:nvPr/>
        </p:nvSpPr>
        <p:spPr>
          <a:xfrm>
            <a:off x="5810250" y="5496074"/>
            <a:ext cx="11334750" cy="9525"/>
          </a:xfrm>
          <a:prstGeom prst="rect">
            <a:avLst/>
          </a:prstGeom>
          <a:solidFill>
            <a:srgbClr val="CDB3DC"/>
          </a:solidFill>
          <a:ln/>
        </p:spPr>
      </p:sp>
      <p:sp>
        <p:nvSpPr>
          <p:cNvPr id="17" name="Text 15"/>
          <p:cNvSpPr/>
          <p:nvPr/>
        </p:nvSpPr>
        <p:spPr>
          <a:xfrm>
            <a:off x="5810250" y="5715149"/>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Dat je hodně, efekt na návaly je ale nekonzistentní. Může záležet na tvorbě S-equolu.</a:t>
            </a:r>
            <a:endParaRPr lang="en-US" sz="1950" dirty="0"/>
          </a:p>
        </p:txBody>
      </p:sp>
      <p:sp>
        <p:nvSpPr>
          <p:cNvPr id="18" name="Text 16"/>
          <p:cNvSpPr/>
          <p:nvPr/>
        </p:nvSpPr>
        <p:spPr>
          <a:xfrm>
            <a:off x="5810250" y="6181874"/>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Sójové potraviny ano. Extrakty a equol rutinně ne.</a:t>
            </a:r>
            <a:endParaRPr lang="en-US" sz="1650" dirty="0"/>
          </a:p>
        </p:txBody>
      </p:sp>
      <p:sp>
        <p:nvSpPr>
          <p:cNvPr id="19" name="Shape 17"/>
          <p:cNvSpPr/>
          <p:nvPr/>
        </p:nvSpPr>
        <p:spPr>
          <a:xfrm>
            <a:off x="1143000" y="6801148"/>
            <a:ext cx="4095750" cy="9525"/>
          </a:xfrm>
          <a:prstGeom prst="rect">
            <a:avLst/>
          </a:prstGeom>
          <a:solidFill>
            <a:srgbClr val="CDB3DC"/>
          </a:solidFill>
          <a:ln/>
        </p:spPr>
      </p:sp>
      <p:sp>
        <p:nvSpPr>
          <p:cNvPr id="20" name="Text 18"/>
          <p:cNvSpPr/>
          <p:nvPr/>
        </p:nvSpPr>
        <p:spPr>
          <a:xfrm>
            <a:off x="1143000" y="7020223"/>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PÍSKAVICE ŘECKÉ SENO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21" name="Text 19"/>
          <p:cNvSpPr/>
          <p:nvPr/>
        </p:nvSpPr>
        <p:spPr>
          <a:xfrm>
            <a:off x="1143000" y="7477571"/>
            <a:ext cx="4218623"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VMS a celkové menopauzální symptomy</a:t>
            </a:r>
            <a:endParaRPr lang="en-US" sz="1800" dirty="0"/>
          </a:p>
        </p:txBody>
      </p:sp>
      <p:sp>
        <p:nvSpPr>
          <p:cNvPr id="22" name="Shape 20"/>
          <p:cNvSpPr/>
          <p:nvPr/>
        </p:nvSpPr>
        <p:spPr>
          <a:xfrm>
            <a:off x="5810250" y="6801148"/>
            <a:ext cx="11334750" cy="9525"/>
          </a:xfrm>
          <a:prstGeom prst="rect">
            <a:avLst/>
          </a:prstGeom>
          <a:solidFill>
            <a:srgbClr val="CDB3DC"/>
          </a:solidFill>
          <a:ln/>
        </p:spPr>
      </p:sp>
      <p:sp>
        <p:nvSpPr>
          <p:cNvPr id="23" name="Text 21"/>
          <p:cNvSpPr/>
          <p:nvPr/>
        </p:nvSpPr>
        <p:spPr>
          <a:xfrm>
            <a:off x="5810250" y="7020223"/>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Menší studie naznačují efekt. Evidence je ale omezená.</a:t>
            </a:r>
            <a:endParaRPr lang="en-US" sz="1950" dirty="0"/>
          </a:p>
        </p:txBody>
      </p:sp>
      <p:sp>
        <p:nvSpPr>
          <p:cNvPr id="24" name="Text 22"/>
          <p:cNvSpPr/>
          <p:nvPr/>
        </p:nvSpPr>
        <p:spPr>
          <a:xfrm>
            <a:off x="5810250" y="7486948"/>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Signál pro libido je z premenopauzálních žen a firemních extraktů, ne z menopauzální populace.</a:t>
            </a:r>
            <a:endParaRPr lang="en-US" sz="1650" dirty="0"/>
          </a:p>
        </p:txBody>
      </p:sp>
      <p:sp>
        <p:nvSpPr>
          <p:cNvPr id="25" name="Text 23"/>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Nevybíráme podle názvu na etiketě, ale podle toho, co ženu nejvíc bere.</a:t>
            </a:r>
            <a:endParaRPr lang="en-US" sz="1575" dirty="0"/>
          </a:p>
        </p:txBody>
      </p:sp>
      <p:sp>
        <p:nvSpPr>
          <p:cNvPr id="26" name="Text 2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37</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627182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SUPLEMENTY PODLE CÍLE</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Na náladu, stres a cyklus míří jiné látky než na návaly.</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B4B7D"/>
            </a:solidFill>
            <a:prstDash val="dash"/>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B4B7D"/>
                </a:solidFill>
                <a:latin typeface="Geist Mono" pitchFamily="34" charset="0"/>
                <a:ea typeface="Geist Mono" pitchFamily="34" charset="-122"/>
                <a:cs typeface="Geist Mono" pitchFamily="34" charset="-120"/>
              </a:rPr>
              <a:t>C</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MALÉ STUDIE, NÍZKÁ JISTOTA</a:t>
            </a:r>
            <a:endParaRPr lang="en-US" sz="1350" dirty="0"/>
          </a:p>
        </p:txBody>
      </p:sp>
      <p:sp>
        <p:nvSpPr>
          <p:cNvPr id="7" name="Shape 5"/>
          <p:cNvSpPr/>
          <p:nvPr/>
        </p:nvSpPr>
        <p:spPr>
          <a:xfrm>
            <a:off x="1143000" y="3848100"/>
            <a:ext cx="4095750" cy="9525"/>
          </a:xfrm>
          <a:prstGeom prst="rect">
            <a:avLst/>
          </a:prstGeom>
          <a:solidFill>
            <a:srgbClr val="CDB3DC"/>
          </a:solidFill>
          <a:ln/>
        </p:spPr>
      </p:sp>
      <p:sp>
        <p:nvSpPr>
          <p:cNvPr id="8" name="Text 6"/>
          <p:cNvSpPr/>
          <p:nvPr/>
        </p:nvSpPr>
        <p:spPr>
          <a:xfrm>
            <a:off x="1143000" y="4067175"/>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ASHWAGANDHA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9" name="Text 7"/>
          <p:cNvSpPr/>
          <p:nvPr/>
        </p:nvSpPr>
        <p:spPr>
          <a:xfrm>
            <a:off x="1143000" y="4524524"/>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Stres, spánek, celkové symptomy</a:t>
            </a:r>
            <a:endParaRPr lang="en-US" sz="1800" dirty="0"/>
          </a:p>
        </p:txBody>
      </p:sp>
      <p:sp>
        <p:nvSpPr>
          <p:cNvPr id="10" name="Shape 8"/>
          <p:cNvSpPr/>
          <p:nvPr/>
        </p:nvSpPr>
        <p:spPr>
          <a:xfrm>
            <a:off x="5810250" y="3848100"/>
            <a:ext cx="11334750" cy="9525"/>
          </a:xfrm>
          <a:prstGeom prst="rect">
            <a:avLst/>
          </a:prstGeom>
          <a:solidFill>
            <a:srgbClr val="CDB3DC"/>
          </a:solidFill>
          <a:ln/>
        </p:spPr>
      </p:sp>
      <p:sp>
        <p:nvSpPr>
          <p:cNvPr id="11" name="Text 9"/>
          <p:cNvSpPr/>
          <p:nvPr/>
        </p:nvSpPr>
        <p:spPr>
          <a:xfrm>
            <a:off x="5810250" y="4067175"/>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Malé studie naznačují zlepšení symptomů a stresu. Chybí ale nezávislá replikace.</a:t>
            </a:r>
            <a:endParaRPr lang="en-US" sz="1950" dirty="0"/>
          </a:p>
        </p:txBody>
      </p:sp>
      <p:sp>
        <p:nvSpPr>
          <p:cNvPr id="12" name="Text 10"/>
          <p:cNvSpPr/>
          <p:nvPr/>
        </p:nvSpPr>
        <p:spPr>
          <a:xfrm>
            <a:off x="5810250" y="4533900"/>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Opatrně při onemocnění štítné žlázy a jater.</a:t>
            </a:r>
            <a:endParaRPr lang="en-US" sz="1650" dirty="0"/>
          </a:p>
        </p:txBody>
      </p:sp>
      <p:sp>
        <p:nvSpPr>
          <p:cNvPr id="13" name="Shape 11"/>
          <p:cNvSpPr/>
          <p:nvPr/>
        </p:nvSpPr>
        <p:spPr>
          <a:xfrm>
            <a:off x="1143000" y="5153174"/>
            <a:ext cx="4095750" cy="9525"/>
          </a:xfrm>
          <a:prstGeom prst="rect">
            <a:avLst/>
          </a:prstGeom>
          <a:solidFill>
            <a:srgbClr val="CDB3DC"/>
          </a:solidFill>
          <a:ln/>
        </p:spPr>
      </p:sp>
      <p:sp>
        <p:nvSpPr>
          <p:cNvPr id="14" name="Text 12"/>
          <p:cNvSpPr/>
          <p:nvPr/>
        </p:nvSpPr>
        <p:spPr>
          <a:xfrm>
            <a:off x="1143000" y="5372249"/>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ŠAFRÁN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15" name="Text 13"/>
          <p:cNvSpPr/>
          <p:nvPr/>
        </p:nvSpPr>
        <p:spPr>
          <a:xfrm>
            <a:off x="1143000" y="5829598"/>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Nálada, úzkost, psychické symptomy</a:t>
            </a:r>
            <a:endParaRPr lang="en-US" sz="1800" dirty="0"/>
          </a:p>
        </p:txBody>
      </p:sp>
      <p:sp>
        <p:nvSpPr>
          <p:cNvPr id="16" name="Shape 14"/>
          <p:cNvSpPr/>
          <p:nvPr/>
        </p:nvSpPr>
        <p:spPr>
          <a:xfrm>
            <a:off x="5810250" y="5153174"/>
            <a:ext cx="11334750" cy="9525"/>
          </a:xfrm>
          <a:prstGeom prst="rect">
            <a:avLst/>
          </a:prstGeom>
          <a:solidFill>
            <a:srgbClr val="CDB3DC"/>
          </a:solidFill>
          <a:ln/>
        </p:spPr>
      </p:sp>
      <p:sp>
        <p:nvSpPr>
          <p:cNvPr id="17" name="Text 15"/>
          <p:cNvSpPr/>
          <p:nvPr/>
        </p:nvSpPr>
        <p:spPr>
          <a:xfrm>
            <a:off x="5810250" y="5372249"/>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Působí spíš na náladu než na samotné návaly.</a:t>
            </a:r>
            <a:endParaRPr lang="en-US" sz="1950" dirty="0"/>
          </a:p>
        </p:txBody>
      </p:sp>
      <p:sp>
        <p:nvSpPr>
          <p:cNvPr id="18" name="Text 16"/>
          <p:cNvSpPr/>
          <p:nvPr/>
        </p:nvSpPr>
        <p:spPr>
          <a:xfrm>
            <a:off x="5810250" y="5838974"/>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Ve studiích obvykle 30 mg denně.</a:t>
            </a:r>
            <a:endParaRPr lang="en-US" sz="1650" dirty="0"/>
          </a:p>
        </p:txBody>
      </p:sp>
      <p:sp>
        <p:nvSpPr>
          <p:cNvPr id="19" name="Shape 17"/>
          <p:cNvSpPr/>
          <p:nvPr/>
        </p:nvSpPr>
        <p:spPr>
          <a:xfrm>
            <a:off x="1143000" y="6458248"/>
            <a:ext cx="4095750" cy="9525"/>
          </a:xfrm>
          <a:prstGeom prst="rect">
            <a:avLst/>
          </a:prstGeom>
          <a:solidFill>
            <a:srgbClr val="CDB3DC"/>
          </a:solidFill>
          <a:ln/>
        </p:spPr>
      </p:sp>
      <p:sp>
        <p:nvSpPr>
          <p:cNvPr id="20" name="Text 18"/>
          <p:cNvSpPr/>
          <p:nvPr/>
        </p:nvSpPr>
        <p:spPr>
          <a:xfrm>
            <a:off x="1143000" y="6677323"/>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DRMEK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21" name="Text 19"/>
          <p:cNvSpPr/>
          <p:nvPr/>
        </p:nvSpPr>
        <p:spPr>
          <a:xfrm>
            <a:off x="1143000" y="7134671"/>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PMS a cyklické obtíže, ne menopauza</a:t>
            </a:r>
            <a:endParaRPr lang="en-US" sz="1800" dirty="0"/>
          </a:p>
        </p:txBody>
      </p:sp>
      <p:sp>
        <p:nvSpPr>
          <p:cNvPr id="22" name="Shape 20"/>
          <p:cNvSpPr/>
          <p:nvPr/>
        </p:nvSpPr>
        <p:spPr>
          <a:xfrm>
            <a:off x="5810250" y="6458248"/>
            <a:ext cx="11334750" cy="9525"/>
          </a:xfrm>
          <a:prstGeom prst="rect">
            <a:avLst/>
          </a:prstGeom>
          <a:solidFill>
            <a:srgbClr val="CDB3DC"/>
          </a:solidFill>
          <a:ln/>
        </p:spPr>
      </p:sp>
      <p:sp>
        <p:nvSpPr>
          <p:cNvPr id="23" name="Text 21"/>
          <p:cNvSpPr/>
          <p:nvPr/>
        </p:nvSpPr>
        <p:spPr>
          <a:xfrm>
            <a:off x="5810250" y="6677323"/>
            <a:ext cx="12468225"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Blíž k PMS než k menopauze. Evidence pro menopauzu je ale slabá.</a:t>
            </a:r>
            <a:endParaRPr lang="en-US" sz="1950" dirty="0"/>
          </a:p>
        </p:txBody>
      </p:sp>
      <p:sp>
        <p:nvSpPr>
          <p:cNvPr id="24" name="Text 22"/>
          <p:cNvSpPr/>
          <p:nvPr/>
        </p:nvSpPr>
        <p:spPr>
          <a:xfrm>
            <a:off x="5810250" y="7144048"/>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Relevantnější před přechodem než v něm.</a:t>
            </a:r>
            <a:endParaRPr lang="en-US" sz="1650" dirty="0"/>
          </a:p>
        </p:txBody>
      </p:sp>
      <p:sp>
        <p:nvSpPr>
          <p:cNvPr id="25" name="Text 23"/>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Nízká jistota neznamená, že látka nefunguje. Znamená, že to zatím nevíme.</a:t>
            </a:r>
            <a:endParaRPr lang="en-US" sz="1575" dirty="0"/>
          </a:p>
        </p:txBody>
      </p:sp>
      <p:sp>
        <p:nvSpPr>
          <p:cNvPr id="26" name="Text 2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38</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658699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PREVENCE · METABOLICKÁ A FUNKČNÍ PODPORA</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Tyhle tři nemíří na symptomy. Míří na metabolismus a na funkci.</a:t>
            </a:r>
            <a:endParaRPr lang="en-US" sz="5550" dirty="0"/>
          </a:p>
        </p:txBody>
      </p:sp>
      <p:sp>
        <p:nvSpPr>
          <p:cNvPr id="4" name="Shape 2"/>
          <p:cNvSpPr/>
          <p:nvPr/>
        </p:nvSpPr>
        <p:spPr>
          <a:xfrm>
            <a:off x="14249400" y="1356792"/>
            <a:ext cx="381000" cy="381000"/>
          </a:xfrm>
          <a:prstGeom prst="roundRect">
            <a:avLst>
              <a:gd name="adj" fmla="val 22500"/>
            </a:avLst>
          </a:prstGeom>
          <a:ln w="19050">
            <a:solidFill>
              <a:srgbClr val="6D2A8C"/>
            </a:solidFill>
            <a:prstDash val="solid"/>
          </a:ln>
        </p:spPr>
      </p:sp>
      <p:sp>
        <p:nvSpPr>
          <p:cNvPr id="5" name="Text 3"/>
          <p:cNvSpPr/>
          <p:nvPr/>
        </p:nvSpPr>
        <p:spPr>
          <a:xfrm>
            <a:off x="14230350" y="1375842"/>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732383"/>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DATA PŘEVÁŽNĚ MIMO MENOPAUZÁLNÍ POPULACI</a:t>
            </a:r>
            <a:endParaRPr lang="en-US" sz="1350" dirty="0"/>
          </a:p>
        </p:txBody>
      </p:sp>
      <p:sp>
        <p:nvSpPr>
          <p:cNvPr id="7" name="Shape 5"/>
          <p:cNvSpPr/>
          <p:nvPr/>
        </p:nvSpPr>
        <p:spPr>
          <a:xfrm>
            <a:off x="1143000" y="3543300"/>
            <a:ext cx="4095750" cy="9525"/>
          </a:xfrm>
          <a:prstGeom prst="rect">
            <a:avLst/>
          </a:prstGeom>
          <a:solidFill>
            <a:srgbClr val="CDB3DC"/>
          </a:solidFill>
          <a:ln/>
        </p:spPr>
      </p:sp>
      <p:sp>
        <p:nvSpPr>
          <p:cNvPr id="8" name="Text 6"/>
          <p:cNvSpPr/>
          <p:nvPr/>
        </p:nvSpPr>
        <p:spPr>
          <a:xfrm>
            <a:off x="1143000" y="3724275"/>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BERBERIN </a:t>
            </a:r>
            <a:pPr algn="l" indent="0" marL="0">
              <a:lnSpc>
                <a:spcPct val="126000"/>
              </a:lnSpc>
              <a:buNone/>
            </a:pPr>
            <a:r>
              <a:rPr lang="en-US" sz="1275" spc="205" kern="0" dirty="0">
                <a:solidFill>
                  <a:srgbClr val="6D2A8C"/>
                </a:solidFill>
                <a:latin typeface="Geist Mono" pitchFamily="34" charset="0"/>
                <a:ea typeface="Geist Mono" pitchFamily="34" charset="-122"/>
                <a:cs typeface="Geist Mono" pitchFamily="34" charset="-120"/>
              </a:rPr>
              <a:t>B</a:t>
            </a:r>
            <a:endParaRPr lang="en-US" sz="1575" dirty="0"/>
          </a:p>
        </p:txBody>
      </p:sp>
      <p:sp>
        <p:nvSpPr>
          <p:cNvPr id="9" name="Text 7"/>
          <p:cNvSpPr/>
          <p:nvPr/>
        </p:nvSpPr>
        <p:spPr>
          <a:xfrm>
            <a:off x="1143000" y="4181624"/>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Glykemie · lipidy · obvod pasu</a:t>
            </a:r>
            <a:endParaRPr lang="en-US" sz="1800" dirty="0"/>
          </a:p>
        </p:txBody>
      </p:sp>
      <p:sp>
        <p:nvSpPr>
          <p:cNvPr id="10" name="Shape 8"/>
          <p:cNvSpPr/>
          <p:nvPr/>
        </p:nvSpPr>
        <p:spPr>
          <a:xfrm>
            <a:off x="5810250" y="3543300"/>
            <a:ext cx="11334750" cy="9525"/>
          </a:xfrm>
          <a:prstGeom prst="rect">
            <a:avLst/>
          </a:prstGeom>
          <a:solidFill>
            <a:srgbClr val="CDB3DC"/>
          </a:solidFill>
          <a:ln/>
        </p:spPr>
      </p:sp>
      <p:sp>
        <p:nvSpPr>
          <p:cNvPr id="11" name="Text 9"/>
          <p:cNvSpPr/>
          <p:nvPr/>
        </p:nvSpPr>
        <p:spPr>
          <a:xfrm>
            <a:off x="5810250" y="3724275"/>
            <a:ext cx="11674793" cy="781050"/>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Není menopauzální léčba. U metabolického rizika ale může mírně snižovat glykemii nalačno, triglyceridy, LDL a obvod pasu.</a:t>
            </a:r>
            <a:endParaRPr lang="en-US" sz="1950" dirty="0"/>
          </a:p>
        </p:txBody>
      </p:sp>
      <p:sp>
        <p:nvSpPr>
          <p:cNvPr id="12" name="Text 10"/>
          <p:cNvSpPr/>
          <p:nvPr/>
        </p:nvSpPr>
        <p:spPr>
          <a:xfrm>
            <a:off x="5810250" y="4562475"/>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Jen při konkrétní indikaci, pozor na GI potíže a interakce. Obvykle 500 mg dvakrát až třikrát denně.</a:t>
            </a:r>
            <a:endParaRPr lang="en-US" sz="1650" dirty="0"/>
          </a:p>
        </p:txBody>
      </p:sp>
      <p:sp>
        <p:nvSpPr>
          <p:cNvPr id="13" name="Shape 11"/>
          <p:cNvSpPr/>
          <p:nvPr/>
        </p:nvSpPr>
        <p:spPr>
          <a:xfrm>
            <a:off x="1143000" y="5086350"/>
            <a:ext cx="4095750" cy="9525"/>
          </a:xfrm>
          <a:prstGeom prst="rect">
            <a:avLst/>
          </a:prstGeom>
          <a:solidFill>
            <a:srgbClr val="CDB3DC"/>
          </a:solidFill>
          <a:ln/>
        </p:spPr>
      </p:sp>
      <p:sp>
        <p:nvSpPr>
          <p:cNvPr id="14" name="Text 12"/>
          <p:cNvSpPr/>
          <p:nvPr/>
        </p:nvSpPr>
        <p:spPr>
          <a:xfrm>
            <a:off x="1143000" y="5267325"/>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KREATIN MONOHYDRÁT </a:t>
            </a:r>
            <a:pPr algn="l" indent="0" marL="0">
              <a:lnSpc>
                <a:spcPct val="126000"/>
              </a:lnSpc>
              <a:buNone/>
            </a:pPr>
            <a:r>
              <a:rPr lang="en-US" sz="1275" spc="205" kern="0" dirty="0">
                <a:solidFill>
                  <a:srgbClr val="6D2A8C"/>
                </a:solidFill>
                <a:latin typeface="Geist Mono" pitchFamily="34" charset="0"/>
                <a:ea typeface="Geist Mono" pitchFamily="34" charset="-122"/>
                <a:cs typeface="Geist Mono" pitchFamily="34" charset="-120"/>
              </a:rPr>
              <a:t>B</a:t>
            </a:r>
            <a:endParaRPr lang="en-US" sz="1575" dirty="0"/>
          </a:p>
        </p:txBody>
      </p:sp>
      <p:sp>
        <p:nvSpPr>
          <p:cNvPr id="15" name="Text 13"/>
          <p:cNvSpPr/>
          <p:nvPr/>
        </p:nvSpPr>
        <p:spPr>
          <a:xfrm>
            <a:off x="1143000" y="5724674"/>
            <a:ext cx="4505325"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Sval · síla · tukuprostá hmota</a:t>
            </a:r>
            <a:endParaRPr lang="en-US" sz="1800" dirty="0"/>
          </a:p>
        </p:txBody>
      </p:sp>
      <p:sp>
        <p:nvSpPr>
          <p:cNvPr id="16" name="Shape 14"/>
          <p:cNvSpPr/>
          <p:nvPr/>
        </p:nvSpPr>
        <p:spPr>
          <a:xfrm>
            <a:off x="5810250" y="5086350"/>
            <a:ext cx="11334750" cy="9525"/>
          </a:xfrm>
          <a:prstGeom prst="rect">
            <a:avLst/>
          </a:prstGeom>
          <a:solidFill>
            <a:srgbClr val="CDB3DC"/>
          </a:solidFill>
          <a:ln/>
        </p:spPr>
      </p:sp>
      <p:sp>
        <p:nvSpPr>
          <p:cNvPr id="17" name="Text 15"/>
          <p:cNvSpPr/>
          <p:nvPr/>
        </p:nvSpPr>
        <p:spPr>
          <a:xfrm>
            <a:off x="5810250" y="5267325"/>
            <a:ext cx="11674793" cy="781050"/>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Dobrá data u postmenopauzálních žen, nejlépe se silovým tréninkem. Podporuje sílu a svalovou hmotu.</a:t>
            </a:r>
            <a:endParaRPr lang="en-US" sz="1950" dirty="0"/>
          </a:p>
        </p:txBody>
      </p:sp>
      <p:sp>
        <p:nvSpPr>
          <p:cNvPr id="18" name="Text 16"/>
          <p:cNvSpPr/>
          <p:nvPr/>
        </p:nvSpPr>
        <p:spPr>
          <a:xfrm>
            <a:off x="5810250" y="6105525"/>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Spolehlivý přínos pro kostní denzitu prokázán není. Obvykle 3 až 5 g denně, nasycovací fáze není nutná.</a:t>
            </a:r>
            <a:endParaRPr lang="en-US" sz="1650" dirty="0"/>
          </a:p>
        </p:txBody>
      </p:sp>
      <p:sp>
        <p:nvSpPr>
          <p:cNvPr id="19" name="Shape 17"/>
          <p:cNvSpPr/>
          <p:nvPr/>
        </p:nvSpPr>
        <p:spPr>
          <a:xfrm>
            <a:off x="1143000" y="6629400"/>
            <a:ext cx="4095750" cy="9525"/>
          </a:xfrm>
          <a:prstGeom prst="rect">
            <a:avLst/>
          </a:prstGeom>
          <a:solidFill>
            <a:srgbClr val="CDB3DC"/>
          </a:solidFill>
          <a:ln/>
        </p:spPr>
      </p:sp>
      <p:sp>
        <p:nvSpPr>
          <p:cNvPr id="20" name="Text 18"/>
          <p:cNvSpPr/>
          <p:nvPr/>
        </p:nvSpPr>
        <p:spPr>
          <a:xfrm>
            <a:off x="1143000" y="6810375"/>
            <a:ext cx="4218623"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401252"/>
                </a:solidFill>
                <a:latin typeface="Geist Mono" pitchFamily="34" charset="0"/>
                <a:ea typeface="Geist Mono" pitchFamily="34" charset="-122"/>
                <a:cs typeface="Geist Mono" pitchFamily="34" charset="-120"/>
              </a:rPr>
              <a:t>MELATONIN </a:t>
            </a:r>
            <a:pPr algn="l" indent="0" marL="0">
              <a:lnSpc>
                <a:spcPct val="126000"/>
              </a:lnSpc>
              <a:buNone/>
            </a:pPr>
            <a:r>
              <a:rPr lang="en-US" sz="1275" spc="205" kern="0" dirty="0">
                <a:solidFill>
                  <a:srgbClr val="6B4B7D"/>
                </a:solidFill>
                <a:latin typeface="Geist Mono" pitchFamily="34" charset="0"/>
                <a:ea typeface="Geist Mono" pitchFamily="34" charset="-122"/>
                <a:cs typeface="Geist Mono" pitchFamily="34" charset="-120"/>
              </a:rPr>
              <a:t>C</a:t>
            </a:r>
            <a:endParaRPr lang="en-US" sz="1575" dirty="0"/>
          </a:p>
        </p:txBody>
      </p:sp>
      <p:sp>
        <p:nvSpPr>
          <p:cNvPr id="21" name="Text 19"/>
          <p:cNvSpPr/>
          <p:nvPr/>
        </p:nvSpPr>
        <p:spPr>
          <a:xfrm>
            <a:off x="1143000" y="7267724"/>
            <a:ext cx="4218623"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Cirkadiánní rytmus · vybrané poruchy spánku</a:t>
            </a:r>
            <a:endParaRPr lang="en-US" sz="1800" dirty="0"/>
          </a:p>
        </p:txBody>
      </p:sp>
      <p:sp>
        <p:nvSpPr>
          <p:cNvPr id="22" name="Shape 20"/>
          <p:cNvSpPr/>
          <p:nvPr/>
        </p:nvSpPr>
        <p:spPr>
          <a:xfrm>
            <a:off x="5810250" y="6629400"/>
            <a:ext cx="11334750" cy="9525"/>
          </a:xfrm>
          <a:prstGeom prst="rect">
            <a:avLst/>
          </a:prstGeom>
          <a:solidFill>
            <a:srgbClr val="CDB3DC"/>
          </a:solidFill>
          <a:ln/>
        </p:spPr>
      </p:sp>
      <p:sp>
        <p:nvSpPr>
          <p:cNvPr id="23" name="Text 21"/>
          <p:cNvSpPr/>
          <p:nvPr/>
        </p:nvSpPr>
        <p:spPr>
          <a:xfrm>
            <a:off x="5810250" y="6810375"/>
            <a:ext cx="11674793" cy="781050"/>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Není univerzální „suplement na spánek“. Data pro VMS a metabolické parametry nejsou přesvědčivá.</a:t>
            </a:r>
            <a:endParaRPr lang="en-US" sz="1950" dirty="0"/>
          </a:p>
        </p:txBody>
      </p:sp>
      <p:sp>
        <p:nvSpPr>
          <p:cNvPr id="24" name="Text 22"/>
          <p:cNvSpPr/>
          <p:nvPr/>
        </p:nvSpPr>
        <p:spPr>
          <a:xfrm>
            <a:off x="5810250" y="7648575"/>
            <a:ext cx="12468225" cy="352425"/>
          </a:xfrm>
          <a:prstGeom prst="rect">
            <a:avLst/>
          </a:prstGeom>
          <a:noFill/>
          <a:ln/>
        </p:spPr>
        <p:txBody>
          <a:bodyPr wrap="square" lIns="25400" tIns="25400" rIns="25400" bIns="25400" rtlCol="0" anchor="t">
            <a:normAutofit/>
          </a:bodyPr>
          <a:lstStyle/>
          <a:p>
            <a:pPr algn="l" indent="0" marL="0">
              <a:lnSpc>
                <a:spcPct val="122222"/>
              </a:lnSpc>
              <a:buNone/>
            </a:pPr>
            <a:r>
              <a:rPr lang="en-US" sz="1650" dirty="0">
                <a:solidFill>
                  <a:srgbClr val="6B4B7D"/>
                </a:solidFill>
                <a:latin typeface="Inter" pitchFamily="34" charset="0"/>
                <a:ea typeface="Inter" pitchFamily="34" charset="-122"/>
                <a:cs typeface="Inter" pitchFamily="34" charset="-120"/>
              </a:rPr>
              <a:t>Má místo při konkrétní chronobiologické indikaci, ne rutinně. Spíš nízká dávka a správné načasování.</a:t>
            </a:r>
            <a:endParaRPr lang="en-US" sz="1650" dirty="0"/>
          </a:p>
        </p:txBody>
      </p:sp>
      <p:sp>
        <p:nvSpPr>
          <p:cNvPr id="25" name="Text 23"/>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Efekt prokázaný u diabetu nepřenášíme na zdravé ženy v menopauze.</a:t>
            </a:r>
            <a:endParaRPr lang="en-US" sz="1575" dirty="0"/>
          </a:p>
        </p:txBody>
      </p:sp>
      <p:sp>
        <p:nvSpPr>
          <p:cNvPr id="26" name="Text 2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39</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49406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a:t>
            </a:r>
            <a:endParaRPr lang="en-US" sz="1650" dirty="0"/>
          </a:p>
        </p:txBody>
      </p:sp>
      <p:sp>
        <p:nvSpPr>
          <p:cNvPr id="3" name="Text 1"/>
          <p:cNvSpPr/>
          <p:nvPr/>
        </p:nvSpPr>
        <p:spPr>
          <a:xfrm>
            <a:off x="1143000" y="4392588"/>
            <a:ext cx="15304770" cy="2097732"/>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401252"/>
                </a:solidFill>
                <a:latin typeface="Geist" pitchFamily="34" charset="0"/>
                <a:ea typeface="Geist" pitchFamily="34" charset="-122"/>
                <a:cs typeface="Geist" pitchFamily="34" charset="-120"/>
              </a:rPr>
              <a:t>Suplement není strategie. Nejdřív definujte cíl, potom vybírejte nástroj.</a:t>
            </a:r>
            <a:endParaRPr lang="en-US" sz="7650" dirty="0"/>
          </a:p>
        </p:txBody>
      </p:sp>
      <p:sp>
        <p:nvSpPr>
          <p:cNvPr id="4" name="Text 2"/>
          <p:cNvSpPr/>
          <p:nvPr/>
        </p:nvSpPr>
        <p:spPr>
          <a:xfrm>
            <a:off x="1143000" y="6909420"/>
            <a:ext cx="12753975"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6B4B7D"/>
                </a:solidFill>
                <a:latin typeface="Inter" pitchFamily="34" charset="0"/>
                <a:ea typeface="Inter" pitchFamily="34" charset="-122"/>
                <a:cs typeface="Inter" pitchFamily="34" charset="-120"/>
              </a:rPr>
              <a:t>Nejdřív pojmenujte problém: spánek, nálada, návaly, metabolické riziko nebo sval. Teprve potom hledejte nástroj a ptejte se, jak jistá je u něj evidence.</a:t>
            </a:r>
            <a:endParaRPr lang="en-US" sz="2400" dirty="0"/>
          </a:p>
        </p:txBody>
      </p:sp>
      <p:sp>
        <p:nvSpPr>
          <p:cNvPr id="5" name="Text 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40</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564164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LÉČBA PŘÍZNAKŮ · CO ŘÍKÁ EVIDENCE?</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Zmírní sója (izoflavony) nebo probiotika návaly?</a:t>
            </a:r>
            <a:endParaRPr lang="en-US" sz="5550" dirty="0"/>
          </a:p>
        </p:txBody>
      </p:sp>
      <p:sp>
        <p:nvSpPr>
          <p:cNvPr id="4" name="Shape 2"/>
          <p:cNvSpPr/>
          <p:nvPr/>
        </p:nvSpPr>
        <p:spPr>
          <a:xfrm>
            <a:off x="14249400" y="1241078"/>
            <a:ext cx="381000" cy="381000"/>
          </a:xfrm>
          <a:prstGeom prst="roundRect">
            <a:avLst>
              <a:gd name="adj" fmla="val 22500"/>
            </a:avLst>
          </a:prstGeom>
          <a:ln w="19050">
            <a:solidFill>
              <a:srgbClr val="6B4B7D"/>
            </a:solidFill>
            <a:prstDash val="dash"/>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B4B7D"/>
                </a:solidFill>
                <a:latin typeface="Geist Mono" pitchFamily="34" charset="0"/>
                <a:ea typeface="Geist Mono" pitchFamily="34" charset="-122"/>
                <a:cs typeface="Geist Mono" pitchFamily="34" charset="-120"/>
              </a:rPr>
              <a:t>C</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SLIBNÉ, NE PROKÁZANÉ</a:t>
            </a:r>
            <a:endParaRPr lang="en-US" sz="1350" dirty="0"/>
          </a:p>
        </p:txBody>
      </p:sp>
      <p:sp>
        <p:nvSpPr>
          <p:cNvPr id="7" name="Shape 5"/>
          <p:cNvSpPr/>
          <p:nvPr/>
        </p:nvSpPr>
        <p:spPr>
          <a:xfrm>
            <a:off x="5133975" y="5448300"/>
            <a:ext cx="9525" cy="2869778"/>
          </a:xfrm>
          <a:prstGeom prst="rect">
            <a:avLst/>
          </a:prstGeom>
          <a:solidFill>
            <a:srgbClr val="CDB3DC"/>
          </a:solidFill>
          <a:ln/>
        </p:spPr>
      </p:sp>
      <p:sp>
        <p:nvSpPr>
          <p:cNvPr id="8" name="Text 6"/>
          <p:cNvSpPr/>
          <p:nvPr/>
        </p:nvSpPr>
        <p:spPr>
          <a:xfrm>
            <a:off x="1143000" y="5448300"/>
            <a:ext cx="3600545"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OTÁZKA</a:t>
            </a:r>
            <a:endParaRPr lang="en-US" sz="1575" dirty="0"/>
          </a:p>
        </p:txBody>
      </p:sp>
      <p:sp>
        <p:nvSpPr>
          <p:cNvPr id="9" name="Text 7"/>
          <p:cNvSpPr/>
          <p:nvPr/>
        </p:nvSpPr>
        <p:spPr>
          <a:xfrm>
            <a:off x="1143000" y="5981849"/>
            <a:ext cx="3600545" cy="1039341"/>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Mohou izoflavony ze sóji nebo probiotika nahradit léčbu návalů?</a:t>
            </a:r>
            <a:endParaRPr lang="en-US" sz="1800" dirty="0"/>
          </a:p>
        </p:txBody>
      </p:sp>
      <p:sp>
        <p:nvSpPr>
          <p:cNvPr id="10" name="Shape 8"/>
          <p:cNvSpPr/>
          <p:nvPr/>
        </p:nvSpPr>
        <p:spPr>
          <a:xfrm>
            <a:off x="9134475" y="5448300"/>
            <a:ext cx="9525" cy="2869778"/>
          </a:xfrm>
          <a:prstGeom prst="rect">
            <a:avLst/>
          </a:prstGeom>
          <a:solidFill>
            <a:srgbClr val="CDB3DC"/>
          </a:solidFill>
          <a:ln/>
        </p:spPr>
      </p:sp>
      <p:sp>
        <p:nvSpPr>
          <p:cNvPr id="11" name="Text 9"/>
          <p:cNvSpPr/>
          <p:nvPr/>
        </p:nvSpPr>
        <p:spPr>
          <a:xfrm>
            <a:off x="5638800" y="544830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D2A8C"/>
                </a:solidFill>
                <a:latin typeface="Geist Mono" pitchFamily="34" charset="0"/>
                <a:ea typeface="Geist Mono" pitchFamily="34" charset="-122"/>
                <a:cs typeface="Geist Mono" pitchFamily="34" charset="-120"/>
              </a:rPr>
              <a:t>ZJIŠTĚNÍ</a:t>
            </a:r>
            <a:endParaRPr lang="en-US" sz="1575" dirty="0"/>
          </a:p>
        </p:txBody>
      </p:sp>
      <p:sp>
        <p:nvSpPr>
          <p:cNvPr id="12" name="Text 10"/>
          <p:cNvSpPr/>
          <p:nvPr/>
        </p:nvSpPr>
        <p:spPr>
          <a:xfrm>
            <a:off x="5638800" y="5981849"/>
            <a:ext cx="3090386" cy="2040582"/>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Izoflavony – efekt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malý a nekonzistentní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 extrakty a equol rutinně nedoporučeny. Probiotika – příznivé nálezy, ale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vysoké riziko bias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13134975" y="5448300"/>
            <a:ext cx="9525" cy="2869778"/>
          </a:xfrm>
          <a:prstGeom prst="rect">
            <a:avLst/>
          </a:prstGeom>
          <a:solidFill>
            <a:srgbClr val="CDB3DC"/>
          </a:solidFill>
          <a:ln/>
        </p:spPr>
      </p:sp>
      <p:sp>
        <p:nvSpPr>
          <p:cNvPr id="14" name="Text 12"/>
          <p:cNvSpPr/>
          <p:nvPr/>
        </p:nvSpPr>
        <p:spPr>
          <a:xfrm>
            <a:off x="9639300" y="5448300"/>
            <a:ext cx="309038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INTERPRETACE</a:t>
            </a:r>
            <a:endParaRPr lang="en-US" sz="1575" dirty="0"/>
          </a:p>
        </p:txBody>
      </p:sp>
      <p:sp>
        <p:nvSpPr>
          <p:cNvPr id="15" name="Text 13"/>
          <p:cNvSpPr/>
          <p:nvPr/>
        </p:nvSpPr>
        <p:spPr>
          <a:xfrm>
            <a:off x="9639300" y="5981849"/>
            <a:ext cx="3090386" cy="1373088"/>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Sójové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potraviny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ano, jako dobrý zdroj bílkoviny. Sójové </a:t>
            </a:r>
            <a:pPr algn="l" indent="0" marL="0">
              <a:lnSpc>
                <a:spcPct val="118780"/>
              </a:lnSpc>
              <a:buNone/>
            </a:pPr>
            <a:r>
              <a:rPr lang="en-US" sz="1800" b="1" dirty="0">
                <a:solidFill>
                  <a:srgbClr val="401252"/>
                </a:solidFill>
                <a:latin typeface="Inter" pitchFamily="34" charset="0"/>
                <a:ea typeface="Inter" pitchFamily="34" charset="-122"/>
                <a:cs typeface="Inter" pitchFamily="34" charset="-120"/>
              </a:rPr>
              <a:t>extrakty </a:t>
            </a:r>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jako léčba návalů ne.</a:t>
            </a:r>
            <a:endParaRPr lang="en-US" sz="1800" dirty="0"/>
          </a:p>
        </p:txBody>
      </p:sp>
      <p:sp>
        <p:nvSpPr>
          <p:cNvPr id="16" name="Text 14"/>
          <p:cNvSpPr/>
          <p:nvPr/>
        </p:nvSpPr>
        <p:spPr>
          <a:xfrm>
            <a:off x="13639800" y="5448300"/>
            <a:ext cx="3610356" cy="362099"/>
          </a:xfrm>
          <a:prstGeom prst="rect">
            <a:avLst/>
          </a:prstGeom>
          <a:noFill/>
          <a:ln/>
        </p:spPr>
        <p:txBody>
          <a:bodyPr wrap="square" lIns="25400" tIns="25400" rIns="25400" bIns="25400" rtlCol="0" anchor="t">
            <a:normAutofit/>
          </a:bodyPr>
          <a:lstStyle/>
          <a:p>
            <a:pPr algn="l" indent="0" marL="0">
              <a:lnSpc>
                <a:spcPct val="126000"/>
              </a:lnSpc>
              <a:buNone/>
            </a:pPr>
            <a:r>
              <a:rPr lang="en-US" sz="1575" spc="189" kern="0" dirty="0">
                <a:solidFill>
                  <a:srgbClr val="6B4B7D"/>
                </a:solidFill>
                <a:latin typeface="Geist Mono" pitchFamily="34" charset="0"/>
                <a:ea typeface="Geist Mono" pitchFamily="34" charset="-122"/>
                <a:cs typeface="Geist Mono" pitchFamily="34" charset="-120"/>
              </a:rPr>
              <a:t>LIMIT</a:t>
            </a:r>
            <a:endParaRPr lang="en-US" sz="1575" dirty="0"/>
          </a:p>
        </p:txBody>
      </p:sp>
      <p:sp>
        <p:nvSpPr>
          <p:cNvPr id="17" name="Text 15"/>
          <p:cNvSpPr/>
          <p:nvPr/>
        </p:nvSpPr>
        <p:spPr>
          <a:xfrm>
            <a:off x="13639800" y="5981849"/>
            <a:ext cx="3610356" cy="2374329"/>
          </a:xfrm>
          <a:prstGeom prst="rect">
            <a:avLst/>
          </a:prstGeom>
          <a:noFill/>
          <a:ln/>
        </p:spPr>
        <p:txBody>
          <a:bodyPr wrap="square" lIns="25400" tIns="25400" rIns="25400" bIns="25400" rtlCol="0" anchor="t">
            <a:normAutofit/>
          </a:bodyPr>
          <a:lstStyle/>
          <a:p>
            <a:pPr algn="l" indent="0" marL="0">
              <a:lnSpc>
                <a:spcPct val="118780"/>
              </a:lnSpc>
              <a:buNone/>
            </a:pPr>
            <a:r>
              <a:rPr lang="en-US" sz="1800" dirty="0">
                <a:solidFill>
                  <a:srgbClr val="6B4B7D"/>
                </a:solidFill>
                <a:latin typeface="Inter" pitchFamily="34" charset="0"/>
                <a:ea typeface="Inter" pitchFamily="34" charset="-122"/>
                <a:cs typeface="Inter" pitchFamily="34" charset="-120"/>
              </a:rPr>
              <a:t>Liší se preparáty, dávky, bakteriální kmeny, délka léčby i způsob měření symptomů. U probiotik je navíc vysoké riziko bias, u izoflavonů jsou výsledky napříč RCT nekonzistentní.</a:t>
            </a:r>
            <a:endParaRPr lang="en-US" sz="1800" dirty="0"/>
          </a:p>
        </p:txBody>
      </p:sp>
      <p:sp>
        <p:nvSpPr>
          <p:cNvPr id="18" name="Text 16"/>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Zhruba 30–35 % žen má ve střevním mikrobiomu bakterie, které umí ze sójového isoflavonu daidzeinu vytvořit S-equol, metabolit s vyšší afinitou k estrogenovým receptorům.</a:t>
            </a:r>
            <a:endParaRPr lang="en-US" sz="1575" dirty="0"/>
          </a:p>
        </p:txBody>
      </p:sp>
      <p:sp>
        <p:nvSpPr>
          <p:cNvPr id="19" name="Text 17"/>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41</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6617581"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ODPOVĚĎ · EXISTUJE JÍDLO, KTERÉ TO SPRAVÍ?</a:t>
            </a:r>
            <a:endParaRPr lang="en-US" sz="1650" dirty="0"/>
          </a:p>
        </p:txBody>
      </p:sp>
      <p:sp>
        <p:nvSpPr>
          <p:cNvPr id="4" name="Text 2"/>
          <p:cNvSpPr/>
          <p:nvPr/>
        </p:nvSpPr>
        <p:spPr>
          <a:xfrm>
            <a:off x="1143000" y="4354860"/>
            <a:ext cx="14716125" cy="1766292"/>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Neexistuje menopauzální dieta. Existuje ale stravování, které dává smysl.</a:t>
            </a:r>
            <a:endParaRPr lang="en-US" sz="6300" dirty="0"/>
          </a:p>
        </p:txBody>
      </p:sp>
      <p:sp>
        <p:nvSpPr>
          <p:cNvPr id="5" name="Text 3"/>
          <p:cNvSpPr/>
          <p:nvPr/>
        </p:nvSpPr>
        <p:spPr>
          <a:xfrm>
            <a:off x="1143000" y="6502152"/>
            <a:ext cx="13735050"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Žádná jednotlivá potravina spolehlivě neléčí menopauzální symptomy. Celkový stravovací vzorec ale ovlivňuje kardiometabolické zdraví, tělesné složení, svaly i kost, tedy to,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jak budete fungovat v dalších desetiletích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a:t>
            </a:r>
            <a:endParaRPr lang="en-US" sz="2400" dirty="0"/>
          </a:p>
        </p:txBody>
      </p:sp>
      <p:sp>
        <p:nvSpPr>
          <p:cNvPr id="6"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42</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2000">
                <a:srgbClr val="401252">
                  <a:alpha val="88000"/>
                </a:srgbClr>
              </a:gs>
              <a:gs pos="68000">
                <a:srgbClr val="401252">
                  <a:alpha val="70000"/>
                </a:srgbClr>
              </a:gs>
              <a:gs pos="85000">
                <a:srgbClr val="401252">
                  <a:alpha val="22000"/>
                </a:srgbClr>
              </a:gs>
              <a:gs pos="100000">
                <a:srgbClr val="401252">
                  <a:alpha val="4000"/>
                </a:srgbClr>
              </a:gs>
            </a:gsLst>
            <a:lin ang="0" scaled="0"/>
          </a:gradFill>
          <a:ln/>
        </p:spPr>
      </p:sp>
      <p:sp>
        <p:nvSpPr>
          <p:cNvPr id="4" name="Text 1"/>
          <p:cNvSpPr/>
          <p:nvPr/>
        </p:nvSpPr>
        <p:spPr>
          <a:xfrm>
            <a:off x="1143000" y="1333500"/>
            <a:ext cx="504195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ČÁST PÁTÁ · PRAKTICKÁ DOPORUČENÍ</a:t>
            </a:r>
            <a:endParaRPr lang="en-US" sz="1650" dirty="0"/>
          </a:p>
        </p:txBody>
      </p:sp>
      <p:sp>
        <p:nvSpPr>
          <p:cNvPr id="5" name="Text 2"/>
          <p:cNvSpPr/>
          <p:nvPr/>
        </p:nvSpPr>
        <p:spPr>
          <a:xfrm>
            <a:off x="1143000" y="5149007"/>
            <a:ext cx="14249400" cy="1067916"/>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S čím mohu začít zítra?</a:t>
            </a:r>
            <a:endParaRPr lang="en-US" sz="7650" dirty="0"/>
          </a:p>
        </p:txBody>
      </p:sp>
      <p:sp>
        <p:nvSpPr>
          <p:cNvPr id="6" name="Text 3"/>
          <p:cNvSpPr/>
          <p:nvPr/>
        </p:nvSpPr>
        <p:spPr>
          <a:xfrm>
            <a:off x="1143000" y="6597923"/>
            <a:ext cx="13201650"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Praktické kroky, které se dají zavést do běžného dne a dlouhodobě udržet.</a:t>
            </a:r>
            <a:endParaRPr lang="en-US" sz="2400" dirty="0"/>
          </a:p>
        </p:txBody>
      </p:sp>
      <p:sp>
        <p:nvSpPr>
          <p:cNvPr id="7"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43</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06601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ÚČELNOST LÉČBY</a:t>
            </a:r>
            <a:endParaRPr lang="en-US" sz="1650" dirty="0"/>
          </a:p>
        </p:txBody>
      </p:sp>
      <p:sp>
        <p:nvSpPr>
          <p:cNvPr id="3" name="Text 1"/>
          <p:cNvSpPr/>
          <p:nvPr/>
        </p:nvSpPr>
        <p:spPr>
          <a:xfrm>
            <a:off x="1143000" y="1809750"/>
            <a:ext cx="13735050" cy="1341090"/>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Nestačí najít účinnou intervenci. Musí být také udržitelná.</a:t>
            </a:r>
            <a:endParaRPr lang="en-US" sz="450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OBSERVAČNÍ DATA, NE RANDOMIZOVANÁ</a:t>
            </a:r>
            <a:endParaRPr lang="en-US" sz="1350" dirty="0"/>
          </a:p>
        </p:txBody>
      </p:sp>
      <p:sp>
        <p:nvSpPr>
          <p:cNvPr id="7" name="Text 5"/>
          <p:cNvSpPr/>
          <p:nvPr/>
        </p:nvSpPr>
        <p:spPr>
          <a:xfrm>
            <a:off x="1143000" y="4476750"/>
            <a:ext cx="1280443" cy="1210791"/>
          </a:xfrm>
          <a:prstGeom prst="rect">
            <a:avLst/>
          </a:prstGeom>
          <a:noFill/>
          <a:ln/>
        </p:spPr>
        <p:txBody>
          <a:bodyPr wrap="none" lIns="25400" tIns="25400" rIns="25400" bIns="25400" rtlCol="0" anchor="t">
            <a:normAutofit/>
          </a:bodyPr>
          <a:lstStyle/>
          <a:p>
            <a:pPr algn="l" indent="0" marL="0">
              <a:lnSpc>
                <a:spcPct val="124364"/>
              </a:lnSpc>
              <a:buNone/>
            </a:pPr>
            <a:r>
              <a:rPr lang="en-US" sz="5700" spc="-171" kern="0" dirty="0">
                <a:solidFill>
                  <a:srgbClr val="6D2A8C"/>
                </a:solidFill>
                <a:latin typeface="Geist" pitchFamily="34" charset="0"/>
                <a:ea typeface="Geist" pitchFamily="34" charset="-122"/>
                <a:cs typeface="Geist" pitchFamily="34" charset="-120"/>
              </a:rPr>
              <a:t>61</a:t>
            </a:r>
            <a:pPr algn="l" indent="0" marL="0">
              <a:lnSpc>
                <a:spcPct val="124364"/>
              </a:lnSpc>
              <a:buNone/>
            </a:pPr>
            <a:r>
              <a:rPr lang="en-US" sz="2850" spc="-171" kern="0" dirty="0">
                <a:solidFill>
                  <a:srgbClr val="6D2A8C"/>
                </a:solidFill>
                <a:latin typeface="Geist" pitchFamily="34" charset="0"/>
                <a:ea typeface="Geist" pitchFamily="34" charset="-122"/>
                <a:cs typeface="Geist" pitchFamily="34" charset="-120"/>
              </a:rPr>
              <a:t>%</a:t>
            </a:r>
            <a:endParaRPr lang="en-US" sz="5700" dirty="0"/>
          </a:p>
        </p:txBody>
      </p:sp>
      <p:sp>
        <p:nvSpPr>
          <p:cNvPr id="8" name="Text 6"/>
          <p:cNvSpPr/>
          <p:nvPr/>
        </p:nvSpPr>
        <p:spPr>
          <a:xfrm>
            <a:off x="2728243" y="5000625"/>
            <a:ext cx="15858433"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žen, které zahájí systémovou hormonální léčbu,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po 12 měsících už v léčbě nepokračuje</a:t>
            </a:r>
            <a:endParaRPr lang="en-US" sz="2250" dirty="0"/>
          </a:p>
        </p:txBody>
      </p:sp>
      <p:sp>
        <p:nvSpPr>
          <p:cNvPr id="9" name="Text 7"/>
          <p:cNvSpPr/>
          <p:nvPr/>
        </p:nvSpPr>
        <p:spPr>
          <a:xfrm>
            <a:off x="1143000" y="5973291"/>
            <a:ext cx="1280443" cy="1210791"/>
          </a:xfrm>
          <a:prstGeom prst="rect">
            <a:avLst/>
          </a:prstGeom>
          <a:noFill/>
          <a:ln/>
        </p:spPr>
        <p:txBody>
          <a:bodyPr wrap="none" lIns="25400" tIns="25400" rIns="25400" bIns="25400" rtlCol="0" anchor="t">
            <a:normAutofit/>
          </a:bodyPr>
          <a:lstStyle/>
          <a:p>
            <a:pPr algn="l" indent="0" marL="0">
              <a:lnSpc>
                <a:spcPct val="124364"/>
              </a:lnSpc>
              <a:buNone/>
            </a:pPr>
            <a:r>
              <a:rPr lang="en-US" sz="5700" spc="-171" kern="0" dirty="0">
                <a:solidFill>
                  <a:srgbClr val="6D2A8C"/>
                </a:solidFill>
                <a:latin typeface="Geist" pitchFamily="34" charset="0"/>
                <a:ea typeface="Geist" pitchFamily="34" charset="-122"/>
                <a:cs typeface="Geist" pitchFamily="34" charset="-120"/>
              </a:rPr>
              <a:t>59</a:t>
            </a:r>
            <a:pPr algn="l" indent="0" marL="0">
              <a:lnSpc>
                <a:spcPct val="124364"/>
              </a:lnSpc>
              <a:buNone/>
            </a:pPr>
            <a:r>
              <a:rPr lang="en-US" sz="2850" spc="-171" kern="0" dirty="0">
                <a:solidFill>
                  <a:srgbClr val="6D2A8C"/>
                </a:solidFill>
                <a:latin typeface="Geist" pitchFamily="34" charset="0"/>
                <a:ea typeface="Geist" pitchFamily="34" charset="-122"/>
                <a:cs typeface="Geist" pitchFamily="34" charset="-120"/>
              </a:rPr>
              <a:t>%</a:t>
            </a:r>
            <a:endParaRPr lang="en-US" sz="5700" dirty="0"/>
          </a:p>
        </p:txBody>
      </p:sp>
      <p:sp>
        <p:nvSpPr>
          <p:cNvPr id="10" name="Text 8"/>
          <p:cNvSpPr/>
          <p:nvPr/>
        </p:nvSpPr>
        <p:spPr>
          <a:xfrm>
            <a:off x="2728243" y="6497166"/>
            <a:ext cx="15858433"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ji ukončí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do 2 let</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často bez konzultace s lékařem</a:t>
            </a:r>
            <a:endParaRPr lang="en-US" sz="2250" dirty="0"/>
          </a:p>
        </p:txBody>
      </p:sp>
      <p:sp>
        <p:nvSpPr>
          <p:cNvPr id="11" name="Text 9"/>
          <p:cNvSpPr/>
          <p:nvPr/>
        </p:nvSpPr>
        <p:spPr>
          <a:xfrm>
            <a:off x="1143000" y="7526982"/>
            <a:ext cx="16482060" cy="132397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Nejčastější důvody byly doporučení zdravotníka (~31 %), obavy z rizik (~26 %), preference „přirozenějšího“ přístupu (~26 %), nežádoucí účinky (~17 %) a zlepšení symptomů (~11 %), zhruba 9 % uvádělo, že léčba podle nich nefungovala.</a:t>
            </a:r>
            <a:endParaRPr lang="en-US" sz="2250" dirty="0"/>
          </a:p>
        </p:txBody>
      </p:sp>
      <p:sp>
        <p:nvSpPr>
          <p:cNvPr id="12" name="Text 10"/>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UpToDate, Treatment of menopausal symptoms with hormone therapy, 2026</a:t>
            </a:r>
            <a:endParaRPr lang="en-US" sz="1575" dirty="0"/>
          </a:p>
        </p:txBody>
      </p:sp>
      <p:sp>
        <p:nvSpPr>
          <p:cNvPr id="13" name="Text 11"/>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44</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64798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PRAXE</a:t>
            </a:r>
            <a:endParaRPr lang="en-US" sz="1650" dirty="0"/>
          </a:p>
        </p:txBody>
      </p:sp>
      <p:sp>
        <p:nvSpPr>
          <p:cNvPr id="3" name="Text 1"/>
          <p:cNvSpPr/>
          <p:nvPr/>
        </p:nvSpPr>
        <p:spPr>
          <a:xfrm>
            <a:off x="1143000" y="3675534"/>
            <a:ext cx="8437245" cy="1297632"/>
          </a:xfrm>
          <a:prstGeom prst="rect">
            <a:avLst/>
          </a:prstGeom>
          <a:noFill/>
          <a:ln/>
        </p:spPr>
        <p:txBody>
          <a:bodyPr wrap="square" lIns="25400" tIns="25400" rIns="25400" bIns="25400" rtlCol="0" anchor="t">
            <a:normAutofit/>
          </a:bodyPr>
          <a:lstStyle/>
          <a:p>
            <a:pPr algn="l" indent="0" marL="0">
              <a:lnSpc>
                <a:spcPct val="87576"/>
              </a:lnSpc>
              <a:buNone/>
            </a:pPr>
            <a:r>
              <a:rPr lang="en-US" sz="4350" spc="-78" kern="0" dirty="0">
                <a:solidFill>
                  <a:srgbClr val="401252"/>
                </a:solidFill>
                <a:latin typeface="Geist" pitchFamily="34" charset="0"/>
                <a:ea typeface="Geist" pitchFamily="34" charset="-122"/>
                <a:cs typeface="Geist" pitchFamily="34" charset="-120"/>
              </a:rPr>
              <a:t>Jedna změna. Taková, kterou zvládnete i v náročném dni.</a:t>
            </a:r>
            <a:endParaRPr lang="en-US" sz="4350" dirty="0"/>
          </a:p>
        </p:txBody>
      </p:sp>
      <p:sp>
        <p:nvSpPr>
          <p:cNvPr id="4" name="Text 2"/>
          <p:cNvSpPr/>
          <p:nvPr/>
        </p:nvSpPr>
        <p:spPr>
          <a:xfrm>
            <a:off x="1143000" y="5277966"/>
            <a:ext cx="8437245" cy="1752600"/>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Místo změny „všeho najednou“ si vyberte jednu konkrétní věc. Opakujte ji, dokud se nestane běžnou součástí dne. Teprve potom přidejte další. Pamatujte –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zvyk je silnější než vůle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a:t>
            </a:r>
            <a:endParaRPr lang="en-US" sz="2250" dirty="0"/>
          </a:p>
        </p:txBody>
      </p:sp>
      <p:sp>
        <p:nvSpPr>
          <p:cNvPr id="5" name="Shape 3"/>
          <p:cNvSpPr/>
          <p:nvPr/>
        </p:nvSpPr>
        <p:spPr>
          <a:xfrm>
            <a:off x="14249400" y="1200150"/>
            <a:ext cx="381000" cy="381000"/>
          </a:xfrm>
          <a:prstGeom prst="roundRect">
            <a:avLst>
              <a:gd name="adj" fmla="val 22500"/>
            </a:avLst>
          </a:prstGeom>
          <a:solidFill>
            <a:srgbClr val="F4ECFA"/>
          </a:solidFill>
          <a:ln/>
        </p:spPr>
      </p:sp>
      <p:sp>
        <p:nvSpPr>
          <p:cNvPr id="6" name="Text 4"/>
          <p:cNvSpPr/>
          <p:nvPr/>
        </p:nvSpPr>
        <p:spPr>
          <a:xfrm>
            <a:off x="14211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401252"/>
                </a:solidFill>
                <a:latin typeface="Geist Mono" pitchFamily="34" charset="0"/>
                <a:ea typeface="Geist Mono" pitchFamily="34" charset="-122"/>
                <a:cs typeface="Geist Mono" pitchFamily="34" charset="-120"/>
              </a:rPr>
              <a:t>P</a:t>
            </a:r>
            <a:endParaRPr lang="en-US" sz="1500" dirty="0"/>
          </a:p>
        </p:txBody>
      </p:sp>
      <p:sp>
        <p:nvSpPr>
          <p:cNvPr id="7" name="Text 5"/>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i="1" spc="27" kern="0" dirty="0">
                <a:solidFill>
                  <a:srgbClr val="6B4B7D"/>
                </a:solidFill>
                <a:latin typeface="Geist Mono" pitchFamily="34" charset="0"/>
                <a:ea typeface="Geist Mono" pitchFamily="34" charset="-122"/>
                <a:cs typeface="Geist Mono" pitchFamily="34" charset="-120"/>
              </a:rPr>
              <a:t>Koučovací nástroj</a:t>
            </a:r>
            <a:endParaRPr lang="en-US" sz="1350" dirty="0"/>
          </a:p>
        </p:txBody>
      </p:sp>
      <p:sp>
        <p:nvSpPr>
          <p:cNvPr id="8" name="Text 6"/>
          <p:cNvSpPr/>
          <p:nvPr/>
        </p:nvSpPr>
        <p:spPr>
          <a:xfrm>
            <a:off x="10287000" y="3367980"/>
            <a:ext cx="706374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TEST „VELIKOSTI“ NÁVYKU</a:t>
            </a:r>
            <a:endParaRPr lang="en-US" sz="1650" dirty="0"/>
          </a:p>
        </p:txBody>
      </p:sp>
      <p:sp>
        <p:nvSpPr>
          <p:cNvPr id="9" name="Text 7"/>
          <p:cNvSpPr/>
          <p:nvPr/>
        </p:nvSpPr>
        <p:spPr>
          <a:xfrm>
            <a:off x="10287000" y="3974083"/>
            <a:ext cx="706374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401252"/>
                </a:solidFill>
                <a:latin typeface="Inter" pitchFamily="34" charset="0"/>
                <a:ea typeface="Inter" pitchFamily="34" charset="-122"/>
                <a:cs typeface="Inter" pitchFamily="34" charset="-120"/>
              </a:rPr>
              <a:t>Na škále 1–10: </a:t>
            </a:r>
            <a:pPr algn="l" indent="0" marL="0">
              <a:lnSpc>
                <a:spcPct val="121351"/>
              </a:lnSpc>
              <a:buNone/>
            </a:pPr>
            <a:r>
              <a:rPr lang="en-US" sz="2400" b="1" dirty="0">
                <a:solidFill>
                  <a:srgbClr val="401252"/>
                </a:solidFill>
                <a:latin typeface="Inter" pitchFamily="34" charset="0"/>
                <a:ea typeface="Inter" pitchFamily="34" charset="-122"/>
                <a:cs typeface="Inter" pitchFamily="34" charset="-120"/>
              </a:rPr>
              <a:t>jak jistá jste si, že to zvládnete i ve špatný den?</a:t>
            </a:r>
            <a:endParaRPr lang="en-US" sz="2400" dirty="0"/>
          </a:p>
        </p:txBody>
      </p:sp>
      <p:sp>
        <p:nvSpPr>
          <p:cNvPr id="10" name="Text 8"/>
          <p:cNvSpPr/>
          <p:nvPr/>
        </p:nvSpPr>
        <p:spPr>
          <a:xfrm>
            <a:off x="10287000" y="5206975"/>
            <a:ext cx="1201043"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9–10</a:t>
            </a:r>
            <a:endParaRPr lang="en-US" sz="3900" dirty="0"/>
          </a:p>
        </p:txBody>
      </p:sp>
      <p:sp>
        <p:nvSpPr>
          <p:cNvPr id="11" name="Text 9"/>
          <p:cNvSpPr/>
          <p:nvPr/>
        </p:nvSpPr>
        <p:spPr>
          <a:xfrm>
            <a:off x="11678543" y="5487963"/>
            <a:ext cx="6013103" cy="438150"/>
          </a:xfrm>
          <a:prstGeom prst="rect">
            <a:avLst/>
          </a:prstGeom>
          <a:noFill/>
          <a:ln/>
        </p:spPr>
        <p:txBody>
          <a:bodyPr wrap="square" lIns="25400" tIns="25400" rIns="25400" bIns="25400" rtlCol="0" anchor="t">
            <a:normAutofit/>
          </a:bodyPr>
          <a:lstStyle/>
          <a:p>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Začněte.</a:t>
            </a:r>
            <a:endParaRPr lang="en-US" sz="2100" dirty="0"/>
          </a:p>
        </p:txBody>
      </p:sp>
      <p:sp>
        <p:nvSpPr>
          <p:cNvPr id="12" name="Text 10"/>
          <p:cNvSpPr/>
          <p:nvPr/>
        </p:nvSpPr>
        <p:spPr>
          <a:xfrm>
            <a:off x="10287000" y="6218858"/>
            <a:ext cx="1201043"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 8</a:t>
            </a:r>
            <a:endParaRPr lang="en-US" sz="3900" dirty="0"/>
          </a:p>
        </p:txBody>
      </p:sp>
      <p:sp>
        <p:nvSpPr>
          <p:cNvPr id="13" name="Text 11"/>
          <p:cNvSpPr/>
          <p:nvPr/>
        </p:nvSpPr>
        <p:spPr>
          <a:xfrm>
            <a:off x="11678543" y="6499845"/>
            <a:ext cx="5630451" cy="838200"/>
          </a:xfrm>
          <a:prstGeom prst="rect">
            <a:avLst/>
          </a:prstGeom>
          <a:noFill/>
          <a:ln/>
        </p:spPr>
        <p:txBody>
          <a:bodyPr wrap="square" lIns="25400" tIns="25400" rIns="25400" bIns="25400" rtlCol="0" anchor="t">
            <a:normAutofit/>
          </a:bodyPr>
          <a:lstStyle/>
          <a:p>
            <a:pPr algn="l" indent="0" marL="0">
              <a:lnSpc>
                <a:spcPct val="123529"/>
              </a:lnSpc>
              <a:buNone/>
            </a:pPr>
            <a:r>
              <a:rPr lang="en-US" sz="2100" b="1" dirty="0">
                <a:solidFill>
                  <a:srgbClr val="401252"/>
                </a:solidFill>
                <a:latin typeface="Inter" pitchFamily="34" charset="0"/>
                <a:ea typeface="Inter" pitchFamily="34" charset="-122"/>
                <a:cs typeface="Inter" pitchFamily="34" charset="-120"/>
              </a:rPr>
              <a:t>Zmenšete krok. </a:t>
            </a:r>
            <a:pPr algn="l" indent="0" marL="0">
              <a:lnSpc>
                <a:spcPct val="123529"/>
              </a:lnSpc>
              <a:buNone/>
            </a:pPr>
            <a:r>
              <a:rPr lang="en-US" sz="2100" dirty="0">
                <a:solidFill>
                  <a:srgbClr val="6B4B7D"/>
                </a:solidFill>
                <a:latin typeface="Inter" pitchFamily="34" charset="0"/>
                <a:ea typeface="Inter" pitchFamily="34" charset="-122"/>
                <a:cs typeface="Inter" pitchFamily="34" charset="-120"/>
              </a:rPr>
              <a:t>Ne větší úsilí. Menší překážka.</a:t>
            </a:r>
            <a:endParaRPr lang="en-US" sz="2100" dirty="0"/>
          </a:p>
        </p:txBody>
      </p:sp>
      <p:sp>
        <p:nvSpPr>
          <p:cNvPr id="14" name="Text 12"/>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K obědu a večeři si přidám alespoň 2 různé barvy zeleniny. · Nástroj dle Precision Nutrition</a:t>
            </a:r>
            <a:endParaRPr lang="en-US" sz="1575" dirty="0"/>
          </a:p>
        </p:txBody>
      </p:sp>
      <p:sp>
        <p:nvSpPr>
          <p:cNvPr id="15"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45</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223528"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PLÁNOVÁNÍ A ČAS</a:t>
            </a:r>
            <a:endParaRPr lang="en-US" sz="1650" dirty="0"/>
          </a:p>
        </p:txBody>
      </p:sp>
      <p:sp>
        <p:nvSpPr>
          <p:cNvPr id="3" name="Text 1"/>
          <p:cNvSpPr/>
          <p:nvPr/>
        </p:nvSpPr>
        <p:spPr>
          <a:xfrm>
            <a:off x="1143000" y="1809750"/>
            <a:ext cx="13735050" cy="1602730"/>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Než začnete plánovat, zjistěte, kde Vám čas skutečně utíká.</a:t>
            </a:r>
            <a:endParaRPr lang="en-US" sz="5550" dirty="0"/>
          </a:p>
        </p:txBody>
      </p:sp>
      <p:sp>
        <p:nvSpPr>
          <p:cNvPr id="4" name="Shape 2"/>
          <p:cNvSpPr/>
          <p:nvPr/>
        </p:nvSpPr>
        <p:spPr>
          <a:xfrm>
            <a:off x="14249400" y="1200150"/>
            <a:ext cx="381000" cy="381000"/>
          </a:xfrm>
          <a:prstGeom prst="roundRect">
            <a:avLst>
              <a:gd name="adj" fmla="val 22500"/>
            </a:avLst>
          </a:prstGeom>
          <a:solidFill>
            <a:srgbClr val="F4ECFA"/>
          </a:solidFill>
          <a:ln/>
        </p:spPr>
      </p:sp>
      <p:sp>
        <p:nvSpPr>
          <p:cNvPr id="5" name="Text 3"/>
          <p:cNvSpPr/>
          <p:nvPr/>
        </p:nvSpPr>
        <p:spPr>
          <a:xfrm>
            <a:off x="14211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401252"/>
                </a:solidFill>
                <a:latin typeface="Geist Mono" pitchFamily="34" charset="0"/>
                <a:ea typeface="Geist Mono" pitchFamily="34" charset="-122"/>
                <a:cs typeface="Geist Mono" pitchFamily="34" charset="-120"/>
              </a:rPr>
              <a:t>P</a:t>
            </a:r>
            <a:endParaRPr lang="en-US" sz="1500" dirty="0"/>
          </a:p>
        </p:txBody>
      </p:sp>
      <p:sp>
        <p:nvSpPr>
          <p:cNvPr id="6" name="Text 4"/>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i="1" spc="27" kern="0" dirty="0">
                <a:solidFill>
                  <a:srgbClr val="6B4B7D"/>
                </a:solidFill>
                <a:latin typeface="Geist Mono" pitchFamily="34" charset="0"/>
                <a:ea typeface="Geist Mono" pitchFamily="34" charset="-122"/>
                <a:cs typeface="Geist Mono" pitchFamily="34" charset="-120"/>
              </a:rPr>
              <a:t>Koučovací nástroj</a:t>
            </a:r>
            <a:endParaRPr lang="en-US" sz="1350" dirty="0"/>
          </a:p>
        </p:txBody>
      </p:sp>
      <p:sp>
        <p:nvSpPr>
          <p:cNvPr id="7" name="Text 5"/>
          <p:cNvSpPr/>
          <p:nvPr/>
        </p:nvSpPr>
        <p:spPr>
          <a:xfrm>
            <a:off x="1143000" y="4005560"/>
            <a:ext cx="640854"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01</a:t>
            </a:r>
            <a:endParaRPr lang="en-US" sz="3900" dirty="0"/>
          </a:p>
        </p:txBody>
      </p:sp>
      <p:sp>
        <p:nvSpPr>
          <p:cNvPr id="8" name="Text 6"/>
          <p:cNvSpPr/>
          <p:nvPr/>
        </p:nvSpPr>
        <p:spPr>
          <a:xfrm>
            <a:off x="2126754" y="4262735"/>
            <a:ext cx="14005471"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Vyberte jeden běžný den. </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Ne ten nejlepší, ten běžný. Jeden obvykle stačí.</a:t>
            </a:r>
            <a:endParaRPr lang="en-US" sz="2250" dirty="0"/>
          </a:p>
        </p:txBody>
      </p:sp>
      <p:sp>
        <p:nvSpPr>
          <p:cNvPr id="9" name="Text 7"/>
          <p:cNvSpPr/>
          <p:nvPr/>
        </p:nvSpPr>
        <p:spPr>
          <a:xfrm>
            <a:off x="1143000" y="5131743"/>
            <a:ext cx="640854"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02</a:t>
            </a:r>
            <a:endParaRPr lang="en-US" sz="3900" dirty="0"/>
          </a:p>
        </p:txBody>
      </p:sp>
      <p:sp>
        <p:nvSpPr>
          <p:cNvPr id="10" name="Text 8"/>
          <p:cNvSpPr/>
          <p:nvPr/>
        </p:nvSpPr>
        <p:spPr>
          <a:xfrm>
            <a:off x="2126754" y="5388918"/>
            <a:ext cx="14005471"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Zapisujte po 30 minutách</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ideálně jednou za hodinu, aby byla vzpomínka přesná.</a:t>
            </a:r>
            <a:endParaRPr lang="en-US" sz="2250" dirty="0"/>
          </a:p>
        </p:txBody>
      </p:sp>
      <p:sp>
        <p:nvSpPr>
          <p:cNvPr id="11" name="Text 9"/>
          <p:cNvSpPr/>
          <p:nvPr/>
        </p:nvSpPr>
        <p:spPr>
          <a:xfrm>
            <a:off x="1143000" y="6257925"/>
            <a:ext cx="640854"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03</a:t>
            </a:r>
            <a:endParaRPr lang="en-US" sz="3900" dirty="0"/>
          </a:p>
        </p:txBody>
      </p:sp>
      <p:sp>
        <p:nvSpPr>
          <p:cNvPr id="12" name="Text 10"/>
          <p:cNvSpPr/>
          <p:nvPr/>
        </p:nvSpPr>
        <p:spPr>
          <a:xfrm>
            <a:off x="2126754" y="6515100"/>
            <a:ext cx="14005471"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Nemusí to být podrobné.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Stačí obraz dne</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ne audit.</a:t>
            </a:r>
            <a:endParaRPr lang="en-US" sz="2250" dirty="0"/>
          </a:p>
        </p:txBody>
      </p:sp>
      <p:sp>
        <p:nvSpPr>
          <p:cNvPr id="13" name="Text 11"/>
          <p:cNvSpPr/>
          <p:nvPr/>
        </p:nvSpPr>
        <p:spPr>
          <a:xfrm>
            <a:off x="1143000" y="7384107"/>
            <a:ext cx="640854" cy="840432"/>
          </a:xfrm>
          <a:prstGeom prst="rect">
            <a:avLst/>
          </a:prstGeom>
          <a:noFill/>
          <a:ln/>
        </p:spPr>
        <p:txBody>
          <a:bodyPr wrap="none" lIns="25400" tIns="25400" rIns="25400" bIns="25400" rtlCol="0" anchor="t">
            <a:normAutofit/>
          </a:bodyPr>
          <a:lstStyle/>
          <a:p>
            <a:pPr algn="l" indent="0" marL="0">
              <a:lnSpc>
                <a:spcPct val="123882"/>
              </a:lnSpc>
              <a:buNone/>
            </a:pPr>
            <a:r>
              <a:rPr lang="en-US" sz="3900" spc="-117" kern="0" dirty="0">
                <a:solidFill>
                  <a:srgbClr val="6D2A8C"/>
                </a:solidFill>
                <a:latin typeface="Geist" pitchFamily="34" charset="0"/>
                <a:ea typeface="Geist" pitchFamily="34" charset="-122"/>
                <a:cs typeface="Geist" pitchFamily="34" charset="-120"/>
              </a:rPr>
              <a:t>04</a:t>
            </a:r>
            <a:endParaRPr lang="en-US" sz="3900" dirty="0"/>
          </a:p>
        </p:txBody>
      </p:sp>
      <p:sp>
        <p:nvSpPr>
          <p:cNvPr id="14" name="Text 12"/>
          <p:cNvSpPr/>
          <p:nvPr/>
        </p:nvSpPr>
        <p:spPr>
          <a:xfrm>
            <a:off x="2126754" y="7641282"/>
            <a:ext cx="14005471" cy="466725"/>
          </a:xfrm>
          <a:prstGeom prst="rect">
            <a:avLst/>
          </a:prstGeom>
          <a:noFill/>
          <a:ln/>
        </p:spPr>
        <p:txBody>
          <a:bodyPr wrap="square" lIns="25400" tIns="25400" rIns="25400" bIns="25400" rtlCol="0" anchor="t">
            <a:normAutofit/>
          </a:bodyPr>
          <a:lstStyle/>
          <a:p>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Pak hledejte </a:t>
            </a:r>
            <a:pPr algn="l" indent="0" marL="0">
              <a:lnSpc>
                <a:spcPct val="125000"/>
              </a:lnSpc>
              <a:buNone/>
            </a:pPr>
            <a:r>
              <a:rPr lang="en-US" sz="2250" b="1" dirty="0">
                <a:solidFill>
                  <a:srgbClr val="401252"/>
                </a:solidFill>
                <a:latin typeface="Inter" pitchFamily="34" charset="0"/>
                <a:ea typeface="Inter" pitchFamily="34" charset="-122"/>
                <a:cs typeface="Inter" pitchFamily="34" charset="-120"/>
              </a:rPr>
              <a:t>vzorce a místa, kde čas uniká</a:t>
            </a:r>
            <a:pPr algn="l" indent="0" marL="0">
              <a:lnSpc>
                <a:spcPct val="125000"/>
              </a:lnSpc>
              <a:buNone/>
            </a:pPr>
            <a:r>
              <a:rPr lang="en-US" sz="2250" dirty="0">
                <a:solidFill>
                  <a:srgbClr val="6B4B7D"/>
                </a:solidFill>
                <a:latin typeface="Inter" pitchFamily="34" charset="0"/>
                <a:ea typeface="Inter" pitchFamily="34" charset="-122"/>
                <a:cs typeface="Inter" pitchFamily="34" charset="-120"/>
              </a:rPr>
              <a:t>. Plán se staví na skutečném dnu.</a:t>
            </a:r>
            <a:endParaRPr lang="en-US" sz="2250" dirty="0"/>
          </a:p>
        </p:txBody>
      </p:sp>
      <p:sp>
        <p:nvSpPr>
          <p:cNvPr id="15" name="Text 13"/>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Nástroj dle Precision Nutrition, Planning &amp; Time Use Worksheet, 2019</a:t>
            </a:r>
            <a:endParaRPr lang="en-US" sz="1575" dirty="0"/>
          </a:p>
        </p:txBody>
      </p:sp>
      <p:sp>
        <p:nvSpPr>
          <p:cNvPr id="16" name="Text 1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46</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359334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SUPER SHAKE</a:t>
            </a:r>
            <a:endParaRPr lang="en-US" sz="1650" dirty="0"/>
          </a:p>
        </p:txBody>
      </p:sp>
      <p:sp>
        <p:nvSpPr>
          <p:cNvPr id="3" name="Text 1"/>
          <p:cNvSpPr/>
          <p:nvPr/>
        </p:nvSpPr>
        <p:spPr>
          <a:xfrm>
            <a:off x="1143000" y="1809750"/>
            <a:ext cx="8829675" cy="1297632"/>
          </a:xfrm>
          <a:prstGeom prst="rect">
            <a:avLst/>
          </a:prstGeom>
          <a:noFill/>
          <a:ln/>
        </p:spPr>
        <p:txBody>
          <a:bodyPr wrap="square" lIns="25400" tIns="25400" rIns="25400" bIns="25400" rtlCol="0" anchor="t">
            <a:normAutofit/>
          </a:bodyPr>
          <a:lstStyle/>
          <a:p>
            <a:pPr algn="l" indent="0" marL="0">
              <a:lnSpc>
                <a:spcPct val="87576"/>
              </a:lnSpc>
              <a:buNone/>
            </a:pPr>
            <a:r>
              <a:rPr lang="en-US" sz="4350" spc="-78" kern="0" dirty="0">
                <a:solidFill>
                  <a:srgbClr val="401252"/>
                </a:solidFill>
                <a:latin typeface="Geist" pitchFamily="34" charset="0"/>
                <a:ea typeface="Geist" pitchFamily="34" charset="-122"/>
                <a:cs typeface="Geist" pitchFamily="34" charset="-120"/>
              </a:rPr>
              <a:t>Když na jídlo není čas, ať je aspoň celé.</a:t>
            </a:r>
            <a:endParaRPr lang="en-US" sz="4350" dirty="0"/>
          </a:p>
        </p:txBody>
      </p:sp>
      <p:sp>
        <p:nvSpPr>
          <p:cNvPr id="4" name="Shape 2"/>
          <p:cNvSpPr/>
          <p:nvPr/>
        </p:nvSpPr>
        <p:spPr>
          <a:xfrm>
            <a:off x="14249400" y="1200150"/>
            <a:ext cx="381000" cy="381000"/>
          </a:xfrm>
          <a:prstGeom prst="roundRect">
            <a:avLst>
              <a:gd name="adj" fmla="val 22500"/>
            </a:avLst>
          </a:prstGeom>
          <a:solidFill>
            <a:srgbClr val="F4ECFA"/>
          </a:solidFill>
          <a:ln/>
        </p:spPr>
      </p:sp>
      <p:sp>
        <p:nvSpPr>
          <p:cNvPr id="5" name="Text 3"/>
          <p:cNvSpPr/>
          <p:nvPr/>
        </p:nvSpPr>
        <p:spPr>
          <a:xfrm>
            <a:off x="14211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401252"/>
                </a:solidFill>
                <a:latin typeface="Geist Mono" pitchFamily="34" charset="0"/>
                <a:ea typeface="Geist Mono" pitchFamily="34" charset="-122"/>
                <a:cs typeface="Geist Mono" pitchFamily="34" charset="-120"/>
              </a:rPr>
              <a:t>P</a:t>
            </a:r>
            <a:endParaRPr lang="en-US" sz="1500" dirty="0"/>
          </a:p>
        </p:txBody>
      </p:sp>
      <p:sp>
        <p:nvSpPr>
          <p:cNvPr id="6" name="Text 4"/>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i="1" spc="27" kern="0" dirty="0">
                <a:solidFill>
                  <a:srgbClr val="6B4B7D"/>
                </a:solidFill>
                <a:latin typeface="Geist Mono" pitchFamily="34" charset="0"/>
                <a:ea typeface="Geist Mono" pitchFamily="34" charset="-122"/>
                <a:cs typeface="Geist Mono" pitchFamily="34" charset="-120"/>
              </a:rPr>
              <a:t>Koučovací nástroj</a:t>
            </a:r>
            <a:endParaRPr lang="en-US" sz="1350" dirty="0"/>
          </a:p>
        </p:txBody>
      </p:sp>
      <p:sp>
        <p:nvSpPr>
          <p:cNvPr id="7" name="Text 5"/>
          <p:cNvSpPr/>
          <p:nvPr/>
        </p:nvSpPr>
        <p:spPr>
          <a:xfrm>
            <a:off x="1143000" y="3848100"/>
            <a:ext cx="368275"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6D2A8C"/>
                </a:solidFill>
                <a:latin typeface="Geist Mono" pitchFamily="34" charset="0"/>
                <a:ea typeface="Geist Mono" pitchFamily="34" charset="-122"/>
                <a:cs typeface="Geist Mono" pitchFamily="34" charset="-120"/>
              </a:rPr>
              <a:t>01</a:t>
            </a:r>
            <a:endParaRPr lang="en-US" sz="1575" dirty="0"/>
          </a:p>
        </p:txBody>
      </p:sp>
      <p:sp>
        <p:nvSpPr>
          <p:cNvPr id="8" name="Text 6"/>
          <p:cNvSpPr/>
          <p:nvPr/>
        </p:nvSpPr>
        <p:spPr>
          <a:xfrm>
            <a:off x="1777975" y="3810000"/>
            <a:ext cx="9779027"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b="1" dirty="0">
                <a:solidFill>
                  <a:srgbClr val="401252"/>
                </a:solidFill>
                <a:latin typeface="Inter" pitchFamily="34" charset="0"/>
                <a:ea typeface="Inter" pitchFamily="34" charset="-122"/>
                <a:cs typeface="Inter" pitchFamily="34" charset="-120"/>
              </a:rPr>
              <a:t>Bílkovina </a:t>
            </a:r>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 řecký jogurt, cottage, proteinový prášek</a:t>
            </a:r>
            <a:endParaRPr lang="en-US" sz="1950" dirty="0"/>
          </a:p>
        </p:txBody>
      </p:sp>
      <p:sp>
        <p:nvSpPr>
          <p:cNvPr id="9" name="Text 7"/>
          <p:cNvSpPr/>
          <p:nvPr/>
        </p:nvSpPr>
        <p:spPr>
          <a:xfrm>
            <a:off x="1143000" y="4467225"/>
            <a:ext cx="368275"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6D2A8C"/>
                </a:solidFill>
                <a:latin typeface="Geist Mono" pitchFamily="34" charset="0"/>
                <a:ea typeface="Geist Mono" pitchFamily="34" charset="-122"/>
                <a:cs typeface="Geist Mono" pitchFamily="34" charset="-120"/>
              </a:rPr>
              <a:t>02</a:t>
            </a:r>
            <a:endParaRPr lang="en-US" sz="1575" dirty="0"/>
          </a:p>
        </p:txBody>
      </p:sp>
      <p:sp>
        <p:nvSpPr>
          <p:cNvPr id="10" name="Text 8"/>
          <p:cNvSpPr/>
          <p:nvPr/>
        </p:nvSpPr>
        <p:spPr>
          <a:xfrm>
            <a:off x="1777975" y="4429125"/>
            <a:ext cx="9779027"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b="1" dirty="0">
                <a:solidFill>
                  <a:srgbClr val="401252"/>
                </a:solidFill>
                <a:latin typeface="Inter" pitchFamily="34" charset="0"/>
                <a:ea typeface="Inter" pitchFamily="34" charset="-122"/>
                <a:cs typeface="Inter" pitchFamily="34" charset="-120"/>
              </a:rPr>
              <a:t>Zelenina</a:t>
            </a:r>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 hrst · špenát, cuketa, květák</a:t>
            </a:r>
            <a:endParaRPr lang="en-US" sz="1950" dirty="0"/>
          </a:p>
        </p:txBody>
      </p:sp>
      <p:sp>
        <p:nvSpPr>
          <p:cNvPr id="11" name="Text 9"/>
          <p:cNvSpPr/>
          <p:nvPr/>
        </p:nvSpPr>
        <p:spPr>
          <a:xfrm>
            <a:off x="1143000" y="5086350"/>
            <a:ext cx="368275"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6D2A8C"/>
                </a:solidFill>
                <a:latin typeface="Geist Mono" pitchFamily="34" charset="0"/>
                <a:ea typeface="Geist Mono" pitchFamily="34" charset="-122"/>
                <a:cs typeface="Geist Mono" pitchFamily="34" charset="-120"/>
              </a:rPr>
              <a:t>03</a:t>
            </a:r>
            <a:endParaRPr lang="en-US" sz="1575" dirty="0"/>
          </a:p>
        </p:txBody>
      </p:sp>
      <p:sp>
        <p:nvSpPr>
          <p:cNvPr id="12" name="Text 10"/>
          <p:cNvSpPr/>
          <p:nvPr/>
        </p:nvSpPr>
        <p:spPr>
          <a:xfrm>
            <a:off x="1777975" y="5048250"/>
            <a:ext cx="9779027"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b="1" dirty="0">
                <a:solidFill>
                  <a:srgbClr val="401252"/>
                </a:solidFill>
                <a:latin typeface="Inter" pitchFamily="34" charset="0"/>
                <a:ea typeface="Inter" pitchFamily="34" charset="-122"/>
                <a:cs typeface="Inter" pitchFamily="34" charset="-120"/>
              </a:rPr>
              <a:t>Ovoce</a:t>
            </a:r>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 hrst, ideálně mražené · bobule, banán</a:t>
            </a:r>
            <a:endParaRPr lang="en-US" sz="1950" dirty="0"/>
          </a:p>
        </p:txBody>
      </p:sp>
      <p:sp>
        <p:nvSpPr>
          <p:cNvPr id="13" name="Text 11"/>
          <p:cNvSpPr/>
          <p:nvPr/>
        </p:nvSpPr>
        <p:spPr>
          <a:xfrm>
            <a:off x="1143000" y="5705475"/>
            <a:ext cx="368275"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6D2A8C"/>
                </a:solidFill>
                <a:latin typeface="Geist Mono" pitchFamily="34" charset="0"/>
                <a:ea typeface="Geist Mono" pitchFamily="34" charset="-122"/>
                <a:cs typeface="Geist Mono" pitchFamily="34" charset="-120"/>
              </a:rPr>
              <a:t>04</a:t>
            </a:r>
            <a:endParaRPr lang="en-US" sz="1575" dirty="0"/>
          </a:p>
        </p:txBody>
      </p:sp>
      <p:sp>
        <p:nvSpPr>
          <p:cNvPr id="14" name="Text 12"/>
          <p:cNvSpPr/>
          <p:nvPr/>
        </p:nvSpPr>
        <p:spPr>
          <a:xfrm>
            <a:off x="1777975" y="5667375"/>
            <a:ext cx="9779027"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b="1" dirty="0">
                <a:solidFill>
                  <a:srgbClr val="401252"/>
                </a:solidFill>
                <a:latin typeface="Inter" pitchFamily="34" charset="0"/>
                <a:ea typeface="Inter" pitchFamily="34" charset="-122"/>
                <a:cs typeface="Inter" pitchFamily="34" charset="-120"/>
              </a:rPr>
              <a:t>Tuk</a:t>
            </a:r>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 palec · ořechové máslo, semena, avokádo</a:t>
            </a:r>
            <a:endParaRPr lang="en-US" sz="1950" dirty="0"/>
          </a:p>
        </p:txBody>
      </p:sp>
      <p:sp>
        <p:nvSpPr>
          <p:cNvPr id="15" name="Text 13"/>
          <p:cNvSpPr/>
          <p:nvPr/>
        </p:nvSpPr>
        <p:spPr>
          <a:xfrm>
            <a:off x="1143000" y="6324600"/>
            <a:ext cx="368275" cy="362099"/>
          </a:xfrm>
          <a:prstGeom prst="rect">
            <a:avLst/>
          </a:prstGeom>
          <a:noFill/>
          <a:ln/>
        </p:spPr>
        <p:txBody>
          <a:bodyPr wrap="none" lIns="25400" tIns="25400" rIns="25400" bIns="25400" rtlCol="0" anchor="t">
            <a:normAutofit/>
          </a:bodyPr>
          <a:lstStyle/>
          <a:p>
            <a:pPr algn="l" indent="0" marL="0">
              <a:lnSpc>
                <a:spcPct val="126000"/>
              </a:lnSpc>
              <a:buNone/>
            </a:pPr>
            <a:r>
              <a:rPr lang="en-US" sz="1575" spc="205" kern="0" dirty="0">
                <a:solidFill>
                  <a:srgbClr val="6D2A8C"/>
                </a:solidFill>
                <a:latin typeface="Geist Mono" pitchFamily="34" charset="0"/>
                <a:ea typeface="Geist Mono" pitchFamily="34" charset="-122"/>
                <a:cs typeface="Geist Mono" pitchFamily="34" charset="-120"/>
              </a:rPr>
              <a:t>05</a:t>
            </a:r>
            <a:endParaRPr lang="en-US" sz="1575" dirty="0"/>
          </a:p>
        </p:txBody>
      </p:sp>
      <p:sp>
        <p:nvSpPr>
          <p:cNvPr id="16" name="Text 14"/>
          <p:cNvSpPr/>
          <p:nvPr/>
        </p:nvSpPr>
        <p:spPr>
          <a:xfrm>
            <a:off x="1777975" y="6286500"/>
            <a:ext cx="9779027" cy="409575"/>
          </a:xfrm>
          <a:prstGeom prst="rect">
            <a:avLst/>
          </a:prstGeom>
          <a:noFill/>
          <a:ln/>
        </p:spPr>
        <p:txBody>
          <a:bodyPr wrap="square" lIns="25400" tIns="25400" rIns="25400" bIns="25400" rtlCol="0" anchor="t">
            <a:normAutofit/>
          </a:bodyPr>
          <a:lstStyle/>
          <a:p>
            <a:pPr algn="l" indent="0" marL="0">
              <a:lnSpc>
                <a:spcPct val="123810"/>
              </a:lnSpc>
              <a:buNone/>
            </a:pPr>
            <a:r>
              <a:rPr lang="en-US" sz="1950" b="1" dirty="0">
                <a:solidFill>
                  <a:srgbClr val="401252"/>
                </a:solidFill>
                <a:latin typeface="Inter" pitchFamily="34" charset="0"/>
                <a:ea typeface="Inter" pitchFamily="34" charset="-122"/>
                <a:cs typeface="Inter" pitchFamily="34" charset="-120"/>
              </a:rPr>
              <a:t>Tekutina </a:t>
            </a:r>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 mléko, kefír, neslazené rostlinné mléko, voda</a:t>
            </a:r>
            <a:endParaRPr lang="en-US" sz="1950" dirty="0"/>
          </a:p>
        </p:txBody>
      </p:sp>
      <p:sp>
        <p:nvSpPr>
          <p:cNvPr id="17" name="Shape 15"/>
          <p:cNvSpPr/>
          <p:nvPr/>
        </p:nvSpPr>
        <p:spPr>
          <a:xfrm>
            <a:off x="11811000" y="3810000"/>
            <a:ext cx="9525" cy="2933700"/>
          </a:xfrm>
          <a:prstGeom prst="rect">
            <a:avLst/>
          </a:prstGeom>
          <a:solidFill>
            <a:srgbClr val="CDB3DC"/>
          </a:solidFill>
          <a:ln/>
        </p:spPr>
      </p:sp>
      <p:sp>
        <p:nvSpPr>
          <p:cNvPr id="18" name="Text 16"/>
          <p:cNvSpPr/>
          <p:nvPr/>
        </p:nvSpPr>
        <p:spPr>
          <a:xfrm>
            <a:off x="12430125" y="3810000"/>
            <a:ext cx="5186363" cy="1066800"/>
          </a:xfrm>
          <a:prstGeom prst="rect">
            <a:avLst/>
          </a:prstGeom>
          <a:noFill/>
          <a:ln/>
        </p:spPr>
        <p:txBody>
          <a:bodyPr wrap="none" lIns="25400" tIns="25400" rIns="25400" bIns="25400" rtlCol="0" anchor="t">
            <a:normAutofit/>
          </a:bodyPr>
          <a:lstStyle/>
          <a:p>
            <a:pPr algn="l" indent="0" marL="0">
              <a:lnSpc>
                <a:spcPct val="76868"/>
              </a:lnSpc>
              <a:buNone/>
            </a:pPr>
            <a:r>
              <a:rPr lang="en-US" sz="8100" spc="-243" kern="0" dirty="0">
                <a:solidFill>
                  <a:srgbClr val="6D2A8C"/>
                </a:solidFill>
                <a:latin typeface="Geist" pitchFamily="34" charset="0"/>
                <a:ea typeface="Geist" pitchFamily="34" charset="-122"/>
                <a:cs typeface="Geist" pitchFamily="34" charset="-120"/>
              </a:rPr>
              <a:t>20–30</a:t>
            </a:r>
            <a:pPr algn="l" indent="0" marL="0">
              <a:lnSpc>
                <a:spcPct val="76868"/>
              </a:lnSpc>
              <a:buNone/>
            </a:pPr>
            <a:r>
              <a:rPr lang="en-US" sz="3240" spc="-243" kern="0" dirty="0">
                <a:solidFill>
                  <a:srgbClr val="6D2A8C"/>
                </a:solidFill>
                <a:latin typeface="Geist" pitchFamily="34" charset="0"/>
                <a:ea typeface="Geist" pitchFamily="34" charset="-122"/>
                <a:cs typeface="Geist" pitchFamily="34" charset="-120"/>
              </a:rPr>
              <a:t>g</a:t>
            </a:r>
            <a:endParaRPr lang="en-US" sz="8100" dirty="0"/>
          </a:p>
        </p:txBody>
      </p:sp>
      <p:sp>
        <p:nvSpPr>
          <p:cNvPr id="19" name="Text 17"/>
          <p:cNvSpPr/>
          <p:nvPr/>
        </p:nvSpPr>
        <p:spPr>
          <a:xfrm>
            <a:off x="12430125" y="5048250"/>
            <a:ext cx="5186363" cy="352425"/>
          </a:xfrm>
          <a:prstGeom prst="rect">
            <a:avLst/>
          </a:prstGeom>
          <a:noFill/>
          <a:ln/>
        </p:spPr>
        <p:txBody>
          <a:bodyPr wrap="square" lIns="25400" tIns="25400" rIns="25400" bIns="25400" rtlCol="0" anchor="t">
            <a:normAutofit/>
          </a:bodyPr>
          <a:lstStyle/>
          <a:p>
            <a:pPr algn="l" indent="0" marL="0">
              <a:lnSpc>
                <a:spcPct val="115789"/>
              </a:lnSpc>
              <a:buNone/>
            </a:pPr>
            <a:r>
              <a:rPr lang="en-US" sz="1650" spc="215" kern="0" dirty="0">
                <a:solidFill>
                  <a:srgbClr val="6B4B7D"/>
                </a:solidFill>
                <a:latin typeface="Geist Mono" pitchFamily="34" charset="0"/>
                <a:ea typeface="Geist Mono" pitchFamily="34" charset="-122"/>
                <a:cs typeface="Geist Mono" pitchFamily="34" charset="-120"/>
              </a:rPr>
              <a:t>BÍLKOVINY NA JEDNU DÁVKU</a:t>
            </a:r>
            <a:endParaRPr lang="en-US" sz="1650" dirty="0"/>
          </a:p>
        </p:txBody>
      </p:sp>
      <p:sp>
        <p:nvSpPr>
          <p:cNvPr id="20" name="Text 18"/>
          <p:cNvSpPr/>
          <p:nvPr/>
        </p:nvSpPr>
        <p:spPr>
          <a:xfrm>
            <a:off x="12430125" y="5629275"/>
            <a:ext cx="4856321" cy="1152525"/>
          </a:xfrm>
          <a:prstGeom prst="rect">
            <a:avLst/>
          </a:prstGeom>
          <a:noFill/>
          <a:ln/>
        </p:spPr>
        <p:txBody>
          <a:bodyPr wrap="square" lIns="25400" tIns="25400" rIns="25400" bIns="25400" rtlCol="0" anchor="t">
            <a:normAutofit/>
          </a:bodyPr>
          <a:lstStyle/>
          <a:p>
            <a:pPr algn="l" indent="0" marL="0">
              <a:lnSpc>
                <a:spcPct val="123810"/>
              </a:lnSpc>
              <a:buNone/>
            </a:pPr>
            <a:r>
              <a:rPr lang="en-US" sz="1950" dirty="0">
                <a:solidFill>
                  <a:srgbClr val="6B4B7D"/>
                </a:solidFill>
                <a:latin typeface="Inter" pitchFamily="34" charset="0"/>
                <a:ea typeface="Inter" pitchFamily="34" charset="-122"/>
                <a:cs typeface="Inter" pitchFamily="34" charset="-120"/>
              </a:rPr>
              <a:t>Stejný cíl jako u hlavního jídla. V tekutém jídle je bílkovina nejslabší místo, proto ji dávkujeme první.</a:t>
            </a:r>
            <a:endParaRPr lang="en-US" sz="1950" dirty="0"/>
          </a:p>
        </p:txBody>
      </p:sp>
      <p:sp>
        <p:nvSpPr>
          <p:cNvPr id="21" name="Text 19"/>
          <p:cNvSpPr/>
          <p:nvPr/>
        </p:nvSpPr>
        <p:spPr>
          <a:xfrm>
            <a:off x="1143000" y="8828782"/>
            <a:ext cx="12753975" cy="658118"/>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Sestava dle Precision Nutrition · cíl bílkovin dle ESPEN a ESCEO · míry hrst a palec viz porce podle ruky</a:t>
            </a:r>
            <a:endParaRPr lang="en-US" sz="1575" dirty="0"/>
          </a:p>
        </p:txBody>
      </p:sp>
      <p:sp>
        <p:nvSpPr>
          <p:cNvPr id="22" name="Text 20"/>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47</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438111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PORCE PODLE RUKY</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Čtyři míry, které máte „po ruce“.</a:t>
            </a:r>
            <a:endParaRPr lang="en-US" sz="5550" dirty="0"/>
          </a:p>
        </p:txBody>
      </p:sp>
      <p:sp>
        <p:nvSpPr>
          <p:cNvPr id="4" name="Shape 2"/>
          <p:cNvSpPr/>
          <p:nvPr/>
        </p:nvSpPr>
        <p:spPr>
          <a:xfrm>
            <a:off x="14249400" y="1200150"/>
            <a:ext cx="381000" cy="381000"/>
          </a:xfrm>
          <a:prstGeom prst="roundRect">
            <a:avLst>
              <a:gd name="adj" fmla="val 22500"/>
            </a:avLst>
          </a:prstGeom>
          <a:solidFill>
            <a:srgbClr val="F4ECFA"/>
          </a:solidFill>
          <a:ln/>
        </p:spPr>
      </p:sp>
      <p:sp>
        <p:nvSpPr>
          <p:cNvPr id="5" name="Text 3"/>
          <p:cNvSpPr/>
          <p:nvPr/>
        </p:nvSpPr>
        <p:spPr>
          <a:xfrm>
            <a:off x="14211300" y="1200150"/>
            <a:ext cx="457200" cy="4191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401252"/>
                </a:solidFill>
                <a:latin typeface="Geist Mono" pitchFamily="34" charset="0"/>
                <a:ea typeface="Geist Mono" pitchFamily="34" charset="-122"/>
                <a:cs typeface="Geist Mono" pitchFamily="34" charset="-120"/>
              </a:rPr>
              <a:t>P</a:t>
            </a:r>
            <a:endParaRPr lang="en-US" sz="1500" dirty="0"/>
          </a:p>
        </p:txBody>
      </p:sp>
      <p:sp>
        <p:nvSpPr>
          <p:cNvPr id="6" name="Text 4"/>
          <p:cNvSpPr/>
          <p:nvPr/>
        </p:nvSpPr>
        <p:spPr>
          <a:xfrm>
            <a:off x="14763750" y="1274936"/>
            <a:ext cx="2619375" cy="269528"/>
          </a:xfrm>
          <a:prstGeom prst="rect">
            <a:avLst/>
          </a:prstGeom>
          <a:noFill/>
          <a:ln/>
        </p:spPr>
        <p:txBody>
          <a:bodyPr wrap="square" lIns="25400" tIns="25400" rIns="25400" bIns="25400" rtlCol="0" anchor="t">
            <a:normAutofit/>
          </a:bodyPr>
          <a:lstStyle/>
          <a:p>
            <a:pPr algn="l" indent="0" marL="0">
              <a:lnSpc>
                <a:spcPct val="103404"/>
              </a:lnSpc>
              <a:buNone/>
            </a:pPr>
            <a:r>
              <a:rPr lang="en-US" sz="1350" i="1" spc="27" kern="0" dirty="0">
                <a:solidFill>
                  <a:srgbClr val="6B4B7D"/>
                </a:solidFill>
                <a:latin typeface="Geist Mono" pitchFamily="34" charset="0"/>
                <a:ea typeface="Geist Mono" pitchFamily="34" charset="-122"/>
                <a:cs typeface="Geist Mono" pitchFamily="34" charset="-120"/>
              </a:rPr>
              <a:t>Koučovací nástroj</a:t>
            </a:r>
            <a:endParaRPr lang="en-US" sz="1350" dirty="0"/>
          </a:p>
        </p:txBody>
      </p:sp>
      <p:sp>
        <p:nvSpPr>
          <p:cNvPr id="7" name="Shape 5"/>
          <p:cNvSpPr/>
          <p:nvPr/>
        </p:nvSpPr>
        <p:spPr>
          <a:xfrm>
            <a:off x="1866900" y="3352800"/>
            <a:ext cx="2209800" cy="2209800"/>
          </a:xfrm>
          <a:prstGeom prst="ellipse">
            <a:avLst/>
          </a:prstGeom>
          <a:solidFill>
            <a:srgbClr val="F4ECFA"/>
          </a:solidFill>
          <a:ln/>
        </p:spPr>
      </p:sp>
      <p:pic>
        <p:nvPicPr>
          <p:cNvPr id="8" name="Image 0" descr="preencoded.png">    </p:cNvPr>
          <p:cNvPicPr>
            <a:picLocks noChangeAspect="1"/>
          </p:cNvPicPr>
          <p:nvPr/>
        </p:nvPicPr>
        <p:blipFill>
          <a:blip r:embed="rId1"/>
          <a:srcRect l="0" r="0" t="0" b="0"/>
          <a:stretch/>
        </p:blipFill>
        <p:spPr>
          <a:xfrm>
            <a:off x="1866900" y="3352800"/>
            <a:ext cx="2209800" cy="2209800"/>
          </a:xfrm>
          <a:prstGeom prst="ellipse">
            <a:avLst/>
          </a:prstGeom>
        </p:spPr>
      </p:pic>
      <p:sp>
        <p:nvSpPr>
          <p:cNvPr id="9" name="Text 6"/>
          <p:cNvSpPr/>
          <p:nvPr/>
        </p:nvSpPr>
        <p:spPr>
          <a:xfrm>
            <a:off x="2567583" y="5753100"/>
            <a:ext cx="808360" cy="449535"/>
          </a:xfrm>
          <a:prstGeom prst="rect">
            <a:avLst/>
          </a:prstGeom>
          <a:noFill/>
          <a:ln/>
        </p:spPr>
        <p:txBody>
          <a:bodyPr wrap="square" lIns="25400" tIns="25400" rIns="25400" bIns="25400" rtlCol="0" anchor="t">
            <a:normAutofit/>
          </a:bodyPr>
          <a:lstStyle/>
          <a:p>
            <a:pPr algn="ctr" indent="0" marL="0">
              <a:lnSpc>
                <a:spcPct val="92903"/>
              </a:lnSpc>
              <a:buNone/>
            </a:pPr>
            <a:r>
              <a:rPr lang="en-US" sz="2700" dirty="0">
                <a:solidFill>
                  <a:srgbClr val="401252"/>
                </a:solidFill>
                <a:latin typeface="Geist" pitchFamily="34" charset="0"/>
                <a:ea typeface="Geist" pitchFamily="34" charset="-122"/>
                <a:cs typeface="Geist" pitchFamily="34" charset="-120"/>
              </a:rPr>
              <a:t>Dlaň</a:t>
            </a:r>
            <a:endParaRPr lang="en-US" sz="2700" dirty="0"/>
          </a:p>
        </p:txBody>
      </p:sp>
      <p:sp>
        <p:nvSpPr>
          <p:cNvPr id="10" name="Text 7"/>
          <p:cNvSpPr/>
          <p:nvPr/>
        </p:nvSpPr>
        <p:spPr>
          <a:xfrm>
            <a:off x="2245296" y="6278835"/>
            <a:ext cx="1453009" cy="377503"/>
          </a:xfrm>
          <a:prstGeom prst="rect">
            <a:avLst/>
          </a:prstGeom>
          <a:noFill/>
          <a:ln/>
        </p:spPr>
        <p:txBody>
          <a:bodyPr wrap="none" lIns="25400" tIns="25400" rIns="25400" bIns="25400" rtlCol="0" anchor="t">
            <a:normAutofit/>
          </a:bodyPr>
          <a:lstStyle/>
          <a:p>
            <a:pPr algn="ctr"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BÍLKOVINY</a:t>
            </a:r>
            <a:endParaRPr lang="en-US" sz="1650" dirty="0"/>
          </a:p>
        </p:txBody>
      </p:sp>
      <p:sp>
        <p:nvSpPr>
          <p:cNvPr id="11" name="Text 8"/>
          <p:cNvSpPr/>
          <p:nvPr/>
        </p:nvSpPr>
        <p:spPr>
          <a:xfrm>
            <a:off x="1303973" y="6789688"/>
            <a:ext cx="3335655" cy="1066800"/>
          </a:xfrm>
          <a:prstGeom prst="rect">
            <a:avLst/>
          </a:prstGeom>
          <a:noFill/>
          <a:ln/>
        </p:spPr>
        <p:txBody>
          <a:bodyPr wrap="square" lIns="25400" tIns="25400" rIns="25400" bIns="25400" rtlCol="0" anchor="t">
            <a:normAutofit/>
          </a:bodyPr>
          <a:lstStyle/>
          <a:p>
            <a:pPr algn="ctr" indent="0" marL="0">
              <a:lnSpc>
                <a:spcPct val="122034"/>
              </a:lnSpc>
              <a:buNone/>
            </a:pPr>
            <a:r>
              <a:rPr lang="en-US" sz="1800" dirty="0">
                <a:solidFill>
                  <a:srgbClr val="6B4B7D"/>
                </a:solidFill>
                <a:latin typeface="Inter" pitchFamily="34" charset="0"/>
                <a:ea typeface="Inter" pitchFamily="34" charset="-122"/>
                <a:cs typeface="Inter" pitchFamily="34" charset="-120"/>
              </a:rPr>
              <a:t>Porce odpovídá přibližně ploše a tloušťce dlaně bez prstů.</a:t>
            </a:r>
            <a:endParaRPr lang="en-US" sz="1800" dirty="0"/>
          </a:p>
        </p:txBody>
      </p:sp>
      <p:sp>
        <p:nvSpPr>
          <p:cNvPr id="12" name="Text 9"/>
          <p:cNvSpPr/>
          <p:nvPr/>
        </p:nvSpPr>
        <p:spPr>
          <a:xfrm>
            <a:off x="1303973" y="7951738"/>
            <a:ext cx="3335655" cy="723900"/>
          </a:xfrm>
          <a:prstGeom prst="rect">
            <a:avLst/>
          </a:prstGeom>
          <a:noFill/>
          <a:ln/>
        </p:spPr>
        <p:txBody>
          <a:bodyPr wrap="square" lIns="25400" tIns="25400" rIns="25400" bIns="25400" rtlCol="0" anchor="t">
            <a:normAutofit/>
          </a:bodyPr>
          <a:lstStyle/>
          <a:p>
            <a:pPr algn="ctr" indent="0" marL="0">
              <a:lnSpc>
                <a:spcPct val="122034"/>
              </a:lnSpc>
              <a:buNone/>
            </a:pPr>
            <a:r>
              <a:rPr lang="en-US" sz="1800" i="1" dirty="0">
                <a:solidFill>
                  <a:srgbClr val="6B4B7D"/>
                </a:solidFill>
                <a:latin typeface="Inter" pitchFamily="34" charset="0"/>
                <a:ea typeface="Inter" pitchFamily="34" charset="-122"/>
                <a:cs typeface="Inter" pitchFamily="34" charset="-120"/>
              </a:rPr>
              <a:t>maso, ryby, tofu, řecký jogurt, cottage</a:t>
            </a:r>
            <a:endParaRPr lang="en-US" sz="1800" dirty="0"/>
          </a:p>
        </p:txBody>
      </p:sp>
      <p:sp>
        <p:nvSpPr>
          <p:cNvPr id="13" name="Shape 10"/>
          <p:cNvSpPr/>
          <p:nvPr/>
        </p:nvSpPr>
        <p:spPr>
          <a:xfrm>
            <a:off x="5981700" y="3352800"/>
            <a:ext cx="2209800" cy="2209800"/>
          </a:xfrm>
          <a:prstGeom prst="ellipse">
            <a:avLst/>
          </a:prstGeom>
          <a:solidFill>
            <a:srgbClr val="F4ECFA"/>
          </a:solidFill>
          <a:ln/>
        </p:spPr>
      </p:sp>
      <p:pic>
        <p:nvPicPr>
          <p:cNvPr id="14" name="Image 1" descr="preencoded.png">    </p:cNvPr>
          <p:cNvPicPr>
            <a:picLocks noChangeAspect="1"/>
          </p:cNvPicPr>
          <p:nvPr/>
        </p:nvPicPr>
        <p:blipFill>
          <a:blip r:embed="rId2"/>
          <a:srcRect l="0" r="0" t="0" b="0"/>
          <a:stretch/>
        </p:blipFill>
        <p:spPr>
          <a:xfrm>
            <a:off x="5981700" y="3352800"/>
            <a:ext cx="2209800" cy="2209800"/>
          </a:xfrm>
          <a:prstGeom prst="ellipse">
            <a:avLst/>
          </a:prstGeom>
        </p:spPr>
      </p:pic>
      <p:sp>
        <p:nvSpPr>
          <p:cNvPr id="15" name="Text 11"/>
          <p:cNvSpPr/>
          <p:nvPr/>
        </p:nvSpPr>
        <p:spPr>
          <a:xfrm>
            <a:off x="6686178" y="5753100"/>
            <a:ext cx="800770" cy="449535"/>
          </a:xfrm>
          <a:prstGeom prst="rect">
            <a:avLst/>
          </a:prstGeom>
          <a:noFill/>
          <a:ln/>
        </p:spPr>
        <p:txBody>
          <a:bodyPr wrap="square" lIns="25400" tIns="25400" rIns="25400" bIns="25400" rtlCol="0" anchor="t">
            <a:normAutofit/>
          </a:bodyPr>
          <a:lstStyle/>
          <a:p>
            <a:pPr algn="ctr" indent="0" marL="0">
              <a:lnSpc>
                <a:spcPct val="92903"/>
              </a:lnSpc>
              <a:buNone/>
            </a:pPr>
            <a:r>
              <a:rPr lang="en-US" sz="2700" dirty="0">
                <a:solidFill>
                  <a:srgbClr val="401252"/>
                </a:solidFill>
                <a:latin typeface="Geist" pitchFamily="34" charset="0"/>
                <a:ea typeface="Geist" pitchFamily="34" charset="-122"/>
                <a:cs typeface="Geist" pitchFamily="34" charset="-120"/>
              </a:rPr>
              <a:t>Pěst</a:t>
            </a:r>
            <a:endParaRPr lang="en-US" sz="2700" dirty="0"/>
          </a:p>
        </p:txBody>
      </p:sp>
      <p:sp>
        <p:nvSpPr>
          <p:cNvPr id="16" name="Text 12"/>
          <p:cNvSpPr/>
          <p:nvPr/>
        </p:nvSpPr>
        <p:spPr>
          <a:xfrm>
            <a:off x="6436593" y="6278835"/>
            <a:ext cx="1300014" cy="377503"/>
          </a:xfrm>
          <a:prstGeom prst="rect">
            <a:avLst/>
          </a:prstGeom>
          <a:noFill/>
          <a:ln/>
        </p:spPr>
        <p:txBody>
          <a:bodyPr wrap="none" lIns="25400" tIns="25400" rIns="25400" bIns="25400" rtlCol="0" anchor="t">
            <a:normAutofit/>
          </a:bodyPr>
          <a:lstStyle/>
          <a:p>
            <a:pPr algn="ctr"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ZELENINA</a:t>
            </a:r>
            <a:endParaRPr lang="en-US" sz="1650" dirty="0"/>
          </a:p>
        </p:txBody>
      </p:sp>
      <p:sp>
        <p:nvSpPr>
          <p:cNvPr id="17" name="Text 13"/>
          <p:cNvSpPr/>
          <p:nvPr/>
        </p:nvSpPr>
        <p:spPr>
          <a:xfrm>
            <a:off x="5418773" y="6789688"/>
            <a:ext cx="3335655" cy="1066800"/>
          </a:xfrm>
          <a:prstGeom prst="rect">
            <a:avLst/>
          </a:prstGeom>
          <a:noFill/>
          <a:ln/>
        </p:spPr>
        <p:txBody>
          <a:bodyPr wrap="square" lIns="25400" tIns="25400" rIns="25400" bIns="25400" rtlCol="0" anchor="t">
            <a:normAutofit/>
          </a:bodyPr>
          <a:lstStyle/>
          <a:p>
            <a:pPr algn="ctr" indent="0" marL="0">
              <a:lnSpc>
                <a:spcPct val="122034"/>
              </a:lnSpc>
              <a:buNone/>
            </a:pPr>
            <a:r>
              <a:rPr lang="en-US" sz="1800" dirty="0">
                <a:solidFill>
                  <a:srgbClr val="6B4B7D"/>
                </a:solidFill>
                <a:latin typeface="Inter" pitchFamily="34" charset="0"/>
                <a:ea typeface="Inter" pitchFamily="34" charset="-122"/>
                <a:cs typeface="Inter" pitchFamily="34" charset="-120"/>
              </a:rPr>
              <a:t>Objem sevřené pěsti slouží jako orientační míra porce neškrobové zeleniny.</a:t>
            </a:r>
            <a:endParaRPr lang="en-US" sz="1800" dirty="0"/>
          </a:p>
        </p:txBody>
      </p:sp>
      <p:sp>
        <p:nvSpPr>
          <p:cNvPr id="18" name="Text 14"/>
          <p:cNvSpPr/>
          <p:nvPr/>
        </p:nvSpPr>
        <p:spPr>
          <a:xfrm>
            <a:off x="5418773" y="7951738"/>
            <a:ext cx="3335655" cy="723900"/>
          </a:xfrm>
          <a:prstGeom prst="rect">
            <a:avLst/>
          </a:prstGeom>
          <a:noFill/>
          <a:ln/>
        </p:spPr>
        <p:txBody>
          <a:bodyPr wrap="square" lIns="25400" tIns="25400" rIns="25400" bIns="25400" rtlCol="0" anchor="t">
            <a:normAutofit/>
          </a:bodyPr>
          <a:lstStyle/>
          <a:p>
            <a:pPr algn="ctr" indent="0" marL="0">
              <a:lnSpc>
                <a:spcPct val="122034"/>
              </a:lnSpc>
              <a:buNone/>
            </a:pPr>
            <a:r>
              <a:rPr lang="en-US" sz="1800" i="1" dirty="0">
                <a:solidFill>
                  <a:srgbClr val="6B4B7D"/>
                </a:solidFill>
                <a:latin typeface="Inter" pitchFamily="34" charset="0"/>
                <a:ea typeface="Inter" pitchFamily="34" charset="-122"/>
                <a:cs typeface="Inter" pitchFamily="34" charset="-120"/>
              </a:rPr>
              <a:t>brokolice, paprika, cuketa, květák</a:t>
            </a:r>
            <a:endParaRPr lang="en-US" sz="1800" dirty="0"/>
          </a:p>
        </p:txBody>
      </p:sp>
      <p:sp>
        <p:nvSpPr>
          <p:cNvPr id="19" name="Shape 15"/>
          <p:cNvSpPr/>
          <p:nvPr/>
        </p:nvSpPr>
        <p:spPr>
          <a:xfrm>
            <a:off x="10096500" y="3352800"/>
            <a:ext cx="2209800" cy="2209800"/>
          </a:xfrm>
          <a:prstGeom prst="ellipse">
            <a:avLst/>
          </a:prstGeom>
          <a:solidFill>
            <a:srgbClr val="F4ECFA"/>
          </a:solidFill>
          <a:ln/>
        </p:spPr>
      </p:sp>
      <p:pic>
        <p:nvPicPr>
          <p:cNvPr id="20" name="Image 2" descr="preencoded.png">    </p:cNvPr>
          <p:cNvPicPr>
            <a:picLocks noChangeAspect="1"/>
          </p:cNvPicPr>
          <p:nvPr/>
        </p:nvPicPr>
        <p:blipFill>
          <a:blip r:embed="rId3"/>
          <a:srcRect l="0" r="0" t="0" b="0"/>
          <a:stretch/>
        </p:blipFill>
        <p:spPr>
          <a:xfrm>
            <a:off x="10096500" y="3352800"/>
            <a:ext cx="2209800" cy="2209800"/>
          </a:xfrm>
          <a:prstGeom prst="ellipse">
            <a:avLst/>
          </a:prstGeom>
        </p:spPr>
      </p:pic>
      <p:sp>
        <p:nvSpPr>
          <p:cNvPr id="21" name="Text 16"/>
          <p:cNvSpPr/>
          <p:nvPr/>
        </p:nvSpPr>
        <p:spPr>
          <a:xfrm>
            <a:off x="10821367" y="5753100"/>
            <a:ext cx="759991" cy="449535"/>
          </a:xfrm>
          <a:prstGeom prst="rect">
            <a:avLst/>
          </a:prstGeom>
          <a:noFill/>
          <a:ln/>
        </p:spPr>
        <p:txBody>
          <a:bodyPr wrap="square" lIns="25400" tIns="25400" rIns="25400" bIns="25400" rtlCol="0" anchor="t">
            <a:normAutofit/>
          </a:bodyPr>
          <a:lstStyle/>
          <a:p>
            <a:pPr algn="ctr" indent="0" marL="0">
              <a:lnSpc>
                <a:spcPct val="92903"/>
              </a:lnSpc>
              <a:buNone/>
            </a:pPr>
            <a:r>
              <a:rPr lang="en-US" sz="2700" dirty="0">
                <a:solidFill>
                  <a:srgbClr val="401252"/>
                </a:solidFill>
                <a:latin typeface="Geist" pitchFamily="34" charset="0"/>
                <a:ea typeface="Geist" pitchFamily="34" charset="-122"/>
                <a:cs typeface="Geist" pitchFamily="34" charset="-120"/>
              </a:rPr>
              <a:t>Hrst</a:t>
            </a:r>
            <a:endParaRPr lang="en-US" sz="2700" dirty="0"/>
          </a:p>
        </p:txBody>
      </p:sp>
      <p:sp>
        <p:nvSpPr>
          <p:cNvPr id="22" name="Text 17"/>
          <p:cNvSpPr/>
          <p:nvPr/>
        </p:nvSpPr>
        <p:spPr>
          <a:xfrm>
            <a:off x="10474896" y="6278835"/>
            <a:ext cx="1453009" cy="377503"/>
          </a:xfrm>
          <a:prstGeom prst="rect">
            <a:avLst/>
          </a:prstGeom>
          <a:noFill/>
          <a:ln/>
        </p:spPr>
        <p:txBody>
          <a:bodyPr wrap="none" lIns="25400" tIns="25400" rIns="25400" bIns="25400" rtlCol="0" anchor="t">
            <a:normAutofit/>
          </a:bodyPr>
          <a:lstStyle/>
          <a:p>
            <a:pPr algn="ctr"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SACHARIDY</a:t>
            </a:r>
            <a:endParaRPr lang="en-US" sz="1650" dirty="0"/>
          </a:p>
        </p:txBody>
      </p:sp>
      <p:sp>
        <p:nvSpPr>
          <p:cNvPr id="23" name="Text 18"/>
          <p:cNvSpPr/>
          <p:nvPr/>
        </p:nvSpPr>
        <p:spPr>
          <a:xfrm>
            <a:off x="9533573" y="6789688"/>
            <a:ext cx="3335655" cy="1409700"/>
          </a:xfrm>
          <a:prstGeom prst="rect">
            <a:avLst/>
          </a:prstGeom>
          <a:noFill/>
          <a:ln/>
        </p:spPr>
        <p:txBody>
          <a:bodyPr wrap="square" lIns="25400" tIns="25400" rIns="25400" bIns="25400" rtlCol="0" anchor="t">
            <a:normAutofit/>
          </a:bodyPr>
          <a:lstStyle/>
          <a:p>
            <a:pPr algn="ctr" indent="0" marL="0">
              <a:lnSpc>
                <a:spcPct val="122034"/>
              </a:lnSpc>
              <a:buNone/>
            </a:pPr>
            <a:r>
              <a:rPr lang="en-US" sz="1800" dirty="0">
                <a:solidFill>
                  <a:srgbClr val="6B4B7D"/>
                </a:solidFill>
                <a:latin typeface="Inter" pitchFamily="34" charset="0"/>
                <a:ea typeface="Inter" pitchFamily="34" charset="-122"/>
                <a:cs typeface="Inter" pitchFamily="34" charset="-120"/>
              </a:rPr>
              <a:t>Miska vytvořená z dlaně = orientační porce obilovin, luštěnin, brambor nebo ovoce.</a:t>
            </a:r>
            <a:endParaRPr lang="en-US" sz="1800" dirty="0"/>
          </a:p>
        </p:txBody>
      </p:sp>
      <p:sp>
        <p:nvSpPr>
          <p:cNvPr id="24" name="Text 19"/>
          <p:cNvSpPr/>
          <p:nvPr/>
        </p:nvSpPr>
        <p:spPr>
          <a:xfrm>
            <a:off x="9533573" y="8294638"/>
            <a:ext cx="3335655" cy="723900"/>
          </a:xfrm>
          <a:prstGeom prst="rect">
            <a:avLst/>
          </a:prstGeom>
          <a:noFill/>
          <a:ln/>
        </p:spPr>
        <p:txBody>
          <a:bodyPr wrap="square" lIns="25400" tIns="25400" rIns="25400" bIns="25400" rtlCol="0" anchor="t">
            <a:normAutofit/>
          </a:bodyPr>
          <a:lstStyle/>
          <a:p>
            <a:pPr algn="ctr" indent="0" marL="0">
              <a:lnSpc>
                <a:spcPct val="122034"/>
              </a:lnSpc>
              <a:buNone/>
            </a:pPr>
            <a:r>
              <a:rPr lang="en-US" sz="1800" i="1" dirty="0">
                <a:solidFill>
                  <a:srgbClr val="6B4B7D"/>
                </a:solidFill>
                <a:latin typeface="Inter" pitchFamily="34" charset="0"/>
                <a:ea typeface="Inter" pitchFamily="34" charset="-122"/>
                <a:cs typeface="Inter" pitchFamily="34" charset="-120"/>
              </a:rPr>
              <a:t>rýže, brambory, těstoviny, hlízy</a:t>
            </a:r>
            <a:endParaRPr lang="en-US" sz="1800" dirty="0"/>
          </a:p>
        </p:txBody>
      </p:sp>
      <p:sp>
        <p:nvSpPr>
          <p:cNvPr id="25" name="Shape 20"/>
          <p:cNvSpPr/>
          <p:nvPr/>
        </p:nvSpPr>
        <p:spPr>
          <a:xfrm>
            <a:off x="14211300" y="3352800"/>
            <a:ext cx="2209800" cy="2209800"/>
          </a:xfrm>
          <a:prstGeom prst="ellipse">
            <a:avLst/>
          </a:prstGeom>
          <a:solidFill>
            <a:srgbClr val="F4ECFA"/>
          </a:solidFill>
          <a:ln/>
        </p:spPr>
      </p:sp>
      <p:pic>
        <p:nvPicPr>
          <p:cNvPr id="26" name="Image 3" descr="preencoded.png">    </p:cNvPr>
          <p:cNvPicPr>
            <a:picLocks noChangeAspect="1"/>
          </p:cNvPicPr>
          <p:nvPr/>
        </p:nvPicPr>
        <p:blipFill>
          <a:blip r:embed="rId4"/>
          <a:srcRect l="0" r="0" t="0" b="0"/>
          <a:stretch/>
        </p:blipFill>
        <p:spPr>
          <a:xfrm>
            <a:off x="14211300" y="3352800"/>
            <a:ext cx="2209800" cy="2209800"/>
          </a:xfrm>
          <a:prstGeom prst="ellipse">
            <a:avLst/>
          </a:prstGeom>
        </p:spPr>
      </p:pic>
      <p:sp>
        <p:nvSpPr>
          <p:cNvPr id="27" name="Text 21"/>
          <p:cNvSpPr/>
          <p:nvPr/>
        </p:nvSpPr>
        <p:spPr>
          <a:xfrm>
            <a:off x="14833327" y="5753100"/>
            <a:ext cx="965746" cy="449535"/>
          </a:xfrm>
          <a:prstGeom prst="rect">
            <a:avLst/>
          </a:prstGeom>
          <a:noFill/>
          <a:ln/>
        </p:spPr>
        <p:txBody>
          <a:bodyPr wrap="square" lIns="25400" tIns="25400" rIns="25400" bIns="25400" rtlCol="0" anchor="t">
            <a:normAutofit/>
          </a:bodyPr>
          <a:lstStyle/>
          <a:p>
            <a:pPr algn="ctr" indent="0" marL="0">
              <a:lnSpc>
                <a:spcPct val="92903"/>
              </a:lnSpc>
              <a:buNone/>
            </a:pPr>
            <a:r>
              <a:rPr lang="en-US" sz="2700" dirty="0">
                <a:solidFill>
                  <a:srgbClr val="401252"/>
                </a:solidFill>
                <a:latin typeface="Geist" pitchFamily="34" charset="0"/>
                <a:ea typeface="Geist" pitchFamily="34" charset="-122"/>
                <a:cs typeface="Geist" pitchFamily="34" charset="-120"/>
              </a:rPr>
              <a:t>Palec</a:t>
            </a:r>
            <a:endParaRPr lang="en-US" sz="2700" dirty="0"/>
          </a:p>
        </p:txBody>
      </p:sp>
      <p:sp>
        <p:nvSpPr>
          <p:cNvPr id="28" name="Text 22"/>
          <p:cNvSpPr/>
          <p:nvPr/>
        </p:nvSpPr>
        <p:spPr>
          <a:xfrm>
            <a:off x="14972109" y="6278835"/>
            <a:ext cx="688107" cy="377503"/>
          </a:xfrm>
          <a:prstGeom prst="rect">
            <a:avLst/>
          </a:prstGeom>
          <a:noFill/>
          <a:ln/>
        </p:spPr>
        <p:txBody>
          <a:bodyPr wrap="none" lIns="25400" tIns="25400" rIns="25400" bIns="25400" rtlCol="0" anchor="t">
            <a:normAutofit/>
          </a:bodyPr>
          <a:lstStyle/>
          <a:p>
            <a:pPr algn="ctr"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TUKY</a:t>
            </a:r>
            <a:endParaRPr lang="en-US" sz="1650" dirty="0"/>
          </a:p>
        </p:txBody>
      </p:sp>
      <p:sp>
        <p:nvSpPr>
          <p:cNvPr id="29" name="Text 23"/>
          <p:cNvSpPr/>
          <p:nvPr/>
        </p:nvSpPr>
        <p:spPr>
          <a:xfrm>
            <a:off x="13648373" y="6789688"/>
            <a:ext cx="3335655" cy="723900"/>
          </a:xfrm>
          <a:prstGeom prst="rect">
            <a:avLst/>
          </a:prstGeom>
          <a:noFill/>
          <a:ln/>
        </p:spPr>
        <p:txBody>
          <a:bodyPr wrap="square" lIns="25400" tIns="25400" rIns="25400" bIns="25400" rtlCol="0" anchor="t">
            <a:normAutofit/>
          </a:bodyPr>
          <a:lstStyle/>
          <a:p>
            <a:pPr algn="ctr" indent="0" marL="0">
              <a:lnSpc>
                <a:spcPct val="122034"/>
              </a:lnSpc>
              <a:buNone/>
            </a:pPr>
            <a:r>
              <a:rPr lang="en-US" sz="1800" dirty="0">
                <a:solidFill>
                  <a:srgbClr val="6B4B7D"/>
                </a:solidFill>
                <a:latin typeface="Inter" pitchFamily="34" charset="0"/>
                <a:ea typeface="Inter" pitchFamily="34" charset="-122"/>
                <a:cs typeface="Inter" pitchFamily="34" charset="-120"/>
              </a:rPr>
              <a:t>Objem celého palce od kořene ke špičce.</a:t>
            </a:r>
            <a:endParaRPr lang="en-US" sz="1800" dirty="0"/>
          </a:p>
        </p:txBody>
      </p:sp>
      <p:sp>
        <p:nvSpPr>
          <p:cNvPr id="30" name="Text 24"/>
          <p:cNvSpPr/>
          <p:nvPr/>
        </p:nvSpPr>
        <p:spPr>
          <a:xfrm>
            <a:off x="13648373" y="7608838"/>
            <a:ext cx="3335655" cy="723900"/>
          </a:xfrm>
          <a:prstGeom prst="rect">
            <a:avLst/>
          </a:prstGeom>
          <a:noFill/>
          <a:ln/>
        </p:spPr>
        <p:txBody>
          <a:bodyPr wrap="square" lIns="25400" tIns="25400" rIns="25400" bIns="25400" rtlCol="0" anchor="t">
            <a:normAutofit/>
          </a:bodyPr>
          <a:lstStyle/>
          <a:p>
            <a:pPr algn="ctr" indent="0" marL="0">
              <a:lnSpc>
                <a:spcPct val="122034"/>
              </a:lnSpc>
              <a:buNone/>
            </a:pPr>
            <a:r>
              <a:rPr lang="en-US" sz="1800" i="1" dirty="0">
                <a:solidFill>
                  <a:srgbClr val="6B4B7D"/>
                </a:solidFill>
                <a:latin typeface="Inter" pitchFamily="34" charset="0"/>
                <a:ea typeface="Inter" pitchFamily="34" charset="-122"/>
                <a:cs typeface="Inter" pitchFamily="34" charset="-120"/>
              </a:rPr>
              <a:t>olej, ořechy, semena, ořechové máslo, avokádo</a:t>
            </a:r>
            <a:endParaRPr lang="en-US" sz="1800" dirty="0"/>
          </a:p>
        </p:txBody>
      </p:sp>
      <p:sp>
        <p:nvSpPr>
          <p:cNvPr id="31" name="Text 25"/>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Nástroj dle Precision Nutrition · ruka roste s tělem, proto míra funguje bez vážení</a:t>
            </a:r>
            <a:endParaRPr lang="en-US" sz="1575" dirty="0"/>
          </a:p>
        </p:txBody>
      </p:sp>
      <p:sp>
        <p:nvSpPr>
          <p:cNvPr id="32" name="Text 26"/>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48</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2647983"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NÁSTROJ · PRÁCE</a:t>
            </a:r>
            <a:endParaRPr lang="en-US" sz="1650" dirty="0"/>
          </a:p>
        </p:txBody>
      </p:sp>
      <p:sp>
        <p:nvSpPr>
          <p:cNvPr id="3" name="Text 1"/>
          <p:cNvSpPr/>
          <p:nvPr/>
        </p:nvSpPr>
        <p:spPr>
          <a:xfrm>
            <a:off x="1143000" y="1809750"/>
            <a:ext cx="14668500" cy="689595"/>
          </a:xfrm>
          <a:prstGeom prst="rect">
            <a:avLst/>
          </a:prstGeom>
          <a:noFill/>
          <a:ln/>
        </p:spPr>
        <p:txBody>
          <a:bodyPr wrap="square" lIns="25400" tIns="25400" rIns="25400" bIns="25400" rtlCol="0" anchor="t">
            <a:normAutofit/>
          </a:bodyPr>
          <a:lstStyle/>
          <a:p>
            <a:pPr algn="l" indent="0" marL="0">
              <a:lnSpc>
                <a:spcPct val="87692"/>
              </a:lnSpc>
              <a:buNone/>
            </a:pPr>
            <a:r>
              <a:rPr lang="en-US" sz="4500" spc="-81" kern="0" dirty="0">
                <a:solidFill>
                  <a:srgbClr val="401252"/>
                </a:solidFill>
                <a:latin typeface="Geist" pitchFamily="34" charset="0"/>
                <a:ea typeface="Geist" pitchFamily="34" charset="-122"/>
                <a:cs typeface="Geist" pitchFamily="34" charset="-120"/>
              </a:rPr>
              <a:t>Menopauza se odehrává i v práci.</a:t>
            </a:r>
            <a:endParaRPr lang="en-US" sz="4500" dirty="0"/>
          </a:p>
        </p:txBody>
      </p:sp>
      <p:sp>
        <p:nvSpPr>
          <p:cNvPr id="4" name="Shape 2"/>
          <p:cNvSpPr/>
          <p:nvPr/>
        </p:nvSpPr>
        <p:spPr>
          <a:xfrm>
            <a:off x="14249400" y="1241078"/>
            <a:ext cx="381000" cy="381000"/>
          </a:xfrm>
          <a:prstGeom prst="roundRect">
            <a:avLst>
              <a:gd name="adj" fmla="val 22500"/>
            </a:avLst>
          </a:prstGeom>
          <a:ln w="19050">
            <a:solidFill>
              <a:srgbClr val="6D2A8C"/>
            </a:solidFill>
            <a:prstDash val="solid"/>
          </a:ln>
        </p:spPr>
      </p:sp>
      <p:sp>
        <p:nvSpPr>
          <p:cNvPr id="5" name="Text 3"/>
          <p:cNvSpPr/>
          <p:nvPr/>
        </p:nvSpPr>
        <p:spPr>
          <a:xfrm>
            <a:off x="14230350" y="1260128"/>
            <a:ext cx="419100" cy="381000"/>
          </a:xfrm>
          <a:prstGeom prst="rect">
            <a:avLst/>
          </a:prstGeom>
          <a:noFill/>
          <a:ln/>
        </p:spPr>
        <p:txBody>
          <a:bodyPr wrap="square" lIns="25400" tIns="25400" rIns="25400" bIns="25400" rtlCol="0" anchor="t">
            <a:normAutofit/>
          </a:bodyPr>
          <a:lstStyle/>
          <a:p>
            <a:pPr algn="ctr" indent="0" marL="0">
              <a:lnSpc>
                <a:spcPct val="153846"/>
              </a:lnSpc>
              <a:buNone/>
            </a:pPr>
            <a:r>
              <a:rPr lang="en-US" sz="1500" dirty="0">
                <a:solidFill>
                  <a:srgbClr val="6D2A8C"/>
                </a:solidFill>
                <a:latin typeface="Geist Mono" pitchFamily="34" charset="0"/>
                <a:ea typeface="Geist Mono" pitchFamily="34" charset="-122"/>
                <a:cs typeface="Geist Mono" pitchFamily="34" charset="-120"/>
              </a:rPr>
              <a:t>B</a:t>
            </a:r>
            <a:endParaRPr lang="en-US" sz="1500" dirty="0"/>
          </a:p>
        </p:txBody>
      </p:sp>
      <p:sp>
        <p:nvSpPr>
          <p:cNvPr id="6" name="Text 4"/>
          <p:cNvSpPr/>
          <p:nvPr/>
        </p:nvSpPr>
        <p:spPr>
          <a:xfrm>
            <a:off x="14763750" y="1200150"/>
            <a:ext cx="2457450" cy="500955"/>
          </a:xfrm>
          <a:prstGeom prst="rect">
            <a:avLst/>
          </a:prstGeom>
          <a:noFill/>
          <a:ln/>
        </p:spPr>
        <p:txBody>
          <a:bodyPr wrap="square" lIns="25400" tIns="25400" rIns="25400" bIns="25400" rtlCol="0" anchor="t">
            <a:normAutofit/>
          </a:bodyPr>
          <a:lstStyle/>
          <a:p>
            <a:pPr algn="l" indent="0" marL="0">
              <a:lnSpc>
                <a:spcPct val="103404"/>
              </a:lnSpc>
              <a:buNone/>
            </a:pPr>
            <a:r>
              <a:rPr lang="en-US" sz="1350" spc="135" kern="0" dirty="0">
                <a:solidFill>
                  <a:srgbClr val="6B4B7D"/>
                </a:solidFill>
                <a:latin typeface="Geist Mono" pitchFamily="34" charset="0"/>
                <a:ea typeface="Geist Mono" pitchFamily="34" charset="-122"/>
                <a:cs typeface="Geist Mono" pitchFamily="34" charset="-120"/>
              </a:rPr>
              <a:t>PRŮZKUMY A OBSERVAČNÍ DATA</a:t>
            </a:r>
            <a:endParaRPr lang="en-US" sz="1350" dirty="0"/>
          </a:p>
        </p:txBody>
      </p:sp>
      <p:sp>
        <p:nvSpPr>
          <p:cNvPr id="7" name="Shape 5"/>
          <p:cNvSpPr/>
          <p:nvPr/>
        </p:nvSpPr>
        <p:spPr>
          <a:xfrm>
            <a:off x="1143000" y="4095750"/>
            <a:ext cx="7734300" cy="3120703"/>
          </a:xfrm>
          <a:prstGeom prst="rect">
            <a:avLst/>
          </a:prstGeom>
          <a:ln w="19050">
            <a:solidFill>
              <a:srgbClr val="CDB3DC"/>
            </a:solidFill>
            <a:prstDash val="dash"/>
          </a:ln>
        </p:spPr>
      </p:sp>
      <p:sp>
        <p:nvSpPr>
          <p:cNvPr id="8" name="Text 6"/>
          <p:cNvSpPr/>
          <p:nvPr/>
        </p:nvSpPr>
        <p:spPr>
          <a:xfrm>
            <a:off x="1543050" y="4457700"/>
            <a:ext cx="7142226"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CO OBTÍŽE ZHORŠUJE</a:t>
            </a:r>
            <a:endParaRPr lang="en-US" sz="1650" dirty="0"/>
          </a:p>
        </p:txBody>
      </p:sp>
      <p:sp>
        <p:nvSpPr>
          <p:cNvPr id="9" name="Text 7"/>
          <p:cNvSpPr/>
          <p:nvPr/>
        </p:nvSpPr>
        <p:spPr>
          <a:xfrm>
            <a:off x="1389698" y="5025703"/>
            <a:ext cx="7163753" cy="1866900"/>
          </a:xfrm>
          <a:prstGeom prst="rect">
            <a:avLst/>
          </a:prstGeom>
          <a:noFill/>
          <a:ln/>
        </p:spPr>
        <p:txBody>
          <a:bodyPr wrap="square" lIns="25400" tIns="25400" rIns="25400" bIns="25400" rtlCol="0" anchor="t">
            <a:normAutofit/>
          </a:bodyPr>
          <a:lstStyle/>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vysoká pracovní zátěž a nízká autonomie</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směnný provoz a nepružná pracovní doba</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nemožnost regulovat teplotu a větrání</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prostředí, ve kterém se o obtížích nedá otevřeně mluvit</a:t>
            </a:r>
            <a:endParaRPr lang="en-US" sz="1725" dirty="0"/>
          </a:p>
        </p:txBody>
      </p:sp>
      <p:sp>
        <p:nvSpPr>
          <p:cNvPr id="10" name="Shape 8"/>
          <p:cNvSpPr/>
          <p:nvPr/>
        </p:nvSpPr>
        <p:spPr>
          <a:xfrm>
            <a:off x="9410700" y="4095750"/>
            <a:ext cx="7734300" cy="3582665"/>
          </a:xfrm>
          <a:prstGeom prst="rect">
            <a:avLst/>
          </a:prstGeom>
          <a:solidFill>
            <a:srgbClr val="F4ECFA"/>
          </a:solidFill>
          <a:ln/>
        </p:spPr>
      </p:sp>
      <p:sp>
        <p:nvSpPr>
          <p:cNvPr id="11" name="Text 9"/>
          <p:cNvSpPr/>
          <p:nvPr/>
        </p:nvSpPr>
        <p:spPr>
          <a:xfrm>
            <a:off x="9791700" y="4438650"/>
            <a:ext cx="7181469"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CO POMÁHÁ</a:t>
            </a:r>
            <a:endParaRPr lang="en-US" sz="1650" dirty="0"/>
          </a:p>
        </p:txBody>
      </p:sp>
      <p:sp>
        <p:nvSpPr>
          <p:cNvPr id="12" name="Text 10"/>
          <p:cNvSpPr/>
          <p:nvPr/>
        </p:nvSpPr>
        <p:spPr>
          <a:xfrm>
            <a:off x="9638348" y="5006653"/>
            <a:ext cx="7201853" cy="2366963"/>
          </a:xfrm>
          <a:prstGeom prst="rect">
            <a:avLst/>
          </a:prstGeom>
          <a:noFill/>
          <a:ln/>
        </p:spPr>
        <p:txBody>
          <a:bodyPr wrap="square" lIns="25400" tIns="25400" rIns="25400" bIns="25400" rtlCol="0" anchor="t">
            <a:normAutofit/>
          </a:bodyPr>
          <a:lstStyle/>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větší kontrola nad organizací práce</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pružnější pracovní doba nebo úprava směn</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možnost regulovat teplotu, přístup k vodě a klidnému prostoru</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informovaný a podporující vedoucí</a:t>
            </a:r>
            <a:endParaRPr lang="en-US" sz="1725" dirty="0"/>
          </a:p>
          <a:p>
            <a:pPr algn="l" indent="0" marL="0">
              <a:lnSpc>
                <a:spcPct val="123214"/>
              </a:lnSpc>
              <a:buNone/>
            </a:pPr>
            <a:r>
              <a:rPr lang="en-US" sz="1725" dirty="0">
                <a:solidFill>
                  <a:srgbClr val="6B4B7D"/>
                </a:solidFill>
                <a:latin typeface="Inter" pitchFamily="34" charset="0"/>
                <a:ea typeface="Inter" pitchFamily="34" charset="-122"/>
                <a:cs typeface="Inter" pitchFamily="34" charset="-120"/>
              </a:rPr>
              <a:t>otevřená komunikace bez stigmatizace</a:t>
            </a:r>
            <a:endParaRPr lang="en-US" sz="1725" dirty="0"/>
          </a:p>
        </p:txBody>
      </p:sp>
      <p:sp>
        <p:nvSpPr>
          <p:cNvPr id="13" name="Text 11"/>
          <p:cNvSpPr/>
          <p:nvPr/>
        </p:nvSpPr>
        <p:spPr>
          <a:xfrm>
            <a:off x="1143000" y="7810500"/>
            <a:ext cx="16482060"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Pracovní prostředí může symptomy zesilovat nebo naopak usnadnit jejich zvládání. Zranitelnější mohou být ženy s </a:t>
            </a:r>
            <a:pPr algn="l" indent="0" marL="0">
              <a:lnSpc>
                <a:spcPct val="122034"/>
              </a:lnSpc>
              <a:buNone/>
            </a:pPr>
            <a:r>
              <a:rPr lang="en-US" sz="1800" b="1" dirty="0">
                <a:solidFill>
                  <a:srgbClr val="401252"/>
                </a:solidFill>
                <a:latin typeface="Inter" pitchFamily="34" charset="0"/>
                <a:ea typeface="Inter" pitchFamily="34" charset="-122"/>
                <a:cs typeface="Inter" pitchFamily="34" charset="-120"/>
              </a:rPr>
              <a:t>vysokou pracovní zátěží, nízkou autonomií </a:t>
            </a:r>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a omezenou možností upravit pracovní podmínky (např. zdravotní sestry).</a:t>
            </a:r>
            <a:endParaRPr lang="en-US" sz="1800" dirty="0"/>
          </a:p>
        </p:txBody>
      </p:sp>
      <p:sp>
        <p:nvSpPr>
          <p:cNvPr id="14" name="Text 12"/>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EMAS 2026, Healthy menopause, Maturitas</a:t>
            </a:r>
            <a:endParaRPr lang="en-US" sz="1575" dirty="0"/>
          </a:p>
        </p:txBody>
      </p:sp>
      <p:sp>
        <p:nvSpPr>
          <p:cNvPr id="15" name="Text 1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49</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sp>
        <p:nvSpPr>
          <p:cNvPr id="3" name="Text 1"/>
          <p:cNvSpPr/>
          <p:nvPr/>
        </p:nvSpPr>
        <p:spPr>
          <a:xfrm>
            <a:off x="1143000" y="1333500"/>
            <a:ext cx="4726865"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D8A6F5"/>
                </a:solidFill>
                <a:latin typeface="Geist Mono" pitchFamily="34" charset="0"/>
                <a:ea typeface="Geist Mono" pitchFamily="34" charset="-122"/>
                <a:cs typeface="Geist Mono" pitchFamily="34" charset="-120"/>
              </a:rPr>
              <a:t>ODPOVĚĎ · ČÍM MÁM ZAČÍT ZÍTRA?</a:t>
            </a:r>
            <a:endParaRPr lang="en-US" sz="1650" dirty="0"/>
          </a:p>
        </p:txBody>
      </p:sp>
      <p:sp>
        <p:nvSpPr>
          <p:cNvPr id="4" name="Text 2"/>
          <p:cNvSpPr/>
          <p:nvPr/>
        </p:nvSpPr>
        <p:spPr>
          <a:xfrm>
            <a:off x="1143000" y="4786908"/>
            <a:ext cx="15716250" cy="902196"/>
          </a:xfrm>
          <a:prstGeom prst="rect">
            <a:avLst/>
          </a:prstGeom>
          <a:noFill/>
          <a:ln/>
        </p:spPr>
        <p:txBody>
          <a:bodyPr wrap="square" lIns="25400" tIns="25400" rIns="25400" bIns="25400" rtlCol="0" anchor="t">
            <a:normAutofit/>
          </a:bodyPr>
          <a:lstStyle/>
          <a:p>
            <a:pPr algn="l" indent="0" marL="0">
              <a:lnSpc>
                <a:spcPct val="82849"/>
              </a:lnSpc>
              <a:buNone/>
            </a:pPr>
            <a:r>
              <a:rPr lang="en-US" sz="6300" spc="-176" kern="0" dirty="0">
                <a:solidFill>
                  <a:srgbClr val="FFFFFF"/>
                </a:solidFill>
                <a:latin typeface="Geist" pitchFamily="34" charset="0"/>
                <a:ea typeface="Geist" pitchFamily="34" charset="-122"/>
                <a:cs typeface="Geist" pitchFamily="34" charset="-120"/>
              </a:rPr>
              <a:t>Začněte tím, co unese běžný den.</a:t>
            </a:r>
            <a:endParaRPr lang="en-US" sz="6300" dirty="0"/>
          </a:p>
        </p:txBody>
      </p:sp>
      <p:sp>
        <p:nvSpPr>
          <p:cNvPr id="5" name="Text 3"/>
          <p:cNvSpPr/>
          <p:nvPr/>
        </p:nvSpPr>
        <p:spPr>
          <a:xfrm>
            <a:off x="1143000" y="6070104"/>
            <a:ext cx="13735050" cy="1373088"/>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Ne ten nejdokonalejší plán, ale ten, který zvládnete i v náročném dni. Vyberte si jeden konkrétní krok. Až když drží, přidejte další.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Praktický tip: </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krabička ovoce a zeleniny s sebou, proteinový prášek předem v shakeru pro dny, kdy nestíháte.</a:t>
            </a:r>
            <a:endParaRPr lang="en-US" sz="2400" dirty="0"/>
          </a:p>
        </p:txBody>
      </p:sp>
      <p:sp>
        <p:nvSpPr>
          <p:cNvPr id="6" name="Text 4"/>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50</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40125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401252">
                  <a:alpha val="96000"/>
                </a:srgbClr>
              </a:gs>
              <a:gs pos="44000">
                <a:srgbClr val="401252">
                  <a:alpha val="88000"/>
                </a:srgbClr>
              </a:gs>
              <a:gs pos="72000">
                <a:srgbClr val="401252">
                  <a:alpha val="70000"/>
                </a:srgbClr>
              </a:gs>
              <a:gs pos="87000">
                <a:srgbClr val="401252">
                  <a:alpha val="22000"/>
                </a:srgbClr>
              </a:gs>
              <a:gs pos="100000">
                <a:srgbClr val="401252">
                  <a:alpha val="4000"/>
                </a:srgbClr>
              </a:gs>
            </a:gsLst>
            <a:lin ang="0" scaled="0"/>
          </a:gradFill>
          <a:ln/>
        </p:spPr>
      </p:sp>
      <p:sp>
        <p:nvSpPr>
          <p:cNvPr id="4" name="Text 1"/>
          <p:cNvSpPr/>
          <p:nvPr/>
        </p:nvSpPr>
        <p:spPr>
          <a:xfrm>
            <a:off x="1143000" y="3877642"/>
            <a:ext cx="13146405" cy="3127549"/>
          </a:xfrm>
          <a:prstGeom prst="rect">
            <a:avLst/>
          </a:prstGeom>
          <a:noFill/>
          <a:ln/>
        </p:spPr>
        <p:txBody>
          <a:bodyPr wrap="square" lIns="25400" tIns="25400" rIns="25400" bIns="25400" rtlCol="0" anchor="t">
            <a:normAutofit/>
          </a:bodyPr>
          <a:lstStyle/>
          <a:p>
            <a:pPr algn="l" indent="0" marL="0">
              <a:lnSpc>
                <a:spcPct val="81600"/>
              </a:lnSpc>
              <a:buNone/>
            </a:pPr>
            <a:r>
              <a:rPr lang="en-US" sz="7650" spc="-214" kern="0" dirty="0">
                <a:solidFill>
                  <a:srgbClr val="FFFFFF"/>
                </a:solidFill>
                <a:latin typeface="Geist" pitchFamily="34" charset="0"/>
                <a:ea typeface="Geist" pitchFamily="34" charset="-122"/>
                <a:cs typeface="Geist" pitchFamily="34" charset="-120"/>
              </a:rPr>
              <a:t>Zdravé stárnutí nezačíná po menopauze, začíná respektem k sobě.</a:t>
            </a:r>
            <a:endParaRPr lang="en-US" sz="7650" dirty="0"/>
          </a:p>
        </p:txBody>
      </p:sp>
      <p:sp>
        <p:nvSpPr>
          <p:cNvPr id="5" name="Text 2"/>
          <p:cNvSpPr/>
          <p:nvPr/>
        </p:nvSpPr>
        <p:spPr>
          <a:xfrm>
            <a:off x="1143000" y="7424291"/>
            <a:ext cx="12165330" cy="928092"/>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Příznaky není nutné přetrpět. A prevence není jeden produkt ani jeden hack, je to </a:t>
            </a:r>
            <a:pPr algn="l" indent="0" marL="0">
              <a:lnSpc>
                <a:spcPct val="121351"/>
              </a:lnSpc>
              <a:buNone/>
            </a:pPr>
            <a:r>
              <a:rPr lang="en-US" sz="2400" b="1" dirty="0">
                <a:solidFill>
                  <a:srgbClr val="FFFFFF"/>
                </a:solidFill>
                <a:latin typeface="Inter" pitchFamily="34" charset="0"/>
                <a:ea typeface="Inter" pitchFamily="34" charset="-122"/>
                <a:cs typeface="Inter" pitchFamily="34" charset="-120"/>
              </a:rPr>
              <a:t>součet rozhodnutí, která dokážeme dlouhodobě udržet</a:t>
            </a:r>
            <a:pPr algn="l" indent="0" marL="0">
              <a:lnSpc>
                <a:spcPct val="121351"/>
              </a:lnSpc>
              <a:buNone/>
            </a:pPr>
            <a:r>
              <a:rPr lang="en-US" sz="2400" dirty="0">
                <a:solidFill>
                  <a:srgbClr val="C9AEDA"/>
                </a:solidFill>
                <a:latin typeface="Inter" pitchFamily="34" charset="0"/>
                <a:ea typeface="Inter" pitchFamily="34" charset="-122"/>
                <a:cs typeface="Inter" pitchFamily="34" charset="-120"/>
              </a:rPr>
              <a:t>.</a:t>
            </a:r>
            <a:endParaRPr lang="en-US" sz="2400" dirty="0"/>
          </a:p>
        </p:txBody>
      </p:sp>
      <p:sp>
        <p:nvSpPr>
          <p:cNvPr id="6" name="Text 3"/>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C9AEDA"/>
                </a:solidFill>
                <a:latin typeface="Geist Mono" pitchFamily="34" charset="0"/>
                <a:ea typeface="Geist Mono" pitchFamily="34" charset="-122"/>
                <a:cs typeface="Geist Mono" pitchFamily="34" charset="-120"/>
              </a:rPr>
              <a:t>51</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BF5FE"/>
        </a:solidFill>
      </p:bgPr>
    </p:bg>
    <p:spTree>
      <p:nvGrpSpPr>
        <p:cNvPr id="1" name=""/>
        <p:cNvGrpSpPr/>
        <p:nvPr/>
      </p:nvGrpSpPr>
      <p:grpSpPr>
        <a:xfrm>
          <a:off x="0" y="0"/>
          <a:ext cx="0" cy="0"/>
          <a:chOff x="0" y="0"/>
          <a:chExt cx="0" cy="0"/>
        </a:xfrm>
      </p:grpSpPr>
      <p:sp>
        <p:nvSpPr>
          <p:cNvPr id="2" name="Text 0"/>
          <p:cNvSpPr/>
          <p:nvPr/>
        </p:nvSpPr>
        <p:spPr>
          <a:xfrm>
            <a:off x="1143000" y="1333500"/>
            <a:ext cx="1270322"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D2A8C"/>
                </a:solidFill>
                <a:latin typeface="Geist Mono" pitchFamily="34" charset="0"/>
                <a:ea typeface="Geist Mono" pitchFamily="34" charset="-122"/>
                <a:cs typeface="Geist Mono" pitchFamily="34" charset="-120"/>
              </a:rPr>
              <a:t>ZDROJE</a:t>
            </a:r>
            <a:endParaRPr lang="en-US" sz="1650" dirty="0"/>
          </a:p>
        </p:txBody>
      </p:sp>
      <p:sp>
        <p:nvSpPr>
          <p:cNvPr id="3" name="Text 1"/>
          <p:cNvSpPr/>
          <p:nvPr/>
        </p:nvSpPr>
        <p:spPr>
          <a:xfrm>
            <a:off x="1143000" y="1809750"/>
            <a:ext cx="14668500" cy="820415"/>
          </a:xfrm>
          <a:prstGeom prst="rect">
            <a:avLst/>
          </a:prstGeom>
          <a:noFill/>
          <a:ln/>
        </p:spPr>
        <p:txBody>
          <a:bodyPr wrap="square" lIns="25400" tIns="25400" rIns="25400" bIns="25400" rtlCol="0" anchor="t">
            <a:normAutofit/>
          </a:bodyPr>
          <a:lstStyle/>
          <a:p>
            <a:pPr algn="l" indent="0" marL="0">
              <a:lnSpc>
                <a:spcPct val="85119"/>
              </a:lnSpc>
              <a:buNone/>
            </a:pPr>
            <a:r>
              <a:rPr lang="en-US" sz="5550" spc="-133" kern="0" dirty="0">
                <a:solidFill>
                  <a:srgbClr val="401252"/>
                </a:solidFill>
                <a:latin typeface="Geist" pitchFamily="34" charset="0"/>
                <a:ea typeface="Geist" pitchFamily="34" charset="-122"/>
                <a:cs typeface="Geist" pitchFamily="34" charset="-120"/>
              </a:rPr>
              <a:t>Z jakých zdrojů doporučení vychází?</a:t>
            </a:r>
            <a:endParaRPr lang="en-US" sz="5550" dirty="0"/>
          </a:p>
        </p:txBody>
      </p:sp>
      <p:sp>
        <p:nvSpPr>
          <p:cNvPr id="4" name="Shape 2"/>
          <p:cNvSpPr/>
          <p:nvPr/>
        </p:nvSpPr>
        <p:spPr>
          <a:xfrm>
            <a:off x="1143000" y="3390900"/>
            <a:ext cx="16002000" cy="9525"/>
          </a:xfrm>
          <a:prstGeom prst="rect">
            <a:avLst/>
          </a:prstGeom>
          <a:solidFill>
            <a:srgbClr val="CDB3DC"/>
          </a:solidFill>
          <a:ln/>
        </p:spPr>
      </p:sp>
      <p:sp>
        <p:nvSpPr>
          <p:cNvPr id="5" name="Text 3"/>
          <p:cNvSpPr/>
          <p:nvPr/>
        </p:nvSpPr>
        <p:spPr>
          <a:xfrm>
            <a:off x="1143000" y="3524250"/>
            <a:ext cx="2943225" cy="1638300"/>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DOPORUČENÍ</a:t>
            </a:r>
            <a:endParaRPr lang="en-US" sz="1650" dirty="0"/>
          </a:p>
        </p:txBody>
      </p:sp>
      <p:sp>
        <p:nvSpPr>
          <p:cNvPr id="6" name="Text 4"/>
          <p:cNvSpPr/>
          <p:nvPr/>
        </p:nvSpPr>
        <p:spPr>
          <a:xfrm>
            <a:off x="4457700" y="352425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NICE NG23</a:t>
            </a:r>
            <a:endParaRPr lang="en-US" sz="1800" dirty="0"/>
          </a:p>
        </p:txBody>
      </p:sp>
      <p:sp>
        <p:nvSpPr>
          <p:cNvPr id="7" name="Text 5"/>
          <p:cNvSpPr/>
          <p:nvPr/>
        </p:nvSpPr>
        <p:spPr>
          <a:xfrm>
            <a:off x="10698807" y="352425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Menopause: identification and management, 2026</a:t>
            </a:r>
            <a:endParaRPr lang="en-US" sz="1800" dirty="0"/>
          </a:p>
        </p:txBody>
      </p:sp>
      <p:sp>
        <p:nvSpPr>
          <p:cNvPr id="8" name="Text 6"/>
          <p:cNvSpPr/>
          <p:nvPr/>
        </p:nvSpPr>
        <p:spPr>
          <a:xfrm>
            <a:off x="4457700" y="394335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ESE Clinical Practice Guideline</a:t>
            </a:r>
            <a:endParaRPr lang="en-US" sz="1800" dirty="0"/>
          </a:p>
        </p:txBody>
      </p:sp>
      <p:sp>
        <p:nvSpPr>
          <p:cNvPr id="9" name="Text 7"/>
          <p:cNvSpPr/>
          <p:nvPr/>
        </p:nvSpPr>
        <p:spPr>
          <a:xfrm>
            <a:off x="10698807" y="394335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Eur J Endocrinol 2025;193(4):G49–G81</a:t>
            </a:r>
            <a:endParaRPr lang="en-US" sz="1800" dirty="0"/>
          </a:p>
        </p:txBody>
      </p:sp>
      <p:sp>
        <p:nvSpPr>
          <p:cNvPr id="10" name="Text 8"/>
          <p:cNvSpPr/>
          <p:nvPr/>
        </p:nvSpPr>
        <p:spPr>
          <a:xfrm>
            <a:off x="4457700" y="436245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The Menopause Society</a:t>
            </a:r>
            <a:endParaRPr lang="en-US" sz="1800" dirty="0"/>
          </a:p>
        </p:txBody>
      </p:sp>
      <p:sp>
        <p:nvSpPr>
          <p:cNvPr id="11" name="Text 9"/>
          <p:cNvSpPr/>
          <p:nvPr/>
        </p:nvSpPr>
        <p:spPr>
          <a:xfrm>
            <a:off x="10698807" y="436245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nonhormone 2023 · hormone therapy 2022 · GSM 2020</a:t>
            </a:r>
            <a:endParaRPr lang="en-US" sz="1800" dirty="0"/>
          </a:p>
        </p:txBody>
      </p:sp>
      <p:sp>
        <p:nvSpPr>
          <p:cNvPr id="12" name="Text 10"/>
          <p:cNvSpPr/>
          <p:nvPr/>
        </p:nvSpPr>
        <p:spPr>
          <a:xfrm>
            <a:off x="4457700" y="478155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EMAS</a:t>
            </a:r>
            <a:endParaRPr lang="en-US" sz="1800" dirty="0"/>
          </a:p>
        </p:txBody>
      </p:sp>
      <p:sp>
        <p:nvSpPr>
          <p:cNvPr id="13" name="Text 11"/>
          <p:cNvSpPr/>
          <p:nvPr/>
        </p:nvSpPr>
        <p:spPr>
          <a:xfrm>
            <a:off x="10698807" y="478155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Healthy menopause, Maturitas 2026</a:t>
            </a:r>
            <a:endParaRPr lang="en-US" sz="1800" dirty="0"/>
          </a:p>
        </p:txBody>
      </p:sp>
      <p:sp>
        <p:nvSpPr>
          <p:cNvPr id="14" name="Shape 12"/>
          <p:cNvSpPr/>
          <p:nvPr/>
        </p:nvSpPr>
        <p:spPr>
          <a:xfrm>
            <a:off x="1143000" y="5248275"/>
            <a:ext cx="16002000" cy="9525"/>
          </a:xfrm>
          <a:prstGeom prst="rect">
            <a:avLst/>
          </a:prstGeom>
          <a:solidFill>
            <a:srgbClr val="CDB3DC"/>
          </a:solidFill>
          <a:ln/>
        </p:spPr>
      </p:sp>
      <p:sp>
        <p:nvSpPr>
          <p:cNvPr id="15" name="Text 13"/>
          <p:cNvSpPr/>
          <p:nvPr/>
        </p:nvSpPr>
        <p:spPr>
          <a:xfrm>
            <a:off x="1143000" y="5381625"/>
            <a:ext cx="2943225" cy="1219200"/>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PŘEHLEDOVÉ PRÁCE</a:t>
            </a:r>
            <a:endParaRPr lang="en-US" sz="1650" dirty="0"/>
          </a:p>
        </p:txBody>
      </p:sp>
      <p:sp>
        <p:nvSpPr>
          <p:cNvPr id="16" name="Text 14"/>
          <p:cNvSpPr/>
          <p:nvPr/>
        </p:nvSpPr>
        <p:spPr>
          <a:xfrm>
            <a:off x="4457700" y="5381625"/>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Curr Nutr Rep 2026;15:69</a:t>
            </a:r>
            <a:endParaRPr lang="en-US" sz="1800" dirty="0"/>
          </a:p>
        </p:txBody>
      </p:sp>
      <p:sp>
        <p:nvSpPr>
          <p:cNvPr id="17" name="Text 15"/>
          <p:cNvSpPr/>
          <p:nvPr/>
        </p:nvSpPr>
        <p:spPr>
          <a:xfrm>
            <a:off x="10698807" y="5381625"/>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Bonnes SLR et al., Metabolic changes of perimenopause</a:t>
            </a:r>
            <a:endParaRPr lang="en-US" sz="1800" dirty="0"/>
          </a:p>
        </p:txBody>
      </p:sp>
      <p:sp>
        <p:nvSpPr>
          <p:cNvPr id="18" name="Text 16"/>
          <p:cNvSpPr/>
          <p:nvPr/>
        </p:nvSpPr>
        <p:spPr>
          <a:xfrm>
            <a:off x="4457700" y="5800725"/>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Clin Nutr ESPEN 2026;75:103405</a:t>
            </a:r>
            <a:endParaRPr lang="en-US" sz="1800" dirty="0"/>
          </a:p>
        </p:txBody>
      </p:sp>
      <p:sp>
        <p:nvSpPr>
          <p:cNvPr id="19" name="Text 17"/>
          <p:cNvSpPr/>
          <p:nvPr/>
        </p:nvSpPr>
        <p:spPr>
          <a:xfrm>
            <a:off x="10698807" y="5800725"/>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Baraut MC, Nutrition during the menopausal transition</a:t>
            </a:r>
            <a:endParaRPr lang="en-US" sz="1800" dirty="0"/>
          </a:p>
        </p:txBody>
      </p:sp>
      <p:sp>
        <p:nvSpPr>
          <p:cNvPr id="20" name="Text 18"/>
          <p:cNvSpPr/>
          <p:nvPr/>
        </p:nvSpPr>
        <p:spPr>
          <a:xfrm>
            <a:off x="4457700" y="6219825"/>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Alzheimer's &amp; Dementia 2026;22:e71679</a:t>
            </a:r>
            <a:endParaRPr lang="en-US" sz="1800" dirty="0"/>
          </a:p>
        </p:txBody>
      </p:sp>
      <p:sp>
        <p:nvSpPr>
          <p:cNvPr id="21" name="Text 19"/>
          <p:cNvSpPr/>
          <p:nvPr/>
        </p:nvSpPr>
        <p:spPr>
          <a:xfrm>
            <a:off x="10698807" y="6219825"/>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Squires S et al., HRT a riziko demence, UK Biobank</a:t>
            </a:r>
            <a:endParaRPr lang="en-US" sz="1800" dirty="0"/>
          </a:p>
        </p:txBody>
      </p:sp>
      <p:sp>
        <p:nvSpPr>
          <p:cNvPr id="22" name="Shape 20"/>
          <p:cNvSpPr/>
          <p:nvPr/>
        </p:nvSpPr>
        <p:spPr>
          <a:xfrm>
            <a:off x="1143000" y="6686550"/>
            <a:ext cx="16002000" cy="9525"/>
          </a:xfrm>
          <a:prstGeom prst="rect">
            <a:avLst/>
          </a:prstGeom>
          <a:solidFill>
            <a:srgbClr val="CDB3DC"/>
          </a:solidFill>
          <a:ln/>
        </p:spPr>
      </p:sp>
      <p:sp>
        <p:nvSpPr>
          <p:cNvPr id="23" name="Text 21"/>
          <p:cNvSpPr/>
          <p:nvPr/>
        </p:nvSpPr>
        <p:spPr>
          <a:xfrm>
            <a:off x="1143000" y="6819900"/>
            <a:ext cx="2943225" cy="1562100"/>
          </a:xfrm>
          <a:prstGeom prst="rect">
            <a:avLst/>
          </a:prstGeom>
          <a:noFill/>
          <a:ln/>
        </p:spPr>
        <p:txBody>
          <a:bodyPr wrap="none" lIns="25400" tIns="25400" rIns="25400" bIns="25400" rtlCol="0" anchor="t">
            <a:normAutofit/>
          </a:bodyPr>
          <a:lstStyle/>
          <a:p>
            <a:pPr algn="l" indent="0" marL="0">
              <a:lnSpc>
                <a:spcPct val="125053"/>
              </a:lnSpc>
              <a:buNone/>
            </a:pPr>
            <a:r>
              <a:rPr lang="en-US" sz="1650" spc="215" kern="0" dirty="0">
                <a:solidFill>
                  <a:srgbClr val="6B4B7D"/>
                </a:solidFill>
                <a:latin typeface="Geist Mono" pitchFamily="34" charset="0"/>
                <a:ea typeface="Geist Mono" pitchFamily="34" charset="-122"/>
                <a:cs typeface="Geist Mono" pitchFamily="34" charset="-120"/>
              </a:rPr>
              <a:t>UPTODATE 2026</a:t>
            </a:r>
            <a:endParaRPr lang="en-US" sz="1650" dirty="0"/>
          </a:p>
        </p:txBody>
      </p:sp>
      <p:sp>
        <p:nvSpPr>
          <p:cNvPr id="24" name="Text 22"/>
          <p:cNvSpPr/>
          <p:nvPr/>
        </p:nvSpPr>
        <p:spPr>
          <a:xfrm>
            <a:off x="4457700" y="681990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Menopause: clinical features and diagnosis</a:t>
            </a:r>
            <a:endParaRPr lang="en-US" sz="1800" dirty="0"/>
          </a:p>
        </p:txBody>
      </p:sp>
      <p:sp>
        <p:nvSpPr>
          <p:cNvPr id="25" name="Text 23"/>
          <p:cNvSpPr/>
          <p:nvPr/>
        </p:nvSpPr>
        <p:spPr>
          <a:xfrm>
            <a:off x="10698807" y="681990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Menopausal hot flashes</a:t>
            </a:r>
            <a:endParaRPr lang="en-US" sz="1800" dirty="0"/>
          </a:p>
        </p:txBody>
      </p:sp>
      <p:sp>
        <p:nvSpPr>
          <p:cNvPr id="26" name="Text 24"/>
          <p:cNvSpPr/>
          <p:nvPr/>
        </p:nvSpPr>
        <p:spPr>
          <a:xfrm>
            <a:off x="4457700" y="7239000"/>
            <a:ext cx="6035911"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Treatment of menopausal symptoms with hormone therapy</a:t>
            </a:r>
            <a:endParaRPr lang="en-US" sz="1800" dirty="0"/>
          </a:p>
        </p:txBody>
      </p:sp>
      <p:sp>
        <p:nvSpPr>
          <p:cNvPr id="27" name="Text 25"/>
          <p:cNvSpPr/>
          <p:nvPr/>
        </p:nvSpPr>
        <p:spPr>
          <a:xfrm>
            <a:off x="10698807" y="7239000"/>
            <a:ext cx="6639578" cy="7239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Benefits and risks of MHT</a:t>
            </a:r>
            <a:endParaRPr lang="en-US" sz="1800" dirty="0"/>
          </a:p>
        </p:txBody>
      </p:sp>
      <p:sp>
        <p:nvSpPr>
          <p:cNvPr id="28" name="Text 26"/>
          <p:cNvSpPr/>
          <p:nvPr/>
        </p:nvSpPr>
        <p:spPr>
          <a:xfrm>
            <a:off x="4457700" y="8001000"/>
            <a:ext cx="6446118"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401252"/>
                </a:solidFill>
                <a:latin typeface="Inter" pitchFamily="34" charset="0"/>
                <a:ea typeface="Inter" pitchFamily="34" charset="-122"/>
                <a:cs typeface="Inter" pitchFamily="34" charset="-120"/>
              </a:rPr>
              <a:t>Genitourinary syndrome of menopause</a:t>
            </a:r>
            <a:endParaRPr lang="en-US" sz="1800" dirty="0"/>
          </a:p>
        </p:txBody>
      </p:sp>
      <p:sp>
        <p:nvSpPr>
          <p:cNvPr id="29" name="Text 27"/>
          <p:cNvSpPr/>
          <p:nvPr/>
        </p:nvSpPr>
        <p:spPr>
          <a:xfrm>
            <a:off x="10698807" y="8001000"/>
            <a:ext cx="7090812" cy="381000"/>
          </a:xfrm>
          <a:prstGeom prst="rect">
            <a:avLst/>
          </a:prstGeom>
          <a:noFill/>
          <a:ln/>
        </p:spPr>
        <p:txBody>
          <a:bodyPr wrap="square" lIns="25400" tIns="25400" rIns="25400" bIns="25400" rtlCol="0" anchor="t">
            <a:normAutofit/>
          </a:bodyPr>
          <a:lstStyle/>
          <a:p>
            <a:pPr algn="l" indent="0" marL="0">
              <a:lnSpc>
                <a:spcPct val="122034"/>
              </a:lnSpc>
              <a:buNone/>
            </a:pPr>
            <a:r>
              <a:rPr lang="en-US" sz="1800" dirty="0">
                <a:solidFill>
                  <a:srgbClr val="6B4B7D"/>
                </a:solidFill>
                <a:latin typeface="Inter" pitchFamily="34" charset="0"/>
                <a:ea typeface="Inter" pitchFamily="34" charset="-122"/>
                <a:cs typeface="Inter" pitchFamily="34" charset="-120"/>
              </a:rPr>
              <a:t>Management of primary ovarian insufficiency</a:t>
            </a:r>
            <a:endParaRPr lang="en-US" sz="1800" dirty="0"/>
          </a:p>
        </p:txBody>
      </p:sp>
      <p:sp>
        <p:nvSpPr>
          <p:cNvPr id="30" name="Text 28"/>
          <p:cNvSpPr/>
          <p:nvPr/>
        </p:nvSpPr>
        <p:spPr>
          <a:xfrm>
            <a:off x="1143000" y="9138791"/>
            <a:ext cx="13620750" cy="348109"/>
          </a:xfrm>
          <a:prstGeom prst="rect">
            <a:avLst/>
          </a:prstGeom>
          <a:noFill/>
          <a:ln/>
        </p:spPr>
        <p:txBody>
          <a:bodyPr wrap="square" lIns="25400" tIns="25400" rIns="25400" bIns="25400" rtlCol="0" anchor="t">
            <a:normAutofit/>
          </a:bodyPr>
          <a:lstStyle/>
          <a:p>
            <a:pPr algn="l" indent="0" marL="0">
              <a:lnSpc>
                <a:spcPct val="120556"/>
              </a:lnSpc>
              <a:buNone/>
            </a:pPr>
            <a:r>
              <a:rPr lang="en-US" sz="1575" spc="63" kern="0" dirty="0">
                <a:solidFill>
                  <a:srgbClr val="6B4B7D"/>
                </a:solidFill>
                <a:latin typeface="Geist Mono" pitchFamily="34" charset="0"/>
                <a:ea typeface="Geist Mono" pitchFamily="34" charset="-122"/>
                <a:cs typeface="Geist Mono" pitchFamily="34" charset="-120"/>
              </a:rPr>
              <a:t>Studie jmenovitě: SWAN · WHI · SKYLIGHT 1 a 2 · OASIS 1 a 2 · Nedeltcheva 2010 · Covassin 2022</a:t>
            </a:r>
            <a:endParaRPr lang="en-US" sz="1575" dirty="0"/>
          </a:p>
        </p:txBody>
      </p:sp>
      <p:sp>
        <p:nvSpPr>
          <p:cNvPr id="31" name="Text 29"/>
          <p:cNvSpPr/>
          <p:nvPr/>
        </p:nvSpPr>
        <p:spPr>
          <a:xfrm>
            <a:off x="16893480" y="9140205"/>
            <a:ext cx="327720" cy="346695"/>
          </a:xfrm>
          <a:prstGeom prst="rect">
            <a:avLst/>
          </a:prstGeom>
          <a:noFill/>
          <a:ln/>
        </p:spPr>
        <p:txBody>
          <a:bodyPr wrap="none" lIns="25400" tIns="25400" rIns="25400" bIns="25400" rtlCol="0" anchor="t">
            <a:normAutofit/>
          </a:bodyPr>
          <a:lstStyle/>
          <a:p>
            <a:pPr algn="l" indent="0" marL="0">
              <a:lnSpc>
                <a:spcPct val="124615"/>
              </a:lnSpc>
              <a:buNone/>
            </a:pPr>
            <a:r>
              <a:rPr lang="en-US" sz="1500" spc="90" kern="0" dirty="0">
                <a:solidFill>
                  <a:srgbClr val="6B4B7D"/>
                </a:solidFill>
                <a:latin typeface="Geist Mono" pitchFamily="34" charset="0"/>
                <a:ea typeface="Geist Mono" pitchFamily="34" charset="-122"/>
                <a:cs typeface="Geist Mono" pitchFamily="34" charset="-120"/>
              </a:rPr>
              <a:t>52</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40125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01252"/>
          </a:solidFill>
          <a:ln/>
        </p:spPr>
      </p:sp>
      <p:pic>
        <p:nvPicPr>
          <p:cNvPr id="3" name="Image 0" descr="preencoded.png">    </p:cNvPr>
          <p:cNvPicPr>
            <a:picLocks noChangeAspect="1"/>
          </p:cNvPicPr>
          <p:nvPr/>
        </p:nvPicPr>
        <p:blipFill>
          <a:blip r:embed="rId1"/>
          <a:srcRect l="0" r="0" t="0" b="0"/>
          <a:stretch/>
        </p:blipFill>
        <p:spPr>
          <a:xfrm>
            <a:off x="7143750" y="0"/>
            <a:ext cx="11144250" cy="10287000"/>
          </a:xfrm>
          <a:prstGeom prst="rect">
            <a:avLst/>
          </a:prstGeom>
        </p:spPr>
      </p:pic>
      <p:sp>
        <p:nvSpPr>
          <p:cNvPr id="4" name="Shape 1"/>
          <p:cNvSpPr/>
          <p:nvPr/>
        </p:nvSpPr>
        <p:spPr>
          <a:xfrm>
            <a:off x="0" y="0"/>
            <a:ext cx="18288000" cy="10287000"/>
          </a:xfrm>
          <a:prstGeom prst="rect">
            <a:avLst/>
          </a:prstGeom>
          <a:gradFill rotWithShape="1">
            <a:gsLst>
              <a:gs pos="0">
                <a:srgbClr val="401252">
                  <a:alpha val="96000"/>
                </a:srgbClr>
              </a:gs>
              <a:gs pos="42000">
                <a:srgbClr val="401252">
                  <a:alpha val="90000"/>
                </a:srgbClr>
              </a:gs>
              <a:gs pos="58000">
                <a:srgbClr val="401252">
                  <a:alpha val="74000"/>
                </a:srgbClr>
              </a:gs>
              <a:gs pos="76000">
                <a:srgbClr val="401252">
                  <a:alpha val="20000"/>
                </a:srgbClr>
              </a:gs>
              <a:gs pos="100000">
                <a:srgbClr val="401252">
                  <a:alpha val="4000"/>
                </a:srgbClr>
              </a:gs>
            </a:gsLst>
            <a:lin ang="0" scaled="0"/>
          </a:gradFill>
          <a:ln/>
        </p:spPr>
      </p:sp>
      <p:pic>
        <p:nvPicPr>
          <p:cNvPr id="5" name="Image 1" descr="preencoded.png">    </p:cNvPr>
          <p:cNvPicPr>
            <a:picLocks noChangeAspect="1"/>
          </p:cNvPicPr>
          <p:nvPr/>
        </p:nvPicPr>
        <p:blipFill>
          <a:blip r:embed="rId2"/>
          <a:stretch>
            <a:fillRect/>
          </a:stretch>
        </p:blipFill>
        <p:spPr>
          <a:xfrm>
            <a:off x="1143000" y="914400"/>
            <a:ext cx="1866900" cy="878979"/>
          </a:xfrm>
          <a:prstGeom prst="rect">
            <a:avLst/>
          </a:prstGeom>
        </p:spPr>
      </p:pic>
      <p:sp>
        <p:nvSpPr>
          <p:cNvPr id="6" name="Text 2"/>
          <p:cNvSpPr/>
          <p:nvPr/>
        </p:nvSpPr>
        <p:spPr>
          <a:xfrm>
            <a:off x="1143000" y="3980929"/>
            <a:ext cx="12992100" cy="1007343"/>
          </a:xfrm>
          <a:prstGeom prst="rect">
            <a:avLst/>
          </a:prstGeom>
          <a:noFill/>
          <a:ln/>
        </p:spPr>
        <p:txBody>
          <a:bodyPr wrap="square" lIns="25400" tIns="25400" rIns="25400" bIns="25400" rtlCol="0" anchor="t">
            <a:normAutofit/>
          </a:bodyPr>
          <a:lstStyle/>
          <a:p>
            <a:pPr algn="l" indent="0" marL="0">
              <a:lnSpc>
                <a:spcPct val="81408"/>
              </a:lnSpc>
              <a:buNone/>
            </a:pPr>
            <a:r>
              <a:rPr lang="en-US" sz="7200" spc="-202" kern="0" dirty="0">
                <a:solidFill>
                  <a:srgbClr val="FFFFFF"/>
                </a:solidFill>
                <a:latin typeface="Geist" pitchFamily="34" charset="0"/>
                <a:ea typeface="Geist" pitchFamily="34" charset="-122"/>
                <a:cs typeface="Geist" pitchFamily="34" charset="-120"/>
              </a:rPr>
              <a:t>Děkuji za pozornost.</a:t>
            </a:r>
            <a:endParaRPr lang="en-US" sz="7200" dirty="0"/>
          </a:p>
        </p:txBody>
      </p:sp>
      <p:sp>
        <p:nvSpPr>
          <p:cNvPr id="7" name="Text 3"/>
          <p:cNvSpPr/>
          <p:nvPr/>
        </p:nvSpPr>
        <p:spPr>
          <a:xfrm>
            <a:off x="1143000" y="5445472"/>
            <a:ext cx="12992100" cy="483096"/>
          </a:xfrm>
          <a:prstGeom prst="rect">
            <a:avLst/>
          </a:prstGeom>
          <a:noFill/>
          <a:ln/>
        </p:spPr>
        <p:txBody>
          <a:bodyPr wrap="square" lIns="25400" tIns="25400" rIns="25400" bIns="25400" rtlCol="0" anchor="t">
            <a:normAutofit/>
          </a:bodyPr>
          <a:lstStyle/>
          <a:p>
            <a:pPr algn="l" indent="0" marL="0">
              <a:lnSpc>
                <a:spcPct val="121351"/>
              </a:lnSpc>
              <a:buNone/>
            </a:pPr>
            <a:r>
              <a:rPr lang="en-US" sz="2400" dirty="0">
                <a:solidFill>
                  <a:srgbClr val="FFFFFF"/>
                </a:solidFill>
                <a:latin typeface="Inter" pitchFamily="34" charset="0"/>
                <a:ea typeface="Inter" pitchFamily="34" charset="-122"/>
                <a:cs typeface="Inter" pitchFamily="34" charset="-120"/>
              </a:rPr>
              <a:t>Mgr. Ing. Tereza Vágnerová, Ph.D.</a:t>
            </a:r>
            <a:endParaRPr lang="en-US" sz="2400" dirty="0"/>
          </a:p>
        </p:txBody>
      </p:sp>
      <p:sp>
        <p:nvSpPr>
          <p:cNvPr id="8" name="Text 4"/>
          <p:cNvSpPr/>
          <p:nvPr/>
        </p:nvSpPr>
        <p:spPr>
          <a:xfrm>
            <a:off x="1143000" y="6061918"/>
            <a:ext cx="12165330" cy="1466850"/>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C9AEDA"/>
                </a:solidFill>
                <a:latin typeface="Inter" pitchFamily="34" charset="0"/>
                <a:ea typeface="Inter" pitchFamily="34" charset="-122"/>
                <a:cs typeface="Inter" pitchFamily="34" charset="-120"/>
              </a:rPr>
              <a:t>Healthy Longevity Clinic Klinika geriatrie a interní medicíny 1. LF UK a VFN Klinika endokrinologie a metabolismu 1. LF UK a VFN EFAD – European Federation of the Associations of Dietitians</a:t>
            </a:r>
            <a:endParaRPr lang="en-US" sz="1875" dirty="0"/>
          </a:p>
        </p:txBody>
      </p:sp>
      <p:sp>
        <p:nvSpPr>
          <p:cNvPr id="9" name="Text 5"/>
          <p:cNvSpPr/>
          <p:nvPr/>
        </p:nvSpPr>
        <p:spPr>
          <a:xfrm>
            <a:off x="1143000" y="7871668"/>
            <a:ext cx="12165330" cy="377503"/>
          </a:xfrm>
          <a:prstGeom prst="rect">
            <a:avLst/>
          </a:prstGeom>
          <a:noFill/>
          <a:ln/>
        </p:spPr>
        <p:txBody>
          <a:bodyPr wrap="none" lIns="25400" tIns="25400" rIns="25400" bIns="25400" rtlCol="0" anchor="t">
            <a:normAutofit/>
          </a:bodyPr>
          <a:lstStyle/>
          <a:p>
            <a:pPr algn="l" indent="0" marL="0">
              <a:lnSpc>
                <a:spcPct val="125053"/>
              </a:lnSpc>
              <a:buNone/>
            </a:pPr>
            <a:r>
              <a:rPr lang="en-US" sz="1650" spc="66" kern="0" dirty="0">
                <a:solidFill>
                  <a:srgbClr val="D8A6F5"/>
                </a:solidFill>
                <a:latin typeface="Geist Mono" pitchFamily="34" charset="0"/>
                <a:ea typeface="Geist Mono" pitchFamily="34" charset="-122"/>
                <a:cs typeface="Geist Mono" pitchFamily="34" charset="-120"/>
              </a:rPr>
              <a:t>tereza.vagnerova@lf1.cuni.cz · +420 774 355 768</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2026-09-20T18:59:49Z</dcterms:created>
  <dcterms:modified xsi:type="dcterms:W3CDTF">2026-09-20T18:59:49Z</dcterms:modified>
</cp:coreProperties>
</file>