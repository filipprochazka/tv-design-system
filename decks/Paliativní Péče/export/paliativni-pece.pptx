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Úvodní snímek. Představit se a téma.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Rámec tématu: výživa a hydratace v paliativní medicíně.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Včasná indikace, reálné cíle.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Rámec evidence: ESPEN 2024, 40 doporučení, stupně A až GPP.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Čtyři etické principy. Vienna Declaration 2022.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Pět vlastností dobrého cíle intervence.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Právo informovaného pacienta odmítnout léčbu, včetně nutriční péče.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Nutriční stav jako prognostický faktor.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Předběžné plánování péče u demence; 75 % hospitalizací zbytečných.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Akutní stresová malnutrice vs. chronická kachexie. Věk jako prognostický faktor.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Algoritmus rozhodování v klinické výživě. Každý výstup z algoritmu vede ke komfortnímu krmení a paliativní péči.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Předěl: kazuistika.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Kazuistika 1: pan Jaroslav, 88 let, DZR.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Kazuistika 2: paní Jaroslava a její dcera.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Vysvětlit, co je demence, a jak mění jídlo a polykání.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Porucha polykání, aspirace, varovné známky a dvě cesty.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Klíčové sdělení: klient, který přestává jíst, netrpí.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Metabolické tlumení hladu a žízně na konci života.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Žízeň na konci života řešíme ústy. Podkožní hydratace před infuzí.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Vysvětlení komfortního krmení a otázky rodiny.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Krátké cvičení pro publikum. Nechat chvíli ticho.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Chování, které pečující čtou jako odmítání, je komunikace.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Snížený příjem stravy neakceleruje smrt.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Snížený příjem je symptom. Co zvažovat s rodinou.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Finger food a svačiny: doporučení 19, GPP 100 %. Nahrazuje původní obrázkový snímek se seznamem finger foods.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Původní snímek 22: jídlo s upravenou konzistencí, tvarované do podoby původní potraviny.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Intervence přestanou být efektivní; kdy suplementaci nevysazovat.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Sipping má stupeň A pro výživu, ne pro kognici. Co se nedoporučuje.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Vysvětlení sondy či stomie a otázky rodiny.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Úmrtnost po zavedení PEG, benefity a rizika.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Otázky pro rozhodující osobu.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Pocity rozhodující osoby. Empatie.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Citace závěru systematického přehledu. Doplnit zdroj.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Konkrétní postup v péči o pana Jaroslava.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Sedm doporučení na úrovni organizace. Actionable část pro rezidenční péči.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Původní snímek 30 byl plakát seriálu A Man on the Inside. Plakát nereprodukujeme, doporučení zůstává.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Závěr a poděkování.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Příloha: doporučení ESPEN, na kterých přednáška stojí. Úplný katalog je na espen.org.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Příloha: úplný katalog ESPEN, první část. Sedm doporučených postupů platných napříč péčí.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Příloha: druhá část katalogu. Věk, neurologie, intenzivní a chirurgická péče.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Příloha: třetí část katalogu. Jednotlivá onemocnění.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Příloha: EFAD nevydává klinická doporučení pro paliativní péči. Vydává stanoviska k roli nutričního terapeuta.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14400"/>
            <a:ext cx="1866900" cy="8789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69905" y="952500"/>
            <a:ext cx="647509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A6C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Klinika geriatrie a interní medicíny 1. LF UK a VFN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43000" y="4901580"/>
            <a:ext cx="12753975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8FC9F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PALIATIVNÍ PÉČE</a:t>
            </a:r>
            <a:endParaRPr lang="en-US" sz="1425" dirty="0"/>
          </a:p>
        </p:txBody>
      </p:sp>
      <p:sp>
        <p:nvSpPr>
          <p:cNvPr id="5" name="Text 2"/>
          <p:cNvSpPr/>
          <p:nvPr/>
        </p:nvSpPr>
        <p:spPr>
          <a:xfrm>
            <a:off x="1143000" y="5575697"/>
            <a:ext cx="12753975" cy="2138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59"/>
              </a:lnSpc>
              <a:buNone/>
            </a:pPr>
            <a:r>
              <a:rPr lang="en-US" sz="7800" spc="-218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Výživa u pacientů s demencí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1143000" y="7980462"/>
            <a:ext cx="13620750" cy="502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46"/>
              </a:lnSpc>
              <a:buNone/>
            </a:pPr>
            <a:r>
              <a:rPr lang="en-US" sz="3000" dirty="0">
                <a:solidFill>
                  <a:srgbClr val="A6C2D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Mezi evidencí, etikou a realitou péče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43000" y="8864352"/>
            <a:ext cx="12753975" cy="470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1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Mgr. Ing. Tereza Vágnerová, Ph.D.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3611" r="23611" t="0" b="0"/>
          <a:stretch/>
        </p:blipFill>
        <p:spPr>
          <a:xfrm>
            <a:off x="11049000" y="0"/>
            <a:ext cx="7239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5000">
                <a:srgbClr val="FFFFFF">
                  <a:alpha val="100000"/>
                </a:srgbClr>
              </a:gs>
              <a:gs pos="54000">
                <a:srgbClr val="FFFFFF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</a:t>
            </a:r>
            <a:endParaRPr lang="en-US" sz="1425" dirty="0"/>
          </a:p>
        </p:txBody>
      </p:sp>
      <p:sp>
        <p:nvSpPr>
          <p:cNvPr id="5" name="Text 2"/>
          <p:cNvSpPr/>
          <p:nvPr/>
        </p:nvSpPr>
        <p:spPr>
          <a:xfrm>
            <a:off x="1484709" y="596429"/>
            <a:ext cx="1793677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RÁMEC A ETIKA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34117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4"/>
          <p:cNvSpPr/>
          <p:nvPr/>
        </p:nvSpPr>
        <p:spPr>
          <a:xfrm>
            <a:off x="36689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8" name="Shape 5"/>
          <p:cNvSpPr/>
          <p:nvPr/>
        </p:nvSpPr>
        <p:spPr>
          <a:xfrm>
            <a:off x="392608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6"/>
          <p:cNvSpPr/>
          <p:nvPr/>
        </p:nvSpPr>
        <p:spPr>
          <a:xfrm>
            <a:off x="418326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Shape 7"/>
          <p:cNvSpPr/>
          <p:nvPr/>
        </p:nvSpPr>
        <p:spPr>
          <a:xfrm>
            <a:off x="44404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1" name="Shape 8"/>
          <p:cNvSpPr/>
          <p:nvPr/>
        </p:nvSpPr>
        <p:spPr>
          <a:xfrm>
            <a:off x="46976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2" name="Text 9"/>
          <p:cNvSpPr/>
          <p:nvPr/>
        </p:nvSpPr>
        <p:spPr>
          <a:xfrm>
            <a:off x="86763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/ 42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143000" y="1333500"/>
            <a:ext cx="8711946" cy="116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6"/>
              </a:lnSpc>
              <a:buNone/>
            </a:pPr>
            <a:r>
              <a:rPr lang="en-US" sz="3900" spc="-78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Rozhodnutí o podávání či ukončení nutriční podpory nebývá snadné.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1143000" y="4972050"/>
            <a:ext cx="871194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90"/>
              </a:lnSpc>
              <a:buNone/>
            </a:pPr>
            <a:r>
              <a:rPr lang="en-US" sz="25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Otázka výživy a hydratace v paliativní medicíně je široce diskutována.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1143000" y="6362700"/>
            <a:ext cx="871194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Indikace musí být součástí </a:t>
            </a:r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komplexní, holistické péče </a:t>
            </a:r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realizované multidisciplinárním týmem.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793677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RÁMEC A ETIKA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4117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6689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6" name="Shape 4"/>
          <p:cNvSpPr/>
          <p:nvPr/>
        </p:nvSpPr>
        <p:spPr>
          <a:xfrm>
            <a:off x="392608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7" name="Shape 5"/>
          <p:cNvSpPr/>
          <p:nvPr/>
        </p:nvSpPr>
        <p:spPr>
          <a:xfrm>
            <a:off x="418326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8" name="Shape 6"/>
          <p:cNvSpPr/>
          <p:nvPr/>
        </p:nvSpPr>
        <p:spPr>
          <a:xfrm>
            <a:off x="44404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7"/>
          <p:cNvSpPr/>
          <p:nvPr/>
        </p:nvSpPr>
        <p:spPr>
          <a:xfrm>
            <a:off x="46976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306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385"/>
              </a:lnSpc>
              <a:buNone/>
            </a:pPr>
            <a:r>
              <a:rPr lang="en-US" sz="4500" spc="-108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Nutriční podporu indikujeme včas a jen tam, kde přináší prokazatelný benefit.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143000" y="4942508"/>
            <a:ext cx="8298180" cy="433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73"/>
              </a:lnSpc>
              <a:buNone/>
            </a:pPr>
            <a:r>
              <a:rPr lang="en-US" sz="255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Hodnocení stavu výživy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43000" y="5585222"/>
            <a:ext cx="7770114" cy="1702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71"/>
              </a:lnSpc>
              <a:buNone/>
            </a:pPr>
            <a:r>
              <a:rPr lang="en-US" sz="210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Při poskytování paliativní péče je nutné věnovat zvláštní pozornost hodnocení stavu výživy pacienta a včas indikovat nutriční podporu v situaci, kdy pacientovi přináší prokazatelný benefit.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01200" y="4942508"/>
            <a:ext cx="8298180" cy="433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73"/>
              </a:lnSpc>
              <a:buNone/>
            </a:pPr>
            <a:r>
              <a:rPr lang="en-US" sz="255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Reálné cíle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601200" y="5585222"/>
            <a:ext cx="8298180" cy="4541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71"/>
              </a:lnSpc>
              <a:buNone/>
            </a:pPr>
            <a:r>
              <a:rPr lang="en-US" sz="210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Zároveň je nezbytné, aby </a:t>
            </a:r>
            <a:pPr algn="l" indent="0" marL="0">
              <a:lnSpc>
                <a:spcPct val="128471"/>
              </a:lnSpc>
              <a:buNone/>
            </a:pPr>
            <a:r>
              <a:rPr lang="en-US" sz="210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cíle intervence byly reálné</a:t>
            </a:r>
            <a:pPr algn="l" indent="0" marL="0">
              <a:lnSpc>
                <a:spcPct val="128471"/>
              </a:lnSpc>
              <a:buNone/>
            </a:pPr>
            <a:r>
              <a:rPr lang="en-US" sz="210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793677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RÁMEC A ETIKA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4117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6689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6" name="Shape 4"/>
          <p:cNvSpPr/>
          <p:nvPr/>
        </p:nvSpPr>
        <p:spPr>
          <a:xfrm>
            <a:off x="392608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7" name="Shape 5"/>
          <p:cNvSpPr/>
          <p:nvPr/>
        </p:nvSpPr>
        <p:spPr>
          <a:xfrm>
            <a:off x="418326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8" name="Shape 6"/>
          <p:cNvSpPr/>
          <p:nvPr/>
        </p:nvSpPr>
        <p:spPr>
          <a:xfrm>
            <a:off x="44404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7"/>
          <p:cNvSpPr/>
          <p:nvPr/>
        </p:nvSpPr>
        <p:spPr>
          <a:xfrm>
            <a:off x="46976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306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385"/>
              </a:lnSpc>
              <a:buNone/>
            </a:pPr>
            <a:r>
              <a:rPr lang="en-US" sz="4500" spc="-108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Doporučení pro výživu a hydrataci u demence ESPEN aktualizoval v roce 2024.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143000" y="3831134"/>
            <a:ext cx="176022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69"/>
              </a:lnSpc>
              <a:buNone/>
            </a:pPr>
            <a:r>
              <a:rPr lang="en-US" sz="11250" spc="-450" kern="0" dirty="0">
                <a:solidFill>
                  <a:srgbClr val="1D599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40</a:t>
            </a:r>
            <a:endParaRPr lang="en-US" sz="11250" dirty="0"/>
          </a:p>
        </p:txBody>
      </p:sp>
      <p:sp>
        <p:nvSpPr>
          <p:cNvPr id="13" name="Text 11"/>
          <p:cNvSpPr/>
          <p:nvPr/>
        </p:nvSpPr>
        <p:spPr>
          <a:xfrm>
            <a:off x="3009900" y="4716959"/>
            <a:ext cx="3918421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94"/>
              </a:lnSpc>
              <a:buNone/>
            </a:pPr>
            <a:r>
              <a:rPr lang="en-US" sz="210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doporučení v tomto postupu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43000" y="548848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640884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na úrovni organizace, která péči poskytuje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615523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307634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na úrovni jednotlivého klienta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43000" y="7164884"/>
            <a:ext cx="77701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150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Volkert D, et al. Clin Nutr 2024;43(6):1599–1626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0" y="3831134"/>
            <a:ext cx="777011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STUPNĚ DOPORUČENÍ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9601200" y="4352851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4533826"/>
            <a:ext cx="150495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1500" spc="120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296650" y="4533826"/>
            <a:ext cx="602380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metaanalýza, systematický přehled či RCT přímo aplikovatelné na populaci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01200" y="536815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5549131"/>
            <a:ext cx="15049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1500" spc="120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296650" y="5549131"/>
            <a:ext cx="643318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konzistentní studie nižší úrovně nebo extrapolace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01200" y="6052021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6232996"/>
            <a:ext cx="15049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1500" spc="120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296650" y="6232996"/>
            <a:ext cx="643318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úroveň 3–4 nebo extrapolace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01200" y="6735887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6916862"/>
            <a:ext cx="150495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1500" spc="120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GPP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296650" y="6916862"/>
            <a:ext cx="602380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konsenzus expertů. Pro tuto oblast většina doporučení, protože kvalitní studie chybí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01200" y="8017892"/>
            <a:ext cx="82981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4"/>
              </a:lnSpc>
              <a:buNone/>
            </a:pPr>
            <a:r>
              <a:rPr lang="en-US" sz="1800" i="1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To, že je doporučení GPP, neznamená, že je téma méně důležité.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793677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RÁMEC A ETIKA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4117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6689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6" name="Shape 4"/>
          <p:cNvSpPr/>
          <p:nvPr/>
        </p:nvSpPr>
        <p:spPr>
          <a:xfrm>
            <a:off x="392608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7" name="Shape 5"/>
          <p:cNvSpPr/>
          <p:nvPr/>
        </p:nvSpPr>
        <p:spPr>
          <a:xfrm>
            <a:off x="418326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8" name="Shape 6"/>
          <p:cNvSpPr/>
          <p:nvPr/>
        </p:nvSpPr>
        <p:spPr>
          <a:xfrm>
            <a:off x="44404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7"/>
          <p:cNvSpPr/>
          <p:nvPr/>
        </p:nvSpPr>
        <p:spPr>
          <a:xfrm>
            <a:off x="46976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306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385"/>
              </a:lnSpc>
              <a:buNone/>
            </a:pPr>
            <a:r>
              <a:rPr lang="en-US" sz="4500" spc="-108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Cíle péče následují hlavní etické principy. Platí i pro indikaci nutriční podpory.</a:t>
            </a:r>
            <a:endParaRPr lang="en-US" sz="4500" dirty="0"/>
          </a:p>
        </p:txBody>
      </p:sp>
      <p:sp>
        <p:nvSpPr>
          <p:cNvPr id="12" name="Shape 10"/>
          <p:cNvSpPr/>
          <p:nvPr/>
        </p:nvSpPr>
        <p:spPr>
          <a:xfrm>
            <a:off x="1143000" y="4093294"/>
            <a:ext cx="7543800" cy="190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359994"/>
            <a:ext cx="7770114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5"/>
              </a:lnSpc>
              <a:buNone/>
            </a:pPr>
            <a:r>
              <a:rPr lang="en-US" sz="1500" spc="19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4878139"/>
            <a:ext cx="8298180" cy="603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15"/>
              </a:lnSpc>
              <a:buNone/>
            </a:pPr>
            <a:r>
              <a:rPr lang="en-US" sz="4200" spc="-92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Autonomie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601200" y="4093294"/>
            <a:ext cx="7543800" cy="190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4359994"/>
            <a:ext cx="7770114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5"/>
              </a:lnSpc>
              <a:buNone/>
            </a:pPr>
            <a:r>
              <a:rPr lang="en-US" sz="1500" spc="19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0" y="4878139"/>
            <a:ext cx="8298180" cy="603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15"/>
              </a:lnSpc>
              <a:buNone/>
            </a:pPr>
            <a:r>
              <a:rPr lang="en-US" sz="4200" spc="-92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Činit dobro</a:t>
            </a:r>
            <a:endParaRPr lang="en-US" sz="4200" dirty="0"/>
          </a:p>
        </p:txBody>
      </p:sp>
      <p:sp>
        <p:nvSpPr>
          <p:cNvPr id="18" name="Shape 16"/>
          <p:cNvSpPr/>
          <p:nvPr/>
        </p:nvSpPr>
        <p:spPr>
          <a:xfrm>
            <a:off x="1143000" y="5938838"/>
            <a:ext cx="7543800" cy="190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205538"/>
            <a:ext cx="7770114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5"/>
              </a:lnSpc>
              <a:buNone/>
            </a:pPr>
            <a:r>
              <a:rPr lang="en-US" sz="1500" spc="19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6723683"/>
            <a:ext cx="8298180" cy="603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15"/>
              </a:lnSpc>
              <a:buNone/>
            </a:pPr>
            <a:r>
              <a:rPr lang="en-US" sz="4200" spc="-92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Neškodit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9601200" y="5938838"/>
            <a:ext cx="7543800" cy="190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6205538"/>
            <a:ext cx="7770114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5"/>
              </a:lnSpc>
              <a:buNone/>
            </a:pPr>
            <a:r>
              <a:rPr lang="en-US" sz="1500" spc="19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0" y="6723683"/>
            <a:ext cx="8298180" cy="603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15"/>
              </a:lnSpc>
              <a:buNone/>
            </a:pPr>
            <a:r>
              <a:rPr lang="en-US" sz="4200" spc="-92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Rozhodovat spravedlivě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143000" y="7784381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89"/>
              </a:lnSpc>
              <a:buNone/>
            </a:pPr>
            <a:r>
              <a:rPr lang="en-US" sz="165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Vienna Declaration 2022 · nutriční péče jako lidské právo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793677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RÁMEC A ETIKA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4117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6689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6" name="Shape 4"/>
          <p:cNvSpPr/>
          <p:nvPr/>
        </p:nvSpPr>
        <p:spPr>
          <a:xfrm>
            <a:off x="392608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7" name="Shape 5"/>
          <p:cNvSpPr/>
          <p:nvPr/>
        </p:nvSpPr>
        <p:spPr>
          <a:xfrm>
            <a:off x="418326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8" name="Shape 6"/>
          <p:cNvSpPr/>
          <p:nvPr/>
        </p:nvSpPr>
        <p:spPr>
          <a:xfrm>
            <a:off x="44404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7"/>
          <p:cNvSpPr/>
          <p:nvPr/>
        </p:nvSpPr>
        <p:spPr>
          <a:xfrm>
            <a:off x="46976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60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Cíl intervence musí být konkrétní, měřitelný a časově ohraničený.</a:t>
            </a:r>
            <a:endParaRPr lang="en-US" sz="5550" dirty="0"/>
          </a:p>
        </p:txBody>
      </p:sp>
      <p:sp>
        <p:nvSpPr>
          <p:cNvPr id="12" name="Shape 10"/>
          <p:cNvSpPr/>
          <p:nvPr/>
        </p:nvSpPr>
        <p:spPr>
          <a:xfrm>
            <a:off x="1143000" y="3717727"/>
            <a:ext cx="160020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070152"/>
            <a:ext cx="952500" cy="408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19"/>
              </a:lnSpc>
              <a:buNone/>
            </a:pPr>
            <a:r>
              <a:rPr lang="en-US" sz="1800" spc="180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24100" y="3955852"/>
            <a:ext cx="11567160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912"/>
              </a:lnSpc>
              <a:buNone/>
            </a:pPr>
            <a:r>
              <a:rPr lang="en-US" sz="3300" spc="-66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konkrétní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1143000" y="4669036"/>
            <a:ext cx="160020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021461"/>
            <a:ext cx="952500" cy="408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19"/>
              </a:lnSpc>
              <a:buNone/>
            </a:pPr>
            <a:r>
              <a:rPr lang="en-US" sz="1800" spc="180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24100" y="4907161"/>
            <a:ext cx="11567160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912"/>
              </a:lnSpc>
              <a:buNone/>
            </a:pPr>
            <a:r>
              <a:rPr lang="en-US" sz="3300" spc="-66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měřitelné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1143000" y="5620345"/>
            <a:ext cx="160020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972770"/>
            <a:ext cx="952500" cy="408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19"/>
              </a:lnSpc>
              <a:buNone/>
            </a:pPr>
            <a:r>
              <a:rPr lang="en-US" sz="1800" spc="180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324100" y="5858470"/>
            <a:ext cx="11567160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912"/>
              </a:lnSpc>
              <a:buNone/>
            </a:pPr>
            <a:r>
              <a:rPr lang="en-US" sz="3300" spc="-66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dosažitelné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3144500" y="5977533"/>
            <a:ext cx="44005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950" i="1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realistické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43000" y="6571655"/>
            <a:ext cx="160020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6924080"/>
            <a:ext cx="952500" cy="408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19"/>
              </a:lnSpc>
              <a:buNone/>
            </a:pPr>
            <a:r>
              <a:rPr lang="en-US" sz="1800" spc="180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324100" y="6809780"/>
            <a:ext cx="11567160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912"/>
              </a:lnSpc>
              <a:buNone/>
            </a:pPr>
            <a:r>
              <a:rPr lang="en-US" sz="3300" spc="-66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časově ohraničené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3144500" y="6928842"/>
            <a:ext cx="44005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950" i="1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revidovatelné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43000" y="7522964"/>
            <a:ext cx="160020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7875389"/>
            <a:ext cx="952500" cy="408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19"/>
              </a:lnSpc>
              <a:buNone/>
            </a:pPr>
            <a:r>
              <a:rPr lang="en-US" sz="1800" spc="180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324100" y="7761089"/>
            <a:ext cx="11567160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912"/>
              </a:lnSpc>
              <a:buNone/>
            </a:pPr>
            <a:r>
              <a:rPr lang="en-US" sz="3300" spc="-66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 souladu s přáním pacienta či blízkých</a:t>
            </a:r>
            <a:endParaRPr lang="en-US" sz="3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8FC9F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793677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A6C2D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RÁMEC A ETIKA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4117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5" name="Shape 3"/>
          <p:cNvSpPr/>
          <p:nvPr/>
        </p:nvSpPr>
        <p:spPr>
          <a:xfrm>
            <a:off x="36689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2A5480"/>
          </a:solidFill>
          <a:ln/>
        </p:spPr>
      </p:sp>
      <p:sp>
        <p:nvSpPr>
          <p:cNvPr id="6" name="Shape 4"/>
          <p:cNvSpPr/>
          <p:nvPr/>
        </p:nvSpPr>
        <p:spPr>
          <a:xfrm>
            <a:off x="392608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2A5480"/>
          </a:solidFill>
          <a:ln/>
        </p:spPr>
      </p:sp>
      <p:sp>
        <p:nvSpPr>
          <p:cNvPr id="7" name="Shape 5"/>
          <p:cNvSpPr/>
          <p:nvPr/>
        </p:nvSpPr>
        <p:spPr>
          <a:xfrm>
            <a:off x="418326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2A5480"/>
          </a:solidFill>
          <a:ln/>
        </p:spPr>
      </p:sp>
      <p:sp>
        <p:nvSpPr>
          <p:cNvPr id="8" name="Shape 6"/>
          <p:cNvSpPr/>
          <p:nvPr/>
        </p:nvSpPr>
        <p:spPr>
          <a:xfrm>
            <a:off x="44404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2A5480"/>
          </a:solidFill>
          <a:ln/>
        </p:spPr>
      </p:sp>
      <p:sp>
        <p:nvSpPr>
          <p:cNvPr id="9" name="Shape 7"/>
          <p:cNvSpPr/>
          <p:nvPr/>
        </p:nvSpPr>
        <p:spPr>
          <a:xfrm>
            <a:off x="46976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2A5480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A6C2D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3352800"/>
            <a:ext cx="16482060" cy="2138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59"/>
              </a:lnSpc>
              <a:buNone/>
            </a:pPr>
            <a:r>
              <a:rPr lang="en-US" sz="7800" spc="-218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Adekvátně informovaný pacient má právo léčbu odmítnout.</a:t>
            </a:r>
            <a:endParaRPr lang="en-US" sz="7800" dirty="0"/>
          </a:p>
        </p:txBody>
      </p:sp>
      <p:sp>
        <p:nvSpPr>
          <p:cNvPr id="12" name="Text 10"/>
          <p:cNvSpPr/>
          <p:nvPr/>
        </p:nvSpPr>
        <p:spPr>
          <a:xfrm>
            <a:off x="1143000" y="6858000"/>
            <a:ext cx="12573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A6C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když by odmítnutí poskytované péče vedlo ke smrti. Včetně nutriční péče.</a:t>
            </a:r>
            <a:endParaRPr lang="en-US" sz="22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5544800" y="8390558"/>
            <a:ext cx="1600200" cy="7534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2190006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HODNOCENÍ VÝŽIVY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940150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4197325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4454500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7" name="Shape 5"/>
          <p:cNvSpPr/>
          <p:nvPr/>
        </p:nvSpPr>
        <p:spPr>
          <a:xfrm>
            <a:off x="4711675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8" name="Shape 6"/>
          <p:cNvSpPr/>
          <p:nvPr/>
        </p:nvSpPr>
        <p:spPr>
          <a:xfrm>
            <a:off x="4968850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7"/>
          <p:cNvSpPr/>
          <p:nvPr/>
        </p:nvSpPr>
        <p:spPr>
          <a:xfrm>
            <a:off x="5226025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306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385"/>
              </a:lnSpc>
              <a:buNone/>
            </a:pPr>
            <a:r>
              <a:rPr lang="en-US" sz="4500" spc="-108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Nutriční stav je významný prognostický faktor v době diagnózy i v průběhu onemocnění.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143000" y="5410200"/>
            <a:ext cx="1373505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75"/>
              </a:lnSpc>
              <a:buNone/>
            </a:pPr>
            <a:r>
              <a:rPr lang="en-US" sz="24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Malnutrice, ve smyslu podvýživy i obezity, stejně jako přidružené nutriční poruchy (sarkopenie, křehkost, onemocněním či orgánově specifická kachexie) ovlivňují </a:t>
            </a:r>
            <a:pPr algn="l" indent="0" marL="0">
              <a:lnSpc>
                <a:spcPct val="124675"/>
              </a:lnSpc>
              <a:buNone/>
            </a:pPr>
            <a:r>
              <a:rPr lang="en-US" sz="240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délku dožití, účinnost léčby, funkční stav i kvalitu života </a:t>
            </a:r>
            <a:pPr algn="l" indent="0" marL="0">
              <a:lnSpc>
                <a:spcPct val="124675"/>
              </a:lnSpc>
              <a:buNone/>
            </a:pPr>
            <a:r>
              <a:rPr lang="en-US" sz="24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nemocného.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2190006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HODNOCENÍ VÝŽIVY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940150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4197325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4454500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7" name="Shape 5"/>
          <p:cNvSpPr/>
          <p:nvPr/>
        </p:nvSpPr>
        <p:spPr>
          <a:xfrm>
            <a:off x="4711675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8" name="Shape 6"/>
          <p:cNvSpPr/>
          <p:nvPr/>
        </p:nvSpPr>
        <p:spPr>
          <a:xfrm>
            <a:off x="4968850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7"/>
          <p:cNvSpPr/>
          <p:nvPr/>
        </p:nvSpPr>
        <p:spPr>
          <a:xfrm>
            <a:off x="5226025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60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Předběžné plánování péče mění průběh posledních let života.</a:t>
            </a:r>
            <a:endParaRPr lang="en-US" sz="5550" dirty="0"/>
          </a:p>
        </p:txBody>
      </p:sp>
      <p:sp>
        <p:nvSpPr>
          <p:cNvPr id="12" name="Text 10"/>
          <p:cNvSpPr/>
          <p:nvPr/>
        </p:nvSpPr>
        <p:spPr>
          <a:xfrm>
            <a:off x="1143000" y="4602510"/>
            <a:ext cx="6705600" cy="21411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70769"/>
              </a:lnSpc>
              <a:buNone/>
            </a:pPr>
            <a:r>
              <a:rPr lang="en-US" sz="18000" spc="-810" kern="0" dirty="0">
                <a:solidFill>
                  <a:srgbClr val="1D599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75 %</a:t>
            </a:r>
            <a:endParaRPr lang="en-US" sz="18000" dirty="0"/>
          </a:p>
        </p:txBody>
      </p:sp>
      <p:sp>
        <p:nvSpPr>
          <p:cNvPr id="13" name="Text 11"/>
          <p:cNvSpPr/>
          <p:nvPr/>
        </p:nvSpPr>
        <p:spPr>
          <a:xfrm>
            <a:off x="1143000" y="7010400"/>
            <a:ext cx="6278880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82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ZBYTEČNÝCH HOSPITALIZACÍ BEZ PŘEDEM STANOVENÝCH SMĚRNIC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8382000" y="4025354"/>
            <a:ext cx="902589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Hrubé seznámení s průběhem onemocnění a možnými komplikacemi (např. u m. Alzheimer) je spojeno s </a:t>
            </a:r>
            <a:pPr algn="l" indent="0" marL="0">
              <a:lnSpc>
                <a:spcPct val="123529"/>
              </a:lnSpc>
              <a:buNone/>
            </a:pPr>
            <a:r>
              <a:rPr lang="en-US" sz="210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plynulejším průběhem, méně agresivními zákroky v posledních 3 letech života </a:t>
            </a:r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celkově lepší kvalitou života.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82000" y="5930354"/>
            <a:ext cx="9025890" cy="119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Naopak absence směrnic u dementních pacientů zvyšuje počet hospitalizací a invazivních výkonů, je pro pacienty traumatizující a z velké části nenaplňuje předpokládané cíle (komfort).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382000" y="7394004"/>
            <a:ext cx="9025890" cy="810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Progrese malnutrice je v pokročilejším stádiu onemocnění charakteristický znak.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2190006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HODNOCENÍ VÝŽIVY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940150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4197325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4454500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7" name="Shape 5"/>
          <p:cNvSpPr/>
          <p:nvPr/>
        </p:nvSpPr>
        <p:spPr>
          <a:xfrm>
            <a:off x="4711675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8" name="Shape 6"/>
          <p:cNvSpPr/>
          <p:nvPr/>
        </p:nvSpPr>
        <p:spPr>
          <a:xfrm>
            <a:off x="4968850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7"/>
          <p:cNvSpPr/>
          <p:nvPr/>
        </p:nvSpPr>
        <p:spPr>
          <a:xfrm>
            <a:off x="5226025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6344900" cy="820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Stresová malnutrice a kachexie nejsou totéž.</a:t>
            </a:r>
            <a:endParaRPr lang="en-US" sz="5550" dirty="0"/>
          </a:p>
        </p:txBody>
      </p:sp>
      <p:sp>
        <p:nvSpPr>
          <p:cNvPr id="12" name="Text 10"/>
          <p:cNvSpPr/>
          <p:nvPr/>
        </p:nvSpPr>
        <p:spPr>
          <a:xfrm>
            <a:off x="1143000" y="4423693"/>
            <a:ext cx="777011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AKUTNÍ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143000" y="4907310"/>
            <a:ext cx="8298180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285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Stresová malnutrice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143000" y="5589240"/>
            <a:ext cx="7770114" cy="119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Rozlišujeme akutní či chronické projevy malnutrice. Zaměřujeme se na výchozí funkční, kognitivní a celkové zdravotní parametry nemocného. Bereme v potaz sociální, resp. rodinnou situaci.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3000" y="6995740"/>
            <a:ext cx="7770114" cy="810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i="1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Věk je významný prognostický faktor, který je třeba pečlivě posuzovat.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601200" y="4423693"/>
            <a:ext cx="777011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CHRONICKÁ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601200" y="4907310"/>
            <a:ext cx="8298180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285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Kachexie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9601200" y="5589240"/>
            <a:ext cx="7770114" cy="119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Velmi častá u pokročilých stádií onemocnění (rakovina, nemoci ledvin, demence, srdeční selhání). Komplexní problém, </a:t>
            </a:r>
            <a:pPr algn="l" indent="0" marL="0">
              <a:lnSpc>
                <a:spcPct val="128762"/>
              </a:lnSpc>
              <a:buNone/>
            </a:pPr>
            <a:r>
              <a:rPr lang="en-US" sz="195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není řešitelná pouze „jezením více jídla“ </a:t>
            </a:r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01200" y="6995740"/>
            <a:ext cx="7770114" cy="810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Významný nekontrolovatelný úbytek na hmotnosti napovídá end-of-life situaci.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2190006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HODNOCENÍ VÝŽIVY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940150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4197325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4454500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7" name="Shape 5"/>
          <p:cNvSpPr/>
          <p:nvPr/>
        </p:nvSpPr>
        <p:spPr>
          <a:xfrm>
            <a:off x="4711675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8" name="Shape 6"/>
          <p:cNvSpPr/>
          <p:nvPr/>
        </p:nvSpPr>
        <p:spPr>
          <a:xfrm>
            <a:off x="4968850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7"/>
          <p:cNvSpPr/>
          <p:nvPr/>
        </p:nvSpPr>
        <p:spPr>
          <a:xfrm>
            <a:off x="5226025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11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306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385"/>
              </a:lnSpc>
              <a:buNone/>
            </a:pPr>
            <a:r>
              <a:rPr lang="en-US" sz="4500" spc="-99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Nutriční terapii podáváme jen tehdy, projde-li rozhodnutí všemi šesti otázkami.</a:t>
            </a:r>
            <a:endParaRPr lang="en-US" sz="4500" dirty="0"/>
          </a:p>
        </p:txBody>
      </p:sp>
      <p:sp>
        <p:nvSpPr>
          <p:cNvPr id="12" name="Shape 10"/>
          <p:cNvSpPr/>
          <p:nvPr/>
        </p:nvSpPr>
        <p:spPr>
          <a:xfrm>
            <a:off x="1390650" y="4267200"/>
            <a:ext cx="19050" cy="952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13" name="Shape 11"/>
          <p:cNvSpPr/>
          <p:nvPr/>
        </p:nvSpPr>
        <p:spPr>
          <a:xfrm>
            <a:off x="1390650" y="4362450"/>
            <a:ext cx="628650" cy="190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14" name="Shape 12"/>
          <p:cNvSpPr/>
          <p:nvPr/>
        </p:nvSpPr>
        <p:spPr>
          <a:xfrm>
            <a:off x="2000250" y="4362450"/>
            <a:ext cx="19050" cy="1333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15" name="Shape 13"/>
          <p:cNvSpPr/>
          <p:nvPr/>
        </p:nvSpPr>
        <p:spPr>
          <a:xfrm>
            <a:off x="2000250" y="4953000"/>
            <a:ext cx="19050" cy="952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16" name="Shape 14"/>
          <p:cNvSpPr/>
          <p:nvPr/>
        </p:nvSpPr>
        <p:spPr>
          <a:xfrm>
            <a:off x="2000250" y="5048250"/>
            <a:ext cx="628650" cy="190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17" name="Shape 15"/>
          <p:cNvSpPr/>
          <p:nvPr/>
        </p:nvSpPr>
        <p:spPr>
          <a:xfrm>
            <a:off x="2609850" y="5048250"/>
            <a:ext cx="19050" cy="1333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18" name="Shape 16"/>
          <p:cNvSpPr/>
          <p:nvPr/>
        </p:nvSpPr>
        <p:spPr>
          <a:xfrm>
            <a:off x="2609850" y="5638800"/>
            <a:ext cx="19050" cy="952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19" name="Shape 17"/>
          <p:cNvSpPr/>
          <p:nvPr/>
        </p:nvSpPr>
        <p:spPr>
          <a:xfrm>
            <a:off x="2609850" y="5734050"/>
            <a:ext cx="628650" cy="190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20" name="Shape 18"/>
          <p:cNvSpPr/>
          <p:nvPr/>
        </p:nvSpPr>
        <p:spPr>
          <a:xfrm>
            <a:off x="3219450" y="5734050"/>
            <a:ext cx="19050" cy="1333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21" name="Shape 19"/>
          <p:cNvSpPr/>
          <p:nvPr/>
        </p:nvSpPr>
        <p:spPr>
          <a:xfrm>
            <a:off x="3219450" y="6324600"/>
            <a:ext cx="19050" cy="952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22" name="Shape 20"/>
          <p:cNvSpPr/>
          <p:nvPr/>
        </p:nvSpPr>
        <p:spPr>
          <a:xfrm>
            <a:off x="3219450" y="6419850"/>
            <a:ext cx="628650" cy="190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23" name="Shape 21"/>
          <p:cNvSpPr/>
          <p:nvPr/>
        </p:nvSpPr>
        <p:spPr>
          <a:xfrm>
            <a:off x="3829050" y="6419850"/>
            <a:ext cx="19050" cy="1333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24" name="Shape 22"/>
          <p:cNvSpPr/>
          <p:nvPr/>
        </p:nvSpPr>
        <p:spPr>
          <a:xfrm>
            <a:off x="3829050" y="7010400"/>
            <a:ext cx="19050" cy="952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25" name="Shape 23"/>
          <p:cNvSpPr/>
          <p:nvPr/>
        </p:nvSpPr>
        <p:spPr>
          <a:xfrm>
            <a:off x="3829050" y="7105650"/>
            <a:ext cx="628650" cy="190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26" name="Shape 24"/>
          <p:cNvSpPr/>
          <p:nvPr/>
        </p:nvSpPr>
        <p:spPr>
          <a:xfrm>
            <a:off x="4438650" y="7105650"/>
            <a:ext cx="19050" cy="1333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27" name="Shape 25"/>
          <p:cNvSpPr/>
          <p:nvPr/>
        </p:nvSpPr>
        <p:spPr>
          <a:xfrm>
            <a:off x="4438650" y="7696200"/>
            <a:ext cx="19050" cy="952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28" name="Shape 26"/>
          <p:cNvSpPr/>
          <p:nvPr/>
        </p:nvSpPr>
        <p:spPr>
          <a:xfrm>
            <a:off x="4438650" y="7791450"/>
            <a:ext cx="628650" cy="190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29" name="Shape 27"/>
          <p:cNvSpPr/>
          <p:nvPr/>
        </p:nvSpPr>
        <p:spPr>
          <a:xfrm>
            <a:off x="5048250" y="7791450"/>
            <a:ext cx="19050" cy="133350"/>
          </a:xfrm>
          <a:prstGeom prst="rect">
            <a:avLst/>
          </a:prstGeom>
          <a:solidFill>
            <a:srgbClr val="1D5994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3810000"/>
            <a:ext cx="4953000" cy="457200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9525">
            <a:solidFill>
              <a:srgbClr val="AFC4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81125" y="3930030"/>
            <a:ext cx="329580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1425" spc="142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805955" y="3875708"/>
            <a:ext cx="316580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134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Screening rizika malnutrice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6172200" y="4029075"/>
            <a:ext cx="5657850" cy="19050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34" name="Text 32"/>
          <p:cNvSpPr/>
          <p:nvPr/>
        </p:nvSpPr>
        <p:spPr>
          <a:xfrm>
            <a:off x="6286500" y="3790950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1752600" y="4495800"/>
            <a:ext cx="4953000" cy="457200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9525">
            <a:solidFill>
              <a:srgbClr val="AFC4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0725" y="4615830"/>
            <a:ext cx="329580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1425" spc="142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2415555" y="4561508"/>
            <a:ext cx="2311747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134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Bylo riziko zjištěno?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6781800" y="4714875"/>
            <a:ext cx="5048250" cy="19050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39" name="Text 37"/>
          <p:cNvSpPr/>
          <p:nvPr/>
        </p:nvSpPr>
        <p:spPr>
          <a:xfrm>
            <a:off x="6896100" y="4476750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</a:t>
            </a:r>
            <a:endParaRPr lang="en-US" sz="1425" dirty="0"/>
          </a:p>
        </p:txBody>
      </p:sp>
      <p:sp>
        <p:nvSpPr>
          <p:cNvPr id="40" name="Shape 38"/>
          <p:cNvSpPr/>
          <p:nvPr/>
        </p:nvSpPr>
        <p:spPr>
          <a:xfrm>
            <a:off x="2362200" y="5181600"/>
            <a:ext cx="4953000" cy="457200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9525">
            <a:solidFill>
              <a:srgbClr val="AFC4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00325" y="5301630"/>
            <a:ext cx="329580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1425" spc="142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3025155" y="5247308"/>
            <a:ext cx="3985157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134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Malnutrice potvrzena podle GLIM?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7391400" y="5400675"/>
            <a:ext cx="4438650" cy="19050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44" name="Text 42"/>
          <p:cNvSpPr/>
          <p:nvPr/>
        </p:nvSpPr>
        <p:spPr>
          <a:xfrm>
            <a:off x="7505700" y="5162550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</a:t>
            </a:r>
            <a:endParaRPr lang="en-US" sz="1425" dirty="0"/>
          </a:p>
        </p:txBody>
      </p:sp>
      <p:sp>
        <p:nvSpPr>
          <p:cNvPr id="45" name="Shape 43"/>
          <p:cNvSpPr/>
          <p:nvPr/>
        </p:nvSpPr>
        <p:spPr>
          <a:xfrm>
            <a:off x="2971800" y="5867400"/>
            <a:ext cx="4953000" cy="457200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9525">
            <a:solidFill>
              <a:srgbClr val="AFC4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9925" y="5987430"/>
            <a:ext cx="329580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1425" spc="142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425" dirty="0"/>
          </a:p>
        </p:txBody>
      </p:sp>
      <p:sp>
        <p:nvSpPr>
          <p:cNvPr id="47" name="Text 45"/>
          <p:cNvSpPr/>
          <p:nvPr/>
        </p:nvSpPr>
        <p:spPr>
          <a:xfrm>
            <a:off x="3634755" y="5933108"/>
            <a:ext cx="284772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134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Je medicínská indikace?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8001000" y="6086475"/>
            <a:ext cx="3829050" cy="19050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49" name="Text 47"/>
          <p:cNvSpPr/>
          <p:nvPr/>
        </p:nvSpPr>
        <p:spPr>
          <a:xfrm>
            <a:off x="8115300" y="5848350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3581400" y="6553200"/>
            <a:ext cx="4953000" cy="457200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9525">
            <a:solidFill>
              <a:srgbClr val="AFC4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19525" y="6673230"/>
            <a:ext cx="329580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1425" spc="142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425" dirty="0"/>
          </a:p>
        </p:txBody>
      </p:sp>
      <p:sp>
        <p:nvSpPr>
          <p:cNvPr id="52" name="Text 50"/>
          <p:cNvSpPr/>
          <p:nvPr/>
        </p:nvSpPr>
        <p:spPr>
          <a:xfrm>
            <a:off x="4244355" y="6618908"/>
            <a:ext cx="217460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134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Je cíl dosažitelný?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8610600" y="6772275"/>
            <a:ext cx="3219450" cy="19050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54" name="Text 52"/>
          <p:cNvSpPr/>
          <p:nvPr/>
        </p:nvSpPr>
        <p:spPr>
          <a:xfrm>
            <a:off x="8724900" y="6534150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</a:t>
            </a:r>
            <a:endParaRPr lang="en-US" sz="1425" dirty="0"/>
          </a:p>
        </p:txBody>
      </p:sp>
      <p:sp>
        <p:nvSpPr>
          <p:cNvPr id="55" name="Shape 53"/>
          <p:cNvSpPr/>
          <p:nvPr/>
        </p:nvSpPr>
        <p:spPr>
          <a:xfrm>
            <a:off x="4191000" y="7239000"/>
            <a:ext cx="4953000" cy="457200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9525">
            <a:solidFill>
              <a:srgbClr val="AFC4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29125" y="7359030"/>
            <a:ext cx="329580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1425" spc="142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endParaRPr lang="en-US" sz="1425" dirty="0"/>
          </a:p>
        </p:txBody>
      </p:sp>
      <p:sp>
        <p:nvSpPr>
          <p:cNvPr id="57" name="Text 55"/>
          <p:cNvSpPr/>
          <p:nvPr/>
        </p:nvSpPr>
        <p:spPr>
          <a:xfrm>
            <a:off x="4853955" y="7304708"/>
            <a:ext cx="263909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134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Známe přání pacienta?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9220200" y="7458075"/>
            <a:ext cx="2609850" cy="19050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59" name="Text 57"/>
          <p:cNvSpPr/>
          <p:nvPr/>
        </p:nvSpPr>
        <p:spPr>
          <a:xfrm>
            <a:off x="9334500" y="7219950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</a:t>
            </a:r>
            <a:endParaRPr lang="en-US" sz="1425" dirty="0"/>
          </a:p>
        </p:txBody>
      </p:sp>
      <p:sp>
        <p:nvSpPr>
          <p:cNvPr id="60" name="Shape 58"/>
          <p:cNvSpPr/>
          <p:nvPr/>
        </p:nvSpPr>
        <p:spPr>
          <a:xfrm>
            <a:off x="11811000" y="3657600"/>
            <a:ext cx="19050" cy="1752600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61" name="Shape 59"/>
          <p:cNvSpPr/>
          <p:nvPr/>
        </p:nvSpPr>
        <p:spPr>
          <a:xfrm>
            <a:off x="11811000" y="6096000"/>
            <a:ext cx="19050" cy="1866900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62" name="Shape 60"/>
          <p:cNvSpPr/>
          <p:nvPr/>
        </p:nvSpPr>
        <p:spPr>
          <a:xfrm>
            <a:off x="11811000" y="3648075"/>
            <a:ext cx="381000" cy="19050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63" name="Shape 61"/>
          <p:cNvSpPr/>
          <p:nvPr/>
        </p:nvSpPr>
        <p:spPr>
          <a:xfrm>
            <a:off x="11811000" y="7953375"/>
            <a:ext cx="381000" cy="19050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64" name="Shape 62"/>
          <p:cNvSpPr/>
          <p:nvPr/>
        </p:nvSpPr>
        <p:spPr>
          <a:xfrm>
            <a:off x="12192000" y="3352800"/>
            <a:ext cx="4953000" cy="645765"/>
          </a:xfrm>
          <a:prstGeom prst="roundRect">
            <a:avLst>
              <a:gd name="adj" fmla="val 23600"/>
            </a:avLst>
          </a:prstGeom>
          <a:solidFill>
            <a:srgbClr val="F2F6FA"/>
          </a:solidFill>
          <a:ln w="9525">
            <a:solidFill>
              <a:srgbClr val="AFC4D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449175" y="3514725"/>
            <a:ext cx="458724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7302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Rescreening za 7–10 dní</a:t>
            </a:r>
            <a:endParaRPr lang="en-US" sz="1950" dirty="0"/>
          </a:p>
        </p:txBody>
      </p:sp>
      <p:sp>
        <p:nvSpPr>
          <p:cNvPr id="66" name="Shape 64"/>
          <p:cNvSpPr/>
          <p:nvPr/>
        </p:nvSpPr>
        <p:spPr>
          <a:xfrm>
            <a:off x="12192000" y="7543800"/>
            <a:ext cx="4953000" cy="838200"/>
          </a:xfrm>
          <a:prstGeom prst="roundRect">
            <a:avLst>
              <a:gd name="adj" fmla="val 18182"/>
            </a:avLst>
          </a:prstGeom>
          <a:solidFill>
            <a:srgbClr val="F2F6FA"/>
          </a:solidFill>
          <a:ln w="9525">
            <a:solidFill>
              <a:srgbClr val="AFC4D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2449175" y="7705725"/>
            <a:ext cx="458724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7302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Komfortní krmení a paliativní péče</a:t>
            </a:r>
            <a:endParaRPr lang="en-US" sz="1950" dirty="0"/>
          </a:p>
        </p:txBody>
      </p:sp>
      <p:sp>
        <p:nvSpPr>
          <p:cNvPr id="68" name="Shape 66"/>
          <p:cNvSpPr/>
          <p:nvPr/>
        </p:nvSpPr>
        <p:spPr>
          <a:xfrm>
            <a:off x="4800600" y="7924800"/>
            <a:ext cx="3684463" cy="457200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9" name="Text 67"/>
          <p:cNvSpPr/>
          <p:nvPr/>
        </p:nvSpPr>
        <p:spPr>
          <a:xfrm>
            <a:off x="5086350" y="8006804"/>
            <a:ext cx="47260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FFFF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ANO</a:t>
            </a:r>
            <a:endParaRPr lang="en-US" sz="1425" dirty="0"/>
          </a:p>
        </p:txBody>
      </p:sp>
      <p:sp>
        <p:nvSpPr>
          <p:cNvPr id="70" name="Text 68"/>
          <p:cNvSpPr/>
          <p:nvPr/>
        </p:nvSpPr>
        <p:spPr>
          <a:xfrm>
            <a:off x="5654204" y="8004795"/>
            <a:ext cx="2799621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134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Podání nutriční terapie</a:t>
            </a:r>
            <a:endParaRPr lang="en-US" sz="1950" dirty="0"/>
          </a:p>
        </p:txBody>
      </p:sp>
      <p:sp>
        <p:nvSpPr>
          <p:cNvPr id="71" name="Text 69"/>
          <p:cNvSpPr/>
          <p:nvPr/>
        </p:nvSpPr>
        <p:spPr>
          <a:xfrm>
            <a:off x="1143000" y="8515350"/>
            <a:ext cx="89268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50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Podle algoritmu rozhodování v klinické výživě · </a:t>
            </a:r>
            <a:pPr algn="l" indent="0" marL="0">
              <a:lnSpc>
                <a:spcPct val="115385"/>
              </a:lnSpc>
              <a:buNone/>
            </a:pPr>
            <a:r>
              <a:rPr lang="en-US" sz="1500" i="1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citaci zdroje doplnit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6543" r="26543" t="0" b="0"/>
          <a:stretch/>
        </p:blipFill>
        <p:spPr>
          <a:xfrm>
            <a:off x="11049000" y="0"/>
            <a:ext cx="7239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5000">
                <a:srgbClr val="FFFFFF">
                  <a:alpha val="100000"/>
                </a:srgbClr>
              </a:gs>
              <a:gs pos="54000">
                <a:srgbClr val="FFFFFF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143000" y="596429"/>
            <a:ext cx="47260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III</a:t>
            </a:r>
            <a:endParaRPr lang="en-US" sz="1425" dirty="0"/>
          </a:p>
        </p:txBody>
      </p:sp>
      <p:sp>
        <p:nvSpPr>
          <p:cNvPr id="5" name="Text 2"/>
          <p:cNvSpPr/>
          <p:nvPr/>
        </p:nvSpPr>
        <p:spPr>
          <a:xfrm>
            <a:off x="1748954" y="596429"/>
            <a:ext cx="1397347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KAZUISTIKY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327965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4"/>
          <p:cNvSpPr/>
          <p:nvPr/>
        </p:nvSpPr>
        <p:spPr>
          <a:xfrm>
            <a:off x="353682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5"/>
          <p:cNvSpPr/>
          <p:nvPr/>
        </p:nvSpPr>
        <p:spPr>
          <a:xfrm>
            <a:off x="379400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6"/>
          <p:cNvSpPr/>
          <p:nvPr/>
        </p:nvSpPr>
        <p:spPr>
          <a:xfrm>
            <a:off x="405117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Shape 7"/>
          <p:cNvSpPr/>
          <p:nvPr/>
        </p:nvSpPr>
        <p:spPr>
          <a:xfrm>
            <a:off x="430835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1" name="Shape 8"/>
          <p:cNvSpPr/>
          <p:nvPr/>
        </p:nvSpPr>
        <p:spPr>
          <a:xfrm>
            <a:off x="456552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2" name="Text 9"/>
          <p:cNvSpPr/>
          <p:nvPr/>
        </p:nvSpPr>
        <p:spPr>
          <a:xfrm>
            <a:off x="86763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 / 42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143000" y="3551337"/>
            <a:ext cx="8711946" cy="1831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236"/>
              </a:lnSpc>
              <a:buNone/>
            </a:pPr>
            <a:r>
              <a:rPr lang="en-US" sz="6600" spc="-185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Pacient s těžkou demencí</a:t>
            </a:r>
            <a:endParaRPr lang="en-US" sz="6600" dirty="0"/>
          </a:p>
        </p:txBody>
      </p:sp>
      <p:sp>
        <p:nvSpPr>
          <p:cNvPr id="14" name="Text 11"/>
          <p:cNvSpPr/>
          <p:nvPr/>
        </p:nvSpPr>
        <p:spPr>
          <a:xfrm>
            <a:off x="1143000" y="5764113"/>
            <a:ext cx="871194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Dva příběhy z rezidenční péče a otázky, které před pečující kladou.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3611" r="23611" t="0" b="0"/>
          <a:stretch/>
        </p:blipFill>
        <p:spPr>
          <a:xfrm>
            <a:off x="11049000" y="0"/>
            <a:ext cx="7239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5000">
                <a:srgbClr val="FFFFFF">
                  <a:alpha val="100000"/>
                </a:srgbClr>
              </a:gs>
              <a:gs pos="54000">
                <a:srgbClr val="FFFFFF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143000" y="596429"/>
            <a:ext cx="47260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III</a:t>
            </a:r>
            <a:endParaRPr lang="en-US" sz="1425" dirty="0"/>
          </a:p>
        </p:txBody>
      </p:sp>
      <p:sp>
        <p:nvSpPr>
          <p:cNvPr id="5" name="Text 2"/>
          <p:cNvSpPr/>
          <p:nvPr/>
        </p:nvSpPr>
        <p:spPr>
          <a:xfrm>
            <a:off x="1748954" y="596429"/>
            <a:ext cx="1397347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KAZUISTIKY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327965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4"/>
          <p:cNvSpPr/>
          <p:nvPr/>
        </p:nvSpPr>
        <p:spPr>
          <a:xfrm>
            <a:off x="353682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5"/>
          <p:cNvSpPr/>
          <p:nvPr/>
        </p:nvSpPr>
        <p:spPr>
          <a:xfrm>
            <a:off x="379400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6"/>
          <p:cNvSpPr/>
          <p:nvPr/>
        </p:nvSpPr>
        <p:spPr>
          <a:xfrm>
            <a:off x="405117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Shape 7"/>
          <p:cNvSpPr/>
          <p:nvPr/>
        </p:nvSpPr>
        <p:spPr>
          <a:xfrm>
            <a:off x="430835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1" name="Shape 8"/>
          <p:cNvSpPr/>
          <p:nvPr/>
        </p:nvSpPr>
        <p:spPr>
          <a:xfrm>
            <a:off x="456552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2" name="Text 9"/>
          <p:cNvSpPr/>
          <p:nvPr/>
        </p:nvSpPr>
        <p:spPr>
          <a:xfrm>
            <a:off x="86763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13 / 42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143000" y="1333500"/>
            <a:ext cx="8711946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500" spc="-99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Je pro pana Jaroslava optimálním způsobem „comfort feeding“?</a:t>
            </a:r>
            <a:endParaRPr lang="en-US" sz="4500" dirty="0"/>
          </a:p>
        </p:txBody>
      </p:sp>
      <p:sp>
        <p:nvSpPr>
          <p:cNvPr id="14" name="Text 11"/>
          <p:cNvSpPr/>
          <p:nvPr/>
        </p:nvSpPr>
        <p:spPr>
          <a:xfrm>
            <a:off x="1143000" y="4068291"/>
            <a:ext cx="8711946" cy="2118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71"/>
              </a:lnSpc>
              <a:buNone/>
            </a:pPr>
            <a:r>
              <a:rPr lang="en-US" sz="21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Jaroslav, 88letý klient žijící v DZR s dg. m. Alzheimer ve stádiu pokročilé demence, s poruchou polykání (často absentující nebo závažně opožděný polykací reflex, drooling). Podávána MUS a zahuštěné tekutiny, příjem stravy 0–25 % kvůli obtížím. Manželka je přítomná při obědě a akcentuje obavy o jeho hmotnost.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143000" y="6605736"/>
            <a:ext cx="1914525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6805761"/>
            <a:ext cx="1990725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VĚK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1143000" y="7232228"/>
            <a:ext cx="2105978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88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324225" y="6605736"/>
            <a:ext cx="1914525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9" name="Text 16"/>
          <p:cNvSpPr/>
          <p:nvPr/>
        </p:nvSpPr>
        <p:spPr>
          <a:xfrm>
            <a:off x="3324225" y="6805761"/>
            <a:ext cx="1990725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PROSTŘEDÍ</a:t>
            </a:r>
            <a:endParaRPr lang="en-US" sz="1425" dirty="0"/>
          </a:p>
        </p:txBody>
      </p:sp>
      <p:sp>
        <p:nvSpPr>
          <p:cNvPr id="20" name="Text 17"/>
          <p:cNvSpPr/>
          <p:nvPr/>
        </p:nvSpPr>
        <p:spPr>
          <a:xfrm>
            <a:off x="3324225" y="7232228"/>
            <a:ext cx="2105978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DZR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505450" y="6605736"/>
            <a:ext cx="1914525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2" name="Text 19"/>
          <p:cNvSpPr/>
          <p:nvPr/>
        </p:nvSpPr>
        <p:spPr>
          <a:xfrm>
            <a:off x="5505450" y="6805761"/>
            <a:ext cx="1990725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PŘÍJEM STRAVY</a:t>
            </a:r>
            <a:endParaRPr lang="en-US" sz="1425" dirty="0"/>
          </a:p>
        </p:txBody>
      </p:sp>
      <p:sp>
        <p:nvSpPr>
          <p:cNvPr id="23" name="Text 20"/>
          <p:cNvSpPr/>
          <p:nvPr/>
        </p:nvSpPr>
        <p:spPr>
          <a:xfrm>
            <a:off x="5505450" y="7232228"/>
            <a:ext cx="2105978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0–25 %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7686675" y="6605736"/>
            <a:ext cx="1914525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5" name="Text 22"/>
          <p:cNvSpPr/>
          <p:nvPr/>
        </p:nvSpPr>
        <p:spPr>
          <a:xfrm>
            <a:off x="7686675" y="6805761"/>
            <a:ext cx="1990725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STRAVA</a:t>
            </a:r>
            <a:endParaRPr lang="en-US" sz="1425" dirty="0"/>
          </a:p>
        </p:txBody>
      </p:sp>
      <p:sp>
        <p:nvSpPr>
          <p:cNvPr id="26" name="Text 23"/>
          <p:cNvSpPr/>
          <p:nvPr/>
        </p:nvSpPr>
        <p:spPr>
          <a:xfrm>
            <a:off x="7686675" y="7232228"/>
            <a:ext cx="1990725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MUS, zahuštěné tekutiny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6543" r="26543" t="0" b="0"/>
          <a:stretch/>
        </p:blipFill>
        <p:spPr>
          <a:xfrm>
            <a:off x="11049000" y="0"/>
            <a:ext cx="7239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5000">
                <a:srgbClr val="FFFFFF">
                  <a:alpha val="100000"/>
                </a:srgbClr>
              </a:gs>
              <a:gs pos="54000">
                <a:srgbClr val="FFFFFF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143000" y="596429"/>
            <a:ext cx="47260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III</a:t>
            </a:r>
            <a:endParaRPr lang="en-US" sz="1425" dirty="0"/>
          </a:p>
        </p:txBody>
      </p:sp>
      <p:sp>
        <p:nvSpPr>
          <p:cNvPr id="5" name="Text 2"/>
          <p:cNvSpPr/>
          <p:nvPr/>
        </p:nvSpPr>
        <p:spPr>
          <a:xfrm>
            <a:off x="1748954" y="596429"/>
            <a:ext cx="1397347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KAZUISTIKY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327965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4"/>
          <p:cNvSpPr/>
          <p:nvPr/>
        </p:nvSpPr>
        <p:spPr>
          <a:xfrm>
            <a:off x="353682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5"/>
          <p:cNvSpPr/>
          <p:nvPr/>
        </p:nvSpPr>
        <p:spPr>
          <a:xfrm>
            <a:off x="379400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6"/>
          <p:cNvSpPr/>
          <p:nvPr/>
        </p:nvSpPr>
        <p:spPr>
          <a:xfrm>
            <a:off x="405117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Shape 7"/>
          <p:cNvSpPr/>
          <p:nvPr/>
        </p:nvSpPr>
        <p:spPr>
          <a:xfrm>
            <a:off x="430835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1" name="Shape 8"/>
          <p:cNvSpPr/>
          <p:nvPr/>
        </p:nvSpPr>
        <p:spPr>
          <a:xfrm>
            <a:off x="456552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2" name="Text 9"/>
          <p:cNvSpPr/>
          <p:nvPr/>
        </p:nvSpPr>
        <p:spPr>
          <a:xfrm>
            <a:off x="86763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 / 42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143000" y="1333500"/>
            <a:ext cx="930402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500" spc="-99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 koho paní Jaroslava jí?</a:t>
            </a:r>
            <a:endParaRPr lang="en-US" sz="4500" dirty="0"/>
          </a:p>
        </p:txBody>
      </p:sp>
      <p:sp>
        <p:nvSpPr>
          <p:cNvPr id="14" name="Text 11"/>
          <p:cNvSpPr/>
          <p:nvPr/>
        </p:nvSpPr>
        <p:spPr>
          <a:xfrm>
            <a:off x="1143000" y="4972050"/>
            <a:ext cx="871194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90"/>
              </a:lnSpc>
              <a:buNone/>
            </a:pPr>
            <a:r>
              <a:rPr lang="en-US" sz="25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Paní Jaroslava je klientka s těžkou demencí institucionalizovaná ve Vašem zařízení.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1143000" y="6362700"/>
            <a:ext cx="871194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Dcera trvá na krmení bez ohledu na to, že paní Jaroslava stravu opakovaně odmítá a má velmi malou chuť k jídlu.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47260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III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748954" y="596429"/>
            <a:ext cx="1397347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KAZUISTIKY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27965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53682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79400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405117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8" name="Shape 6"/>
          <p:cNvSpPr/>
          <p:nvPr/>
        </p:nvSpPr>
        <p:spPr>
          <a:xfrm>
            <a:off x="430835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7"/>
          <p:cNvSpPr/>
          <p:nvPr/>
        </p:nvSpPr>
        <p:spPr>
          <a:xfrm>
            <a:off x="456552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60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Demence postupně zhoršuje paměť, myšlení, jazyk, plánování i osobnost.</a:t>
            </a:r>
            <a:endParaRPr lang="en-US" sz="5550" dirty="0"/>
          </a:p>
        </p:txBody>
      </p:sp>
      <p:sp>
        <p:nvSpPr>
          <p:cNvPr id="12" name="Text 10"/>
          <p:cNvSpPr/>
          <p:nvPr/>
        </p:nvSpPr>
        <p:spPr>
          <a:xfrm>
            <a:off x="1143000" y="3593381"/>
            <a:ext cx="7770114" cy="119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Nejčastější příčinou je Alzheimerova choroba. Onemocnění je progresivní a obvykle se v horizontu několika let u většiny lidí rozvinou problémy se žvýkáním a polykáním.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5018931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180856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problémy s pamětí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5704731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866656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problémy s myšlením a plánováním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6390531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6552456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problémy s vyjadřováním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43000" y="7076331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7238256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neschopnost rozpoznávat lidi či věci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43000" y="7762131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7924056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změna osobnosti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601200" y="3593381"/>
            <a:ext cx="8298180" cy="433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73"/>
              </a:lnSpc>
              <a:buNone/>
            </a:pPr>
            <a:r>
              <a:rPr lang="en-US" sz="255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Tělo se postupně zpomaluje, jeho nároky se mění.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601200" y="4255145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0" y="4417070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potíže s polykáním některých druhů potravin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601200" y="4940945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5102870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nemusí cítit hlad, přestávají jíst a pít (i bez dysfagie)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601200" y="5626745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0" y="5788670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zapomínají jíst či jak jíst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601200" y="6312545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0" y="6474470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usínají u jídla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601200" y="6998345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0" y="7160270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zvýšená námaha při jídle, nutná asistence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601200" y="7912745"/>
            <a:ext cx="777011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4"/>
              </a:lnSpc>
              <a:buNone/>
            </a:pPr>
            <a:r>
              <a:rPr lang="en-US" sz="1800" i="1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Změny v příjmu stravy, polykání a funkčním stavu napovídají přirozené deterioraci.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47260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III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748954" y="596429"/>
            <a:ext cx="1397347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KAZUISTIKY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27965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53682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79400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405117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8" name="Shape 6"/>
          <p:cNvSpPr/>
          <p:nvPr/>
        </p:nvSpPr>
        <p:spPr>
          <a:xfrm>
            <a:off x="430835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7"/>
          <p:cNvSpPr/>
          <p:nvPr/>
        </p:nvSpPr>
        <p:spPr>
          <a:xfrm>
            <a:off x="456552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16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60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Kdy je třeba se o výběr jídla či jiné formy výživy zajímat?</a:t>
            </a:r>
            <a:endParaRPr lang="en-US" sz="5550" dirty="0"/>
          </a:p>
        </p:txBody>
      </p:sp>
      <p:sp>
        <p:nvSpPr>
          <p:cNvPr id="12" name="Text 10"/>
          <p:cNvSpPr/>
          <p:nvPr/>
        </p:nvSpPr>
        <p:spPr>
          <a:xfrm>
            <a:off x="1143000" y="3308896"/>
            <a:ext cx="7770114" cy="1583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Pacient s poruchou polykání může nechtěně vdechnout jídlo či pití do plic. Tomu se říká </a:t>
            </a:r>
            <a:pPr algn="l" indent="0" marL="0">
              <a:lnSpc>
                <a:spcPct val="128762"/>
              </a:lnSpc>
              <a:buNone/>
            </a:pPr>
            <a:r>
              <a:rPr lang="en-US" sz="195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aspirace </a:t>
            </a:r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může způsobit zápal plic. Porucha polykání je způsobena neschopností kontrolovat svaly hrdla. Dále je vhodné si všímat: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5082629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225504"/>
            <a:ext cx="77701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úbytku na hmotnosti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143000" y="5716042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858917"/>
            <a:ext cx="77701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kašle či sípání během jídla a pití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43000" y="634945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6492329"/>
            <a:ext cx="77701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vytékání jídla či pití z úst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143000" y="6982867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7125742"/>
            <a:ext cx="77701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částí sousta v ústní dutině i po polknutí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143000" y="7616279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7759154"/>
            <a:ext cx="77701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dlouhé doby strávené jídlem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143000" y="8249692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8392567"/>
            <a:ext cx="77701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nejistoty, zda je pacient hladový či žíznivý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9601200" y="3308896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pacientů s demencí si nikdy nejste jisti, zda cítí hlad či žízeň. Pacienti s velmi těžkou formou demence toto referují pouze zřídka.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9601200" y="4213771"/>
            <a:ext cx="7543800" cy="1546547"/>
          </a:xfrm>
          <a:prstGeom prst="roundRect">
            <a:avLst>
              <a:gd name="adj" fmla="val 9854"/>
            </a:avLst>
          </a:prstGeom>
          <a:solidFill>
            <a:srgbClr val="F2F6FA"/>
          </a:solidFill>
          <a:ln w="9525">
            <a:solidFill>
              <a:srgbClr val="AFC4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15525" y="4451896"/>
            <a:ext cx="7122605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MOŽNOST A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9915525" y="4859313"/>
            <a:ext cx="712260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Úprava konzistence stravy a tekutin, asistence u jídla a pití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9601200" y="5950818"/>
            <a:ext cx="7543800" cy="1215107"/>
          </a:xfrm>
          <a:prstGeom prst="roundRect">
            <a:avLst>
              <a:gd name="adj" fmla="val 12542"/>
            </a:avLst>
          </a:prstGeom>
          <a:solidFill>
            <a:srgbClr val="F2F6FA"/>
          </a:solidFill>
          <a:ln w="9525">
            <a:solidFill>
              <a:srgbClr val="AFC4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15525" y="6188943"/>
            <a:ext cx="7122605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MOŽNOST B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9915525" y="6596360"/>
            <a:ext cx="7606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Živení pomocí vyživovací sondy či stomie (vývodu)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9601200" y="7356425"/>
            <a:ext cx="777011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i="1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Bezpečnou konzistenci nechte otestovat klinickým logopedem. Texturu upravujte tak zřídka, jak je možné.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601200" y="8152656"/>
            <a:ext cx="3835003" cy="483617"/>
          </a:xfrm>
          <a:prstGeom prst="roundRect">
            <a:avLst>
              <a:gd name="adj" fmla="val 50000"/>
            </a:avLst>
          </a:prstGeom>
          <a:ln w="9525">
            <a:solidFill>
              <a:srgbClr val="AFC4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01225" y="8247906"/>
            <a:ext cx="3550003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DOPORUČENÍ 26 · GPP · 94 %</a:t>
            </a:r>
            <a:endParaRPr lang="en-US" sz="14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8FC9F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166159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A6C2D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KONEC ŽIVOTA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4117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5" name="Shape 3"/>
          <p:cNvSpPr/>
          <p:nvPr/>
        </p:nvSpPr>
        <p:spPr>
          <a:xfrm>
            <a:off x="36689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6" name="Shape 4"/>
          <p:cNvSpPr/>
          <p:nvPr/>
        </p:nvSpPr>
        <p:spPr>
          <a:xfrm>
            <a:off x="392608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7" name="Shape 5"/>
          <p:cNvSpPr/>
          <p:nvPr/>
        </p:nvSpPr>
        <p:spPr>
          <a:xfrm>
            <a:off x="418326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8" name="Shape 6"/>
          <p:cNvSpPr/>
          <p:nvPr/>
        </p:nvSpPr>
        <p:spPr>
          <a:xfrm>
            <a:off x="44404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2A5480"/>
          </a:solidFill>
          <a:ln/>
        </p:spPr>
      </p:sp>
      <p:sp>
        <p:nvSpPr>
          <p:cNvPr id="9" name="Shape 7"/>
          <p:cNvSpPr/>
          <p:nvPr/>
        </p:nvSpPr>
        <p:spPr>
          <a:xfrm>
            <a:off x="46976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2A5480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A6C2D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17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3620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A6C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Nároky klientů v rezidenční péči se mění s blížícím se koncem života.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43000" y="3352800"/>
            <a:ext cx="16482060" cy="2138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59"/>
              </a:lnSpc>
              <a:buNone/>
            </a:pPr>
            <a:r>
              <a:rPr lang="en-US" sz="7800" spc="-218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Pokud klient přestává jíst, netrpí. Neumírá hlady.</a:t>
            </a:r>
            <a:endParaRPr lang="en-US" sz="7800" dirty="0"/>
          </a:p>
        </p:txBody>
      </p:sp>
      <p:sp>
        <p:nvSpPr>
          <p:cNvPr id="13" name="Shape 11"/>
          <p:cNvSpPr/>
          <p:nvPr/>
        </p:nvSpPr>
        <p:spPr>
          <a:xfrm>
            <a:off x="1143000" y="8622283"/>
            <a:ext cx="3835003" cy="483617"/>
          </a:xfrm>
          <a:prstGeom prst="roundRect">
            <a:avLst>
              <a:gd name="adj" fmla="val 50000"/>
            </a:avLst>
          </a:prstGeom>
          <a:ln w="9525">
            <a:solidFill>
              <a:srgbClr val="2A54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3025" y="8717533"/>
            <a:ext cx="3550003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8FC9F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DOPORUČENÍ 35 · GPP · 96 %</a:t>
            </a:r>
            <a:endParaRPr lang="en-US" sz="142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5544800" y="8390558"/>
            <a:ext cx="1600200" cy="75344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166159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KONEC ŽIVOTA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4117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6689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92608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418326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44404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7"/>
          <p:cNvSpPr/>
          <p:nvPr/>
        </p:nvSpPr>
        <p:spPr>
          <a:xfrm>
            <a:off x="46976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18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60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Hlad a žízeň jsou na konci života spontánně tlumeny.</a:t>
            </a:r>
            <a:endParaRPr lang="en-US" sz="5550" dirty="0"/>
          </a:p>
        </p:txBody>
      </p:sp>
      <p:sp>
        <p:nvSpPr>
          <p:cNvPr id="12" name="Text 10"/>
          <p:cNvSpPr/>
          <p:nvPr/>
        </p:nvSpPr>
        <p:spPr>
          <a:xfrm>
            <a:off x="1143000" y="3996779"/>
            <a:ext cx="7770114" cy="119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to součást metabolických změn. Tím tělo zajišťuje, že hladovění není bolestivé. </a:t>
            </a:r>
            <a:pPr algn="l" indent="0" marL="0">
              <a:lnSpc>
                <a:spcPct val="128762"/>
              </a:lnSpc>
              <a:buNone/>
            </a:pPr>
            <a:r>
              <a:rPr lang="en-US" sz="195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zdravého hladovějícího člověka to neplatí stejně.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5384229"/>
            <a:ext cx="7770114" cy="810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Hladovění skrze specifické metabolické dráhy aktivuje produkci ketolátek, které indukují pocity sytosti.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6385396"/>
            <a:ext cx="7770114" cy="119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Zvyšuje se produkce endogenních opioidů (např. β-endorfin, enkefaliny), které mohou být významně potentnější než morfin. Tím je zajištěna relaxace a úleva od bolesti.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01200" y="3996779"/>
            <a:ext cx="777011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PŘESNĚJI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9601200" y="448039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4642321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ketolátky: anorektický efekt, možný mírně sedativní či euforický centrální efekt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601200" y="550909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5671021"/>
            <a:ext cx="77701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metabolická acidóza a hypernatremie: mírná otupělost vědomí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601200" y="6180609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6342534"/>
            <a:ext cx="77701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akumulace endogenních opioidů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601200" y="6852121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7014046"/>
            <a:ext cx="77701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snížená sekrece u dehydratace: méně dušnosti, méně nauzey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9601200" y="752363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0" y="7685559"/>
            <a:ext cx="77701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uremie a další metabolity v terminálním stadiu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166159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KONEC ŽIVOTA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4117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6689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92608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418326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44404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7"/>
          <p:cNvSpPr/>
          <p:nvPr/>
        </p:nvSpPr>
        <p:spPr>
          <a:xfrm>
            <a:off x="46976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19 / 42</a:t>
            </a:r>
            <a:endParaRPr lang="en-US" sz="142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35400" y="1333500"/>
            <a:ext cx="609600" cy="609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333500"/>
            <a:ext cx="14829837" cy="820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Žízeň na konci života tlumíme ústy, ne infuzí.</a:t>
            </a:r>
            <a:endParaRPr lang="en-US" sz="5550" dirty="0"/>
          </a:p>
        </p:txBody>
      </p:sp>
      <p:sp>
        <p:nvSpPr>
          <p:cNvPr id="13" name="Text 10"/>
          <p:cNvSpPr/>
          <p:nvPr/>
        </p:nvSpPr>
        <p:spPr>
          <a:xfrm>
            <a:off x="1143000" y="3638327"/>
            <a:ext cx="7770114" cy="810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Pocit hladu u umírajícího klienta obvykle není přítomen. Je-li strava nabídnuta, přijme velmi malé množství.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143000" y="4639494"/>
            <a:ext cx="7770114" cy="119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Hlavním diskomfortem je žízeň </a:t>
            </a:r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 tu lze uspokojivě zvládnout popíjením po malých dávkách, kousky ledu, tvrdým bonbonem a dobrou péčí o dutinu ústní.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143000" y="6026944"/>
            <a:ext cx="7770114" cy="810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Mezi pocitem žízně v terminální fázi a skutečným příjmem tekutin je jen malá souvislost, a to i při podání nitrožilně.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9601200" y="3638327"/>
            <a:ext cx="777011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KDYŽ JE HYDRATACE INDIKOVÁNA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9601200" y="412194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0" y="4274344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Parenterální tekutiny lze podat dočasně, k překlenutí krizové situace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9601200" y="513159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0" y="5283994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mírné a střední dehydratace preferujeme podkožní cestu (hypodermoklýza), zvlášť může-li klient zůstat v zařízení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9601200" y="614124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0" y="6293644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Roztoky izotonické, do 3 000 ml/den a 1 500 ml na jedno místo vpichu. Ve většině případů nepřekročí 1 000 ml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9601200" y="715089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0" y="7303294"/>
            <a:ext cx="777011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těžké dehydratace a větších objemů nitrožilní cesta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9601200" y="8070056"/>
            <a:ext cx="5288235" cy="483617"/>
          </a:xfrm>
          <a:prstGeom prst="roundRect">
            <a:avLst>
              <a:gd name="adj" fmla="val 50000"/>
            </a:avLst>
          </a:prstGeom>
          <a:ln w="9525">
            <a:solidFill>
              <a:srgbClr val="AFC4D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01225" y="8165306"/>
            <a:ext cx="50468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DOPORUČENÍ 39 · GPP · 100 % KONSENZUS</a:t>
            </a:r>
            <a:endParaRPr lang="en-US" sz="14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166159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KONEC ŽIVOTA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4117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6689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92608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418326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44404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9" name="Shape 7"/>
          <p:cNvSpPr/>
          <p:nvPr/>
        </p:nvSpPr>
        <p:spPr>
          <a:xfrm>
            <a:off x="46976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60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Jak bude vypadat, když zvolím úpravu konzistence a asistované krmení?</a:t>
            </a:r>
            <a:endParaRPr lang="en-US" sz="5550" dirty="0"/>
          </a:p>
        </p:txBody>
      </p:sp>
      <p:sp>
        <p:nvSpPr>
          <p:cNvPr id="12" name="Text 10"/>
          <p:cNvSpPr/>
          <p:nvPr/>
        </p:nvSpPr>
        <p:spPr>
          <a:xfrm>
            <a:off x="1143000" y="3845496"/>
            <a:ext cx="7770114" cy="1969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Vysvětlení možností úpravy stravy a tekutin (kdo o ni rozhoduje), popsání principu asistovaného krmení, rizik (vyšší riziko aspirace) i benefitů spojených s krmením (socializace, péče ze strany rodiny), popř. postupu krmení ve zdravotnickém či sociálním zařízení.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6005513"/>
            <a:ext cx="7770114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Klient bude živen, dokud a pokud mu krmení nezpůsobuje stres. </a:t>
            </a:r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 tolik, kolik sám chce. </a:t>
            </a:r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Hmatatelná alternativa k sondové výživě.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601200" y="3845496"/>
            <a:ext cx="777011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OTÁZKY, KTERÉ PŘIJDOU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9601200" y="4329113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4510088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Mohou být všichni pacienti s demencí asistovaně krmeni?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601200" y="5053013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0" y="5233988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 funkční asistované krmení je?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601200" y="5776913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0" y="5957888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se stane, pokud můj příbuzný nebude schopen nic ústy sníst?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601200" y="6872288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7053263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mohu udělat, abych pomohl, když nebude moci jíst či pít?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601200" y="7862888"/>
            <a:ext cx="3967088" cy="483617"/>
          </a:xfrm>
          <a:prstGeom prst="roundRect">
            <a:avLst>
              <a:gd name="adj" fmla="val 50000"/>
            </a:avLst>
          </a:prstGeom>
          <a:ln w="9525">
            <a:solidFill>
              <a:srgbClr val="AFC4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1225" y="7958138"/>
            <a:ext cx="3686051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DOPORUČENÍ 16 · GPP · 100 %</a:t>
            </a:r>
            <a:endParaRPr lang="en-US" sz="14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8FC9F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166159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A6C2D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KONEC ŽIVOTA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4117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5" name="Shape 3"/>
          <p:cNvSpPr/>
          <p:nvPr/>
        </p:nvSpPr>
        <p:spPr>
          <a:xfrm>
            <a:off x="36689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6" name="Shape 4"/>
          <p:cNvSpPr/>
          <p:nvPr/>
        </p:nvSpPr>
        <p:spPr>
          <a:xfrm>
            <a:off x="392608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7" name="Shape 5"/>
          <p:cNvSpPr/>
          <p:nvPr/>
        </p:nvSpPr>
        <p:spPr>
          <a:xfrm>
            <a:off x="418326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8" name="Shape 6"/>
          <p:cNvSpPr/>
          <p:nvPr/>
        </p:nvSpPr>
        <p:spPr>
          <a:xfrm>
            <a:off x="44404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2A5480"/>
          </a:solidFill>
          <a:ln/>
        </p:spPr>
      </p:sp>
      <p:sp>
        <p:nvSpPr>
          <p:cNvPr id="9" name="Shape 7"/>
          <p:cNvSpPr/>
          <p:nvPr/>
        </p:nvSpPr>
        <p:spPr>
          <a:xfrm>
            <a:off x="46976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2A5480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A6C2D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21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4818385"/>
            <a:ext cx="12753975" cy="1574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46"/>
              </a:lnSpc>
              <a:buNone/>
            </a:pPr>
            <a:r>
              <a:rPr lang="en-US" sz="5400" spc="-130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Zavřete oči. Máte pokročilou demenci a nemůžete říct, že nechcete jíst.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143000" y="6887840"/>
            <a:ext cx="136207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90"/>
              </a:lnSpc>
              <a:buNone/>
            </a:pPr>
            <a:r>
              <a:rPr lang="en-US" sz="2550" dirty="0">
                <a:solidFill>
                  <a:srgbClr val="A6C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uděláte, když se Vás někdo bude snažit nakrmit?</a:t>
            </a:r>
            <a:endParaRPr lang="en-US" sz="2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6543" r="26543" t="0" b="0"/>
          <a:stretch/>
        </p:blipFill>
        <p:spPr>
          <a:xfrm>
            <a:off x="11049000" y="0"/>
            <a:ext cx="7239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5000">
                <a:srgbClr val="FFFFFF">
                  <a:alpha val="100000"/>
                </a:srgbClr>
              </a:gs>
              <a:gs pos="54000">
                <a:srgbClr val="FFFFFF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IV</a:t>
            </a:r>
            <a:endParaRPr lang="en-US" sz="1425" dirty="0"/>
          </a:p>
        </p:txBody>
      </p:sp>
      <p:sp>
        <p:nvSpPr>
          <p:cNvPr id="5" name="Text 2"/>
          <p:cNvSpPr/>
          <p:nvPr/>
        </p:nvSpPr>
        <p:spPr>
          <a:xfrm>
            <a:off x="1616794" y="596429"/>
            <a:ext cx="166159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KONEC ŽIVOTA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34117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4"/>
          <p:cNvSpPr/>
          <p:nvPr/>
        </p:nvSpPr>
        <p:spPr>
          <a:xfrm>
            <a:off x="36689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5"/>
          <p:cNvSpPr/>
          <p:nvPr/>
        </p:nvSpPr>
        <p:spPr>
          <a:xfrm>
            <a:off x="392608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6"/>
          <p:cNvSpPr/>
          <p:nvPr/>
        </p:nvSpPr>
        <p:spPr>
          <a:xfrm>
            <a:off x="418326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10" name="Shape 7"/>
          <p:cNvSpPr/>
          <p:nvPr/>
        </p:nvSpPr>
        <p:spPr>
          <a:xfrm>
            <a:off x="44404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1" name="Shape 8"/>
          <p:cNvSpPr/>
          <p:nvPr/>
        </p:nvSpPr>
        <p:spPr>
          <a:xfrm>
            <a:off x="46976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2" name="Text 9"/>
          <p:cNvSpPr/>
          <p:nvPr/>
        </p:nvSpPr>
        <p:spPr>
          <a:xfrm>
            <a:off x="86763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22 / 42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143000" y="3650159"/>
            <a:ext cx="8711946" cy="2910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706"/>
              </a:lnSpc>
              <a:buNone/>
            </a:pPr>
            <a:r>
              <a:rPr lang="en-US" sz="3900" spc="-78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Plivu. Odvracím hlavu. Pevně zavírám ústa. Bráním se ruce s příborem. Zlobím se. Křičím. Chci odejít z místnosti. Odstrkuji talíř. </a:t>
            </a:r>
            <a:pPr algn="l" indent="0" marL="0">
              <a:lnSpc>
                <a:spcPct val="88706"/>
              </a:lnSpc>
              <a:buNone/>
            </a:pPr>
            <a:r>
              <a:rPr lang="en-US" sz="3900" spc="-78" kern="0" dirty="0">
                <a:solidFill>
                  <a:srgbClr val="4A688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Tvářím se útrpně, bolestivě…</a:t>
            </a:r>
            <a:endParaRPr lang="en-US" sz="3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8FC9F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166159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A6C2D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KONEC ŽIVOTA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4117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5" name="Shape 3"/>
          <p:cNvSpPr/>
          <p:nvPr/>
        </p:nvSpPr>
        <p:spPr>
          <a:xfrm>
            <a:off x="36689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6" name="Shape 4"/>
          <p:cNvSpPr/>
          <p:nvPr/>
        </p:nvSpPr>
        <p:spPr>
          <a:xfrm>
            <a:off x="392608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7" name="Shape 5"/>
          <p:cNvSpPr/>
          <p:nvPr/>
        </p:nvSpPr>
        <p:spPr>
          <a:xfrm>
            <a:off x="418326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8" name="Shape 6"/>
          <p:cNvSpPr/>
          <p:nvPr/>
        </p:nvSpPr>
        <p:spPr>
          <a:xfrm>
            <a:off x="4440436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2A5480"/>
          </a:solidFill>
          <a:ln/>
        </p:spPr>
      </p:sp>
      <p:sp>
        <p:nvSpPr>
          <p:cNvPr id="9" name="Shape 7"/>
          <p:cNvSpPr/>
          <p:nvPr/>
        </p:nvSpPr>
        <p:spPr>
          <a:xfrm>
            <a:off x="4697611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2A5480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A6C2D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23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216533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A6C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Nepřijímání stravy se stává významným zdrojem úzkosti všech osob zapojených do péče.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43000" y="3352800"/>
            <a:ext cx="12165330" cy="2138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59"/>
              </a:lnSpc>
              <a:buNone/>
            </a:pPr>
            <a:r>
              <a:rPr lang="en-US" sz="7800" spc="-218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Snížený příjem stravy neakceleruje smrt klienta.</a:t>
            </a:r>
            <a:endParaRPr lang="en-US" sz="7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143000" y="8390558"/>
            <a:ext cx="1600200" cy="75344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24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60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Snížený příjem stravy je pouze symptom. K úmrtí vede onemocnění samo.</a:t>
            </a:r>
            <a:endParaRPr lang="en-US" sz="5550" dirty="0"/>
          </a:p>
        </p:txBody>
      </p:sp>
      <p:sp>
        <p:nvSpPr>
          <p:cNvPr id="12" name="Text 10"/>
          <p:cNvSpPr/>
          <p:nvPr/>
        </p:nvSpPr>
        <p:spPr>
          <a:xfrm>
            <a:off x="1143000" y="3860006"/>
            <a:ext cx="8298180" cy="433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73"/>
              </a:lnSpc>
              <a:buNone/>
            </a:pPr>
            <a:r>
              <a:rPr lang="en-US" sz="255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Nutnost informací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43000" y="4483671"/>
            <a:ext cx="7770114" cy="810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Lidé s pokročilou demencí se blíží ke konci života. Sledovat je a jejich nemoc může být těžké pro každého, kdo se o ně stará.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5484837"/>
            <a:ext cx="7770114" cy="119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Důležité je znát, co si přeje (by si přál) pacient a poté jeho příbuzní. Tyto informace jsou klíčové při dalším rozhodování o péči.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3000" y="6872288"/>
            <a:ext cx="7770114" cy="810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Rodina je často ve větší úzkosti z nízkého příjmu stravy než samotný klient.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601200" y="386000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4021931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příbuzné může být velmi stresující a bolestivé vidět svého blízkého odmítat stravu či pití.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601200" y="488870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5050631"/>
            <a:ext cx="7770114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Strava i pití je spojováno s „životní sílou“ a je silným socializačním prostředkem. Je těžké přijmout, že osoba blízká „přirozeně“ přestane jíst.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601200" y="627459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6436519"/>
            <a:ext cx="7770114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Zvažujeme více aspektů: dříve vyslovená přání, náboženské a kulturní hodnoty, co jídlo pro danou osobu představovalo, blízkost druhé osoby a samotná péče, trávení času.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601200" y="7660481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7822406"/>
            <a:ext cx="77701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Pečlivé zvážení pro a proti individuálně v závislosti na pacientovi.</a:t>
            </a:r>
            <a:endParaRPr lang="en-US" sz="18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25 / 42</a:t>
            </a:r>
            <a:endParaRPr lang="en-US" sz="142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35400" y="1333500"/>
            <a:ext cx="609600" cy="609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333500"/>
            <a:ext cx="15304770" cy="160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22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Když příbor přestane fungovat, nabídneme jídlo do ruky.</a:t>
            </a:r>
            <a:endParaRPr lang="en-US" sz="5550" dirty="0"/>
          </a:p>
        </p:txBody>
      </p:sp>
      <p:sp>
        <p:nvSpPr>
          <p:cNvPr id="13" name="Text 10"/>
          <p:cNvSpPr/>
          <p:nvPr/>
        </p:nvSpPr>
        <p:spPr>
          <a:xfrm>
            <a:off x="1143000" y="4084886"/>
            <a:ext cx="777011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Klientům s demencí a malnutricí či dehydratací nebo jejich rizikem </a:t>
            </a:r>
            <a:pPr algn="l" indent="0" marL="0">
              <a:lnSpc>
                <a:spcPct val="123529"/>
              </a:lnSpc>
              <a:buNone/>
            </a:pPr>
            <a:r>
              <a:rPr lang="en-US" sz="210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často nabízíme nápoje, svačiny a jídlo do ruky </a:t>
            </a:r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abychom příjem usnadnili.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143000" y="5513636"/>
            <a:ext cx="7770114" cy="1583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Přímá evidence je velmi omezená. Doporučení stojí na tom, že náklady jsou minimální, riziko újmy žádné a možný přínos reálný. V jedné studii se u deseti z dvanácti klientů zastavil úbytek hmotnosti a zlepšila se samostatnost při jídle.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1143000" y="7287369"/>
            <a:ext cx="3967088" cy="483617"/>
          </a:xfrm>
          <a:prstGeom prst="roundRect">
            <a:avLst>
              <a:gd name="adj" fmla="val 50000"/>
            </a:avLst>
          </a:prstGeom>
          <a:ln w="9525">
            <a:solidFill>
              <a:srgbClr val="AFC4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43025" y="7382619"/>
            <a:ext cx="3686051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DOPORUČENÍ 19 · GPP · 100 %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9601200" y="4084886"/>
            <a:ext cx="777011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 SE OSVĚDČUJE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9601200" y="4568503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0" y="4720903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Kousky ovoce a zeleniny, které drží formu: jahody, mandarinka, okurka, vařená brambora</a:t>
            </a:r>
            <a:endParaRPr lang="en-US" sz="1875" dirty="0"/>
          </a:p>
        </p:txBody>
      </p:sp>
      <p:sp>
        <p:nvSpPr>
          <p:cNvPr id="20" name="Shape 17"/>
          <p:cNvSpPr/>
          <p:nvPr/>
        </p:nvSpPr>
        <p:spPr>
          <a:xfrm>
            <a:off x="9601200" y="5578153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0" y="5730553"/>
            <a:ext cx="777011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Vejce na tvrdo, kousky sýra, malé sendviče a wrapy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9601200" y="6230615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0" y="6383015"/>
            <a:ext cx="777011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Muffin, tvarohový či ovesný pruh, energetická tyčinka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9601200" y="6883078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0" y="7035478"/>
            <a:ext cx="777011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Dostupná svačina i mimo jídelní dobu a delší čas na jídlo</a:t>
            </a:r>
            <a:endParaRPr lang="en-US" sz="1875" dirty="0"/>
          </a:p>
        </p:txBody>
      </p:sp>
      <p:sp>
        <p:nvSpPr>
          <p:cNvPr id="26" name="Text 23"/>
          <p:cNvSpPr/>
          <p:nvPr/>
        </p:nvSpPr>
        <p:spPr>
          <a:xfrm>
            <a:off x="9601200" y="7764140"/>
            <a:ext cx="82981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4"/>
              </a:lnSpc>
              <a:buNone/>
            </a:pPr>
            <a:r>
              <a:rPr lang="en-US" sz="1800" i="1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Pozor na dysfagii. Jídlo do ruky nenahrazuje bezpečnou konzistenci.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7322" r="27322" t="0" b="0"/>
          <a:stretch/>
        </p:blipFill>
        <p:spPr>
          <a:xfrm>
            <a:off x="11049000" y="0"/>
            <a:ext cx="7239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5000">
                <a:srgbClr val="FFFFFF">
                  <a:alpha val="100000"/>
                </a:srgbClr>
              </a:gs>
              <a:gs pos="54000">
                <a:srgbClr val="FFFFFF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5" name="Text 2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4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5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6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10" name="Shape 7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11" name="Shape 8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2" name="Text 9"/>
          <p:cNvSpPr/>
          <p:nvPr/>
        </p:nvSpPr>
        <p:spPr>
          <a:xfrm>
            <a:off x="86763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26 / 42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143000" y="1333500"/>
            <a:ext cx="8711946" cy="1306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385"/>
              </a:lnSpc>
              <a:buNone/>
            </a:pPr>
            <a:r>
              <a:rPr lang="en-US" sz="4500" spc="-99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Upravená konzistence nemusí vypadat jako rozmixovaná strava.</a:t>
            </a:r>
            <a:endParaRPr lang="en-US" sz="4500" dirty="0"/>
          </a:p>
        </p:txBody>
      </p:sp>
      <p:sp>
        <p:nvSpPr>
          <p:cNvPr id="14" name="Text 11"/>
          <p:cNvSpPr/>
          <p:nvPr/>
        </p:nvSpPr>
        <p:spPr>
          <a:xfrm>
            <a:off x="1143000" y="4630192"/>
            <a:ext cx="871194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Tvarovaná strava zachovává podobu původní potraviny, a tím i její rozpoznatelnost, chuť k jídlu a důstojnost jídla jako události.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143000" y="5696992"/>
            <a:ext cx="871194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Modifikovaná strava bývá spojena s nižším příjmem energie i tekutin, proto ji </a:t>
            </a:r>
            <a:pPr algn="l" indent="0" marL="0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obohacujeme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klienta klinicky sledujeme. Upravujeme tak, jak je nutné pro bezpečné polknutí, ale tak zřídka, jak je možné.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1143000" y="7078117"/>
            <a:ext cx="3835003" cy="483617"/>
          </a:xfrm>
          <a:prstGeom prst="roundRect">
            <a:avLst>
              <a:gd name="adj" fmla="val 50000"/>
            </a:avLst>
          </a:prstGeom>
          <a:ln w="9525">
            <a:solidFill>
              <a:srgbClr val="AFC4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43025" y="7173367"/>
            <a:ext cx="3550003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DOPORUČENÍ 26 · GPP · 94 %</a:t>
            </a:r>
            <a:endParaRPr lang="en-US" sz="14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F2F6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1850" b="-81850"/>
          <a:stretch/>
        </p:blipFill>
        <p:spPr>
          <a:xfrm>
            <a:off x="11049000" y="0"/>
            <a:ext cx="7239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5000">
                <a:srgbClr val="FFFFFF">
                  <a:alpha val="100000"/>
                </a:srgbClr>
              </a:gs>
              <a:gs pos="54000">
                <a:srgbClr val="FFFFFF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7" name="Shape 4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5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6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10" name="Shape 7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11" name="Shape 8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12" name="Shape 9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3" name="Text 10"/>
          <p:cNvSpPr/>
          <p:nvPr/>
        </p:nvSpPr>
        <p:spPr>
          <a:xfrm>
            <a:off x="86763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27 / 42</a:t>
            </a:r>
            <a:endParaRPr lang="en-US" sz="1425" dirty="0"/>
          </a:p>
        </p:txBody>
      </p:sp>
      <p:sp>
        <p:nvSpPr>
          <p:cNvPr id="14" name="Text 11"/>
          <p:cNvSpPr/>
          <p:nvPr/>
        </p:nvSpPr>
        <p:spPr>
          <a:xfrm>
            <a:off x="1143000" y="1333500"/>
            <a:ext cx="8711946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500" spc="-99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Intervence v jeden moment přestanou být efektivní.</a:t>
            </a:r>
            <a:endParaRPr lang="en-US" sz="4500" dirty="0"/>
          </a:p>
        </p:txBody>
      </p:sp>
      <p:sp>
        <p:nvSpPr>
          <p:cNvPr id="15" name="Shape 12"/>
          <p:cNvSpPr/>
          <p:nvPr/>
        </p:nvSpPr>
        <p:spPr>
          <a:xfrm>
            <a:off x="1143000" y="4549229"/>
            <a:ext cx="8458200" cy="3093467"/>
          </a:xfrm>
          <a:prstGeom prst="roundRect">
            <a:avLst>
              <a:gd name="adj" fmla="val 4927"/>
            </a:avLst>
          </a:prstGeom>
          <a:solidFill>
            <a:srgbClr val="F2F6FA"/>
          </a:solidFill>
          <a:ln w="9525">
            <a:solidFill>
              <a:srgbClr val="AFC4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09725" y="4977854"/>
            <a:ext cx="775049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ALE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1609725" y="5499571"/>
            <a:ext cx="7750492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Pokud je pro klienta suplementace bezpečná, užívá si jí (byť malé množství), je na ni zvyklý, preferuje ji více než stravu a poskytuje alespoň minimální komfort pro rodinu, </a:t>
            </a:r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nevysazujeme ji automaticky</a:t>
            </a:r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28 / 42</a:t>
            </a:r>
            <a:endParaRPr lang="en-US" sz="142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35400" y="1333500"/>
            <a:ext cx="609600" cy="609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333500"/>
            <a:ext cx="15304770" cy="1306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385"/>
              </a:lnSpc>
              <a:buNone/>
            </a:pPr>
            <a:r>
              <a:rPr lang="en-US" sz="4500" spc="-108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Sipping má nejsilnější evidenci v celém doporučení. Pro výživu, ne pro kognici.</a:t>
            </a:r>
            <a:endParaRPr lang="en-US" sz="4500" dirty="0"/>
          </a:p>
        </p:txBody>
      </p:sp>
      <p:sp>
        <p:nvSpPr>
          <p:cNvPr id="13" name="Text 10"/>
          <p:cNvSpPr/>
          <p:nvPr/>
        </p:nvSpPr>
        <p:spPr>
          <a:xfrm>
            <a:off x="1143000" y="3366343"/>
            <a:ext cx="777011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Klientům s demencí a malnutricí či jejím rizikem </a:t>
            </a:r>
            <a:pPr algn="l" indent="0" marL="0">
              <a:lnSpc>
                <a:spcPct val="123529"/>
              </a:lnSpc>
              <a:buNone/>
            </a:pPr>
            <a:r>
              <a:rPr lang="en-US" sz="210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 být nabídnut sipping </a:t>
            </a:r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aby se zvýšil příjem energie a bílkovin a udržel se stav výživy.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143000" y="4756993"/>
            <a:ext cx="3835003" cy="483617"/>
          </a:xfrm>
          <a:prstGeom prst="roundRect">
            <a:avLst>
              <a:gd name="adj" fmla="val 50000"/>
            </a:avLst>
          </a:prstGeom>
          <a:ln w="9525">
            <a:solidFill>
              <a:srgbClr val="AFC4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43025" y="4852243"/>
            <a:ext cx="3550003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STUPEŇ A · 100 % KONSENZUS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43000" y="5545410"/>
            <a:ext cx="777011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Sipping se </a:t>
            </a:r>
            <a:pPr algn="l" indent="0" marL="0">
              <a:lnSpc>
                <a:spcPct val="123529"/>
              </a:lnSpc>
              <a:buNone/>
            </a:pPr>
            <a:r>
              <a:rPr lang="en-US" sz="210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nemá používat k úpravě kognitivního deficitu </a:t>
            </a:r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 k prevenci dalšího kognitivního a funkčního poklesu.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143000" y="6536010"/>
            <a:ext cx="3835003" cy="483617"/>
          </a:xfrm>
          <a:prstGeom prst="roundRect">
            <a:avLst>
              <a:gd name="adj" fmla="val 50000"/>
            </a:avLst>
          </a:prstGeom>
          <a:ln w="9525">
            <a:solidFill>
              <a:srgbClr val="AFC4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43025" y="6631260"/>
            <a:ext cx="3550003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STUPEŇ B · 100 % KONSENZUS</a:t>
            </a:r>
            <a:endParaRPr lang="en-US" sz="1425" dirty="0"/>
          </a:p>
        </p:txBody>
      </p:sp>
      <p:sp>
        <p:nvSpPr>
          <p:cNvPr id="19" name="Text 16"/>
          <p:cNvSpPr/>
          <p:nvPr/>
        </p:nvSpPr>
        <p:spPr>
          <a:xfrm>
            <a:off x="9601200" y="3366343"/>
            <a:ext cx="777011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 SE NEDOPORUČUJE</a:t>
            </a:r>
            <a:endParaRPr lang="en-US" sz="1425" dirty="0"/>
          </a:p>
        </p:txBody>
      </p:sp>
      <p:sp>
        <p:nvSpPr>
          <p:cNvPr id="20" name="Shape 17"/>
          <p:cNvSpPr/>
          <p:nvPr/>
        </p:nvSpPr>
        <p:spPr>
          <a:xfrm>
            <a:off x="9601200" y="3849960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0" y="4030935"/>
            <a:ext cx="15049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1500" spc="120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296650" y="4030935"/>
            <a:ext cx="643318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omega-3 k úpravě kognice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601200" y="453382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0" y="4714801"/>
            <a:ext cx="150495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1500" spc="120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296650" y="4714801"/>
            <a:ext cx="602380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sipping určený speciálně pro demenci, ketogenní intervence, probiotika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601200" y="5549131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7" name="Text 24"/>
          <p:cNvSpPr/>
          <p:nvPr/>
        </p:nvSpPr>
        <p:spPr>
          <a:xfrm>
            <a:off x="9601200" y="5730106"/>
            <a:ext cx="1504950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1500" spc="120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GPP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296650" y="5730106"/>
            <a:ext cx="6023800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léky stimulující apetit (89 %), alkohol a bylinné přípravky (87 %), mikronutrienty bez prokázaného deficitu (100 %)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9601200" y="6895877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30" name="Text 27"/>
          <p:cNvSpPr/>
          <p:nvPr/>
        </p:nvSpPr>
        <p:spPr>
          <a:xfrm>
            <a:off x="9601200" y="7076852"/>
            <a:ext cx="150495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1500" spc="120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GPP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1296650" y="7076852"/>
            <a:ext cx="602380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rutinní zvýrazňovače chuti (73 % konsenzus, tedy jen většinová shoda)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601200" y="8139782"/>
            <a:ext cx="777011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4"/>
              </a:lnSpc>
              <a:buNone/>
            </a:pPr>
            <a:r>
              <a:rPr lang="en-US" sz="1800" i="1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Restrikce ve stravě, které omezují příjem, jsou u demence potenciálně škodlivé a mají se vynechat.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29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60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Jak bude vypadat, když bude zvolena sonda či stomie?</a:t>
            </a:r>
            <a:endParaRPr lang="en-US" sz="5550" dirty="0"/>
          </a:p>
        </p:txBody>
      </p:sp>
      <p:sp>
        <p:nvSpPr>
          <p:cNvPr id="12" name="Text 10"/>
          <p:cNvSpPr/>
          <p:nvPr/>
        </p:nvSpPr>
        <p:spPr>
          <a:xfrm>
            <a:off x="1143000" y="4034879"/>
            <a:ext cx="7770114" cy="870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71"/>
              </a:lnSpc>
              <a:buNone/>
            </a:pPr>
            <a:r>
              <a:rPr lang="en-US" sz="210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Vysvětlení principu zavedení, funkčnosti systému, podávání výživy a péče o výživový vstup.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5095577"/>
            <a:ext cx="829818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09"/>
              </a:lnSpc>
              <a:buNone/>
            </a:pPr>
            <a:r>
              <a:rPr lang="en-US" sz="165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peg.freseniuskabiforum.eu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43000" y="5659413"/>
            <a:ext cx="7770114" cy="119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Enterální výživa se </a:t>
            </a:r>
            <a:pPr algn="l" indent="0" marL="0">
              <a:lnSpc>
                <a:spcPct val="128762"/>
              </a:lnSpc>
              <a:buNone/>
            </a:pPr>
            <a:r>
              <a:rPr lang="en-US" sz="195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těžké demence nezavádí </a:t>
            </a:r>
            <a:pPr algn="l" indent="0" marL="0">
              <a:lnSpc>
                <a:spcPct val="128762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Zavedení v pokročilém stadiu má být velmi vzácnou výjimkou, které vždy předchází etická konzultace.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7046863"/>
            <a:ext cx="3967088" cy="483617"/>
          </a:xfrm>
          <a:prstGeom prst="roundRect">
            <a:avLst>
              <a:gd name="adj" fmla="val 50000"/>
            </a:avLst>
          </a:prstGeom>
          <a:ln w="9525">
            <a:solidFill>
              <a:srgbClr val="AFC4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3025" y="7142113"/>
            <a:ext cx="3686051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DOPORUČENÍ 37 · GPP · 100 %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601200" y="4034879"/>
            <a:ext cx="777011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OTÁZKY, KTERÉ PŘIJDOU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9601200" y="451849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4699471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Musí být pacient upoutaný na lůžko po celý den?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601200" y="524239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5423371"/>
            <a:ext cx="77701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Dá se sonda či stomie odstranit?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601200" y="596629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6147271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Bude můj příbuzný žít déle, pokud se rozhodnu pro tento způsob živení?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601200" y="7061671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0" y="7242646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Bude mít se sondou či stomií menší pravděpodobnost, že bude aspirovat?</a:t>
            </a:r>
            <a:endParaRPr lang="en-US" sz="1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30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6344900" cy="820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Je zavádění NGS či PEG na místě?</a:t>
            </a:r>
            <a:endParaRPr lang="en-US" sz="5550" dirty="0"/>
          </a:p>
        </p:txBody>
      </p:sp>
      <p:sp>
        <p:nvSpPr>
          <p:cNvPr id="12" name="Text 10"/>
          <p:cNvSpPr/>
          <p:nvPr/>
        </p:nvSpPr>
        <p:spPr>
          <a:xfrm>
            <a:off x="1143000" y="3386510"/>
            <a:ext cx="777011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ÚMRTNOST PO ZAVEDENÍ PEG </a:t>
            </a:r>
            <a:pPr algn="l" indent="0" marL="0">
              <a:lnSpc>
                <a:spcPct val="125633"/>
              </a:lnSpc>
              <a:buNone/>
            </a:pPr>
            <a:r>
              <a:rPr lang="en-US" sz="1425" i="1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ZDROJ DOPLNIT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143000" y="3908227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127302"/>
            <a:ext cx="31432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12"/>
              </a:lnSpc>
              <a:buNone/>
            </a:pPr>
            <a:r>
              <a:rPr lang="en-US" sz="4200" spc="-126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10–43 %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229100" y="4327327"/>
            <a:ext cx="490347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30denní úmrtnost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4883572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5102647"/>
            <a:ext cx="31432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12"/>
              </a:lnSpc>
              <a:buNone/>
            </a:pPr>
            <a:r>
              <a:rPr lang="en-US" sz="4200" spc="-126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60–65 %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229100" y="5302672"/>
            <a:ext cx="490347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 následujících 12–18 měsících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43000" y="5858917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6077992"/>
            <a:ext cx="31432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12"/>
              </a:lnSpc>
              <a:buNone/>
            </a:pPr>
            <a:r>
              <a:rPr lang="en-US" sz="4200" spc="-126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73–81 %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4229100" y="6278017"/>
            <a:ext cx="490347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déle než 36–48 měsíců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601200" y="3386510"/>
            <a:ext cx="777011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BENEFITY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601200" y="3832027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Přístup pro hydrataci a medikaci (snížení bolesti pomocí vstupu).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601200" y="4879777"/>
            <a:ext cx="777011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RIZIKA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9601200" y="524909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0" y="5344344"/>
            <a:ext cx="777011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 případě přežití alespoň 60 dní u 70 % nezaznamenáno žádné funkční zlepšení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01200" y="6092949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0" y="6188199"/>
            <a:ext cx="777011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vyšší zátěž pro pečovatele a rodinu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01200" y="660536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6700614"/>
            <a:ext cx="777011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zvýšené riziko dekubitů, pneumonie a dalších komplikací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601200" y="7117779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7213029"/>
            <a:ext cx="777011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pneumonie OR 3,56 a dekubity OR 2,25 proti klientům bez sondy, bez rozdílu v přežití či stavu výživy </a:t>
            </a:r>
            <a:pPr algn="l" indent="0" marL="0">
              <a:lnSpc>
                <a:spcPct val="117966"/>
              </a:lnSpc>
              <a:buNone/>
            </a:pPr>
            <a:r>
              <a:rPr lang="en-US" sz="150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Lee 2021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601200" y="7961635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0" y="8056885"/>
            <a:ext cx="777011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36 492 klientů s pokročilou demencí nenalezen rozdíl v přežití </a:t>
            </a:r>
            <a:pPr algn="l" indent="0" marL="0">
              <a:lnSpc>
                <a:spcPct val="117966"/>
              </a:lnSpc>
              <a:buNone/>
            </a:pPr>
            <a:r>
              <a:rPr lang="en-US" sz="150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Teno 2012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31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60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 by si přál Váš příbuzný, kdyby mohl volit sám?</a:t>
            </a:r>
            <a:endParaRPr lang="en-US" sz="5550" dirty="0"/>
          </a:p>
        </p:txBody>
      </p:sp>
      <p:sp>
        <p:nvSpPr>
          <p:cNvPr id="12" name="Shape 10"/>
          <p:cNvSpPr/>
          <p:nvPr/>
        </p:nvSpPr>
        <p:spPr>
          <a:xfrm>
            <a:off x="1143000" y="3929063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081463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Sdělil Vám příbuzný někdy svá přání ohledně léčby pro případ vážné nemoci?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143000" y="4938713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091113"/>
            <a:ext cx="777011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 závěť, nebo vyslovil přání či preference ohledně umělé výživy?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43000" y="5591175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5743575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Jaké jsou jeho přesvědčení a hodnoty ohledně péče při závažné a nevyléčitelné nemoci?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143000" y="6600825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753225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Kdyby se mohl podívat na výhody a nevýhody, co by si přál nebo vybral?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143000" y="7610475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7762875"/>
            <a:ext cx="777011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konečně, co je podle Vás v jeho nejlepším zájmu?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601200" y="3929063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4081463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Očekává lékař či specialista, že se příčina problémů s jídlem a pitím zlepší?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9601200" y="4938713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0" y="5091113"/>
            <a:ext cx="7770114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 je pravděpodobné, že se příbuzný s demencí rozruší kvůli „hadičce“ a bude potřebovat omezovací prostředky nebo uklidňující léky?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9601200" y="6305550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6457950"/>
            <a:ext cx="777011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Bude se sondou či stomií limitován v péči?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9601200" y="6958013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0" y="7110413"/>
            <a:ext cx="777011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 jiné onemocnění, které ovlivňuje rozhodnutí?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601200" y="7610475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0" y="7762875"/>
            <a:ext cx="777011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Zdá se, že preferuje příjem potravy ústy?</a:t>
            </a:r>
            <a:endParaRPr lang="en-US" sz="18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6543" r="26543" t="0" b="0"/>
          <a:stretch/>
        </p:blipFill>
        <p:spPr>
          <a:xfrm>
            <a:off x="11049000" y="0"/>
            <a:ext cx="7239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5000">
                <a:srgbClr val="FFFFFF">
                  <a:alpha val="100000"/>
                </a:srgbClr>
              </a:gs>
              <a:gs pos="54000">
                <a:srgbClr val="FFFFFF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5" name="Text 2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6" name="Shape 3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4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5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6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10" name="Shape 7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11" name="Shape 8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2" name="Text 9"/>
          <p:cNvSpPr/>
          <p:nvPr/>
        </p:nvSpPr>
        <p:spPr>
          <a:xfrm>
            <a:off x="86763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32 / 42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1143000" y="1333500"/>
            <a:ext cx="8711946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500" spc="-99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Empatie je v komunikaci nezbytná.</a:t>
            </a:r>
            <a:endParaRPr lang="en-US" sz="4500" dirty="0"/>
          </a:p>
        </p:txBody>
      </p:sp>
      <p:sp>
        <p:nvSpPr>
          <p:cNvPr id="14" name="Shape 11"/>
          <p:cNvSpPr/>
          <p:nvPr/>
        </p:nvSpPr>
        <p:spPr>
          <a:xfrm>
            <a:off x="1143000" y="4193381"/>
            <a:ext cx="84582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336256"/>
            <a:ext cx="87119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Cítíte se pod tlakem ostatních?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143000" y="4801046"/>
            <a:ext cx="84582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4943921"/>
            <a:ext cx="87119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Cítíte se rozpolceni mezi vlastním přesvědčením a přesvědčením pacienta?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43000" y="5408712"/>
            <a:ext cx="84582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5551587"/>
            <a:ext cx="87119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Máte nezodpovězené otázky a potřebujete více informací, než se rozhodnete?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143000" y="6016377"/>
            <a:ext cx="84582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1" name="Text 18"/>
          <p:cNvSpPr/>
          <p:nvPr/>
        </p:nvSpPr>
        <p:spPr>
          <a:xfrm>
            <a:off x="1143000" y="6159252"/>
            <a:ext cx="871194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66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Jaký je Váš celkový pocit ze správné volby?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43000" y="6928842"/>
            <a:ext cx="8711946" cy="1107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15"/>
              </a:lnSpc>
              <a:buNone/>
            </a:pPr>
            <a:r>
              <a:rPr lang="en-US" sz="180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Rozhodující osoba by měla vědět, že může sdílet své obavy a pocity, může se informovat i své rozhodnutí v čase změnit. Měla by znát veškerá rizika i benefity obou možností a </a:t>
            </a:r>
            <a:pPr algn="l" indent="0" marL="0">
              <a:lnSpc>
                <a:spcPct val="126915"/>
              </a:lnSpc>
              <a:buNone/>
            </a:pPr>
            <a:r>
              <a:rPr lang="en-US" sz="180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zůstat v plném zapojení plánu péče</a:t>
            </a:r>
            <a:pPr algn="l" indent="0" marL="0">
              <a:lnSpc>
                <a:spcPct val="126915"/>
              </a:lnSpc>
              <a:buNone/>
            </a:pPr>
            <a:r>
              <a:rPr lang="en-US" sz="180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33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2837706"/>
            <a:ext cx="16482060" cy="3483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69"/>
              </a:lnSpc>
              <a:buNone/>
            </a:pPr>
            <a:r>
              <a:rPr lang="en-US" sz="2850" spc="-29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„Nenašli jsme žádné důkazy o tom, že by živení sondou či stomií zlepšovalo přežití, zlepšovalo kvalitu života, snižovalo bolest, snižovalo úmrtnost, snižovalo behaviorální a psychologické příznaky demence, vedlo k lepší výživě, zlepšovalo psychologické symptomy rodiny nebo pečovatelů, jako jsou deprese, úzkost, zátěž pečovatelů nebo spokojenost s péčí, a žádné náznaky škodlivosti. Našli jsme určité důkazy o tom, že existuje klinicky významné riziko vzniku dekubitů při enterálním živení. Budoucí výzkum by se měl zaměřit na hodnotnější výzkum a porovnávání kontrolních a intervenčních skupin a na jasně definované intervence a měření všech zde uvedených výsledků.“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143000" y="6664449"/>
            <a:ext cx="1648206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09"/>
              </a:lnSpc>
              <a:buNone/>
            </a:pPr>
            <a:r>
              <a:rPr lang="en-US" sz="165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Davies N, Barrado-Martín Y, Vickerstaff V, et al. Enteral tube feeding for people with severe dementia. Cochrane Database Syst Rev 2021;8:CD013503. </a:t>
            </a:r>
            <a:pPr algn="l" indent="0" marL="0">
              <a:lnSpc>
                <a:spcPct val="123509"/>
              </a:lnSpc>
              <a:buNone/>
            </a:pPr>
            <a:r>
              <a:rPr lang="en-US" sz="1650" i="1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Zdroj ověřit před přednáškou.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34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60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Jak budeme postupovat u pana Jaroslava v péči?</a:t>
            </a:r>
            <a:endParaRPr lang="en-US" sz="5550" dirty="0"/>
          </a:p>
        </p:txBody>
      </p:sp>
      <p:sp>
        <p:nvSpPr>
          <p:cNvPr id="12" name="Shape 10"/>
          <p:cNvSpPr/>
          <p:nvPr/>
        </p:nvSpPr>
        <p:spPr>
          <a:xfrm>
            <a:off x="1143000" y="421719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379119"/>
            <a:ext cx="609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875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828800" y="4379119"/>
            <a:ext cx="75438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Informujeme ošetřujícího lékaře o stávající situaci.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143000" y="488870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050631"/>
            <a:ext cx="609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875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828800" y="5050631"/>
            <a:ext cx="706374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Zavoláme zákonnému zástupci a vysvětlíme, co se v příjmu stravy u klienta změnilo.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143000" y="591740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79331"/>
            <a:ext cx="609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875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828800" y="6079331"/>
            <a:ext cx="706374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Vysvětlíme, že změny v příjmu stravy napovídají progresi demence a jsou očekávané.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143000" y="694610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7108031"/>
            <a:ext cx="609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875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828800" y="7108031"/>
            <a:ext cx="706374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Vysvětlíme rodině i pečujícím zdravotníkům koncept „comfort feeding“.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9601200" y="421719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0" y="4379119"/>
            <a:ext cx="609600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875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0287000" y="4379119"/>
            <a:ext cx="7063740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Ujistíme se, že rodina i pečující chápou, že tento koncept nezajistí nutriční nároky (energetické ani v příjmu makro- a mikronutrientů).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9601200" y="5603081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0" y="5765006"/>
            <a:ext cx="609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875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0287000" y="5765006"/>
            <a:ext cx="75438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Odpovíme rodině na otázky, které mají.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601200" y="627459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0" y="6436519"/>
            <a:ext cx="609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875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0287000" y="6436519"/>
            <a:ext cx="75438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Nabídneme jim možnost informování o změně hmotnosti.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9601200" y="694610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0" y="7108031"/>
            <a:ext cx="609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1875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10287000" y="7108031"/>
            <a:ext cx="706374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Informujeme pečující tým, že EOL lze očekávat v blízké budoucnosti.</a:t>
            </a:r>
            <a:endParaRPr lang="en-US" sz="18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35 / 42</a:t>
            </a:r>
            <a:endParaRPr lang="en-US" sz="142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35400" y="1333500"/>
            <a:ext cx="609600" cy="609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333500"/>
            <a:ext cx="15304770" cy="160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119"/>
              </a:lnSpc>
              <a:buNone/>
            </a:pPr>
            <a:r>
              <a:rPr lang="en-US" sz="5550" spc="-133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Sedm ze čtyřiceti doporučení nemíří na jednotlivce, ale na zařízení.</a:t>
            </a:r>
            <a:endParaRPr lang="en-US" sz="5550" dirty="0"/>
          </a:p>
        </p:txBody>
      </p:sp>
      <p:sp>
        <p:nvSpPr>
          <p:cNvPr id="13" name="Shape 10"/>
          <p:cNvSpPr/>
          <p:nvPr/>
        </p:nvSpPr>
        <p:spPr>
          <a:xfrm>
            <a:off x="1143000" y="425529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407694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Písemně zpracovaná koncepce nutriční péče, v souladu s filozofií organizace</a:t>
            </a:r>
            <a:endParaRPr lang="en-US" sz="1875" dirty="0"/>
          </a:p>
        </p:txBody>
      </p:sp>
      <p:sp>
        <p:nvSpPr>
          <p:cNvPr id="15" name="Shape 12"/>
          <p:cNvSpPr/>
          <p:nvPr/>
        </p:nvSpPr>
        <p:spPr>
          <a:xfrm>
            <a:off x="1143000" y="526494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5417344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Standardní operační postupy, které přidělují odpovědnost za nutriční péči konkrétním rolím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1143000" y="627459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" y="6426994"/>
            <a:ext cx="77701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Dostatek kvalifikovaného personálu, včetně času na asistenci u jídla a na doprovod na toaletu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1143000" y="728424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0" name="Text 17"/>
          <p:cNvSpPr/>
          <p:nvPr/>
        </p:nvSpPr>
        <p:spPr>
          <a:xfrm>
            <a:off x="1143000" y="7436644"/>
            <a:ext cx="777011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Funkční jídelna s atmosférou, která k jídlu a pití vybízí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9601200" y="4255294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0" y="4407694"/>
            <a:ext cx="777011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Přitažlivé jídlo a tekutiny s možností volby, včetně svačin a nápojů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9601200" y="4907756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0" y="5060156"/>
            <a:ext cx="777011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Vzdělávání zdravotnických pracovníků v nutriční péči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9601200" y="5560219"/>
            <a:ext cx="7543800" cy="9525"/>
          </a:xfrm>
          <a:prstGeom prst="rect">
            <a:avLst/>
          </a:prstGeom>
          <a:solidFill>
            <a:srgbClr val="AFC4D6"/>
          </a:solidFill>
          <a:ln/>
        </p:spPr>
      </p:sp>
      <p:sp>
        <p:nvSpPr>
          <p:cNvPr id="26" name="Text 23"/>
          <p:cNvSpPr/>
          <p:nvPr/>
        </p:nvSpPr>
        <p:spPr>
          <a:xfrm>
            <a:off x="9601200" y="5712619"/>
            <a:ext cx="777011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Nabídka vzdělávání i neformálním pečujícím, tedy rodině</a:t>
            </a:r>
            <a:endParaRPr lang="en-US" sz="1875" dirty="0"/>
          </a:p>
        </p:txBody>
      </p:sp>
      <p:sp>
        <p:nvSpPr>
          <p:cNvPr id="27" name="Shape 24"/>
          <p:cNvSpPr/>
          <p:nvPr/>
        </p:nvSpPr>
        <p:spPr>
          <a:xfrm>
            <a:off x="9601200" y="6517481"/>
            <a:ext cx="1853282" cy="461963"/>
          </a:xfrm>
          <a:prstGeom prst="roundRect">
            <a:avLst>
              <a:gd name="adj" fmla="val 50000"/>
            </a:avLst>
          </a:prstGeom>
          <a:ln w="9525">
            <a:solidFill>
              <a:srgbClr val="AFC4D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01225" y="6612731"/>
            <a:ext cx="152943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327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GPP · 100 %</a:t>
            </a:r>
            <a:endParaRPr lang="en-US" sz="1425" dirty="0"/>
          </a:p>
        </p:txBody>
      </p:sp>
      <p:sp>
        <p:nvSpPr>
          <p:cNvPr id="29" name="Shape 26"/>
          <p:cNvSpPr/>
          <p:nvPr/>
        </p:nvSpPr>
        <p:spPr>
          <a:xfrm>
            <a:off x="11606882" y="6517481"/>
            <a:ext cx="3174429" cy="461963"/>
          </a:xfrm>
          <a:prstGeom prst="roundRect">
            <a:avLst>
              <a:gd name="adj" fmla="val 50000"/>
            </a:avLst>
          </a:prstGeom>
          <a:ln w="9525">
            <a:solidFill>
              <a:srgbClr val="AFC4D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806907" y="6612731"/>
            <a:ext cx="286961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327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VZDĚLÁVÁNÍ · STUPEŇ B</a:t>
            </a:r>
            <a:endParaRPr lang="en-US" sz="14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AFC4D6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36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3714899"/>
            <a:ext cx="16482060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 KONEC NĚCO K NAHLÉDNUTÍ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143000" y="4427116"/>
            <a:ext cx="1466850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706"/>
              </a:lnSpc>
              <a:buNone/>
            </a:pPr>
            <a:r>
              <a:rPr lang="en-US" sz="5400" spc="-130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Man on the Inside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143000" y="5600551"/>
            <a:ext cx="117729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Komediální série o životě v rezidenčním zařízení. Užitečná jako obraz toho, jak prostředí, vztahy a všední den vypadají očima klienta, ne systému.</a:t>
            </a:r>
            <a:endParaRPr lang="en-US" sz="2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208359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8FC9F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484709" y="596429"/>
            <a:ext cx="1529432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A6C2D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ROZHODOVÁNÍ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31474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5" name="Shape 3"/>
          <p:cNvSpPr/>
          <p:nvPr/>
        </p:nvSpPr>
        <p:spPr>
          <a:xfrm>
            <a:off x="34046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6" name="Shape 4"/>
          <p:cNvSpPr/>
          <p:nvPr/>
        </p:nvSpPr>
        <p:spPr>
          <a:xfrm>
            <a:off x="366184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7" name="Shape 5"/>
          <p:cNvSpPr/>
          <p:nvPr/>
        </p:nvSpPr>
        <p:spPr>
          <a:xfrm>
            <a:off x="391901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8" name="Shape 6"/>
          <p:cNvSpPr/>
          <p:nvPr/>
        </p:nvSpPr>
        <p:spPr>
          <a:xfrm>
            <a:off x="417619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8FC9F5"/>
          </a:solidFill>
          <a:ln/>
        </p:spPr>
      </p:sp>
      <p:sp>
        <p:nvSpPr>
          <p:cNvPr id="9" name="Shape 7"/>
          <p:cNvSpPr/>
          <p:nvPr/>
        </p:nvSpPr>
        <p:spPr>
          <a:xfrm>
            <a:off x="443336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2A5480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A6C2D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37 / 42</a:t>
            </a:r>
            <a:endParaRPr lang="en-US" sz="142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14400"/>
            <a:ext cx="1866900" cy="87897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3909789"/>
            <a:ext cx="12753975" cy="1574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46"/>
              </a:lnSpc>
              <a:buNone/>
            </a:pPr>
            <a:r>
              <a:rPr lang="en-US" sz="5400" spc="-130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Rozhodování o výživě vyžaduje transdisciplinární přístup.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1143000" y="5826844"/>
            <a:ext cx="136207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90"/>
              </a:lnSpc>
              <a:buNone/>
            </a:pPr>
            <a:r>
              <a:rPr lang="en-US" sz="2550" dirty="0">
                <a:solidFill>
                  <a:srgbClr val="A6C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Základní principy musí vždy zůstat zachovány.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143000" y="6731719"/>
            <a:ext cx="12753975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8FC9F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AUTONOMIE · ČINIT DOBRO · NEŠKODIT · ROZHODOVAT SPRAVEDLIVĚ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1143000" y="7482036"/>
            <a:ext cx="127539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A6C2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Děkuji za pozornost. Mgr. Ing. Tereza Vágnerová, Ph.D. · tereza.vagnerova@lf1.cuni.cz</a:t>
            </a:r>
            <a:endParaRPr lang="en-US" sz="2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PŘÍLOHA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275116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00833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26551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52268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377986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03703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38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616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886"/>
              </a:lnSpc>
              <a:buNone/>
            </a:pPr>
            <a:r>
              <a:rPr lang="en-US" sz="5550" spc="-122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Přednáška stojí na osmi doporučených postupech ESPEN.</a:t>
            </a:r>
            <a:endParaRPr lang="en-US" sz="5550" dirty="0"/>
          </a:p>
        </p:txBody>
      </p:sp>
      <p:sp>
        <p:nvSpPr>
          <p:cNvPr id="12" name="Text 10"/>
          <p:cNvSpPr/>
          <p:nvPr/>
        </p:nvSpPr>
        <p:spPr>
          <a:xfrm>
            <a:off x="1143000" y="3932486"/>
            <a:ext cx="829818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31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Výživa a hydratace u demence, aktualizace 2024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4355381"/>
            <a:ext cx="829818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49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Volkert D, et al. Clin Nutr 2024;43(6):1599–1626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601200" y="3932486"/>
            <a:ext cx="829818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31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Klinická výživa a hydratace v geriatrii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0" y="4355381"/>
            <a:ext cx="829818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49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Volkert D, et al. Clin Nutr 2019;38:10–47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143000" y="4941615"/>
            <a:ext cx="829818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31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Praktické doporučení: klinická výživa a hydratace v geriatrii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5364510"/>
            <a:ext cx="829818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49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Volkert D, et al. Clin Nutr 2022;41:958–989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601200" y="4941615"/>
            <a:ext cx="829818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31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Klinická výživa v neurologii, včetně dysfagie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5364510"/>
            <a:ext cx="829818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49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Burgos R, et al. Clin Nutr 2018;37:354–396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143000" y="5950744"/>
            <a:ext cx="829818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31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Etické aspekty nutriční terapie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6373639"/>
            <a:ext cx="829818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49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Cardenas D, et al. Clin Nutr 2026;60:106622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601200" y="5950744"/>
            <a:ext cx="829818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31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Nutriční péče v nemocnici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6373639"/>
            <a:ext cx="829818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49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Thibault R, et al. Clin Nutr 2021;40:5684–5709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143000" y="6959873"/>
            <a:ext cx="829818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31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Mikronutrienty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7382768"/>
            <a:ext cx="829818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49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Berger MM, et al. Clin Nutr 2022;41:1357–1424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9601200" y="6959873"/>
            <a:ext cx="829818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31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Definice a terminologie klinické výživy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0" y="7382768"/>
            <a:ext cx="829818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49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Cederholm T, et al. Clin Nutr 2017;36:149–164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143000" y="7988052"/>
            <a:ext cx="176022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27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Kritéria GLIM: Cederholm T, et al. Clin Nutr 2019;38:1–9 · úplný katalog ESPEN na následujících třech stranách</a:t>
            </a:r>
            <a:endParaRPr lang="en-US" sz="14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PŘÍLOHA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275116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00833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26551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52268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377986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03703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39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500" spc="-99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Katalog ESPEN má dvacet jedna doporučených postupů. Sedm platí napříč péčí.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143000" y="3939257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Etické aspekty nutriční terapie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4331643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Cardenas D, et al. Clin Nutr 2026;60:106622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601200" y="3939257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Definice a terminologie klinické výživy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0" y="4331643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Cederholm T, et al. Clin Nutr 2017;36:149–164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143000" y="4870698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Mikronutrienty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5263083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Berger MM, et al. Clin Nutr 2022;41:1357–1424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601200" y="4870698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Nutriční péče v nemocnici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5263083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Thibault R, et al. Clin Nutr 2021;40:5684–5709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143000" y="5802139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Domácí enterální výživa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6194524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Bischoff SC, et al. Clin Nutr 2020;39:5–22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601200" y="5802139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Domácí parenterální výživa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6194524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Pironi L, et al. Clin Nutr 2020;39:1645–1666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143000" y="6733580"/>
            <a:ext cx="7770114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Nutriční podpora u polymorbidních hospitalizovaných, aktualizace 2023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7423100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Wunderle C, et al. Clin Nutr 2023;42:1545–1568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143000" y="7981206"/>
            <a:ext cx="176022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27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Stav k 30. 8. 2026 · espen.org/guidelines · praktické verze a position papers vycházejí zvlášť</a:t>
            </a:r>
            <a:endParaRPr lang="en-US" sz="14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PŘÍLOHA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275116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00833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26551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52268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377986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03703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40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500" spc="-99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Sedm postupů míří na věk, neurologii, intenzivní a chirurgickou péči.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143000" y="4227388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Výživa a hydratace u demence, aktualizace 2024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4619774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Volkert D, et al. Clin Nutr 2024;43:1599–1626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601200" y="4227388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Klinická výživa a hydratace v geriatrii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0" y="4619774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Volkert D, et al. Clin Nutr 2019;38:10–47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143000" y="5158829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Klinická výživa v neurologii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5551215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Burgos R, et al. Clin Nutr 2018;37:354–396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601200" y="5158829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Klinická výživa na jednotce intenzivní péče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5551215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Singer P, et al. Clin Nutr 2019;38:48–79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143000" y="6090270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Klinická výživa v chirurgii, aktualizace 2025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6482655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Weimann A, et al. Clin Nutr 2025;53:222–261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601200" y="6090270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Parenterální výživa u dětí, společně s ESPGHAN, ESPR a CSPEN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6482655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Clin Nutr 2018;37:2306–2459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143000" y="7021711"/>
            <a:ext cx="7770114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Nutriční péče u cystické fibrózy, aktualizace 2024, s ESPGHAN a ECFS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7711232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Wilschanski M, et al. Clin Nutr 2024;43:413–445</a:t>
            </a:r>
            <a:endParaRPr lang="en-US" sz="14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PŘÍLOHA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275116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00833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26551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52268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377986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03703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41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6344900" cy="827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886"/>
              </a:lnSpc>
              <a:buNone/>
            </a:pPr>
            <a:r>
              <a:rPr lang="en-US" sz="5550" spc="-122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Sedm postupů míří na jednotlivá onemocnění.</a:t>
            </a:r>
            <a:endParaRPr lang="en-US" sz="5550" dirty="0"/>
          </a:p>
        </p:txBody>
      </p:sp>
      <p:sp>
        <p:nvSpPr>
          <p:cNvPr id="12" name="Text 10"/>
          <p:cNvSpPr/>
          <p:nvPr/>
        </p:nvSpPr>
        <p:spPr>
          <a:xfrm>
            <a:off x="1143000" y="4375993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Výživa u onkologických pacientů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4768379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Arends J, et al. Clin Nutr 2017;36:11–48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601200" y="4375993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Nespecifické střevní zánětlivé onemocnění, aktualizace 2023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0" y="4768379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Bischoff SC, et al. Clin Nutr 2023;42:352–379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143000" y="5307434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Chronické intestinální selhání u dospělých, aktualizace 2023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5699820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Pironi L, et al. Clin Nutr 2023;42:1940–2021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601200" y="5307434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Onemocnění jater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5699820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Plauth M, et al. Clin Nutr 2019;38:485–521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143000" y="6238875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Akutní a chronická pankreatitida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6631260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Arvanitakis M, et al. Clin Nutr 2020;39:612–631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601200" y="6238875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Akutní a chronické onemocnění ledvin u hospitalizovaných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6631260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Fiaccadori E, et al. Clin Nutr 2021;40:1644–1668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143000" y="7170316"/>
            <a:ext cx="82981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Obezita u gastrointestinálních a jaterních onemocnění, s UEG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7562701"/>
            <a:ext cx="829818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71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Bischoff SC, et al. Clin Nutr 2022;41:2364–2405</a:t>
            </a:r>
            <a:endParaRPr lang="en-US" sz="14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96429"/>
            <a:ext cx="340444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1D599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VI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16794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PŘÍLOHA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275116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5" name="Shape 3"/>
          <p:cNvSpPr/>
          <p:nvPr/>
        </p:nvSpPr>
        <p:spPr>
          <a:xfrm>
            <a:off x="300833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6" name="Shape 4"/>
          <p:cNvSpPr/>
          <p:nvPr/>
        </p:nvSpPr>
        <p:spPr>
          <a:xfrm>
            <a:off x="326551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7" name="Shape 5"/>
          <p:cNvSpPr/>
          <p:nvPr/>
        </p:nvSpPr>
        <p:spPr>
          <a:xfrm>
            <a:off x="352268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8" name="Shape 6"/>
          <p:cNvSpPr/>
          <p:nvPr/>
        </p:nvSpPr>
        <p:spPr>
          <a:xfrm>
            <a:off x="3779862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9" name="Shape 7"/>
          <p:cNvSpPr/>
          <p:nvPr/>
        </p:nvSpPr>
        <p:spPr>
          <a:xfrm>
            <a:off x="4037037" y="728663"/>
            <a:ext cx="209550" cy="28575"/>
          </a:xfrm>
          <a:prstGeom prst="roundRect">
            <a:avLst>
              <a:gd name="adj" fmla="val 50000"/>
            </a:avLst>
          </a:prstGeom>
          <a:solidFill>
            <a:srgbClr val="1D5994"/>
          </a:solidFill>
          <a:ln/>
        </p:spPr>
      </p:sp>
      <p:sp>
        <p:nvSpPr>
          <p:cNvPr id="10" name="Text 8"/>
          <p:cNvSpPr/>
          <p:nvPr/>
        </p:nvSpPr>
        <p:spPr>
          <a:xfrm>
            <a:off x="16220182" y="596429"/>
            <a:ext cx="1001018" cy="331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33"/>
              </a:lnSpc>
              <a:buNone/>
            </a:pPr>
            <a:r>
              <a:rPr lang="en-US" sz="1425" spc="185" kern="0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42 / 42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143000" y="1333500"/>
            <a:ext cx="15304770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500" spc="-99" kern="0" dirty="0">
                <a:solidFill>
                  <a:srgbClr val="0F2C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EFAD nevydává klinická doporučení pro paliativní péči. Vydává stanoviska k roli nutričního terapeuta.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143000" y="4608984"/>
            <a:ext cx="7770114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31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ESDN Older Adults: Role of the Dietitian in the Prevention and Management of Nutrition-related Disorders in Older Adults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5340474"/>
            <a:ext cx="829818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49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Stanovisko, 2017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143000" y="5907658"/>
            <a:ext cx="829818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31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Briefing paper k roli nutričního terapeuta u starších dospělých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6330553"/>
            <a:ext cx="829818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49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EFAD briefing papers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143000" y="6897737"/>
            <a:ext cx="829818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31"/>
              </a:lnSpc>
              <a:buNone/>
            </a:pPr>
            <a:r>
              <a:rPr lang="en-US" sz="1800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EASO a EFAD: dietetická léčba nadváhy a obezity u dospělých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7320632"/>
            <a:ext cx="829818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49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2025 · podrobnou citaci doplnit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601200" y="4608984"/>
            <a:ext cx="777011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Stanovisko ESDN Older Adults výslovně uvádí, že nutriční terapeut </a:t>
            </a:r>
            <a:pPr algn="l" indent="0" marL="0">
              <a:lnSpc>
                <a:spcPct val="123810"/>
              </a:lnSpc>
              <a:buNone/>
            </a:pPr>
            <a:r>
              <a:rPr lang="en-US" sz="1950" b="1" dirty="0">
                <a:solidFill>
                  <a:srgbClr val="0F2C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má být vědom etických aspektů </a:t>
            </a:r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nutriční péče o starší dospělé.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01200" y="5990109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1950" dirty="0">
                <a:solidFill>
                  <a:srgbClr val="4A68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Zdroje sítě ESDN Older Adults odkazují v otázce demence na doporučení ESPEN. Klinickou oporu tedy hledáme tam.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601200" y="6999759"/>
            <a:ext cx="777011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27"/>
              </a:lnSpc>
              <a:buNone/>
            </a:pPr>
            <a:r>
              <a:rPr lang="en-US" sz="1425" dirty="0">
                <a:solidFill>
                  <a:srgbClr val="4A688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efad.org · EFAD spolupracuje s iniciativou ONCA, Optimal Nutritional Care for All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2026-09-15T19:02:41Z</dcterms:created>
  <dcterms:modified xsi:type="dcterms:W3CDTF">2026-09-15T19:02:41Z</dcterms:modified>
</cp:coreProperties>
</file>