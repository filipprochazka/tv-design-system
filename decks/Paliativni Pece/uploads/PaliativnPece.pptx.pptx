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4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slide+xml" PartName="/ppt/slides/slide4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48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</p:sldIdLst>
  <p:sldSz cx="18288000" cy="10287000"/>
  <p:notesSz cx="6858000" cy="9144000"/>
  <p:embeddedFontLst>
    <p:embeddedFont>
      <p:font typeface="Inter" charset="1" panose="02000503000000020004"/>
      <p:regular r:id="rId51"/>
    </p:embeddedFont>
    <p:embeddedFont>
      <p:font typeface="Arimo" charset="1" panose="020B0604020202020204"/>
      <p:regular r:id="rId52"/>
    </p:embeddedFont>
    <p:embeddedFont>
      <p:font typeface="Inter Bold" charset="1" panose="02000503000000020004"/>
      <p:regular r:id="rId54"/>
    </p:embeddedFont>
    <p:embeddedFont>
      <p:font typeface="Inter Italics" charset="1" panose="02000503000000020004"/>
      <p:regular r:id="rId57"/>
    </p:embeddedFont>
    <p:embeddedFont>
      <p:font typeface="Arimo Italics" charset="1" panose="020B0604020202090204"/>
      <p:regular r:id="rId66"/>
    </p:embeddedFont>
    <p:embeddedFont>
      <p:font typeface="Inter Bold Italics" charset="1" panose="02000503000000020004"/>
      <p:regular r:id="rId8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slides/slide39.xml" Type="http://schemas.openxmlformats.org/officeDocument/2006/relationships/slide"/><Relationship Id="rId45" Target="slides/slide40.xml" Type="http://schemas.openxmlformats.org/officeDocument/2006/relationships/slide"/><Relationship Id="rId46" Target="slides/slide41.xml" Type="http://schemas.openxmlformats.org/officeDocument/2006/relationships/slide"/><Relationship Id="rId47" Target="slides/slide42.xml" Type="http://schemas.openxmlformats.org/officeDocument/2006/relationships/slide"/><Relationship Id="rId48" Target="notesMasters/notesMaster1.xml" Type="http://schemas.openxmlformats.org/officeDocument/2006/relationships/notesMaster"/><Relationship Id="rId49" Target="theme/theme2.xml" Type="http://schemas.openxmlformats.org/officeDocument/2006/relationships/theme"/><Relationship Id="rId5" Target="tableStyles.xml" Type="http://schemas.openxmlformats.org/officeDocument/2006/relationships/tableStyles"/><Relationship Id="rId50" Target="notesSlides/notesSlide1.xml" Type="http://schemas.openxmlformats.org/officeDocument/2006/relationships/notesSlide"/><Relationship Id="rId51" Target="fonts/font51.fntdata" Type="http://schemas.openxmlformats.org/officeDocument/2006/relationships/font"/><Relationship Id="rId52" Target="fonts/font52.fntdata" Type="http://schemas.openxmlformats.org/officeDocument/2006/relationships/font"/><Relationship Id="rId53" Target="notesSlides/notesSlide2.xml" Type="http://schemas.openxmlformats.org/officeDocument/2006/relationships/notesSlide"/><Relationship Id="rId54" Target="fonts/font54.fntdata" Type="http://schemas.openxmlformats.org/officeDocument/2006/relationships/font"/><Relationship Id="rId55" Target="notesSlides/notesSlide3.xml" Type="http://schemas.openxmlformats.org/officeDocument/2006/relationships/notesSlide"/><Relationship Id="rId56" Target="notesSlides/notesSlide4.xml" Type="http://schemas.openxmlformats.org/officeDocument/2006/relationships/notesSlide"/><Relationship Id="rId57" Target="fonts/font57.fntdata" Type="http://schemas.openxmlformats.org/officeDocument/2006/relationships/font"/><Relationship Id="rId58" Target="notesSlides/notesSlide5.xml" Type="http://schemas.openxmlformats.org/officeDocument/2006/relationships/notesSlide"/><Relationship Id="rId59" Target="notesSlides/notesSlide6.xml" Type="http://schemas.openxmlformats.org/officeDocument/2006/relationships/notesSlide"/><Relationship Id="rId6" Target="slides/slide1.xml" Type="http://schemas.openxmlformats.org/officeDocument/2006/relationships/slide"/><Relationship Id="rId60" Target="notesSlides/notesSlide7.xml" Type="http://schemas.openxmlformats.org/officeDocument/2006/relationships/notesSlide"/><Relationship Id="rId61" Target="notesSlides/notesSlide8.xml" Type="http://schemas.openxmlformats.org/officeDocument/2006/relationships/notesSlide"/><Relationship Id="rId62" Target="notesSlides/notesSlide9.xml" Type="http://schemas.openxmlformats.org/officeDocument/2006/relationships/notesSlide"/><Relationship Id="rId63" Target="notesSlides/notesSlide10.xml" Type="http://schemas.openxmlformats.org/officeDocument/2006/relationships/notesSlide"/><Relationship Id="rId64" Target="notesSlides/notesSlide11.xml" Type="http://schemas.openxmlformats.org/officeDocument/2006/relationships/notesSlide"/><Relationship Id="rId65" Target="notesSlides/notesSlide12.xml" Type="http://schemas.openxmlformats.org/officeDocument/2006/relationships/notesSlide"/><Relationship Id="rId66" Target="fonts/font66.fntdata" Type="http://schemas.openxmlformats.org/officeDocument/2006/relationships/font"/><Relationship Id="rId67" Target="notesSlides/notesSlide13.xml" Type="http://schemas.openxmlformats.org/officeDocument/2006/relationships/notesSlide"/><Relationship Id="rId68" Target="notesSlides/notesSlide14.xml" Type="http://schemas.openxmlformats.org/officeDocument/2006/relationships/notesSlide"/><Relationship Id="rId69" Target="notesSlides/notesSlide15.xml" Type="http://schemas.openxmlformats.org/officeDocument/2006/relationships/notesSlide"/><Relationship Id="rId7" Target="slides/slide2.xml" Type="http://schemas.openxmlformats.org/officeDocument/2006/relationships/slide"/><Relationship Id="rId70" Target="notesSlides/notesSlide16.xml" Type="http://schemas.openxmlformats.org/officeDocument/2006/relationships/notesSlide"/><Relationship Id="rId71" Target="notesSlides/notesSlide17.xml" Type="http://schemas.openxmlformats.org/officeDocument/2006/relationships/notesSlide"/><Relationship Id="rId72" Target="notesSlides/notesSlide18.xml" Type="http://schemas.openxmlformats.org/officeDocument/2006/relationships/notesSlide"/><Relationship Id="rId73" Target="notesSlides/notesSlide19.xml" Type="http://schemas.openxmlformats.org/officeDocument/2006/relationships/notesSlide"/><Relationship Id="rId74" Target="notesSlides/notesSlide20.xml" Type="http://schemas.openxmlformats.org/officeDocument/2006/relationships/notesSlide"/><Relationship Id="rId75" Target="notesSlides/notesSlide21.xml" Type="http://schemas.openxmlformats.org/officeDocument/2006/relationships/notesSlide"/><Relationship Id="rId76" Target="notesSlides/notesSlide22.xml" Type="http://schemas.openxmlformats.org/officeDocument/2006/relationships/notesSlide"/><Relationship Id="rId77" Target="notesSlides/notesSlide23.xml" Type="http://schemas.openxmlformats.org/officeDocument/2006/relationships/notesSlide"/><Relationship Id="rId78" Target="notesSlides/notesSlide24.xml" Type="http://schemas.openxmlformats.org/officeDocument/2006/relationships/notesSlide"/><Relationship Id="rId79" Target="notesSlides/notesSlide25.xml" Type="http://schemas.openxmlformats.org/officeDocument/2006/relationships/notesSlide"/><Relationship Id="rId8" Target="slides/slide3.xml" Type="http://schemas.openxmlformats.org/officeDocument/2006/relationships/slide"/><Relationship Id="rId80" Target="notesSlides/notesSlide26.xml" Type="http://schemas.openxmlformats.org/officeDocument/2006/relationships/notesSlide"/><Relationship Id="rId81" Target="fonts/font81.fntdata" Type="http://schemas.openxmlformats.org/officeDocument/2006/relationships/font"/><Relationship Id="rId82" Target="notesSlides/notesSlide27.xml" Type="http://schemas.openxmlformats.org/officeDocument/2006/relationships/notesSlide"/><Relationship Id="rId83" Target="notesSlides/notesSlide28.xml" Type="http://schemas.openxmlformats.org/officeDocument/2006/relationships/notesSlide"/><Relationship Id="rId84" Target="notesSlides/notesSlide29.xml" Type="http://schemas.openxmlformats.org/officeDocument/2006/relationships/notesSlide"/><Relationship Id="rId85" Target="notesSlides/notesSlide30.xml" Type="http://schemas.openxmlformats.org/officeDocument/2006/relationships/notesSlide"/><Relationship Id="rId86" Target="notesSlides/notesSlide31.xml" Type="http://schemas.openxmlformats.org/officeDocument/2006/relationships/notesSlide"/><Relationship Id="rId87" Target="notesSlides/notesSlide32.xml" Type="http://schemas.openxmlformats.org/officeDocument/2006/relationships/notesSlide"/><Relationship Id="rId88" Target="notesSlides/notesSlide33.xml" Type="http://schemas.openxmlformats.org/officeDocument/2006/relationships/notesSlide"/><Relationship Id="rId89" Target="notesSlides/notesSlide34.xml" Type="http://schemas.openxmlformats.org/officeDocument/2006/relationships/notesSlide"/><Relationship Id="rId9" Target="slides/slide4.xml" Type="http://schemas.openxmlformats.org/officeDocument/2006/relationships/slide"/><Relationship Id="rId90" Target="notesSlides/notesSlide35.xml" Type="http://schemas.openxmlformats.org/officeDocument/2006/relationships/notesSlide"/><Relationship Id="rId91" Target="notesSlides/notesSlide36.xml" Type="http://schemas.openxmlformats.org/officeDocument/2006/relationships/notesSlide"/><Relationship Id="rId92" Target="notesSlides/notesSlide37.xml" Type="http://schemas.openxmlformats.org/officeDocument/2006/relationships/notesSlide"/><Relationship Id="rId93" Target="notesSlides/notesSlide38.xml" Type="http://schemas.openxmlformats.org/officeDocument/2006/relationships/notesSlide"/><Relationship Id="rId94" Target="notesSlides/notesSlide39.xml" Type="http://schemas.openxmlformats.org/officeDocument/2006/relationships/notesSlide"/><Relationship Id="rId95" Target="notesSlides/notesSlide40.xml" Type="http://schemas.openxmlformats.org/officeDocument/2006/relationships/notesSlide"/><Relationship Id="rId96" Target="notesSlides/notesSlide41.xml" Type="http://schemas.openxmlformats.org/officeDocument/2006/relationships/notesSlide"/><Relationship Id="rId97" Target="notesSlides/notesSlide42.xml" Type="http://schemas.openxmlformats.org/officeDocument/2006/relationships/notes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2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_rels/notesSlide2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3.xml" Type="http://schemas.openxmlformats.org/officeDocument/2006/relationships/slide"/></Relationships>
</file>

<file path=ppt/notesSlides/_rels/notesSlide2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4.xml" Type="http://schemas.openxmlformats.org/officeDocument/2006/relationships/slide"/></Relationships>
</file>

<file path=ppt/notesSlides/_rels/notesSlide2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5.xml" Type="http://schemas.openxmlformats.org/officeDocument/2006/relationships/slide"/></Relationships>
</file>

<file path=ppt/notesSlides/_rels/notesSlide2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6.xml" Type="http://schemas.openxmlformats.org/officeDocument/2006/relationships/slide"/></Relationships>
</file>

<file path=ppt/notesSlides/_rels/notesSlide2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7.xml" Type="http://schemas.openxmlformats.org/officeDocument/2006/relationships/slide"/></Relationships>
</file>

<file path=ppt/notesSlides/_rels/notesSlide2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8.xml" Type="http://schemas.openxmlformats.org/officeDocument/2006/relationships/slide"/></Relationships>
</file>

<file path=ppt/notesSlides/_rels/notesSlide2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9.xml" Type="http://schemas.openxmlformats.org/officeDocument/2006/relationships/slide"/></Relationships>
</file>

<file path=ppt/notesSlides/_rels/notesSlide3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0.xml" Type="http://schemas.openxmlformats.org/officeDocument/2006/relationships/slide"/></Relationships>
</file>

<file path=ppt/notesSlides/_rels/notesSlide3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1.xml" Type="http://schemas.openxmlformats.org/officeDocument/2006/relationships/slide"/></Relationships>
</file>

<file path=ppt/notesSlides/_rels/notesSlide3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2.xml" Type="http://schemas.openxmlformats.org/officeDocument/2006/relationships/slide"/></Relationships>
</file>

<file path=ppt/notesSlides/_rels/notesSlide3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3.xml" Type="http://schemas.openxmlformats.org/officeDocument/2006/relationships/slide"/></Relationships>
</file>

<file path=ppt/notesSlides/_rels/notesSlide3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4.xml" Type="http://schemas.openxmlformats.org/officeDocument/2006/relationships/slide"/></Relationships>
</file>

<file path=ppt/notesSlides/_rels/notesSlide3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5.xml" Type="http://schemas.openxmlformats.org/officeDocument/2006/relationships/slide"/></Relationships>
</file>

<file path=ppt/notesSlides/_rels/notesSlide3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6.xml" Type="http://schemas.openxmlformats.org/officeDocument/2006/relationships/slide"/></Relationships>
</file>

<file path=ppt/notesSlides/_rels/notesSlide3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7.xml" Type="http://schemas.openxmlformats.org/officeDocument/2006/relationships/slide"/></Relationships>
</file>

<file path=ppt/notesSlides/_rels/notesSlide3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8.xml" Type="http://schemas.openxmlformats.org/officeDocument/2006/relationships/slide"/></Relationships>
</file>

<file path=ppt/notesSlides/_rels/notesSlide3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9.xml" Type="http://schemas.openxmlformats.org/officeDocument/2006/relationships/slide"/></Relationships>
</file>

<file path=ppt/notesSlides/_rels/notesSlide4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0.xml" Type="http://schemas.openxmlformats.org/officeDocument/2006/relationships/slide"/></Relationships>
</file>

<file path=ppt/notesSlides/_rels/notesSlide4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1.xml" Type="http://schemas.openxmlformats.org/officeDocument/2006/relationships/slide"/></Relationships>
</file>

<file path=ppt/notesSlides/_rels/notesSlide4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Úvodní snímek. Představit se a téma.</a:t>
            </a:r>
          </a:p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Rámec tématu: výživa a hydratace v paliativní medicíně.</a:t>
            </a:r>
          </a:p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Včasná indikace, reálné cíle.</a:t>
            </a:r>
          </a:p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Rámec evidence: ESPEN 2024, 40 doporučení, stupně A až GPP.</a:t>
            </a:r>
          </a:p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Čtyři etické principy. Vienna Declaration 2022.</a:t>
            </a:r>
          </a:p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Pět vlastností dobrého cíle intervence.</a:t>
            </a:r>
          </a:p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Právo informovaného pacienta odmítnout léčbu, včetně nutriční péče.</a:t>
            </a:r>
          </a:p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Nutriční stav jako prognostický faktor.</a:t>
            </a:r>
          </a:p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Předběžné plánování péče u demence; 75 % hospitalizací zbytečných.</a:t>
            </a:r>
          </a:p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Sedm doporučení na úrovni organizace. Actionable část pro rezidenční péči.</a:t>
            </a:r>
          </a:p>
          <a:p>
            <a:r>
              <a:rPr lang="en-US"/>
              <a:t>35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Akutní stresová malnutrice vs. chronická kachexie. Věk jako prognostický faktor.</a:t>
            </a:r>
          </a:p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Algoritmus rozhodování v klinické výživě. Každý výstup z algoritmu vede ke komfortnímu krmení a paliativní péči.</a:t>
            </a:r>
          </a:p>
          <a:p>
            <a:r>
              <a:rPr lang="en-US"/>
              <a:t>11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Předěl: kazuistika.</a:t>
            </a:r>
          </a:p>
          <a:p>
            <a:r>
              <a:rPr lang="en-US"/>
              <a:t>12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Kazuistika 1: pan Jaroslav, 88 let, DZR.</a:t>
            </a:r>
          </a:p>
          <a:p>
            <a:r>
              <a:rPr lang="en-US"/>
              <a:t>13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Kazuistika 2: paní Jaroslava a její dcera.</a:t>
            </a:r>
          </a:p>
          <a:p>
            <a:r>
              <a:rPr lang="en-US"/>
              <a:t>14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Vysvětlit, co je demence, a jak mění jídlo a polykání.</a:t>
            </a:r>
          </a:p>
          <a:p>
            <a:r>
              <a:rPr lang="en-US"/>
              <a:t>15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Porucha polykání, aspirace, varovné známky a dvě cesty.</a:t>
            </a:r>
          </a:p>
          <a:p>
            <a:r>
              <a:rPr lang="en-US"/>
              <a:t>16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Klíčové sdělení: klient, který přestává jíst, netrpí.</a:t>
            </a:r>
          </a:p>
          <a:p>
            <a:r>
              <a:rPr lang="en-US"/>
              <a:t>17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Metabolické tlumení hladu a žízně na konci života.</a:t>
            </a:r>
          </a:p>
          <a:p>
            <a:r>
              <a:rPr lang="en-US"/>
              <a:t>18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Žízeň na konci života řešíme ústy. Podkožní hydratace před infuzí.</a:t>
            </a:r>
          </a:p>
          <a:p>
            <a:r>
              <a:rPr lang="en-US"/>
              <a:t>19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Vysvětlení komfortního krmení a otázky rodiny.</a:t>
            </a:r>
          </a:p>
          <a:p>
            <a:r>
              <a:rPr lang="en-US"/>
              <a:t>20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Finger food a svačiny: doporučení 19, GPP 100 %. Nahrazuje původní obrázkový snímek se seznamem finger foods.</a:t>
            </a:r>
          </a:p>
          <a:p>
            <a:r>
              <a:rPr lang="en-US"/>
              <a:t>25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Krátké cvičení pro publikum. Nechat chvíli ticho.</a:t>
            </a:r>
          </a:p>
          <a:p>
            <a:r>
              <a:rPr lang="en-US"/>
              <a:t>21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Chování, které pečující čtou jako odmítání, je komunikace.</a:t>
            </a:r>
          </a:p>
          <a:p>
            <a:r>
              <a:rPr lang="en-US"/>
              <a:t>22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Snížený příjem stravy neakceleruje smrt.</a:t>
            </a:r>
          </a:p>
          <a:p>
            <a:r>
              <a:rPr lang="en-US"/>
              <a:t>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Snížený příjem je symptom. Co zvažovat s rodinou.</a:t>
            </a:r>
          </a:p>
          <a:p>
            <a:r>
              <a:rPr lang="en-US"/>
              <a:t>24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Původní snímek 22: jídlo s upravenou konzistencí, tvarované do podoby původní potraviny.</a:t>
            </a:r>
          </a:p>
          <a:p>
            <a:r>
              <a:rPr lang="en-US"/>
              <a:t>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Intervence přestanou být efektivní; kdy suplementaci nevysazovat.</a:t>
            </a:r>
          </a:p>
          <a:p>
            <a:r>
              <a:rPr lang="en-US"/>
              <a:t>27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Sipping má stupeň A pro výživu, ne pro kognici. Co se nedoporučuje.</a:t>
            </a:r>
          </a:p>
          <a:p>
            <a:r>
              <a:rPr lang="en-US"/>
              <a:t>28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Vysvětlení sondy či stomie a otázky rodiny.</a:t>
            </a:r>
          </a:p>
          <a:p>
            <a:r>
              <a:rPr lang="en-US"/>
              <a:t>29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Úmrtnost po zavedení PEG, benefity a rizika.</a:t>
            </a:r>
          </a:p>
          <a:p>
            <a:r>
              <a:rPr lang="en-US"/>
              <a:t>30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Otázky pro rozhodující osobu.</a:t>
            </a:r>
          </a:p>
          <a:p>
            <a:r>
              <a:rPr lang="en-US"/>
              <a:t>31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Pocity rozhodující osoby. Empatie.</a:t>
            </a:r>
          </a:p>
          <a:p>
            <a:r>
              <a:rPr lang="en-US"/>
              <a:t>32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Citace závěru systematického přehledu. Doplnit zdroj.</a:t>
            </a:r>
          </a:p>
          <a:p>
            <a:r>
              <a:rPr lang="en-US"/>
              <a:t>33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Konkrétní postup v péči o pana Jaroslava.</a:t>
            </a:r>
          </a:p>
          <a:p>
            <a:r>
              <a:rPr lang="en-US"/>
              <a:t>34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Původní snímek 30 byl plakát seriálu A Man on the Inside. Plakát nereprodukujeme, doporučení zůstává.</a:t>
            </a:r>
          </a:p>
          <a:p>
            <a:r>
              <a:rPr lang="en-US"/>
              <a:t>36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Příloha: doporučení ESPEN, na kterých přednáška stojí. Úplný katalog je na espen.org.</a:t>
            </a:r>
          </a:p>
          <a:p>
            <a:r>
              <a:rPr lang="en-US"/>
              <a:t>38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Příloha: úplný katalog ESPEN, první část. Sedm doporučených postupů platných napříč péčí.</a:t>
            </a:r>
          </a:p>
          <a:p>
            <a:r>
              <a:rPr lang="en-US"/>
              <a:t>39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Příloha: druhá část katalogu. Věk, neurologie, intenzivní a chirurgická péče.</a:t>
            </a:r>
          </a:p>
          <a:p>
            <a:r>
              <a:rPr lang="en-US"/>
              <a:t>40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Příloha: třetí část katalogu. Jednotlivá onemocnění.</a:t>
            </a:r>
          </a:p>
          <a:p>
            <a:r>
              <a:rPr lang="en-US"/>
              <a:t>41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Příloha: EFAD nevydává klinická doporučení pro paliativní péči. Vydává stanoviska k roli nutričního terapeuta.</a:t>
            </a:r>
          </a:p>
          <a:p>
            <a:r>
              <a:rPr lang="en-US"/>
              <a:t>42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Závěr a poděkování.</a:t>
            </a:r>
          </a:p>
          <a:p>
            <a:r>
              <a:rPr lang="en-US"/>
              <a:t>37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5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6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7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8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7.xml" Type="http://schemas.openxmlformats.org/officeDocument/2006/relationships/notesSlide"/><Relationship Id="rId3" Target="../media/image5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8.xml" Type="http://schemas.openxmlformats.org/officeDocument/2006/relationships/notesSlide"/><Relationship Id="rId3" Target="../media/image5.jpeg" Type="http://schemas.openxmlformats.org/officeDocument/2006/relationships/image"/><Relationship Id="rId4" Target="../media/image1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9.xml" Type="http://schemas.openxmlformats.org/officeDocument/2006/relationships/notesSlid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0.xml" Type="http://schemas.openxmlformats.org/officeDocument/2006/relationships/notesSlide"/><Relationship Id="rId3" Target="../media/image5.jpe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1.xml" Type="http://schemas.openxmlformats.org/officeDocument/2006/relationships/notesSlide"/><Relationship Id="rId3" Target="../media/image5.jpe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2.xml" Type="http://schemas.openxmlformats.org/officeDocument/2006/relationships/notesSlid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5.jpe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3.xml" Type="http://schemas.openxmlformats.org/officeDocument/2006/relationships/notesSlid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4.xml" Type="http://schemas.openxmlformats.org/officeDocument/2006/relationships/notesSlide"/><Relationship Id="rId3" Target="../media/image11.jpe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5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6.xml" Type="http://schemas.openxmlformats.org/officeDocument/2006/relationships/notesSlid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7.xml" Type="http://schemas.openxmlformats.org/officeDocument/2006/relationships/notesSlide"/><Relationship Id="rId3" Target="../media/image5.jpeg" Type="http://schemas.openxmlformats.org/officeDocument/2006/relationships/image"/><Relationship Id="rId4" Target="../media/image12.jpe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8.xml" Type="http://schemas.openxmlformats.org/officeDocument/2006/relationships/notesSlide"/><Relationship Id="rId3" Target="../media/image13.jpe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9.xml" Type="http://schemas.openxmlformats.org/officeDocument/2006/relationships/notesSlide"/><Relationship Id="rId3" Target="../media/image5.jpe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0.xml" Type="http://schemas.openxmlformats.org/officeDocument/2006/relationships/notesSlide"/><Relationship Id="rId3" Target="../media/image5.jpe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1.xml" Type="http://schemas.openxmlformats.org/officeDocument/2006/relationships/notesSlid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2.xml" Type="http://schemas.openxmlformats.org/officeDocument/2006/relationships/notesSlid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3.xml" Type="http://schemas.openxmlformats.org/officeDocument/2006/relationships/notesSlide"/><Relationship Id="rId3" Target="../media/image14.pn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4.xml" Type="http://schemas.openxmlformats.org/officeDocument/2006/relationships/notesSlid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5.xml" Type="http://schemas.openxmlformats.org/officeDocument/2006/relationships/notesSlid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6.xml" Type="http://schemas.openxmlformats.org/officeDocument/2006/relationships/notesSlide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7.xml" Type="http://schemas.openxmlformats.org/officeDocument/2006/relationships/notesSlide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8.xml" Type="http://schemas.openxmlformats.org/officeDocument/2006/relationships/notesSlide"/></Relationships>
</file>

<file path=ppt/slides/_rels/slide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9.xml" Type="http://schemas.openxmlformats.org/officeDocument/2006/relationships/notesSlide"/></Relationships>
</file>

<file path=ppt/slides/_rels/slide4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0.xml" Type="http://schemas.openxmlformats.org/officeDocument/2006/relationships/notesSlide"/></Relationships>
</file>

<file path=ppt/slides/_rels/slide4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1.xml" Type="http://schemas.openxmlformats.org/officeDocument/2006/relationships/notesSlide"/></Relationships>
</file>

<file path=ppt/slides/_rels/slide4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2.xml" Type="http://schemas.openxmlformats.org/officeDocument/2006/relationships/notesSlide"/><Relationship Id="rId3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43000" y="914400"/>
            <a:ext cx="1866900" cy="878977"/>
            <a:chOff x="0" y="0"/>
            <a:chExt cx="2489200" cy="117196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89200" cy="1171956"/>
            </a:xfrm>
            <a:custGeom>
              <a:avLst/>
              <a:gdLst/>
              <a:ahLst/>
              <a:cxnLst/>
              <a:rect r="r" b="b" t="t" l="l"/>
              <a:pathLst>
                <a:path h="1171956" w="2489200">
                  <a:moveTo>
                    <a:pt x="0" y="0"/>
                  </a:moveTo>
                  <a:lnTo>
                    <a:pt x="2489200" y="0"/>
                  </a:lnTo>
                  <a:lnTo>
                    <a:pt x="2489200" y="1171956"/>
                  </a:lnTo>
                  <a:lnTo>
                    <a:pt x="0" y="11719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" r="0" b="-5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695308" y="901703"/>
            <a:ext cx="6424298" cy="402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13"/>
              </a:lnSpc>
            </a:pPr>
            <a:r>
              <a:rPr lang="en-US" sz="1650">
                <a:solidFill>
                  <a:srgbClr val="A6C2DB"/>
                </a:solidFill>
                <a:latin typeface="Inter"/>
                <a:ea typeface="Inter"/>
                <a:cs typeface="Inter"/>
                <a:sym typeface="Inter"/>
              </a:rPr>
              <a:t>Klinika geriatrie a interní medicíny 1. LF UK a VFN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68403" y="4869828"/>
            <a:ext cx="12703178" cy="33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1425" spc="185">
                <a:solidFill>
                  <a:srgbClr val="8FC9F5"/>
                </a:solidFill>
                <a:latin typeface="Arimo"/>
                <a:ea typeface="Arimo"/>
                <a:cs typeface="Arimo"/>
                <a:sym typeface="Arimo"/>
              </a:rPr>
              <a:t>PALIATIVNÍ PÉČE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68403" y="5724925"/>
            <a:ext cx="12703178" cy="1056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43"/>
              </a:lnSpc>
            </a:pPr>
            <a:r>
              <a:rPr lang="en-US" sz="7800" spc="-217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Výživa pacientů s demencí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68403" y="8015383"/>
            <a:ext cx="13569953" cy="442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8"/>
              </a:lnSpc>
            </a:pPr>
            <a:r>
              <a:rPr lang="en-US" sz="3000">
                <a:solidFill>
                  <a:srgbClr val="A6C2DB"/>
                </a:solidFill>
                <a:latin typeface="Arimo"/>
                <a:ea typeface="Arimo"/>
                <a:cs typeface="Arimo"/>
                <a:sym typeface="Arimo"/>
              </a:rPr>
              <a:t>Mezi evidencí, etikou a realitou péče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68403" y="8813549"/>
            <a:ext cx="12703178" cy="495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1"/>
              </a:lnSpc>
            </a:pPr>
            <a:r>
              <a:rPr lang="en-US" sz="21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Mgr. Ing. Tereza Vágnerová, Ph.D.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049000" y="0"/>
            <a:ext cx="7239000" cy="10287000"/>
            <a:chOff x="0" y="0"/>
            <a:chExt cx="9652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9652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652000">
                  <a:moveTo>
                    <a:pt x="0" y="0"/>
                  </a:moveTo>
                  <a:lnTo>
                    <a:pt x="9652000" y="0"/>
                  </a:lnTo>
                  <a:lnTo>
                    <a:pt x="9652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44736" t="0" r="-44737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905877" y="0"/>
            <a:ext cx="7382123" cy="10287000"/>
            <a:chOff x="0" y="0"/>
            <a:chExt cx="984283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84283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842830">
                  <a:moveTo>
                    <a:pt x="0" y="0"/>
                  </a:moveTo>
                  <a:lnTo>
                    <a:pt x="9842830" y="0"/>
                  </a:lnTo>
                  <a:lnTo>
                    <a:pt x="9842830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5000">
                  <a:srgbClr val="FFFFFF">
                    <a:alpha val="100000"/>
                  </a:srgbClr>
                </a:gs>
                <a:gs pos="54000">
                  <a:srgbClr val="FFFFFF">
                    <a:alpha val="0"/>
                  </a:srgbClr>
                </a:gs>
              </a:gsLst>
              <a:lin ang="0"/>
            </a:gra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168403" y="564680"/>
            <a:ext cx="157563" cy="33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1425" spc="185">
                <a:solidFill>
                  <a:srgbClr val="1D5994"/>
                </a:solidFill>
                <a:latin typeface="Arimo"/>
                <a:ea typeface="Arimo"/>
                <a:cs typeface="Arimo"/>
                <a:sym typeface="Arimo"/>
              </a:rPr>
              <a:t>I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10113" y="564680"/>
            <a:ext cx="1742875" cy="33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1425" spc="185">
                <a:solidFill>
                  <a:srgbClr val="4A6884"/>
                </a:solidFill>
                <a:latin typeface="Arimo"/>
                <a:ea typeface="Arimo"/>
                <a:cs typeface="Arimo"/>
                <a:sym typeface="Arimo"/>
              </a:rPr>
              <a:t>RÁMEC A ETIKA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3411741" y="728662"/>
            <a:ext cx="209550" cy="28575"/>
            <a:chOff x="0" y="0"/>
            <a:chExt cx="279400" cy="381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1D5994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668916" y="728662"/>
            <a:ext cx="209550" cy="28575"/>
            <a:chOff x="0" y="0"/>
            <a:chExt cx="279400" cy="381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AFC4D6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3926091" y="728662"/>
            <a:ext cx="209550" cy="28575"/>
            <a:chOff x="0" y="0"/>
            <a:chExt cx="279400" cy="381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AFC4D6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4183266" y="728662"/>
            <a:ext cx="209550" cy="28575"/>
            <a:chOff x="0" y="0"/>
            <a:chExt cx="279400" cy="381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AFC4D6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4440441" y="728662"/>
            <a:ext cx="209550" cy="28575"/>
            <a:chOff x="0" y="0"/>
            <a:chExt cx="279400" cy="381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AFC4D6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4697616" y="728662"/>
            <a:ext cx="209550" cy="28575"/>
            <a:chOff x="0" y="0"/>
            <a:chExt cx="279400" cy="381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AFC4D6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8701783" y="564680"/>
            <a:ext cx="950214" cy="33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1425" spc="185">
                <a:solidFill>
                  <a:srgbClr val="4A6884"/>
                </a:solidFill>
                <a:latin typeface="Arimo"/>
                <a:ea typeface="Arimo"/>
                <a:cs typeface="Arimo"/>
                <a:sym typeface="Arimo"/>
              </a:rPr>
              <a:t>02 / 42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68403" y="1397003"/>
            <a:ext cx="8661149" cy="1078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900" spc="-78">
                <a:solidFill>
                  <a:srgbClr val="0F2C47"/>
                </a:solidFill>
                <a:latin typeface="Arimo"/>
                <a:ea typeface="Arimo"/>
                <a:cs typeface="Arimo"/>
                <a:sym typeface="Arimo"/>
              </a:rPr>
              <a:t>Rozhodnutí o podávání či ukončení nutriční podpory nebývá snadné.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68403" y="4921253"/>
            <a:ext cx="8661149" cy="1035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6"/>
              </a:lnSpc>
            </a:pPr>
            <a:r>
              <a:rPr lang="en-US" sz="2550">
                <a:solidFill>
                  <a:srgbClr val="0F2C47"/>
                </a:solidFill>
                <a:latin typeface="Inter"/>
                <a:ea typeface="Inter"/>
                <a:cs typeface="Inter"/>
                <a:sym typeface="Inter"/>
              </a:rPr>
              <a:t>Otázka výživy a hydratace v paliativní medicíně je široce diskutována.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68403" y="6321428"/>
            <a:ext cx="8661149" cy="911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250">
                <a:solidFill>
                  <a:srgbClr val="4A6884"/>
                </a:solidFill>
                <a:latin typeface="Inter"/>
                <a:ea typeface="Inter"/>
                <a:cs typeface="Inter"/>
                <a:sym typeface="Inter"/>
              </a:rPr>
              <a:t>Indikace musí být součástí </a:t>
            </a:r>
            <a:r>
              <a:rPr lang="en-US" sz="2250" b="true">
                <a:solidFill>
                  <a:srgbClr val="0F2C47"/>
                </a:solidFill>
                <a:latin typeface="Inter Bold"/>
                <a:ea typeface="Inter Bold"/>
                <a:cs typeface="Inter Bold"/>
                <a:sym typeface="Inter Bold"/>
              </a:rPr>
              <a:t>komplexní, holistické péče </a:t>
            </a:r>
            <a:r>
              <a:rPr lang="en-US" sz="2250">
                <a:solidFill>
                  <a:srgbClr val="4A6884"/>
                </a:solidFill>
                <a:latin typeface="Inter"/>
                <a:ea typeface="Inter"/>
                <a:cs typeface="Inter"/>
                <a:sym typeface="Inter"/>
              </a:rPr>
              <a:t>, realizované multidisciplinárním týmem.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68403" y="564680"/>
            <a:ext cx="157563" cy="33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1425" spc="185">
                <a:solidFill>
                  <a:srgbClr val="1D5994"/>
                </a:solidFill>
                <a:latin typeface="Arimo"/>
                <a:ea typeface="Arimo"/>
                <a:cs typeface="Arimo"/>
                <a:sym typeface="Arimo"/>
              </a:rPr>
              <a:t>I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510113" y="564680"/>
            <a:ext cx="1742875" cy="33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1425" spc="185">
                <a:solidFill>
                  <a:srgbClr val="4A6884"/>
                </a:solidFill>
                <a:latin typeface="Arimo"/>
                <a:ea typeface="Arimo"/>
                <a:cs typeface="Arimo"/>
                <a:sym typeface="Arimo"/>
              </a:rPr>
              <a:t>RÁMEC A ETIKA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3411741" y="728662"/>
            <a:ext cx="209550" cy="28575"/>
            <a:chOff x="0" y="0"/>
            <a:chExt cx="279400" cy="381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1D5994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668916" y="728662"/>
            <a:ext cx="209550" cy="28575"/>
            <a:chOff x="0" y="0"/>
            <a:chExt cx="279400" cy="381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AFC4D6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3926091" y="728662"/>
            <a:ext cx="209550" cy="28575"/>
            <a:chOff x="0" y="0"/>
            <a:chExt cx="279400" cy="381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AFC4D6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4183266" y="728662"/>
            <a:ext cx="209550" cy="28575"/>
            <a:chOff x="0" y="0"/>
            <a:chExt cx="279400" cy="381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AFC4D6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4440441" y="728662"/>
            <a:ext cx="209550" cy="28575"/>
            <a:chOff x="0" y="0"/>
            <a:chExt cx="279400" cy="381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AFC4D6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4697616" y="728662"/>
            <a:ext cx="209550" cy="28575"/>
            <a:chOff x="0" y="0"/>
            <a:chExt cx="279400" cy="381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AFC4D6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6245583" y="564680"/>
            <a:ext cx="950214" cy="33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1425" spc="185">
                <a:solidFill>
                  <a:srgbClr val="4A6884"/>
                </a:solidFill>
                <a:latin typeface="Arimo"/>
                <a:ea typeface="Arimo"/>
                <a:cs typeface="Arimo"/>
                <a:sym typeface="Arimo"/>
              </a:rPr>
              <a:t>03 / 42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68403" y="1406528"/>
            <a:ext cx="15253973" cy="1214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08"/>
              </a:lnSpc>
            </a:pPr>
            <a:r>
              <a:rPr lang="en-US" sz="4500" spc="-108">
                <a:solidFill>
                  <a:srgbClr val="0F2C47"/>
                </a:solidFill>
                <a:latin typeface="Arimo"/>
                <a:ea typeface="Arimo"/>
                <a:cs typeface="Arimo"/>
                <a:sym typeface="Arimo"/>
              </a:rPr>
              <a:t>Nutriční podporu indikujeme včas </a:t>
            </a:r>
          </a:p>
          <a:p>
            <a:pPr algn="l">
              <a:lnSpc>
                <a:spcPts val="4610"/>
              </a:lnSpc>
            </a:pPr>
            <a:r>
              <a:rPr lang="en-US" sz="4500" spc="-108">
                <a:solidFill>
                  <a:srgbClr val="0F2C47"/>
                </a:solidFill>
                <a:latin typeface="Arimo"/>
                <a:ea typeface="Arimo"/>
                <a:cs typeface="Arimo"/>
                <a:sym typeface="Arimo"/>
              </a:rPr>
              <a:t>a jen tam, kde přináší prokazatelný benefit.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68403" y="4977432"/>
            <a:ext cx="8247383" cy="372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4"/>
              </a:lnSpc>
            </a:pPr>
            <a:r>
              <a:rPr lang="en-US" sz="2550">
                <a:solidFill>
                  <a:srgbClr val="0F2C47"/>
                </a:solidFill>
                <a:latin typeface="Arimo"/>
                <a:ea typeface="Arimo"/>
                <a:cs typeface="Arimo"/>
                <a:sym typeface="Arimo"/>
              </a:rPr>
              <a:t>Hodnocení stavu výživy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68403" y="5543950"/>
            <a:ext cx="7719317" cy="1718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7"/>
              </a:lnSpc>
            </a:pPr>
            <a:r>
              <a:rPr lang="en-US" sz="2100">
                <a:solidFill>
                  <a:srgbClr val="4A6884"/>
                </a:solidFill>
                <a:latin typeface="Inter"/>
                <a:ea typeface="Inter"/>
                <a:cs typeface="Inter"/>
                <a:sym typeface="Inter"/>
              </a:rPr>
              <a:t>Při poskytování paliativní péče je nutné věnovat zvláštní pozornost hodnocení stavu výživy pacienta a včas indikovat nutriční podporu v situaci, kdy pacientovi přináší prokazatelný benefit.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626603" y="4977432"/>
            <a:ext cx="8247383" cy="372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4"/>
              </a:lnSpc>
            </a:pPr>
            <a:r>
              <a:rPr lang="en-US" sz="2550">
                <a:solidFill>
                  <a:srgbClr val="0F2C47"/>
                </a:solidFill>
                <a:latin typeface="Arimo"/>
                <a:ea typeface="Arimo"/>
                <a:cs typeface="Arimo"/>
                <a:sym typeface="Arimo"/>
              </a:rPr>
              <a:t>Reálné cíle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626603" y="5543950"/>
            <a:ext cx="8247383" cy="470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7"/>
              </a:lnSpc>
            </a:pPr>
            <a:r>
              <a:rPr lang="en-US" sz="2100">
                <a:solidFill>
                  <a:srgbClr val="4A6884"/>
                </a:solidFill>
                <a:latin typeface="Inter"/>
                <a:ea typeface="Inter"/>
                <a:cs typeface="Inter"/>
                <a:sym typeface="Inter"/>
              </a:rPr>
              <a:t>Zároveň je nezbytné, aby </a:t>
            </a:r>
            <a:r>
              <a:rPr lang="en-US" sz="2100" b="true">
                <a:solidFill>
                  <a:srgbClr val="0F2C47"/>
                </a:solidFill>
                <a:latin typeface="Inter Bold"/>
                <a:ea typeface="Inter Bold"/>
                <a:cs typeface="Inter Bold"/>
                <a:sym typeface="Inter Bold"/>
              </a:rPr>
              <a:t>cíle intervence byly reálné</a:t>
            </a:r>
            <a:r>
              <a:rPr lang="en-US" sz="2100">
                <a:solidFill>
                  <a:srgbClr val="4A6884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68403" y="564680"/>
            <a:ext cx="157563" cy="33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1425" spc="185">
                <a:solidFill>
                  <a:srgbClr val="1D5994"/>
                </a:solidFill>
                <a:latin typeface="Arimo"/>
                <a:ea typeface="Arimo"/>
                <a:cs typeface="Arimo"/>
                <a:sym typeface="Arimo"/>
              </a:rPr>
              <a:t>I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510113" y="564680"/>
            <a:ext cx="1742875" cy="33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1425" spc="185">
                <a:solidFill>
                  <a:srgbClr val="4A6884"/>
                </a:solidFill>
                <a:latin typeface="Arimo"/>
                <a:ea typeface="Arimo"/>
                <a:cs typeface="Arimo"/>
                <a:sym typeface="Arimo"/>
              </a:rPr>
              <a:t>RÁMEC A ETIKA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3411741" y="728662"/>
            <a:ext cx="209550" cy="28575"/>
            <a:chOff x="0" y="0"/>
            <a:chExt cx="279400" cy="381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1D5994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668916" y="728662"/>
            <a:ext cx="209550" cy="28575"/>
            <a:chOff x="0" y="0"/>
            <a:chExt cx="279400" cy="381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AFC4D6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3926091" y="728662"/>
            <a:ext cx="209550" cy="28575"/>
            <a:chOff x="0" y="0"/>
            <a:chExt cx="279400" cy="381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AFC4D6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4183266" y="728662"/>
            <a:ext cx="209550" cy="28575"/>
            <a:chOff x="0" y="0"/>
            <a:chExt cx="279400" cy="381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AFC4D6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4440441" y="728662"/>
            <a:ext cx="209550" cy="28575"/>
            <a:chOff x="0" y="0"/>
            <a:chExt cx="279400" cy="381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AFC4D6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4697616" y="728662"/>
            <a:ext cx="209550" cy="28575"/>
            <a:chOff x="0" y="0"/>
            <a:chExt cx="279400" cy="381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AFC4D6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6245583" y="564680"/>
            <a:ext cx="950214" cy="33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1425" spc="185">
                <a:solidFill>
                  <a:srgbClr val="4A6884"/>
                </a:solidFill>
                <a:latin typeface="Arimo"/>
                <a:ea typeface="Arimo"/>
                <a:cs typeface="Arimo"/>
                <a:sym typeface="Arimo"/>
              </a:rPr>
              <a:t>04 / 42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68403" y="1406528"/>
            <a:ext cx="15253973" cy="1214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08"/>
              </a:lnSpc>
            </a:pPr>
            <a:r>
              <a:rPr lang="en-US" sz="4500" spc="-108">
                <a:solidFill>
                  <a:srgbClr val="0F2C47"/>
                </a:solidFill>
                <a:latin typeface="Arimo"/>
                <a:ea typeface="Arimo"/>
                <a:cs typeface="Arimo"/>
                <a:sym typeface="Arimo"/>
              </a:rPr>
              <a:t>Doporučení pro výživu a hydrataci </a:t>
            </a:r>
          </a:p>
          <a:p>
            <a:pPr algn="l">
              <a:lnSpc>
                <a:spcPts val="4610"/>
              </a:lnSpc>
            </a:pPr>
            <a:r>
              <a:rPr lang="en-US" sz="4500" spc="-108">
                <a:solidFill>
                  <a:srgbClr val="0F2C47"/>
                </a:solidFill>
                <a:latin typeface="Arimo"/>
                <a:ea typeface="Arimo"/>
                <a:cs typeface="Arimo"/>
                <a:sym typeface="Arimo"/>
              </a:rPr>
              <a:t>u demence ESPEN aktualizoval v roce 2024.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68403" y="4180380"/>
            <a:ext cx="1709423" cy="977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53"/>
              </a:lnSpc>
            </a:pPr>
            <a:r>
              <a:rPr lang="en-US" sz="11250" spc="-450">
                <a:solidFill>
                  <a:srgbClr val="1D5994"/>
                </a:solidFill>
                <a:latin typeface="Arimo"/>
                <a:ea typeface="Arimo"/>
                <a:cs typeface="Arimo"/>
                <a:sym typeface="Arimo"/>
              </a:rPr>
              <a:t>40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035303" y="4704255"/>
            <a:ext cx="3867617" cy="398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5"/>
              </a:lnSpc>
            </a:pPr>
            <a:r>
              <a:rPr lang="en-US" sz="2100">
                <a:solidFill>
                  <a:srgbClr val="4A6884"/>
                </a:solidFill>
                <a:latin typeface="Inter"/>
                <a:ea typeface="Inter"/>
                <a:cs typeface="Inter"/>
                <a:sym typeface="Inter"/>
              </a:rPr>
              <a:t>doporučení v tomto postupu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143000" y="5488486"/>
            <a:ext cx="7543800" cy="9525"/>
            <a:chOff x="0" y="0"/>
            <a:chExt cx="10058400" cy="127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058400" cy="12700"/>
            </a:xfrm>
            <a:custGeom>
              <a:avLst/>
              <a:gdLst/>
              <a:ahLst/>
              <a:cxnLst/>
              <a:rect r="r" b="b" t="t" l="l"/>
              <a:pathLst>
                <a:path h="1270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AFC4D6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168403" y="5609130"/>
            <a:ext cx="7719317" cy="415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7"/>
              </a:lnSpc>
            </a:pPr>
            <a:r>
              <a:rPr lang="en-US" sz="1950">
                <a:solidFill>
                  <a:srgbClr val="0F2C47"/>
                </a:solidFill>
                <a:latin typeface="Inter"/>
                <a:ea typeface="Inter"/>
                <a:cs typeface="Inter"/>
                <a:sym typeface="Inter"/>
              </a:rPr>
              <a:t>7 na úrovni organizace, která péči poskytuje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143000" y="6155236"/>
            <a:ext cx="7543800" cy="9525"/>
            <a:chOff x="0" y="0"/>
            <a:chExt cx="10058400" cy="127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058400" cy="12700"/>
            </a:xfrm>
            <a:custGeom>
              <a:avLst/>
              <a:gdLst/>
              <a:ahLst/>
              <a:cxnLst/>
              <a:rect r="r" b="b" t="t" l="l"/>
              <a:pathLst>
                <a:path h="1270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AFC4D6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168403" y="6275880"/>
            <a:ext cx="7719317" cy="415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7"/>
              </a:lnSpc>
            </a:pPr>
            <a:r>
              <a:rPr lang="en-US" sz="1950">
                <a:solidFill>
                  <a:srgbClr val="0F2C47"/>
                </a:solidFill>
                <a:latin typeface="Inter"/>
                <a:ea typeface="Inter"/>
                <a:cs typeface="Inter"/>
                <a:sym typeface="Inter"/>
              </a:rPr>
              <a:t>33 na úrovni jednotlivého klienta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68403" y="7133130"/>
            <a:ext cx="7719317" cy="349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5"/>
              </a:lnSpc>
            </a:pPr>
            <a:r>
              <a:rPr lang="en-US" sz="1500">
                <a:solidFill>
                  <a:srgbClr val="4A6884"/>
                </a:solidFill>
                <a:latin typeface="Arimo"/>
                <a:ea typeface="Arimo"/>
                <a:cs typeface="Arimo"/>
                <a:sym typeface="Arimo"/>
              </a:rPr>
              <a:t>Volkert D, et al. Clin Nutr 2024;43(6):1599–1626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626603" y="3799380"/>
            <a:ext cx="7719317" cy="33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1425" spc="185">
                <a:solidFill>
                  <a:srgbClr val="1D5994"/>
                </a:solidFill>
                <a:latin typeface="Arimo"/>
                <a:ea typeface="Arimo"/>
                <a:cs typeface="Arimo"/>
                <a:sym typeface="Arimo"/>
              </a:rPr>
              <a:t>STUPNĚ DOPORUČENÍ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601200" y="4352849"/>
            <a:ext cx="7543800" cy="9525"/>
            <a:chOff x="0" y="0"/>
            <a:chExt cx="10058400" cy="127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058400" cy="12700"/>
            </a:xfrm>
            <a:custGeom>
              <a:avLst/>
              <a:gdLst/>
              <a:ahLst/>
              <a:cxnLst/>
              <a:rect r="r" b="b" t="t" l="l"/>
              <a:pathLst>
                <a:path h="1270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AFC4D6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9626603" y="4521127"/>
            <a:ext cx="1454153" cy="688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7"/>
              </a:lnSpc>
            </a:pPr>
            <a:r>
              <a:rPr lang="en-US" sz="1500" spc="120">
                <a:solidFill>
                  <a:srgbClr val="1D5994"/>
                </a:solidFill>
                <a:latin typeface="Arimo"/>
                <a:ea typeface="Arimo"/>
                <a:cs typeface="Arimo"/>
                <a:sym typeface="Arimo"/>
              </a:rPr>
              <a:t>A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322053" y="4521127"/>
            <a:ext cx="5973004" cy="688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8"/>
              </a:lnSpc>
            </a:pPr>
            <a:r>
              <a:rPr lang="en-US" sz="1800">
                <a:solidFill>
                  <a:srgbClr val="0F2C47"/>
                </a:solidFill>
                <a:latin typeface="Inter"/>
                <a:ea typeface="Inter"/>
                <a:cs typeface="Inter"/>
                <a:sym typeface="Inter"/>
              </a:rPr>
              <a:t>metaanalýza, systematický přehled či RCT přímo aplikovatelné na populaci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9601200" y="5368157"/>
            <a:ext cx="7543800" cy="9525"/>
            <a:chOff x="0" y="0"/>
            <a:chExt cx="10058400" cy="127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058400" cy="12700"/>
            </a:xfrm>
            <a:custGeom>
              <a:avLst/>
              <a:gdLst/>
              <a:ahLst/>
              <a:cxnLst/>
              <a:rect r="r" b="b" t="t" l="l"/>
              <a:pathLst>
                <a:path h="1270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AFC4D6"/>
            </a:solid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9626603" y="5536435"/>
            <a:ext cx="1454153" cy="356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7"/>
              </a:lnSpc>
            </a:pPr>
            <a:r>
              <a:rPr lang="en-US" sz="1500" spc="120">
                <a:solidFill>
                  <a:srgbClr val="1D5994"/>
                </a:solidFill>
                <a:latin typeface="Arimo"/>
                <a:ea typeface="Arimo"/>
                <a:cs typeface="Arimo"/>
                <a:sym typeface="Arimo"/>
              </a:rPr>
              <a:t>B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1322053" y="5536435"/>
            <a:ext cx="6382388" cy="356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8"/>
              </a:lnSpc>
            </a:pPr>
            <a:r>
              <a:rPr lang="en-US" sz="1800">
                <a:solidFill>
                  <a:srgbClr val="0F2C47"/>
                </a:solidFill>
                <a:latin typeface="Inter"/>
                <a:ea typeface="Inter"/>
                <a:cs typeface="Inter"/>
                <a:sym typeface="Inter"/>
              </a:rPr>
              <a:t>konzistentní studie nižší úrovně nebo extrapolace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9601200" y="6052023"/>
            <a:ext cx="7543800" cy="9525"/>
            <a:chOff x="0" y="0"/>
            <a:chExt cx="10058400" cy="127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058400" cy="12700"/>
            </a:xfrm>
            <a:custGeom>
              <a:avLst/>
              <a:gdLst/>
              <a:ahLst/>
              <a:cxnLst/>
              <a:rect r="r" b="b" t="t" l="l"/>
              <a:pathLst>
                <a:path h="1270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AFC4D6"/>
            </a:solid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9626603" y="6220292"/>
            <a:ext cx="1454153" cy="356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7"/>
              </a:lnSpc>
            </a:pPr>
            <a:r>
              <a:rPr lang="en-US" sz="1500" spc="120">
                <a:solidFill>
                  <a:srgbClr val="1D5994"/>
                </a:solidFill>
                <a:latin typeface="Arimo"/>
                <a:ea typeface="Arimo"/>
                <a:cs typeface="Arimo"/>
                <a:sym typeface="Arimo"/>
              </a:rPr>
              <a:t>0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1322053" y="6220292"/>
            <a:ext cx="6382388" cy="356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8"/>
              </a:lnSpc>
            </a:pPr>
            <a:r>
              <a:rPr lang="en-US" sz="1800">
                <a:solidFill>
                  <a:srgbClr val="0F2C47"/>
                </a:solidFill>
                <a:latin typeface="Inter"/>
                <a:ea typeface="Inter"/>
                <a:cs typeface="Inter"/>
                <a:sym typeface="Inter"/>
              </a:rPr>
              <a:t>úroveň 3–4 nebo extrapolace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9601200" y="6735890"/>
            <a:ext cx="7543800" cy="9525"/>
            <a:chOff x="0" y="0"/>
            <a:chExt cx="10058400" cy="127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058400" cy="12700"/>
            </a:xfrm>
            <a:custGeom>
              <a:avLst/>
              <a:gdLst/>
              <a:ahLst/>
              <a:cxnLst/>
              <a:rect r="r" b="b" t="t" l="l"/>
              <a:pathLst>
                <a:path h="1270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AFC4D6"/>
            </a:solidFill>
          </p:spPr>
        </p:sp>
      </p:grpSp>
      <p:sp>
        <p:nvSpPr>
          <p:cNvPr name="TextBox 42" id="42"/>
          <p:cNvSpPr txBox="true"/>
          <p:nvPr/>
        </p:nvSpPr>
        <p:spPr>
          <a:xfrm rot="0">
            <a:off x="9626603" y="6904158"/>
            <a:ext cx="1454153" cy="688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7"/>
              </a:lnSpc>
            </a:pPr>
            <a:r>
              <a:rPr lang="en-US" sz="1500" spc="120">
                <a:solidFill>
                  <a:srgbClr val="1D5994"/>
                </a:solidFill>
                <a:latin typeface="Arimo"/>
                <a:ea typeface="Arimo"/>
                <a:cs typeface="Arimo"/>
                <a:sym typeface="Arimo"/>
              </a:rPr>
              <a:t>GPP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1322053" y="6904158"/>
            <a:ext cx="5973004" cy="688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8"/>
              </a:lnSpc>
            </a:pPr>
            <a:r>
              <a:rPr lang="en-US" sz="1800">
                <a:solidFill>
                  <a:srgbClr val="0F2C47"/>
                </a:solidFill>
                <a:latin typeface="Inter"/>
                <a:ea typeface="Inter"/>
                <a:cs typeface="Inter"/>
                <a:sym typeface="Inter"/>
              </a:rPr>
              <a:t>konsenzus expertů. Pro tuto oblast většina doporučení, protože kvalitní studie chybí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9626603" y="7995666"/>
            <a:ext cx="8247383" cy="377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5"/>
              </a:lnSpc>
            </a:pPr>
            <a:r>
              <a:rPr lang="en-US" sz="1800" i="true">
                <a:solidFill>
                  <a:srgbClr val="4A6884"/>
                </a:solidFill>
                <a:latin typeface="Inter Italics"/>
                <a:ea typeface="Inter Italics"/>
                <a:cs typeface="Inter Italics"/>
                <a:sym typeface="Inter Italics"/>
              </a:rPr>
              <a:t>To, že je doporučení GPP, neznamená, že je téma méně důležité.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68403" y="564680"/>
            <a:ext cx="157563" cy="33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1425" spc="185">
                <a:solidFill>
                  <a:srgbClr val="1D5994"/>
                </a:solidFill>
                <a:latin typeface="Arimo"/>
                <a:ea typeface="Arimo"/>
                <a:cs typeface="Arimo"/>
                <a:sym typeface="Arimo"/>
              </a:rPr>
              <a:t>I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510113" y="564680"/>
            <a:ext cx="1742875" cy="33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1425" spc="185">
                <a:solidFill>
                  <a:srgbClr val="4A6884"/>
                </a:solidFill>
                <a:latin typeface="Arimo"/>
                <a:ea typeface="Arimo"/>
                <a:cs typeface="Arimo"/>
                <a:sym typeface="Arimo"/>
              </a:rPr>
              <a:t>RÁMEC A ETIKA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3411741" y="728662"/>
            <a:ext cx="209550" cy="28575"/>
            <a:chOff x="0" y="0"/>
            <a:chExt cx="279400" cy="381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1D5994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668916" y="728662"/>
            <a:ext cx="209550" cy="28575"/>
            <a:chOff x="0" y="0"/>
            <a:chExt cx="279400" cy="381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AFC4D6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3926091" y="728662"/>
            <a:ext cx="209550" cy="28575"/>
            <a:chOff x="0" y="0"/>
            <a:chExt cx="279400" cy="381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AFC4D6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4183266" y="728662"/>
            <a:ext cx="209550" cy="28575"/>
            <a:chOff x="0" y="0"/>
            <a:chExt cx="279400" cy="381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AFC4D6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4440441" y="728662"/>
            <a:ext cx="209550" cy="28575"/>
            <a:chOff x="0" y="0"/>
            <a:chExt cx="279400" cy="381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AFC4D6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4697616" y="728662"/>
            <a:ext cx="209550" cy="28575"/>
            <a:chOff x="0" y="0"/>
            <a:chExt cx="279400" cy="381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AFC4D6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6245583" y="564680"/>
            <a:ext cx="950214" cy="33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1425" spc="185">
                <a:solidFill>
                  <a:srgbClr val="4A6884"/>
                </a:solidFill>
                <a:latin typeface="Arimo"/>
                <a:ea typeface="Arimo"/>
                <a:cs typeface="Arimo"/>
                <a:sym typeface="Arimo"/>
              </a:rPr>
              <a:t>05 / 42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68403" y="1406528"/>
            <a:ext cx="15253973" cy="1214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08"/>
              </a:lnSpc>
            </a:pPr>
            <a:r>
              <a:rPr lang="en-US" sz="4500" spc="-108">
                <a:solidFill>
                  <a:srgbClr val="0F2C47"/>
                </a:solidFill>
                <a:latin typeface="Arimo"/>
                <a:ea typeface="Arimo"/>
                <a:cs typeface="Arimo"/>
                <a:sym typeface="Arimo"/>
              </a:rPr>
              <a:t>Cíle péče následují hlavní etické principy. </a:t>
            </a:r>
          </a:p>
          <a:p>
            <a:pPr algn="l">
              <a:lnSpc>
                <a:spcPts val="4610"/>
              </a:lnSpc>
            </a:pPr>
            <a:r>
              <a:rPr lang="en-US" sz="4500" spc="-108">
                <a:solidFill>
                  <a:srgbClr val="0F2C47"/>
                </a:solidFill>
                <a:latin typeface="Arimo"/>
                <a:ea typeface="Arimo"/>
                <a:cs typeface="Arimo"/>
                <a:sym typeface="Arimo"/>
              </a:rPr>
              <a:t>Platí i pro indikaci nutriční podpory.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143000" y="4093293"/>
            <a:ext cx="7543800" cy="19050"/>
            <a:chOff x="0" y="0"/>
            <a:chExt cx="10058400" cy="254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058400" cy="25400"/>
            </a:xfrm>
            <a:custGeom>
              <a:avLst/>
              <a:gdLst/>
              <a:ahLst/>
              <a:cxnLst/>
              <a:rect r="r" b="b" t="t" l="l"/>
              <a:pathLst>
                <a:path h="2540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1D5994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168403" y="4328246"/>
            <a:ext cx="7719317" cy="353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3"/>
              </a:lnSpc>
            </a:pPr>
            <a:r>
              <a:rPr lang="en-US" sz="1500" spc="195">
                <a:solidFill>
                  <a:srgbClr val="1D5994"/>
                </a:solidFill>
                <a:latin typeface="Arimo"/>
                <a:ea typeface="Arimo"/>
                <a:cs typeface="Arimo"/>
                <a:sym typeface="Arimo"/>
              </a:rPr>
              <a:t>01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68403" y="4979737"/>
            <a:ext cx="8247383" cy="476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98"/>
              </a:lnSpc>
            </a:pPr>
            <a:r>
              <a:rPr lang="en-US" sz="4200" spc="-92">
                <a:solidFill>
                  <a:srgbClr val="0F2C47"/>
                </a:solidFill>
                <a:latin typeface="Arimo"/>
                <a:ea typeface="Arimo"/>
                <a:cs typeface="Arimo"/>
                <a:sym typeface="Arimo"/>
              </a:rPr>
              <a:t>Autonomie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601200" y="4093293"/>
            <a:ext cx="7543800" cy="19050"/>
            <a:chOff x="0" y="0"/>
            <a:chExt cx="10058400" cy="25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058400" cy="25400"/>
            </a:xfrm>
            <a:custGeom>
              <a:avLst/>
              <a:gdLst/>
              <a:ahLst/>
              <a:cxnLst/>
              <a:rect r="r" b="b" t="t" l="l"/>
              <a:pathLst>
                <a:path h="2540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1D5994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9626603" y="4328246"/>
            <a:ext cx="7719317" cy="353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3"/>
              </a:lnSpc>
            </a:pPr>
            <a:r>
              <a:rPr lang="en-US" sz="1500" spc="195">
                <a:solidFill>
                  <a:srgbClr val="1D5994"/>
                </a:solidFill>
                <a:latin typeface="Arimo"/>
                <a:ea typeface="Arimo"/>
                <a:cs typeface="Arimo"/>
                <a:sym typeface="Arimo"/>
              </a:rPr>
              <a:t>02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626603" y="4979737"/>
            <a:ext cx="8247383" cy="476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98"/>
              </a:lnSpc>
            </a:pPr>
            <a:r>
              <a:rPr lang="en-US" sz="4200" spc="-92">
                <a:solidFill>
                  <a:srgbClr val="0F2C47"/>
                </a:solidFill>
                <a:latin typeface="Arimo"/>
                <a:ea typeface="Arimo"/>
                <a:cs typeface="Arimo"/>
                <a:sym typeface="Arimo"/>
              </a:rPr>
              <a:t>Činit dobro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143000" y="5938838"/>
            <a:ext cx="7543800" cy="19050"/>
            <a:chOff x="0" y="0"/>
            <a:chExt cx="10058400" cy="254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058400" cy="25400"/>
            </a:xfrm>
            <a:custGeom>
              <a:avLst/>
              <a:gdLst/>
              <a:ahLst/>
              <a:cxnLst/>
              <a:rect r="r" b="b" t="t" l="l"/>
              <a:pathLst>
                <a:path h="2540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1D5994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168403" y="6173791"/>
            <a:ext cx="7719317" cy="353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3"/>
              </a:lnSpc>
            </a:pPr>
            <a:r>
              <a:rPr lang="en-US" sz="1500" spc="195">
                <a:solidFill>
                  <a:srgbClr val="1D5994"/>
                </a:solidFill>
                <a:latin typeface="Arimo"/>
                <a:ea typeface="Arimo"/>
                <a:cs typeface="Arimo"/>
                <a:sym typeface="Arimo"/>
              </a:rPr>
              <a:t>03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68403" y="6825282"/>
            <a:ext cx="8247383" cy="476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98"/>
              </a:lnSpc>
            </a:pPr>
            <a:r>
              <a:rPr lang="en-US" sz="4200" spc="-92">
                <a:solidFill>
                  <a:srgbClr val="0F2C47"/>
                </a:solidFill>
                <a:latin typeface="Arimo"/>
                <a:ea typeface="Arimo"/>
                <a:cs typeface="Arimo"/>
                <a:sym typeface="Arimo"/>
              </a:rPr>
              <a:t>Neškodit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9601200" y="5938838"/>
            <a:ext cx="7543800" cy="19050"/>
            <a:chOff x="0" y="0"/>
            <a:chExt cx="10058400" cy="254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058400" cy="25400"/>
            </a:xfrm>
            <a:custGeom>
              <a:avLst/>
              <a:gdLst/>
              <a:ahLst/>
              <a:cxnLst/>
              <a:rect r="r" b="b" t="t" l="l"/>
              <a:pathLst>
                <a:path h="2540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1D5994"/>
            </a:solid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9626603" y="6173791"/>
            <a:ext cx="7719317" cy="353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3"/>
              </a:lnSpc>
            </a:pPr>
            <a:r>
              <a:rPr lang="en-US" sz="1500" spc="195">
                <a:solidFill>
                  <a:srgbClr val="1D5994"/>
                </a:solidFill>
                <a:latin typeface="Arimo"/>
                <a:ea typeface="Arimo"/>
                <a:cs typeface="Arimo"/>
                <a:sym typeface="Arimo"/>
              </a:rPr>
              <a:t>04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626603" y="6825282"/>
            <a:ext cx="8247383" cy="476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98"/>
              </a:lnSpc>
            </a:pPr>
            <a:r>
              <a:rPr lang="en-US" sz="4200" spc="-92">
                <a:solidFill>
                  <a:srgbClr val="0F2C47"/>
                </a:solidFill>
                <a:latin typeface="Arimo"/>
                <a:ea typeface="Arimo"/>
                <a:cs typeface="Arimo"/>
                <a:sym typeface="Arimo"/>
              </a:rPr>
              <a:t>Rozhodovat spravedlivě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68403" y="7762161"/>
            <a:ext cx="17551403" cy="349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2"/>
              </a:lnSpc>
            </a:pPr>
            <a:r>
              <a:rPr lang="en-US" sz="1650">
                <a:solidFill>
                  <a:srgbClr val="4A6884"/>
                </a:solidFill>
                <a:latin typeface="Arimo"/>
                <a:ea typeface="Arimo"/>
                <a:cs typeface="Arimo"/>
                <a:sym typeface="Arimo"/>
              </a:rPr>
              <a:t>Vienna Declaration 2022 · nutriční péče jako lidské právo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68403" y="564680"/>
            <a:ext cx="157563" cy="33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1425" spc="185">
                <a:solidFill>
                  <a:srgbClr val="1D5994"/>
                </a:solidFill>
                <a:latin typeface="Arimo"/>
                <a:ea typeface="Arimo"/>
                <a:cs typeface="Arimo"/>
                <a:sym typeface="Arimo"/>
              </a:rPr>
              <a:t>I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510113" y="564680"/>
            <a:ext cx="1742875" cy="33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1425" spc="185">
                <a:solidFill>
                  <a:srgbClr val="4A6884"/>
                </a:solidFill>
                <a:latin typeface="Arimo"/>
                <a:ea typeface="Arimo"/>
                <a:cs typeface="Arimo"/>
                <a:sym typeface="Arimo"/>
              </a:rPr>
              <a:t>RÁMEC A ETIKA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3411741" y="728662"/>
            <a:ext cx="209550" cy="28575"/>
            <a:chOff x="0" y="0"/>
            <a:chExt cx="279400" cy="381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1D5994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668916" y="728662"/>
            <a:ext cx="209550" cy="28575"/>
            <a:chOff x="0" y="0"/>
            <a:chExt cx="279400" cy="381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AFC4D6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3926091" y="728662"/>
            <a:ext cx="209550" cy="28575"/>
            <a:chOff x="0" y="0"/>
            <a:chExt cx="279400" cy="381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AFC4D6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4183266" y="728662"/>
            <a:ext cx="209550" cy="28575"/>
            <a:chOff x="0" y="0"/>
            <a:chExt cx="279400" cy="381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AFC4D6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4440441" y="728662"/>
            <a:ext cx="209550" cy="28575"/>
            <a:chOff x="0" y="0"/>
            <a:chExt cx="279400" cy="381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AFC4D6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4697616" y="728662"/>
            <a:ext cx="209550" cy="28575"/>
            <a:chOff x="0" y="0"/>
            <a:chExt cx="279400" cy="381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AFC4D6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6245583" y="564680"/>
            <a:ext cx="950214" cy="33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1425" spc="185">
                <a:solidFill>
                  <a:srgbClr val="4A6884"/>
                </a:solidFill>
                <a:latin typeface="Arimo"/>
                <a:ea typeface="Arimo"/>
                <a:cs typeface="Arimo"/>
                <a:sym typeface="Arimo"/>
              </a:rPr>
              <a:t>06 / 42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68403" y="1425578"/>
            <a:ext cx="15253973" cy="1488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66"/>
              </a:lnSpc>
            </a:pPr>
            <a:r>
              <a:rPr lang="en-US" sz="5550" spc="-127">
                <a:solidFill>
                  <a:srgbClr val="0F2C47"/>
                </a:solidFill>
                <a:latin typeface="Arimo"/>
                <a:ea typeface="Arimo"/>
                <a:cs typeface="Arimo"/>
                <a:sym typeface="Arimo"/>
              </a:rPr>
              <a:t>Cíl intervence musí být konkrétní, </a:t>
            </a:r>
          </a:p>
          <a:p>
            <a:pPr algn="l">
              <a:lnSpc>
                <a:spcPts val="5668"/>
              </a:lnSpc>
            </a:pPr>
            <a:r>
              <a:rPr lang="en-US" sz="5550" spc="-133">
                <a:solidFill>
                  <a:srgbClr val="0F2C47"/>
                </a:solidFill>
                <a:latin typeface="Arimo"/>
                <a:ea typeface="Arimo"/>
                <a:cs typeface="Arimo"/>
                <a:sym typeface="Arimo"/>
              </a:rPr>
              <a:t>měřitelný a časově ohraničený.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143000" y="3717731"/>
            <a:ext cx="16002000" cy="9525"/>
            <a:chOff x="0" y="0"/>
            <a:chExt cx="21336000" cy="127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336000" cy="12700"/>
            </a:xfrm>
            <a:custGeom>
              <a:avLst/>
              <a:gdLst/>
              <a:ahLst/>
              <a:cxnLst/>
              <a:rect r="r" b="b" t="t" l="l"/>
              <a:pathLst>
                <a:path h="12700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AFC4D6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168403" y="4019350"/>
            <a:ext cx="901703" cy="433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9"/>
              </a:lnSpc>
            </a:pPr>
            <a:r>
              <a:rPr lang="en-US" sz="1800" spc="179">
                <a:solidFill>
                  <a:srgbClr val="1D5994"/>
                </a:solidFill>
                <a:latin typeface="Arimo"/>
                <a:ea typeface="Arimo"/>
                <a:cs typeface="Arimo"/>
                <a:sym typeface="Arimo"/>
              </a:rPr>
              <a:t>01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349503" y="4009825"/>
            <a:ext cx="11516363" cy="419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2"/>
              </a:lnSpc>
            </a:pPr>
            <a:r>
              <a:rPr lang="en-US" sz="3300" spc="-66">
                <a:solidFill>
                  <a:srgbClr val="0F2C47"/>
                </a:solidFill>
                <a:latin typeface="Arimo"/>
                <a:ea typeface="Arimo"/>
                <a:cs typeface="Arimo"/>
                <a:sym typeface="Arimo"/>
              </a:rPr>
              <a:t>konkrétní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143000" y="4669041"/>
            <a:ext cx="16002000" cy="9525"/>
            <a:chOff x="0" y="0"/>
            <a:chExt cx="21336000" cy="127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336000" cy="12700"/>
            </a:xfrm>
            <a:custGeom>
              <a:avLst/>
              <a:gdLst/>
              <a:ahLst/>
              <a:cxnLst/>
              <a:rect r="r" b="b" t="t" l="l"/>
              <a:pathLst>
                <a:path h="12700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AFC4D6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168403" y="4970659"/>
            <a:ext cx="901703" cy="433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9"/>
              </a:lnSpc>
            </a:pPr>
            <a:r>
              <a:rPr lang="en-US" sz="1800" spc="179">
                <a:solidFill>
                  <a:srgbClr val="1D5994"/>
                </a:solidFill>
                <a:latin typeface="Arimo"/>
                <a:ea typeface="Arimo"/>
                <a:cs typeface="Arimo"/>
                <a:sym typeface="Arimo"/>
              </a:rPr>
              <a:t>02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349503" y="4961134"/>
            <a:ext cx="11516363" cy="419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2"/>
              </a:lnSpc>
            </a:pPr>
            <a:r>
              <a:rPr lang="en-US" sz="3300" spc="-66">
                <a:solidFill>
                  <a:srgbClr val="0F2C47"/>
                </a:solidFill>
                <a:latin typeface="Arimo"/>
                <a:ea typeface="Arimo"/>
                <a:cs typeface="Arimo"/>
                <a:sym typeface="Arimo"/>
              </a:rPr>
              <a:t>měřitelné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143000" y="5620341"/>
            <a:ext cx="16002000" cy="9525"/>
            <a:chOff x="0" y="0"/>
            <a:chExt cx="21336000" cy="127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1336000" cy="12700"/>
            </a:xfrm>
            <a:custGeom>
              <a:avLst/>
              <a:gdLst/>
              <a:ahLst/>
              <a:cxnLst/>
              <a:rect r="r" b="b" t="t" l="l"/>
              <a:pathLst>
                <a:path h="12700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AFC4D6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168403" y="5921969"/>
            <a:ext cx="901703" cy="433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9"/>
              </a:lnSpc>
            </a:pPr>
            <a:r>
              <a:rPr lang="en-US" sz="1800" spc="179">
                <a:solidFill>
                  <a:srgbClr val="1D5994"/>
                </a:solidFill>
                <a:latin typeface="Arimo"/>
                <a:ea typeface="Arimo"/>
                <a:cs typeface="Arimo"/>
                <a:sym typeface="Arimo"/>
              </a:rPr>
              <a:t>03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349503" y="5912444"/>
            <a:ext cx="11516363" cy="419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2"/>
              </a:lnSpc>
            </a:pPr>
            <a:r>
              <a:rPr lang="en-US" sz="3300" spc="-66">
                <a:solidFill>
                  <a:srgbClr val="0F2C47"/>
                </a:solidFill>
                <a:latin typeface="Arimo"/>
                <a:ea typeface="Arimo"/>
                <a:cs typeface="Arimo"/>
                <a:sym typeface="Arimo"/>
              </a:rPr>
              <a:t>dosažitelné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169903" y="5955306"/>
            <a:ext cx="4349753" cy="381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4"/>
              </a:lnSpc>
            </a:pPr>
            <a:r>
              <a:rPr lang="en-US" sz="1950" i="true">
                <a:solidFill>
                  <a:srgbClr val="4A6884"/>
                </a:solidFill>
                <a:latin typeface="Inter Italics"/>
                <a:ea typeface="Inter Italics"/>
                <a:cs typeface="Inter Italics"/>
                <a:sym typeface="Inter Italics"/>
              </a:rPr>
              <a:t>realistické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143000" y="6571659"/>
            <a:ext cx="16002000" cy="9525"/>
            <a:chOff x="0" y="0"/>
            <a:chExt cx="21336000" cy="127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1336000" cy="12700"/>
            </a:xfrm>
            <a:custGeom>
              <a:avLst/>
              <a:gdLst/>
              <a:ahLst/>
              <a:cxnLst/>
              <a:rect r="r" b="b" t="t" l="l"/>
              <a:pathLst>
                <a:path h="12700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AFC4D6"/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1168403" y="6873278"/>
            <a:ext cx="901703" cy="433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9"/>
              </a:lnSpc>
            </a:pPr>
            <a:r>
              <a:rPr lang="en-US" sz="1800" spc="179">
                <a:solidFill>
                  <a:srgbClr val="1D5994"/>
                </a:solidFill>
                <a:latin typeface="Arimo"/>
                <a:ea typeface="Arimo"/>
                <a:cs typeface="Arimo"/>
                <a:sym typeface="Arimo"/>
              </a:rPr>
              <a:t>04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2349503" y="6863753"/>
            <a:ext cx="11516363" cy="419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2"/>
              </a:lnSpc>
            </a:pPr>
            <a:r>
              <a:rPr lang="en-US" sz="3300" spc="-66">
                <a:solidFill>
                  <a:srgbClr val="0F2C47"/>
                </a:solidFill>
                <a:latin typeface="Arimo"/>
                <a:ea typeface="Arimo"/>
                <a:cs typeface="Arimo"/>
                <a:sym typeface="Arimo"/>
              </a:rPr>
              <a:t>časově ohraničené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169903" y="6906616"/>
            <a:ext cx="4349753" cy="381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4"/>
              </a:lnSpc>
            </a:pPr>
            <a:r>
              <a:rPr lang="en-US" sz="1950" i="true">
                <a:solidFill>
                  <a:srgbClr val="4A6884"/>
                </a:solidFill>
                <a:latin typeface="Inter Italics"/>
                <a:ea typeface="Inter Italics"/>
                <a:cs typeface="Inter Italics"/>
                <a:sym typeface="Inter Italics"/>
              </a:rPr>
              <a:t>revidovatelné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1143000" y="7522959"/>
            <a:ext cx="16002000" cy="9525"/>
            <a:chOff x="0" y="0"/>
            <a:chExt cx="21336000" cy="127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1336000" cy="12700"/>
            </a:xfrm>
            <a:custGeom>
              <a:avLst/>
              <a:gdLst/>
              <a:ahLst/>
              <a:cxnLst/>
              <a:rect r="r" b="b" t="t" l="l"/>
              <a:pathLst>
                <a:path h="12700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AFC4D6"/>
            </a:solid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1168403" y="7824587"/>
            <a:ext cx="901703" cy="433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9"/>
              </a:lnSpc>
            </a:pPr>
            <a:r>
              <a:rPr lang="en-US" sz="1800" spc="179">
                <a:solidFill>
                  <a:srgbClr val="1D5994"/>
                </a:solidFill>
                <a:latin typeface="Arimo"/>
                <a:ea typeface="Arimo"/>
                <a:cs typeface="Arimo"/>
                <a:sym typeface="Arimo"/>
              </a:rPr>
              <a:t>05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2349503" y="7815062"/>
            <a:ext cx="11516363" cy="419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2"/>
              </a:lnSpc>
            </a:pPr>
            <a:r>
              <a:rPr lang="en-US" sz="3300" spc="-66">
                <a:solidFill>
                  <a:srgbClr val="0F2C47"/>
                </a:solidFill>
                <a:latin typeface="Arimo"/>
                <a:ea typeface="Arimo"/>
                <a:cs typeface="Arimo"/>
                <a:sym typeface="Arimo"/>
              </a:rPr>
              <a:t>v souladu s přáním pacienta či blízkých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68403" y="564680"/>
            <a:ext cx="157563" cy="33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1425" spc="185">
                <a:solidFill>
                  <a:srgbClr val="8FC9F5"/>
                </a:solidFill>
                <a:latin typeface="Arimo"/>
                <a:ea typeface="Arimo"/>
                <a:cs typeface="Arimo"/>
                <a:sym typeface="Arimo"/>
              </a:rPr>
              <a:t>I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510113" y="564680"/>
            <a:ext cx="1742875" cy="33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1425" spc="185">
                <a:solidFill>
                  <a:srgbClr val="A6C2DB"/>
                </a:solidFill>
                <a:latin typeface="Arimo"/>
                <a:ea typeface="Arimo"/>
                <a:cs typeface="Arimo"/>
                <a:sym typeface="Arimo"/>
              </a:rPr>
              <a:t>RÁMEC A ETIKA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3411741" y="728662"/>
            <a:ext cx="209550" cy="28575"/>
            <a:chOff x="0" y="0"/>
            <a:chExt cx="279400" cy="381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8FC9F5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668916" y="728662"/>
            <a:ext cx="209550" cy="28575"/>
            <a:chOff x="0" y="0"/>
            <a:chExt cx="279400" cy="381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2A5480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3926091" y="728662"/>
            <a:ext cx="209550" cy="28575"/>
            <a:chOff x="0" y="0"/>
            <a:chExt cx="279400" cy="381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2A548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4183266" y="728662"/>
            <a:ext cx="209550" cy="28575"/>
            <a:chOff x="0" y="0"/>
            <a:chExt cx="279400" cy="381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2A548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4440441" y="728662"/>
            <a:ext cx="209550" cy="28575"/>
            <a:chOff x="0" y="0"/>
            <a:chExt cx="279400" cy="381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2A548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4697616" y="728662"/>
            <a:ext cx="209550" cy="28575"/>
            <a:chOff x="0" y="0"/>
            <a:chExt cx="279400" cy="381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2A5480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6245583" y="564680"/>
            <a:ext cx="950214" cy="33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1425" spc="185">
                <a:solidFill>
                  <a:srgbClr val="A6C2DB"/>
                </a:solidFill>
                <a:latin typeface="Arimo"/>
                <a:ea typeface="Arimo"/>
                <a:cs typeface="Arimo"/>
                <a:sym typeface="Arimo"/>
              </a:rPr>
              <a:t>07 / 42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68403" y="4566201"/>
            <a:ext cx="16431263" cy="2018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36"/>
              </a:lnSpc>
            </a:pPr>
            <a:r>
              <a:rPr lang="en-US" sz="7800" spc="-21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Adekvátně informovaný pacient </a:t>
            </a:r>
          </a:p>
          <a:p>
            <a:pPr algn="l">
              <a:lnSpc>
                <a:spcPts val="7643"/>
              </a:lnSpc>
            </a:pPr>
            <a:r>
              <a:rPr lang="en-US" sz="7800" spc="-217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má právo léčbu odmítnout.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68403" y="6816728"/>
            <a:ext cx="12522203" cy="482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250">
                <a:solidFill>
                  <a:srgbClr val="A6C2DB"/>
                </a:solidFill>
                <a:latin typeface="Inter"/>
                <a:ea typeface="Inter"/>
                <a:cs typeface="Inter"/>
                <a:sym typeface="Inter"/>
              </a:rPr>
              <a:t>I když by odmítnutí poskytované péče vedlo ke smrti. Včetně nutriční péče.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5544800" y="8390553"/>
            <a:ext cx="1600200" cy="753447"/>
            <a:chOff x="0" y="0"/>
            <a:chExt cx="2133600" cy="1004595"/>
          </a:xfrm>
        </p:grpSpPr>
        <p:sp>
          <p:nvSpPr>
            <p:cNvPr name="Freeform 20" id="20" descr="preencoded.png"/>
            <p:cNvSpPr/>
            <p:nvPr/>
          </p:nvSpPr>
          <p:spPr>
            <a:xfrm flipH="false" flipV="false" rot="0">
              <a:off x="0" y="0"/>
              <a:ext cx="2133600" cy="1004570"/>
            </a:xfrm>
            <a:custGeom>
              <a:avLst/>
              <a:gdLst/>
              <a:ahLst/>
              <a:cxnLst/>
              <a:rect r="r" b="b" t="t" l="l"/>
              <a:pathLst>
                <a:path h="1004570" w="2133600">
                  <a:moveTo>
                    <a:pt x="0" y="0"/>
                  </a:moveTo>
                  <a:lnTo>
                    <a:pt x="2133600" y="0"/>
                  </a:lnTo>
                  <a:lnTo>
                    <a:pt x="2133600" y="1004570"/>
                  </a:lnTo>
                  <a:lnTo>
                    <a:pt x="0" y="10045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90000"/>
              </a:blip>
              <a:stretch>
                <a:fillRect l="0" t="-1" r="0" b="-3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68403" y="564680"/>
            <a:ext cx="289646" cy="33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1425" spc="185">
                <a:solidFill>
                  <a:srgbClr val="1D5994"/>
                </a:solidFill>
                <a:latin typeface="Arimo"/>
                <a:ea typeface="Arimo"/>
                <a:cs typeface="Arimo"/>
                <a:sym typeface="Arimo"/>
              </a:rPr>
              <a:t>II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642196" y="564680"/>
            <a:ext cx="2139210" cy="33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1425" spc="185">
                <a:solidFill>
                  <a:srgbClr val="4A6884"/>
                </a:solidFill>
                <a:latin typeface="Arimo"/>
                <a:ea typeface="Arimo"/>
                <a:cs typeface="Arimo"/>
                <a:sym typeface="Arimo"/>
              </a:rPr>
              <a:t>HODNOCENÍ VÝŽIVY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3940150" y="728662"/>
            <a:ext cx="209550" cy="28575"/>
            <a:chOff x="0" y="0"/>
            <a:chExt cx="279400" cy="381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1D5994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4197325" y="728662"/>
            <a:ext cx="209550" cy="28575"/>
            <a:chOff x="0" y="0"/>
            <a:chExt cx="279400" cy="381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1D5994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4454500" y="728662"/>
            <a:ext cx="209550" cy="28575"/>
            <a:chOff x="0" y="0"/>
            <a:chExt cx="279400" cy="381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AFC4D6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4711675" y="728662"/>
            <a:ext cx="209550" cy="28575"/>
            <a:chOff x="0" y="0"/>
            <a:chExt cx="279400" cy="381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AFC4D6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4968850" y="728662"/>
            <a:ext cx="209550" cy="28575"/>
            <a:chOff x="0" y="0"/>
            <a:chExt cx="279400" cy="381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AFC4D6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226025" y="728662"/>
            <a:ext cx="209550" cy="28575"/>
            <a:chOff x="0" y="0"/>
            <a:chExt cx="279400" cy="381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AFC4D6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6245583" y="564680"/>
            <a:ext cx="950214" cy="33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1425" spc="185">
                <a:solidFill>
                  <a:srgbClr val="4A6884"/>
                </a:solidFill>
                <a:latin typeface="Arimo"/>
                <a:ea typeface="Arimo"/>
                <a:cs typeface="Arimo"/>
                <a:sym typeface="Arimo"/>
              </a:rPr>
              <a:t>08 / 42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68403" y="1406528"/>
            <a:ext cx="15253973" cy="1214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08"/>
              </a:lnSpc>
            </a:pPr>
            <a:r>
              <a:rPr lang="en-US" sz="4500" spc="-108">
                <a:solidFill>
                  <a:srgbClr val="0F2C47"/>
                </a:solidFill>
                <a:latin typeface="Arimo"/>
                <a:ea typeface="Arimo"/>
                <a:cs typeface="Arimo"/>
                <a:sym typeface="Arimo"/>
              </a:rPr>
              <a:t>Nutriční stav je významný prognostický faktor </a:t>
            </a:r>
          </a:p>
          <a:p>
            <a:pPr algn="l">
              <a:lnSpc>
                <a:spcPts val="4610"/>
              </a:lnSpc>
            </a:pPr>
            <a:r>
              <a:rPr lang="en-US" sz="4500" spc="-108">
                <a:solidFill>
                  <a:srgbClr val="0F2C47"/>
                </a:solidFill>
                <a:latin typeface="Arimo"/>
                <a:ea typeface="Arimo"/>
                <a:cs typeface="Arimo"/>
                <a:sym typeface="Arimo"/>
              </a:rPr>
              <a:t>v době diagnózy i v průběhu onemocnění.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68403" y="5368928"/>
            <a:ext cx="13684253" cy="1319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0"/>
              </a:lnSpc>
            </a:pPr>
            <a:r>
              <a:rPr lang="en-US" sz="2400">
                <a:solidFill>
                  <a:srgbClr val="0F2C47"/>
                </a:solidFill>
                <a:latin typeface="Inter"/>
                <a:ea typeface="Inter"/>
                <a:cs typeface="Inter"/>
                <a:sym typeface="Inter"/>
              </a:rPr>
              <a:t>Malnutrice, ve smyslu podvýživy i obezity, stejně jako přidružené nutriční poruchy </a:t>
            </a:r>
          </a:p>
          <a:p>
            <a:pPr algn="l">
              <a:lnSpc>
                <a:spcPts val="3590"/>
              </a:lnSpc>
            </a:pPr>
            <a:r>
              <a:rPr lang="en-US" sz="2400">
                <a:solidFill>
                  <a:srgbClr val="0F2C47"/>
                </a:solidFill>
                <a:latin typeface="Inter"/>
                <a:ea typeface="Inter"/>
                <a:cs typeface="Inter"/>
                <a:sym typeface="Inter"/>
              </a:rPr>
              <a:t>(sarkopenie, křehkost, onemocněním či orgánově specifická kachexie) ovlivňují </a:t>
            </a:r>
            <a:r>
              <a:rPr lang="en-US" sz="2400" b="true">
                <a:solidFill>
                  <a:srgbClr val="0F2C47"/>
                </a:solidFill>
                <a:latin typeface="Inter Bold"/>
                <a:ea typeface="Inter Bold"/>
                <a:cs typeface="Inter Bold"/>
                <a:sym typeface="Inter Bold"/>
              </a:rPr>
              <a:t>délku dožití, účinnost léčby, funkční stav i kvalitu života </a:t>
            </a:r>
            <a:r>
              <a:rPr lang="en-US" sz="2400">
                <a:solidFill>
                  <a:srgbClr val="0F2C47"/>
                </a:solidFill>
                <a:latin typeface="Inter"/>
                <a:ea typeface="Inter"/>
                <a:cs typeface="Inter"/>
                <a:sym typeface="Inter"/>
              </a:rPr>
              <a:t>nemocného.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68403" y="564680"/>
            <a:ext cx="289646" cy="33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1425" spc="185">
                <a:solidFill>
                  <a:srgbClr val="1D5994"/>
                </a:solidFill>
                <a:latin typeface="Arimo"/>
                <a:ea typeface="Arimo"/>
                <a:cs typeface="Arimo"/>
                <a:sym typeface="Arimo"/>
              </a:rPr>
              <a:t>II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642196" y="564680"/>
            <a:ext cx="2139210" cy="33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1425" spc="185">
                <a:solidFill>
                  <a:srgbClr val="4A6884"/>
                </a:solidFill>
                <a:latin typeface="Arimo"/>
                <a:ea typeface="Arimo"/>
                <a:cs typeface="Arimo"/>
                <a:sym typeface="Arimo"/>
              </a:rPr>
              <a:t>HODNOCENÍ VÝŽIVY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3940150" y="728662"/>
            <a:ext cx="209550" cy="28575"/>
            <a:chOff x="0" y="0"/>
            <a:chExt cx="279400" cy="381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1D5994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4197325" y="728662"/>
            <a:ext cx="209550" cy="28575"/>
            <a:chOff x="0" y="0"/>
            <a:chExt cx="279400" cy="381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1D5994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4454500" y="728662"/>
            <a:ext cx="209550" cy="28575"/>
            <a:chOff x="0" y="0"/>
            <a:chExt cx="279400" cy="381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AFC4D6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4711675" y="728662"/>
            <a:ext cx="209550" cy="28575"/>
            <a:chOff x="0" y="0"/>
            <a:chExt cx="279400" cy="381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AFC4D6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4968850" y="728662"/>
            <a:ext cx="209550" cy="28575"/>
            <a:chOff x="0" y="0"/>
            <a:chExt cx="279400" cy="381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AFC4D6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226025" y="728662"/>
            <a:ext cx="209550" cy="28575"/>
            <a:chOff x="0" y="0"/>
            <a:chExt cx="279400" cy="381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AFC4D6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6245583" y="564680"/>
            <a:ext cx="950214" cy="33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1425" spc="185">
                <a:solidFill>
                  <a:srgbClr val="4A6884"/>
                </a:solidFill>
                <a:latin typeface="Arimo"/>
                <a:ea typeface="Arimo"/>
                <a:cs typeface="Arimo"/>
                <a:sym typeface="Arimo"/>
              </a:rPr>
              <a:t>09 / 42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68403" y="1425578"/>
            <a:ext cx="15253973" cy="1488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66"/>
              </a:lnSpc>
            </a:pPr>
            <a:r>
              <a:rPr lang="en-US" sz="5550" spc="-127">
                <a:solidFill>
                  <a:srgbClr val="0F2C47"/>
                </a:solidFill>
                <a:latin typeface="Arimo"/>
                <a:ea typeface="Arimo"/>
                <a:cs typeface="Arimo"/>
                <a:sym typeface="Arimo"/>
              </a:rPr>
              <a:t>Předběžné plánování péče </a:t>
            </a:r>
          </a:p>
          <a:p>
            <a:pPr algn="l">
              <a:lnSpc>
                <a:spcPts val="5668"/>
              </a:lnSpc>
            </a:pPr>
            <a:r>
              <a:rPr lang="en-US" sz="5550" spc="-133">
                <a:solidFill>
                  <a:srgbClr val="0F2C47"/>
                </a:solidFill>
                <a:latin typeface="Arimo"/>
                <a:ea typeface="Arimo"/>
                <a:cs typeface="Arimo"/>
                <a:sym typeface="Arimo"/>
              </a:rPr>
              <a:t>mění průběh posledních let života.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68403" y="5170837"/>
            <a:ext cx="6654803" cy="1547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86"/>
              </a:lnSpc>
            </a:pPr>
            <a:r>
              <a:rPr lang="en-US" sz="18000" spc="-810">
                <a:solidFill>
                  <a:srgbClr val="1D5994"/>
                </a:solidFill>
                <a:latin typeface="Arimo"/>
                <a:ea typeface="Arimo"/>
                <a:cs typeface="Arimo"/>
                <a:sym typeface="Arimo"/>
              </a:rPr>
              <a:t>75 %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68403" y="6978653"/>
            <a:ext cx="6228083" cy="538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0"/>
              </a:lnSpc>
            </a:pPr>
            <a:r>
              <a:rPr lang="en-US" sz="1425" spc="183">
                <a:solidFill>
                  <a:srgbClr val="4A6884"/>
                </a:solidFill>
                <a:latin typeface="Arimo"/>
                <a:ea typeface="Arimo"/>
                <a:cs typeface="Arimo"/>
                <a:sym typeface="Arimo"/>
              </a:rPr>
              <a:t>ZBYTEČNÝCH HOSPITALIZACÍ </a:t>
            </a:r>
          </a:p>
          <a:p>
            <a:pPr algn="l">
              <a:lnSpc>
                <a:spcPts val="2121"/>
              </a:lnSpc>
            </a:pPr>
            <a:r>
              <a:rPr lang="en-US" sz="1425" spc="185">
                <a:solidFill>
                  <a:srgbClr val="4A6884"/>
                </a:solidFill>
                <a:latin typeface="Arimo"/>
                <a:ea typeface="Arimo"/>
                <a:cs typeface="Arimo"/>
                <a:sym typeface="Arimo"/>
              </a:rPr>
              <a:t>BEZ PŘEDEM STANOVENÝCH SMĚRNIC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407403" y="3993604"/>
            <a:ext cx="8975093" cy="1644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2"/>
              </a:lnSpc>
            </a:pPr>
            <a:r>
              <a:rPr lang="en-US" sz="2100">
                <a:solidFill>
                  <a:srgbClr val="0F2C47"/>
                </a:solidFill>
                <a:latin typeface="Inter"/>
                <a:ea typeface="Inter"/>
                <a:cs typeface="Inter"/>
                <a:sym typeface="Inter"/>
              </a:rPr>
              <a:t>Hrubé seznámení s průběhem onemocnění a možnými komplikacemi (např. u m. Alzheimer) je spojeno s </a:t>
            </a:r>
            <a:r>
              <a:rPr lang="en-US" sz="2100" b="true">
                <a:solidFill>
                  <a:srgbClr val="0F2C47"/>
                </a:solidFill>
                <a:latin typeface="Inter Bold"/>
                <a:ea typeface="Inter Bold"/>
                <a:cs typeface="Inter Bold"/>
                <a:sym typeface="Inter Bold"/>
              </a:rPr>
              <a:t>plynulejším průběhem, méně agresivními zákroky v posledních 3 letech života </a:t>
            </a:r>
            <a:r>
              <a:rPr lang="en-US" sz="2100">
                <a:solidFill>
                  <a:srgbClr val="0F2C47"/>
                </a:solidFill>
                <a:latin typeface="Inter"/>
                <a:ea typeface="Inter"/>
                <a:cs typeface="Inter"/>
                <a:sym typeface="Inter"/>
              </a:rPr>
              <a:t>a celkově lepší kvalitou života.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407403" y="5879554"/>
            <a:ext cx="8975093" cy="1222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3"/>
              </a:lnSpc>
            </a:pPr>
            <a:r>
              <a:rPr lang="en-US" sz="1950">
                <a:solidFill>
                  <a:srgbClr val="4A6884"/>
                </a:solidFill>
                <a:latin typeface="Inter"/>
                <a:ea typeface="Inter"/>
                <a:cs typeface="Inter"/>
                <a:sym typeface="Inter"/>
              </a:rPr>
              <a:t>Naopak absence směrnic u dementních pacientů zvyšuje počet hospitalizací a invazivních výkonů, je pro pacienty traumatizující a z velké části nenaplňuje předpokládané cíle (komfort).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407403" y="7343204"/>
            <a:ext cx="8975093" cy="836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3"/>
              </a:lnSpc>
            </a:pPr>
            <a:r>
              <a:rPr lang="en-US" sz="1950">
                <a:solidFill>
                  <a:srgbClr val="4A6884"/>
                </a:solidFill>
                <a:latin typeface="Inter"/>
                <a:ea typeface="Inter"/>
                <a:cs typeface="Inter"/>
                <a:sym typeface="Inter"/>
              </a:rPr>
              <a:t>Progrese malnutrice je v pokročilejším stádiu onemocnění charakteristický znak.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68403" y="564680"/>
            <a:ext cx="157563" cy="33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1425" spc="185">
                <a:solidFill>
                  <a:srgbClr val="1D5994"/>
                </a:solidFill>
                <a:latin typeface="Arimo"/>
                <a:ea typeface="Arimo"/>
                <a:cs typeface="Arimo"/>
                <a:sym typeface="Arimo"/>
              </a:rPr>
              <a:t>V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510113" y="564680"/>
            <a:ext cx="1478632" cy="33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1425" spc="185">
                <a:solidFill>
                  <a:srgbClr val="4A6884"/>
                </a:solidFill>
                <a:latin typeface="Arimo"/>
                <a:ea typeface="Arimo"/>
                <a:cs typeface="Arimo"/>
                <a:sym typeface="Arimo"/>
              </a:rPr>
              <a:t>ROZHODOVÁNÍ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3147489" y="728662"/>
            <a:ext cx="209550" cy="28575"/>
            <a:chOff x="0" y="0"/>
            <a:chExt cx="279400" cy="381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1D5994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404664" y="728662"/>
            <a:ext cx="209550" cy="28575"/>
            <a:chOff x="0" y="0"/>
            <a:chExt cx="279400" cy="381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1D5994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3661839" y="728662"/>
            <a:ext cx="209550" cy="28575"/>
            <a:chOff x="0" y="0"/>
            <a:chExt cx="279400" cy="381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1D5994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919014" y="728662"/>
            <a:ext cx="209550" cy="28575"/>
            <a:chOff x="0" y="0"/>
            <a:chExt cx="279400" cy="381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1D5994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4176189" y="728662"/>
            <a:ext cx="209550" cy="28575"/>
            <a:chOff x="0" y="0"/>
            <a:chExt cx="279400" cy="381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1D5994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4433364" y="728662"/>
            <a:ext cx="209550" cy="28575"/>
            <a:chOff x="0" y="0"/>
            <a:chExt cx="279400" cy="381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AFC4D6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6245583" y="564680"/>
            <a:ext cx="950214" cy="33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1425" spc="185">
                <a:solidFill>
                  <a:srgbClr val="4A6884"/>
                </a:solidFill>
                <a:latin typeface="Arimo"/>
                <a:ea typeface="Arimo"/>
                <a:cs typeface="Arimo"/>
                <a:sym typeface="Arimo"/>
              </a:rPr>
              <a:t>35 / 42</a:t>
            </a:r>
          </a:p>
        </p:txBody>
      </p:sp>
      <p:sp>
        <p:nvSpPr>
          <p:cNvPr name="Freeform 17" id="17" descr="preencoded.png"/>
          <p:cNvSpPr/>
          <p:nvPr/>
        </p:nvSpPr>
        <p:spPr>
          <a:xfrm flipH="false" flipV="false" rot="0">
            <a:off x="16535400" y="1333500"/>
            <a:ext cx="609600" cy="609600"/>
          </a:xfrm>
          <a:custGeom>
            <a:avLst/>
            <a:gdLst/>
            <a:ahLst/>
            <a:cxnLst/>
            <a:rect r="r" b="b" t="t" l="l"/>
            <a:pathLst>
              <a:path h="609600" w="609600">
                <a:moveTo>
                  <a:pt x="0" y="0"/>
                </a:moveTo>
                <a:lnTo>
                  <a:pt x="609600" y="0"/>
                </a:lnTo>
                <a:lnTo>
                  <a:pt x="6096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168403" y="1425578"/>
            <a:ext cx="15253973" cy="1487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66"/>
              </a:lnSpc>
            </a:pPr>
            <a:r>
              <a:rPr lang="en-US" sz="5550" spc="-127">
                <a:solidFill>
                  <a:srgbClr val="0F2C47"/>
                </a:solidFill>
                <a:latin typeface="Arimo"/>
                <a:ea typeface="Arimo"/>
                <a:cs typeface="Arimo"/>
                <a:sym typeface="Arimo"/>
              </a:rPr>
              <a:t>Sedm ze čtyřiceti doporučení ESPEN nemíří </a:t>
            </a:r>
          </a:p>
          <a:p>
            <a:pPr algn="l">
              <a:lnSpc>
                <a:spcPts val="5668"/>
              </a:lnSpc>
            </a:pPr>
            <a:r>
              <a:rPr lang="en-US" sz="5550" spc="-133">
                <a:solidFill>
                  <a:srgbClr val="0F2C47"/>
                </a:solidFill>
                <a:latin typeface="Arimo"/>
                <a:ea typeface="Arimo"/>
                <a:cs typeface="Arimo"/>
                <a:sym typeface="Arimo"/>
              </a:rPr>
              <a:t>na jednotlivce, ale na zařízení.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143000" y="4255294"/>
            <a:ext cx="7543800" cy="9525"/>
            <a:chOff x="0" y="0"/>
            <a:chExt cx="10058400" cy="127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058400" cy="12700"/>
            </a:xfrm>
            <a:custGeom>
              <a:avLst/>
              <a:gdLst/>
              <a:ahLst/>
              <a:cxnLst/>
              <a:rect r="r" b="b" t="t" l="l"/>
              <a:pathLst>
                <a:path h="1270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AFC4D6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168403" y="4375947"/>
            <a:ext cx="7719317" cy="690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875">
                <a:solidFill>
                  <a:srgbClr val="0F2C47"/>
                </a:solidFill>
                <a:latin typeface="Inter"/>
                <a:ea typeface="Inter"/>
                <a:cs typeface="Inter"/>
                <a:sym typeface="Inter"/>
              </a:rPr>
              <a:t>Písemně zpracovaná koncepce nutriční péče, v souladu </a:t>
            </a:r>
          </a:p>
          <a:p>
            <a:pPr algn="l">
              <a:lnSpc>
                <a:spcPts val="2812"/>
              </a:lnSpc>
            </a:pPr>
            <a:r>
              <a:rPr lang="en-US" sz="1875">
                <a:solidFill>
                  <a:srgbClr val="0F2C47"/>
                </a:solidFill>
                <a:latin typeface="Inter"/>
                <a:ea typeface="Inter"/>
                <a:cs typeface="Inter"/>
                <a:sym typeface="Inter"/>
              </a:rPr>
              <a:t>s filozofií organizace.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143000" y="5264944"/>
            <a:ext cx="7543800" cy="9525"/>
            <a:chOff x="0" y="0"/>
            <a:chExt cx="10058400" cy="127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058400" cy="12700"/>
            </a:xfrm>
            <a:custGeom>
              <a:avLst/>
              <a:gdLst/>
              <a:ahLst/>
              <a:cxnLst/>
              <a:rect r="r" b="b" t="t" l="l"/>
              <a:pathLst>
                <a:path h="1270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AFC4D6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168403" y="5385597"/>
            <a:ext cx="7719317" cy="690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875">
                <a:solidFill>
                  <a:srgbClr val="0F2C47"/>
                </a:solidFill>
                <a:latin typeface="Inter"/>
                <a:ea typeface="Inter"/>
                <a:cs typeface="Inter"/>
                <a:sym typeface="Inter"/>
              </a:rPr>
              <a:t>Standardní operační postupy, které přidělují odpovědnost </a:t>
            </a:r>
          </a:p>
          <a:p>
            <a:pPr algn="l">
              <a:lnSpc>
                <a:spcPts val="2812"/>
              </a:lnSpc>
            </a:pPr>
            <a:r>
              <a:rPr lang="en-US" sz="1875">
                <a:solidFill>
                  <a:srgbClr val="0F2C47"/>
                </a:solidFill>
                <a:latin typeface="Inter"/>
                <a:ea typeface="Inter"/>
                <a:cs typeface="Inter"/>
                <a:sym typeface="Inter"/>
              </a:rPr>
              <a:t>za nutriční péči konkrétním rolím.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143000" y="6274594"/>
            <a:ext cx="7543800" cy="9525"/>
            <a:chOff x="0" y="0"/>
            <a:chExt cx="10058400" cy="127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058400" cy="12700"/>
            </a:xfrm>
            <a:custGeom>
              <a:avLst/>
              <a:gdLst/>
              <a:ahLst/>
              <a:cxnLst/>
              <a:rect r="r" b="b" t="t" l="l"/>
              <a:pathLst>
                <a:path h="1270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AFC4D6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168403" y="6395247"/>
            <a:ext cx="7719317" cy="690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875">
                <a:solidFill>
                  <a:srgbClr val="0F2C47"/>
                </a:solidFill>
                <a:latin typeface="Inter"/>
                <a:ea typeface="Inter"/>
                <a:cs typeface="Inter"/>
                <a:sym typeface="Inter"/>
              </a:rPr>
              <a:t>Dostatek kvalifikovaného personálu, včetně času na asistenci </a:t>
            </a:r>
          </a:p>
          <a:p>
            <a:pPr algn="l">
              <a:lnSpc>
                <a:spcPts val="2812"/>
              </a:lnSpc>
            </a:pPr>
            <a:r>
              <a:rPr lang="en-US" sz="1875">
                <a:solidFill>
                  <a:srgbClr val="0F2C47"/>
                </a:solidFill>
                <a:latin typeface="Inter"/>
                <a:ea typeface="Inter"/>
                <a:cs typeface="Inter"/>
                <a:sym typeface="Inter"/>
              </a:rPr>
              <a:t>u jídla a na doprovod na toaletu.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143000" y="7284244"/>
            <a:ext cx="7543800" cy="9525"/>
            <a:chOff x="0" y="0"/>
            <a:chExt cx="10058400" cy="127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058400" cy="12700"/>
            </a:xfrm>
            <a:custGeom>
              <a:avLst/>
              <a:gdLst/>
              <a:ahLst/>
              <a:cxnLst/>
              <a:rect r="r" b="b" t="t" l="l"/>
              <a:pathLst>
                <a:path h="1270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AFC4D6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1168403" y="7404897"/>
            <a:ext cx="7719317" cy="338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875">
                <a:solidFill>
                  <a:srgbClr val="0F2C47"/>
                </a:solidFill>
                <a:latin typeface="Inter"/>
                <a:ea typeface="Inter"/>
                <a:cs typeface="Inter"/>
                <a:sym typeface="Inter"/>
              </a:rPr>
              <a:t>Funkční jídelna s atmosférou, která k jídlu a pití vybízí.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9601200" y="4255294"/>
            <a:ext cx="7543800" cy="9525"/>
            <a:chOff x="0" y="0"/>
            <a:chExt cx="10058400" cy="127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058400" cy="12700"/>
            </a:xfrm>
            <a:custGeom>
              <a:avLst/>
              <a:gdLst/>
              <a:ahLst/>
              <a:cxnLst/>
              <a:rect r="r" b="b" t="t" l="l"/>
              <a:pathLst>
                <a:path h="1270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AFC4D6"/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9626603" y="4375947"/>
            <a:ext cx="7719317" cy="338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875">
                <a:solidFill>
                  <a:srgbClr val="0F2C47"/>
                </a:solidFill>
                <a:latin typeface="Inter"/>
                <a:ea typeface="Inter"/>
                <a:cs typeface="Inter"/>
                <a:sym typeface="Inter"/>
              </a:rPr>
              <a:t>Přitažlivé jídlo a tekutiny s možností volby, včetně svačin a nápojů.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9601200" y="4907756"/>
            <a:ext cx="7543800" cy="9525"/>
            <a:chOff x="0" y="0"/>
            <a:chExt cx="10058400" cy="127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058400" cy="12700"/>
            </a:xfrm>
            <a:custGeom>
              <a:avLst/>
              <a:gdLst/>
              <a:ahLst/>
              <a:cxnLst/>
              <a:rect r="r" b="b" t="t" l="l"/>
              <a:pathLst>
                <a:path h="1270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AFC4D6"/>
            </a:solid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9626603" y="5028409"/>
            <a:ext cx="7719317" cy="338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875">
                <a:solidFill>
                  <a:srgbClr val="0F2C47"/>
                </a:solidFill>
                <a:latin typeface="Inter"/>
                <a:ea typeface="Inter"/>
                <a:cs typeface="Inter"/>
                <a:sym typeface="Inter"/>
              </a:rPr>
              <a:t>Vzdělávání zdravotnických pracovníků v nutriční péči.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9601200" y="5560219"/>
            <a:ext cx="7543800" cy="9525"/>
            <a:chOff x="0" y="0"/>
            <a:chExt cx="10058400" cy="127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058400" cy="12700"/>
            </a:xfrm>
            <a:custGeom>
              <a:avLst/>
              <a:gdLst/>
              <a:ahLst/>
              <a:cxnLst/>
              <a:rect r="r" b="b" t="t" l="l"/>
              <a:pathLst>
                <a:path h="1270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AFC4D6"/>
            </a:solid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9626603" y="5680872"/>
            <a:ext cx="7719317" cy="338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875">
                <a:solidFill>
                  <a:srgbClr val="0F2C47"/>
                </a:solidFill>
                <a:latin typeface="Inter"/>
                <a:ea typeface="Inter"/>
                <a:cs typeface="Inter"/>
                <a:sym typeface="Inter"/>
              </a:rPr>
              <a:t>Nabídka vzdělávání i neformálním pečujícím, tedy rodině.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9596438" y="6512719"/>
            <a:ext cx="1862804" cy="471488"/>
            <a:chOff x="0" y="0"/>
            <a:chExt cx="2483739" cy="62865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483739" cy="628650"/>
            </a:xfrm>
            <a:custGeom>
              <a:avLst/>
              <a:gdLst/>
              <a:ahLst/>
              <a:cxnLst/>
              <a:rect r="r" b="b" t="t" l="l"/>
              <a:pathLst>
                <a:path h="628650" w="2483739">
                  <a:moveTo>
                    <a:pt x="0" y="314325"/>
                  </a:moveTo>
                  <a:cubicBezTo>
                    <a:pt x="0" y="140716"/>
                    <a:pt x="140716" y="0"/>
                    <a:pt x="314325" y="0"/>
                  </a:cubicBezTo>
                  <a:lnTo>
                    <a:pt x="2169414" y="0"/>
                  </a:lnTo>
                  <a:cubicBezTo>
                    <a:pt x="2343023" y="0"/>
                    <a:pt x="2483739" y="140716"/>
                    <a:pt x="2483739" y="314325"/>
                  </a:cubicBezTo>
                  <a:cubicBezTo>
                    <a:pt x="2483739" y="487934"/>
                    <a:pt x="2343023" y="628650"/>
                    <a:pt x="2169414" y="628650"/>
                  </a:cubicBezTo>
                  <a:lnTo>
                    <a:pt x="314325" y="628650"/>
                  </a:lnTo>
                  <a:cubicBezTo>
                    <a:pt x="140716" y="628650"/>
                    <a:pt x="0" y="487934"/>
                    <a:pt x="0" y="314325"/>
                  </a:cubicBez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6983" r="0" b="-26983"/>
              </a:stretch>
            </a:blipFill>
            <a:ln w="9525" cap="sq">
              <a:solidFill>
                <a:srgbClr val="AFC4D6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9801225" y="6612731"/>
            <a:ext cx="1529429" cy="309562"/>
            <a:chOff x="0" y="0"/>
            <a:chExt cx="2039239" cy="41275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039243" cy="412751"/>
            </a:xfrm>
            <a:custGeom>
              <a:avLst/>
              <a:gdLst/>
              <a:ahLst/>
              <a:cxnLst/>
              <a:rect r="r" b="b" t="t" l="l"/>
              <a:pathLst>
                <a:path h="412751" w="2039243">
                  <a:moveTo>
                    <a:pt x="0" y="0"/>
                  </a:moveTo>
                  <a:lnTo>
                    <a:pt x="2039243" y="0"/>
                  </a:lnTo>
                  <a:lnTo>
                    <a:pt x="2039243" y="412751"/>
                  </a:lnTo>
                  <a:lnTo>
                    <a:pt x="0" y="41275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6268" r="0" b="-46267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2039239" cy="450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9"/>
                </a:lnSpc>
              </a:pPr>
              <a:r>
                <a:rPr lang="en-US" sz="1425" spc="185">
                  <a:solidFill>
                    <a:srgbClr val="1D5994"/>
                  </a:solidFill>
                  <a:latin typeface="Arimo"/>
                  <a:ea typeface="Arimo"/>
                  <a:cs typeface="Arimo"/>
                  <a:sym typeface="Arimo"/>
                </a:rPr>
                <a:t>GPP · 100 %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1602117" y="6512719"/>
            <a:ext cx="3183950" cy="471488"/>
            <a:chOff x="0" y="0"/>
            <a:chExt cx="4245267" cy="62865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245229" cy="628650"/>
            </a:xfrm>
            <a:custGeom>
              <a:avLst/>
              <a:gdLst/>
              <a:ahLst/>
              <a:cxnLst/>
              <a:rect r="r" b="b" t="t" l="l"/>
              <a:pathLst>
                <a:path h="628650" w="4245229">
                  <a:moveTo>
                    <a:pt x="0" y="314325"/>
                  </a:moveTo>
                  <a:cubicBezTo>
                    <a:pt x="0" y="140716"/>
                    <a:pt x="140716" y="0"/>
                    <a:pt x="314325" y="0"/>
                  </a:cubicBezTo>
                  <a:lnTo>
                    <a:pt x="3930904" y="0"/>
                  </a:lnTo>
                  <a:cubicBezTo>
                    <a:pt x="4104513" y="0"/>
                    <a:pt x="4245229" y="140716"/>
                    <a:pt x="4245229" y="314325"/>
                  </a:cubicBezTo>
                  <a:cubicBezTo>
                    <a:pt x="4245229" y="487934"/>
                    <a:pt x="4104513" y="628650"/>
                    <a:pt x="3930904" y="628650"/>
                  </a:cubicBezTo>
                  <a:lnTo>
                    <a:pt x="314325" y="628650"/>
                  </a:lnTo>
                  <a:cubicBezTo>
                    <a:pt x="140716" y="628650"/>
                    <a:pt x="0" y="487934"/>
                    <a:pt x="0" y="314325"/>
                  </a:cubicBez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1582" r="0" b="-81582"/>
              </a:stretch>
            </a:blipFill>
            <a:ln w="9525" cap="sq">
              <a:solidFill>
                <a:srgbClr val="AFC4D6"/>
              </a:solidFill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11806904" y="6612731"/>
            <a:ext cx="2869616" cy="309562"/>
            <a:chOff x="0" y="0"/>
            <a:chExt cx="3826154" cy="41275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3826149" cy="412751"/>
            </a:xfrm>
            <a:custGeom>
              <a:avLst/>
              <a:gdLst/>
              <a:ahLst/>
              <a:cxnLst/>
              <a:rect r="r" b="b" t="t" l="l"/>
              <a:pathLst>
                <a:path h="412751" w="3826149">
                  <a:moveTo>
                    <a:pt x="0" y="0"/>
                  </a:moveTo>
                  <a:lnTo>
                    <a:pt x="3826149" y="0"/>
                  </a:lnTo>
                  <a:lnTo>
                    <a:pt x="3826149" y="412751"/>
                  </a:lnTo>
                  <a:lnTo>
                    <a:pt x="0" y="41275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30624" r="0" b="-130624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3826154" cy="450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9"/>
                </a:lnSpc>
              </a:pPr>
              <a:r>
                <a:rPr lang="en-US" sz="1425" spc="185">
                  <a:solidFill>
                    <a:srgbClr val="1D5994"/>
                  </a:solidFill>
                  <a:latin typeface="Arimo"/>
                  <a:ea typeface="Arimo"/>
                  <a:cs typeface="Arimo"/>
                  <a:sym typeface="Arimo"/>
                </a:rPr>
                <a:t>VZDĚLÁVÁNÍ · STUPEŇ B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68403" y="564680"/>
            <a:ext cx="289646" cy="33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1425" spc="185">
                <a:solidFill>
                  <a:srgbClr val="1D5994"/>
                </a:solidFill>
                <a:latin typeface="Arimo"/>
                <a:ea typeface="Arimo"/>
                <a:cs typeface="Arimo"/>
                <a:sym typeface="Arimo"/>
              </a:rPr>
              <a:t>II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642196" y="564680"/>
            <a:ext cx="2139210" cy="33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1425" spc="185">
                <a:solidFill>
                  <a:srgbClr val="4A6884"/>
                </a:solidFill>
                <a:latin typeface="Arimo"/>
                <a:ea typeface="Arimo"/>
                <a:cs typeface="Arimo"/>
                <a:sym typeface="Arimo"/>
              </a:rPr>
              <a:t>HODNOCENÍ VÝŽIVY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3940150" y="728662"/>
            <a:ext cx="209550" cy="28575"/>
            <a:chOff x="0" y="0"/>
            <a:chExt cx="279400" cy="381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1D5994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4197325" y="728662"/>
            <a:ext cx="209550" cy="28575"/>
            <a:chOff x="0" y="0"/>
            <a:chExt cx="279400" cy="381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1D5994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4454500" y="728662"/>
            <a:ext cx="209550" cy="28575"/>
            <a:chOff x="0" y="0"/>
            <a:chExt cx="279400" cy="381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AFC4D6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4711675" y="728662"/>
            <a:ext cx="209550" cy="28575"/>
            <a:chOff x="0" y="0"/>
            <a:chExt cx="279400" cy="381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AFC4D6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4968850" y="728662"/>
            <a:ext cx="209550" cy="28575"/>
            <a:chOff x="0" y="0"/>
            <a:chExt cx="279400" cy="381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AFC4D6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226025" y="728662"/>
            <a:ext cx="209550" cy="28575"/>
            <a:chOff x="0" y="0"/>
            <a:chExt cx="279400" cy="381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AFC4D6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6245583" y="564680"/>
            <a:ext cx="950214" cy="33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1425" spc="185">
                <a:solidFill>
                  <a:srgbClr val="4A6884"/>
                </a:solidFill>
                <a:latin typeface="Arimo"/>
                <a:ea typeface="Arimo"/>
                <a:cs typeface="Arimo"/>
                <a:sym typeface="Arimo"/>
              </a:rPr>
              <a:t>10 / 42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68403" y="1425578"/>
            <a:ext cx="16294103" cy="702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68"/>
              </a:lnSpc>
            </a:pPr>
            <a:r>
              <a:rPr lang="en-US" sz="5550" spc="-133">
                <a:solidFill>
                  <a:srgbClr val="0F2C47"/>
                </a:solidFill>
                <a:latin typeface="Arimo"/>
                <a:ea typeface="Arimo"/>
                <a:cs typeface="Arimo"/>
                <a:sym typeface="Arimo"/>
              </a:rPr>
              <a:t>Stresová malnutrice a kachexie nejsou totéž.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68403" y="4391939"/>
            <a:ext cx="7719317" cy="33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1425" spc="185">
                <a:solidFill>
                  <a:srgbClr val="1D5994"/>
                </a:solidFill>
                <a:latin typeface="Arimo"/>
                <a:ea typeface="Arimo"/>
                <a:cs typeface="Arimo"/>
                <a:sym typeface="Arimo"/>
              </a:rPr>
              <a:t>AKUTNÍ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68403" y="4942237"/>
            <a:ext cx="8247383" cy="412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2"/>
              </a:lnSpc>
            </a:pPr>
            <a:r>
              <a:rPr lang="en-US" sz="2850">
                <a:solidFill>
                  <a:srgbClr val="0F2C47"/>
                </a:solidFill>
                <a:latin typeface="Arimo"/>
                <a:ea typeface="Arimo"/>
                <a:cs typeface="Arimo"/>
                <a:sym typeface="Arimo"/>
              </a:rPr>
              <a:t>Stresová malnutrice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68403" y="5538445"/>
            <a:ext cx="7719317" cy="1222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3"/>
              </a:lnSpc>
            </a:pPr>
            <a:r>
              <a:rPr lang="en-US" sz="1950">
                <a:solidFill>
                  <a:srgbClr val="4A6884"/>
                </a:solidFill>
                <a:latin typeface="Inter"/>
                <a:ea typeface="Inter"/>
                <a:cs typeface="Inter"/>
                <a:sym typeface="Inter"/>
              </a:rPr>
              <a:t>Rozlišujeme akutní či chronické projevy malnutrice. Zaměřujeme se na výchozí funkční, kognitivní a celkové zdravotní parametry nemocného. Bereme v potaz sociální, resp. rodinnou situaci.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626603" y="7904836"/>
            <a:ext cx="7719317" cy="836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3"/>
              </a:lnSpc>
            </a:pPr>
            <a:r>
              <a:rPr lang="en-US" sz="1950" i="true">
                <a:solidFill>
                  <a:srgbClr val="4A6884"/>
                </a:solidFill>
                <a:latin typeface="Inter Italics"/>
                <a:ea typeface="Inter Italics"/>
                <a:cs typeface="Inter Italics"/>
                <a:sym typeface="Inter Italics"/>
              </a:rPr>
              <a:t>Věk je významný prognostický faktor, který je třeba pečlivě posuzovat.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626603" y="4391939"/>
            <a:ext cx="7719317" cy="33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1425" spc="185">
                <a:solidFill>
                  <a:srgbClr val="1D5994"/>
                </a:solidFill>
                <a:latin typeface="Arimo"/>
                <a:ea typeface="Arimo"/>
                <a:cs typeface="Arimo"/>
                <a:sym typeface="Arimo"/>
              </a:rPr>
              <a:t>CHRONICKÁ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626603" y="4942237"/>
            <a:ext cx="8247383" cy="412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2"/>
              </a:lnSpc>
            </a:pPr>
            <a:r>
              <a:rPr lang="en-US" sz="2850">
                <a:solidFill>
                  <a:srgbClr val="0F2C47"/>
                </a:solidFill>
                <a:latin typeface="Arimo"/>
                <a:ea typeface="Arimo"/>
                <a:cs typeface="Arimo"/>
                <a:sym typeface="Arimo"/>
              </a:rPr>
              <a:t>Kachexie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626603" y="5538445"/>
            <a:ext cx="7719317" cy="1222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3"/>
              </a:lnSpc>
            </a:pPr>
            <a:r>
              <a:rPr lang="en-US" sz="1950">
                <a:solidFill>
                  <a:srgbClr val="4A6884"/>
                </a:solidFill>
                <a:latin typeface="Inter"/>
                <a:ea typeface="Inter"/>
                <a:cs typeface="Inter"/>
                <a:sym typeface="Inter"/>
              </a:rPr>
              <a:t>Velmi častá u pokročilých stádií onemocnění (rakovina, nemoci ledvin, demence, srdeční selhání). Komplexní problém, </a:t>
            </a:r>
            <a:r>
              <a:rPr lang="en-US" sz="1950" b="true">
                <a:solidFill>
                  <a:srgbClr val="0F2C47"/>
                </a:solidFill>
                <a:latin typeface="Inter Bold"/>
                <a:ea typeface="Inter Bold"/>
                <a:cs typeface="Inter Bold"/>
                <a:sym typeface="Inter Bold"/>
              </a:rPr>
              <a:t>není řešitelná pouze „jezením více jídla“ </a:t>
            </a:r>
            <a:r>
              <a:rPr lang="en-US" sz="1950">
                <a:solidFill>
                  <a:srgbClr val="4A6884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626603" y="6944944"/>
            <a:ext cx="7719317" cy="836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3"/>
              </a:lnSpc>
            </a:pPr>
            <a:r>
              <a:rPr lang="en-US" sz="1950">
                <a:solidFill>
                  <a:srgbClr val="4A6884"/>
                </a:solidFill>
                <a:latin typeface="Inter"/>
                <a:ea typeface="Inter"/>
                <a:cs typeface="Inter"/>
                <a:sym typeface="Inter"/>
              </a:rPr>
              <a:t>Významný nekontrolovatelný úbytek na hmotnosti napovídá end-of-life situaci.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68403" y="564680"/>
            <a:ext cx="289646" cy="33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1425" spc="185">
                <a:solidFill>
                  <a:srgbClr val="1D5994"/>
                </a:solidFill>
                <a:latin typeface="Arimo"/>
                <a:ea typeface="Arimo"/>
                <a:cs typeface="Arimo"/>
                <a:sym typeface="Arimo"/>
              </a:rPr>
              <a:t>II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642196" y="564680"/>
            <a:ext cx="2139210" cy="33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1425" spc="185">
                <a:solidFill>
                  <a:srgbClr val="4A6884"/>
                </a:solidFill>
                <a:latin typeface="Arimo"/>
                <a:ea typeface="Arimo"/>
                <a:cs typeface="Arimo"/>
                <a:sym typeface="Arimo"/>
              </a:rPr>
              <a:t>HODNOCENÍ VÝŽIVY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3940150" y="728662"/>
            <a:ext cx="209550" cy="28575"/>
            <a:chOff x="0" y="0"/>
            <a:chExt cx="279400" cy="381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1D5994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4197325" y="728662"/>
            <a:ext cx="209550" cy="28575"/>
            <a:chOff x="0" y="0"/>
            <a:chExt cx="279400" cy="381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1D5994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4454500" y="728662"/>
            <a:ext cx="209550" cy="28575"/>
            <a:chOff x="0" y="0"/>
            <a:chExt cx="279400" cy="381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AFC4D6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4711675" y="728662"/>
            <a:ext cx="209550" cy="28575"/>
            <a:chOff x="0" y="0"/>
            <a:chExt cx="279400" cy="381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AFC4D6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4968850" y="728662"/>
            <a:ext cx="209550" cy="28575"/>
            <a:chOff x="0" y="0"/>
            <a:chExt cx="279400" cy="381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AFC4D6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226025" y="728662"/>
            <a:ext cx="209550" cy="28575"/>
            <a:chOff x="0" y="0"/>
            <a:chExt cx="279400" cy="381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AFC4D6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6245583" y="564680"/>
            <a:ext cx="950214" cy="33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1425" spc="185">
                <a:solidFill>
                  <a:srgbClr val="4A6884"/>
                </a:solidFill>
                <a:latin typeface="Arimo"/>
                <a:ea typeface="Arimo"/>
                <a:cs typeface="Arimo"/>
                <a:sym typeface="Arimo"/>
              </a:rPr>
              <a:t>11 / 42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68403" y="1406528"/>
            <a:ext cx="15253973" cy="1214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08"/>
              </a:lnSpc>
            </a:pPr>
            <a:r>
              <a:rPr lang="en-US" sz="4500" spc="-99">
                <a:solidFill>
                  <a:srgbClr val="0F2C47"/>
                </a:solidFill>
                <a:latin typeface="Arimo"/>
                <a:ea typeface="Arimo"/>
                <a:cs typeface="Arimo"/>
                <a:sym typeface="Arimo"/>
              </a:rPr>
              <a:t>Nutriční terapii podáváme jen tehdy, </a:t>
            </a:r>
          </a:p>
          <a:p>
            <a:pPr algn="l">
              <a:lnSpc>
                <a:spcPts val="4610"/>
              </a:lnSpc>
            </a:pPr>
            <a:r>
              <a:rPr lang="en-US" sz="4500" spc="-99">
                <a:solidFill>
                  <a:srgbClr val="0F2C47"/>
                </a:solidFill>
                <a:latin typeface="Arimo"/>
                <a:ea typeface="Arimo"/>
                <a:cs typeface="Arimo"/>
                <a:sym typeface="Arimo"/>
              </a:rPr>
              <a:t>projde-li rozhodnutí všemi šesti otázkami.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390650" y="4267200"/>
            <a:ext cx="19050" cy="95250"/>
            <a:chOff x="0" y="0"/>
            <a:chExt cx="25400" cy="127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5400" cy="127000"/>
            </a:xfrm>
            <a:custGeom>
              <a:avLst/>
              <a:gdLst/>
              <a:ahLst/>
              <a:cxnLst/>
              <a:rect r="r" b="b" t="t" l="l"/>
              <a:pathLst>
                <a:path h="127000" w="25400">
                  <a:moveTo>
                    <a:pt x="0" y="0"/>
                  </a:moveTo>
                  <a:lnTo>
                    <a:pt x="25400" y="0"/>
                  </a:lnTo>
                  <a:lnTo>
                    <a:pt x="2540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1D5994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390650" y="4362450"/>
            <a:ext cx="628650" cy="19050"/>
            <a:chOff x="0" y="0"/>
            <a:chExt cx="838200" cy="254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38200" cy="25400"/>
            </a:xfrm>
            <a:custGeom>
              <a:avLst/>
              <a:gdLst/>
              <a:ahLst/>
              <a:cxnLst/>
              <a:rect r="r" b="b" t="t" l="l"/>
              <a:pathLst>
                <a:path h="25400" w="838200">
                  <a:moveTo>
                    <a:pt x="0" y="0"/>
                  </a:moveTo>
                  <a:lnTo>
                    <a:pt x="838200" y="0"/>
                  </a:lnTo>
                  <a:lnTo>
                    <a:pt x="8382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1D5994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2000250" y="4362450"/>
            <a:ext cx="19050" cy="133350"/>
            <a:chOff x="0" y="0"/>
            <a:chExt cx="25400" cy="177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5400" cy="177800"/>
            </a:xfrm>
            <a:custGeom>
              <a:avLst/>
              <a:gdLst/>
              <a:ahLst/>
              <a:cxnLst/>
              <a:rect r="r" b="b" t="t" l="l"/>
              <a:pathLst>
                <a:path h="177800" w="25400">
                  <a:moveTo>
                    <a:pt x="0" y="0"/>
                  </a:moveTo>
                  <a:lnTo>
                    <a:pt x="25400" y="0"/>
                  </a:lnTo>
                  <a:lnTo>
                    <a:pt x="25400" y="177800"/>
                  </a:lnTo>
                  <a:lnTo>
                    <a:pt x="0" y="177800"/>
                  </a:lnTo>
                  <a:close/>
                </a:path>
              </a:pathLst>
            </a:custGeom>
            <a:solidFill>
              <a:srgbClr val="1D5994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2000250" y="4953000"/>
            <a:ext cx="19050" cy="95250"/>
            <a:chOff x="0" y="0"/>
            <a:chExt cx="25400" cy="127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5400" cy="127000"/>
            </a:xfrm>
            <a:custGeom>
              <a:avLst/>
              <a:gdLst/>
              <a:ahLst/>
              <a:cxnLst/>
              <a:rect r="r" b="b" t="t" l="l"/>
              <a:pathLst>
                <a:path h="127000" w="25400">
                  <a:moveTo>
                    <a:pt x="0" y="0"/>
                  </a:moveTo>
                  <a:lnTo>
                    <a:pt x="25400" y="0"/>
                  </a:lnTo>
                  <a:lnTo>
                    <a:pt x="2540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1D5994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2000250" y="5048250"/>
            <a:ext cx="628650" cy="19050"/>
            <a:chOff x="0" y="0"/>
            <a:chExt cx="838200" cy="254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38200" cy="25400"/>
            </a:xfrm>
            <a:custGeom>
              <a:avLst/>
              <a:gdLst/>
              <a:ahLst/>
              <a:cxnLst/>
              <a:rect r="r" b="b" t="t" l="l"/>
              <a:pathLst>
                <a:path h="25400" w="838200">
                  <a:moveTo>
                    <a:pt x="0" y="0"/>
                  </a:moveTo>
                  <a:lnTo>
                    <a:pt x="838200" y="0"/>
                  </a:lnTo>
                  <a:lnTo>
                    <a:pt x="8382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1D5994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2609850" y="5048250"/>
            <a:ext cx="19050" cy="133350"/>
            <a:chOff x="0" y="0"/>
            <a:chExt cx="25400" cy="177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5400" cy="177800"/>
            </a:xfrm>
            <a:custGeom>
              <a:avLst/>
              <a:gdLst/>
              <a:ahLst/>
              <a:cxnLst/>
              <a:rect r="r" b="b" t="t" l="l"/>
              <a:pathLst>
                <a:path h="177800" w="25400">
                  <a:moveTo>
                    <a:pt x="0" y="0"/>
                  </a:moveTo>
                  <a:lnTo>
                    <a:pt x="25400" y="0"/>
                  </a:lnTo>
                  <a:lnTo>
                    <a:pt x="25400" y="177800"/>
                  </a:lnTo>
                  <a:lnTo>
                    <a:pt x="0" y="177800"/>
                  </a:lnTo>
                  <a:close/>
                </a:path>
              </a:pathLst>
            </a:custGeom>
            <a:solidFill>
              <a:srgbClr val="1D5994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2609850" y="5638800"/>
            <a:ext cx="19050" cy="95250"/>
            <a:chOff x="0" y="0"/>
            <a:chExt cx="25400" cy="1270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5400" cy="127000"/>
            </a:xfrm>
            <a:custGeom>
              <a:avLst/>
              <a:gdLst/>
              <a:ahLst/>
              <a:cxnLst/>
              <a:rect r="r" b="b" t="t" l="l"/>
              <a:pathLst>
                <a:path h="127000" w="25400">
                  <a:moveTo>
                    <a:pt x="0" y="0"/>
                  </a:moveTo>
                  <a:lnTo>
                    <a:pt x="25400" y="0"/>
                  </a:lnTo>
                  <a:lnTo>
                    <a:pt x="2540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1D5994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2609850" y="5734050"/>
            <a:ext cx="628650" cy="19050"/>
            <a:chOff x="0" y="0"/>
            <a:chExt cx="838200" cy="254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38200" cy="25400"/>
            </a:xfrm>
            <a:custGeom>
              <a:avLst/>
              <a:gdLst/>
              <a:ahLst/>
              <a:cxnLst/>
              <a:rect r="r" b="b" t="t" l="l"/>
              <a:pathLst>
                <a:path h="25400" w="838200">
                  <a:moveTo>
                    <a:pt x="0" y="0"/>
                  </a:moveTo>
                  <a:lnTo>
                    <a:pt x="838200" y="0"/>
                  </a:lnTo>
                  <a:lnTo>
                    <a:pt x="8382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1D5994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3219450" y="5734050"/>
            <a:ext cx="19050" cy="133350"/>
            <a:chOff x="0" y="0"/>
            <a:chExt cx="25400" cy="177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5400" cy="177800"/>
            </a:xfrm>
            <a:custGeom>
              <a:avLst/>
              <a:gdLst/>
              <a:ahLst/>
              <a:cxnLst/>
              <a:rect r="r" b="b" t="t" l="l"/>
              <a:pathLst>
                <a:path h="177800" w="25400">
                  <a:moveTo>
                    <a:pt x="0" y="0"/>
                  </a:moveTo>
                  <a:lnTo>
                    <a:pt x="25400" y="0"/>
                  </a:lnTo>
                  <a:lnTo>
                    <a:pt x="25400" y="177800"/>
                  </a:lnTo>
                  <a:lnTo>
                    <a:pt x="0" y="177800"/>
                  </a:lnTo>
                  <a:close/>
                </a:path>
              </a:pathLst>
            </a:custGeom>
            <a:solidFill>
              <a:srgbClr val="1D5994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3219450" y="6324600"/>
            <a:ext cx="19050" cy="95250"/>
            <a:chOff x="0" y="0"/>
            <a:chExt cx="25400" cy="1270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5400" cy="127000"/>
            </a:xfrm>
            <a:custGeom>
              <a:avLst/>
              <a:gdLst/>
              <a:ahLst/>
              <a:cxnLst/>
              <a:rect r="r" b="b" t="t" l="l"/>
              <a:pathLst>
                <a:path h="127000" w="25400">
                  <a:moveTo>
                    <a:pt x="0" y="0"/>
                  </a:moveTo>
                  <a:lnTo>
                    <a:pt x="25400" y="0"/>
                  </a:lnTo>
                  <a:lnTo>
                    <a:pt x="2540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1D5994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3219450" y="6419850"/>
            <a:ext cx="628650" cy="19050"/>
            <a:chOff x="0" y="0"/>
            <a:chExt cx="838200" cy="254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38200" cy="25400"/>
            </a:xfrm>
            <a:custGeom>
              <a:avLst/>
              <a:gdLst/>
              <a:ahLst/>
              <a:cxnLst/>
              <a:rect r="r" b="b" t="t" l="l"/>
              <a:pathLst>
                <a:path h="25400" w="838200">
                  <a:moveTo>
                    <a:pt x="0" y="0"/>
                  </a:moveTo>
                  <a:lnTo>
                    <a:pt x="838200" y="0"/>
                  </a:lnTo>
                  <a:lnTo>
                    <a:pt x="8382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1D5994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3829050" y="6419850"/>
            <a:ext cx="19050" cy="133350"/>
            <a:chOff x="0" y="0"/>
            <a:chExt cx="25400" cy="1778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5400" cy="177800"/>
            </a:xfrm>
            <a:custGeom>
              <a:avLst/>
              <a:gdLst/>
              <a:ahLst/>
              <a:cxnLst/>
              <a:rect r="r" b="b" t="t" l="l"/>
              <a:pathLst>
                <a:path h="177800" w="25400">
                  <a:moveTo>
                    <a:pt x="0" y="0"/>
                  </a:moveTo>
                  <a:lnTo>
                    <a:pt x="25400" y="0"/>
                  </a:lnTo>
                  <a:lnTo>
                    <a:pt x="25400" y="177800"/>
                  </a:lnTo>
                  <a:lnTo>
                    <a:pt x="0" y="177800"/>
                  </a:lnTo>
                  <a:close/>
                </a:path>
              </a:pathLst>
            </a:custGeom>
            <a:solidFill>
              <a:srgbClr val="1D5994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3829050" y="7010400"/>
            <a:ext cx="19050" cy="95250"/>
            <a:chOff x="0" y="0"/>
            <a:chExt cx="25400" cy="1270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5400" cy="127000"/>
            </a:xfrm>
            <a:custGeom>
              <a:avLst/>
              <a:gdLst/>
              <a:ahLst/>
              <a:cxnLst/>
              <a:rect r="r" b="b" t="t" l="l"/>
              <a:pathLst>
                <a:path h="127000" w="25400">
                  <a:moveTo>
                    <a:pt x="0" y="0"/>
                  </a:moveTo>
                  <a:lnTo>
                    <a:pt x="25400" y="0"/>
                  </a:lnTo>
                  <a:lnTo>
                    <a:pt x="2540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1D5994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3829050" y="7105650"/>
            <a:ext cx="628650" cy="19050"/>
            <a:chOff x="0" y="0"/>
            <a:chExt cx="838200" cy="254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38200" cy="25400"/>
            </a:xfrm>
            <a:custGeom>
              <a:avLst/>
              <a:gdLst/>
              <a:ahLst/>
              <a:cxnLst/>
              <a:rect r="r" b="b" t="t" l="l"/>
              <a:pathLst>
                <a:path h="25400" w="838200">
                  <a:moveTo>
                    <a:pt x="0" y="0"/>
                  </a:moveTo>
                  <a:lnTo>
                    <a:pt x="838200" y="0"/>
                  </a:lnTo>
                  <a:lnTo>
                    <a:pt x="8382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1D5994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4438650" y="7105650"/>
            <a:ext cx="19050" cy="133350"/>
            <a:chOff x="0" y="0"/>
            <a:chExt cx="25400" cy="1778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5400" cy="177800"/>
            </a:xfrm>
            <a:custGeom>
              <a:avLst/>
              <a:gdLst/>
              <a:ahLst/>
              <a:cxnLst/>
              <a:rect r="r" b="b" t="t" l="l"/>
              <a:pathLst>
                <a:path h="177800" w="25400">
                  <a:moveTo>
                    <a:pt x="0" y="0"/>
                  </a:moveTo>
                  <a:lnTo>
                    <a:pt x="25400" y="0"/>
                  </a:lnTo>
                  <a:lnTo>
                    <a:pt x="25400" y="177800"/>
                  </a:lnTo>
                  <a:lnTo>
                    <a:pt x="0" y="177800"/>
                  </a:lnTo>
                  <a:close/>
                </a:path>
              </a:pathLst>
            </a:custGeom>
            <a:solidFill>
              <a:srgbClr val="1D5994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4438650" y="7696200"/>
            <a:ext cx="19050" cy="95250"/>
            <a:chOff x="0" y="0"/>
            <a:chExt cx="25400" cy="1270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5400" cy="127000"/>
            </a:xfrm>
            <a:custGeom>
              <a:avLst/>
              <a:gdLst/>
              <a:ahLst/>
              <a:cxnLst/>
              <a:rect r="r" b="b" t="t" l="l"/>
              <a:pathLst>
                <a:path h="127000" w="25400">
                  <a:moveTo>
                    <a:pt x="0" y="0"/>
                  </a:moveTo>
                  <a:lnTo>
                    <a:pt x="25400" y="0"/>
                  </a:lnTo>
                  <a:lnTo>
                    <a:pt x="2540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1D5994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4438650" y="7791450"/>
            <a:ext cx="628650" cy="19050"/>
            <a:chOff x="0" y="0"/>
            <a:chExt cx="838200" cy="254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838200" cy="25400"/>
            </a:xfrm>
            <a:custGeom>
              <a:avLst/>
              <a:gdLst/>
              <a:ahLst/>
              <a:cxnLst/>
              <a:rect r="r" b="b" t="t" l="l"/>
              <a:pathLst>
                <a:path h="25400" w="838200">
                  <a:moveTo>
                    <a:pt x="0" y="0"/>
                  </a:moveTo>
                  <a:lnTo>
                    <a:pt x="838200" y="0"/>
                  </a:lnTo>
                  <a:lnTo>
                    <a:pt x="8382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1D5994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5048250" y="7791450"/>
            <a:ext cx="19050" cy="133350"/>
            <a:chOff x="0" y="0"/>
            <a:chExt cx="25400" cy="1778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5400" cy="177800"/>
            </a:xfrm>
            <a:custGeom>
              <a:avLst/>
              <a:gdLst/>
              <a:ahLst/>
              <a:cxnLst/>
              <a:rect r="r" b="b" t="t" l="l"/>
              <a:pathLst>
                <a:path h="177800" w="25400">
                  <a:moveTo>
                    <a:pt x="0" y="0"/>
                  </a:moveTo>
                  <a:lnTo>
                    <a:pt x="25400" y="0"/>
                  </a:lnTo>
                  <a:lnTo>
                    <a:pt x="25400" y="177800"/>
                  </a:lnTo>
                  <a:lnTo>
                    <a:pt x="0" y="177800"/>
                  </a:lnTo>
                  <a:close/>
                </a:path>
              </a:pathLst>
            </a:custGeom>
            <a:solidFill>
              <a:srgbClr val="1D5994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138238" y="3805238"/>
            <a:ext cx="4962525" cy="466725"/>
            <a:chOff x="0" y="0"/>
            <a:chExt cx="6616700" cy="6223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6616700" cy="622300"/>
            </a:xfrm>
            <a:custGeom>
              <a:avLst/>
              <a:gdLst/>
              <a:ahLst/>
              <a:cxnLst/>
              <a:rect r="r" b="b" t="t" l="l"/>
              <a:pathLst>
                <a:path h="622300" w="6616700">
                  <a:moveTo>
                    <a:pt x="0" y="181483"/>
                  </a:moveTo>
                  <a:cubicBezTo>
                    <a:pt x="0" y="81280"/>
                    <a:pt x="81280" y="0"/>
                    <a:pt x="181483" y="0"/>
                  </a:cubicBezTo>
                  <a:lnTo>
                    <a:pt x="6435217" y="0"/>
                  </a:lnTo>
                  <a:cubicBezTo>
                    <a:pt x="6535420" y="0"/>
                    <a:pt x="6616700" y="81280"/>
                    <a:pt x="6616700" y="181483"/>
                  </a:cubicBezTo>
                  <a:lnTo>
                    <a:pt x="6616700" y="440817"/>
                  </a:lnTo>
                  <a:cubicBezTo>
                    <a:pt x="6616700" y="541020"/>
                    <a:pt x="6535420" y="622300"/>
                    <a:pt x="6435217" y="622300"/>
                  </a:cubicBezTo>
                  <a:lnTo>
                    <a:pt x="181483" y="622300"/>
                  </a:lnTo>
                  <a:cubicBezTo>
                    <a:pt x="81280" y="622300"/>
                    <a:pt x="0" y="541020"/>
                    <a:pt x="0" y="440817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AFC4D6"/>
              </a:solidFill>
              <a:prstDash val="solid"/>
              <a:miter/>
            </a:ln>
          </p:spPr>
        </p:sp>
      </p:grpSp>
      <p:sp>
        <p:nvSpPr>
          <p:cNvPr name="TextBox 56" id="56"/>
          <p:cNvSpPr txBox="true"/>
          <p:nvPr/>
        </p:nvSpPr>
        <p:spPr>
          <a:xfrm rot="0">
            <a:off x="1406528" y="3955428"/>
            <a:ext cx="278778" cy="204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91"/>
              </a:lnSpc>
            </a:pPr>
            <a:r>
              <a:rPr lang="en-US" sz="1425" spc="141">
                <a:solidFill>
                  <a:srgbClr val="1D5994"/>
                </a:solidFill>
                <a:latin typeface="Arimo"/>
                <a:ea typeface="Arimo"/>
                <a:cs typeface="Arimo"/>
                <a:sym typeface="Arimo"/>
              </a:rPr>
              <a:t>01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805959" y="3875703"/>
            <a:ext cx="3165805" cy="357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9"/>
              </a:lnSpc>
            </a:pPr>
            <a:r>
              <a:rPr lang="en-US" sz="1950">
                <a:solidFill>
                  <a:srgbClr val="0F2C47"/>
                </a:solidFill>
                <a:latin typeface="Arimo"/>
                <a:ea typeface="Arimo"/>
                <a:cs typeface="Arimo"/>
                <a:sym typeface="Arimo"/>
              </a:rPr>
              <a:t>Screening rizika malnutrice</a:t>
            </a:r>
          </a:p>
        </p:txBody>
      </p:sp>
      <p:grpSp>
        <p:nvGrpSpPr>
          <p:cNvPr name="Group 58" id="58"/>
          <p:cNvGrpSpPr/>
          <p:nvPr/>
        </p:nvGrpSpPr>
        <p:grpSpPr>
          <a:xfrm rot="0">
            <a:off x="6172200" y="4029075"/>
            <a:ext cx="5657850" cy="19050"/>
            <a:chOff x="0" y="0"/>
            <a:chExt cx="7543800" cy="254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7543800" cy="25400"/>
            </a:xfrm>
            <a:custGeom>
              <a:avLst/>
              <a:gdLst/>
              <a:ahLst/>
              <a:cxnLst/>
              <a:rect r="r" b="b" t="t" l="l"/>
              <a:pathLst>
                <a:path h="25400" w="7543800">
                  <a:moveTo>
                    <a:pt x="0" y="0"/>
                  </a:moveTo>
                  <a:lnTo>
                    <a:pt x="7543800" y="0"/>
                  </a:lnTo>
                  <a:lnTo>
                    <a:pt x="75438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AFC4D6"/>
            </a:solidFill>
          </p:spPr>
        </p:sp>
      </p:grpSp>
      <p:sp>
        <p:nvSpPr>
          <p:cNvPr name="TextBox 60" id="60"/>
          <p:cNvSpPr txBox="true"/>
          <p:nvPr/>
        </p:nvSpPr>
        <p:spPr>
          <a:xfrm rot="0">
            <a:off x="6311903" y="3759203"/>
            <a:ext cx="609600" cy="268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1425" spc="185">
                <a:solidFill>
                  <a:srgbClr val="4A6884"/>
                </a:solidFill>
                <a:latin typeface="Arimo"/>
                <a:ea typeface="Arimo"/>
                <a:cs typeface="Arimo"/>
                <a:sym typeface="Arimo"/>
              </a:rPr>
              <a:t>NE</a:t>
            </a:r>
          </a:p>
        </p:txBody>
      </p:sp>
      <p:grpSp>
        <p:nvGrpSpPr>
          <p:cNvPr name="Group 61" id="61"/>
          <p:cNvGrpSpPr/>
          <p:nvPr/>
        </p:nvGrpSpPr>
        <p:grpSpPr>
          <a:xfrm rot="0">
            <a:off x="1747838" y="4491038"/>
            <a:ext cx="4962525" cy="466725"/>
            <a:chOff x="0" y="0"/>
            <a:chExt cx="6616700" cy="62230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6616700" cy="622300"/>
            </a:xfrm>
            <a:custGeom>
              <a:avLst/>
              <a:gdLst/>
              <a:ahLst/>
              <a:cxnLst/>
              <a:rect r="r" b="b" t="t" l="l"/>
              <a:pathLst>
                <a:path h="622300" w="6616700">
                  <a:moveTo>
                    <a:pt x="0" y="181483"/>
                  </a:moveTo>
                  <a:cubicBezTo>
                    <a:pt x="0" y="81280"/>
                    <a:pt x="81280" y="0"/>
                    <a:pt x="181483" y="0"/>
                  </a:cubicBezTo>
                  <a:lnTo>
                    <a:pt x="6435217" y="0"/>
                  </a:lnTo>
                  <a:cubicBezTo>
                    <a:pt x="6535420" y="0"/>
                    <a:pt x="6616700" y="81280"/>
                    <a:pt x="6616700" y="181483"/>
                  </a:cubicBezTo>
                  <a:lnTo>
                    <a:pt x="6616700" y="440817"/>
                  </a:lnTo>
                  <a:cubicBezTo>
                    <a:pt x="6616700" y="541020"/>
                    <a:pt x="6535420" y="622300"/>
                    <a:pt x="6435217" y="622300"/>
                  </a:cubicBezTo>
                  <a:lnTo>
                    <a:pt x="181483" y="622300"/>
                  </a:lnTo>
                  <a:cubicBezTo>
                    <a:pt x="81280" y="622300"/>
                    <a:pt x="0" y="541020"/>
                    <a:pt x="0" y="440817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AFC4D6"/>
              </a:solidFill>
              <a:prstDash val="solid"/>
              <a:miter/>
            </a:ln>
          </p:spPr>
        </p:sp>
      </p:grpSp>
      <p:sp>
        <p:nvSpPr>
          <p:cNvPr name="TextBox 63" id="63"/>
          <p:cNvSpPr txBox="true"/>
          <p:nvPr/>
        </p:nvSpPr>
        <p:spPr>
          <a:xfrm rot="0">
            <a:off x="2016128" y="4641228"/>
            <a:ext cx="278778" cy="204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91"/>
              </a:lnSpc>
            </a:pPr>
            <a:r>
              <a:rPr lang="en-US" sz="1425" spc="141">
                <a:solidFill>
                  <a:srgbClr val="1D5994"/>
                </a:solidFill>
                <a:latin typeface="Arimo"/>
                <a:ea typeface="Arimo"/>
                <a:cs typeface="Arimo"/>
                <a:sym typeface="Arimo"/>
              </a:rPr>
              <a:t>02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2415559" y="4561503"/>
            <a:ext cx="2311746" cy="357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9"/>
              </a:lnSpc>
            </a:pPr>
            <a:r>
              <a:rPr lang="en-US" sz="1950">
                <a:solidFill>
                  <a:srgbClr val="0F2C47"/>
                </a:solidFill>
                <a:latin typeface="Arimo"/>
                <a:ea typeface="Arimo"/>
                <a:cs typeface="Arimo"/>
                <a:sym typeface="Arimo"/>
              </a:rPr>
              <a:t>Bylo riziko zjištěno?</a:t>
            </a:r>
          </a:p>
        </p:txBody>
      </p:sp>
      <p:grpSp>
        <p:nvGrpSpPr>
          <p:cNvPr name="Group 65" id="65"/>
          <p:cNvGrpSpPr/>
          <p:nvPr/>
        </p:nvGrpSpPr>
        <p:grpSpPr>
          <a:xfrm rot="0">
            <a:off x="6781800" y="4714875"/>
            <a:ext cx="5048250" cy="19050"/>
            <a:chOff x="0" y="0"/>
            <a:chExt cx="6731000" cy="254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6731000" cy="25400"/>
            </a:xfrm>
            <a:custGeom>
              <a:avLst/>
              <a:gdLst/>
              <a:ahLst/>
              <a:cxnLst/>
              <a:rect r="r" b="b" t="t" l="l"/>
              <a:pathLst>
                <a:path h="25400" w="6731000">
                  <a:moveTo>
                    <a:pt x="0" y="0"/>
                  </a:moveTo>
                  <a:lnTo>
                    <a:pt x="6731000" y="0"/>
                  </a:lnTo>
                  <a:lnTo>
                    <a:pt x="6731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AFC4D6"/>
            </a:solidFill>
          </p:spPr>
        </p:sp>
      </p:grpSp>
      <p:sp>
        <p:nvSpPr>
          <p:cNvPr name="TextBox 67" id="67"/>
          <p:cNvSpPr txBox="true"/>
          <p:nvPr/>
        </p:nvSpPr>
        <p:spPr>
          <a:xfrm rot="0">
            <a:off x="6921503" y="4445003"/>
            <a:ext cx="398459" cy="268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1425" spc="185">
                <a:solidFill>
                  <a:srgbClr val="4A6884"/>
                </a:solidFill>
                <a:latin typeface="Arimo"/>
                <a:ea typeface="Arimo"/>
                <a:cs typeface="Arimo"/>
                <a:sym typeface="Arimo"/>
              </a:rPr>
              <a:t>NE</a:t>
            </a:r>
          </a:p>
        </p:txBody>
      </p:sp>
      <p:grpSp>
        <p:nvGrpSpPr>
          <p:cNvPr name="Group 68" id="68"/>
          <p:cNvGrpSpPr/>
          <p:nvPr/>
        </p:nvGrpSpPr>
        <p:grpSpPr>
          <a:xfrm rot="0">
            <a:off x="2357438" y="5176838"/>
            <a:ext cx="4962525" cy="466725"/>
            <a:chOff x="0" y="0"/>
            <a:chExt cx="6616700" cy="6223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6616700" cy="622300"/>
            </a:xfrm>
            <a:custGeom>
              <a:avLst/>
              <a:gdLst/>
              <a:ahLst/>
              <a:cxnLst/>
              <a:rect r="r" b="b" t="t" l="l"/>
              <a:pathLst>
                <a:path h="622300" w="6616700">
                  <a:moveTo>
                    <a:pt x="0" y="181483"/>
                  </a:moveTo>
                  <a:cubicBezTo>
                    <a:pt x="0" y="81280"/>
                    <a:pt x="81280" y="0"/>
                    <a:pt x="181483" y="0"/>
                  </a:cubicBezTo>
                  <a:lnTo>
                    <a:pt x="6435217" y="0"/>
                  </a:lnTo>
                  <a:cubicBezTo>
                    <a:pt x="6535420" y="0"/>
                    <a:pt x="6616700" y="81280"/>
                    <a:pt x="6616700" y="181483"/>
                  </a:cubicBezTo>
                  <a:lnTo>
                    <a:pt x="6616700" y="440817"/>
                  </a:lnTo>
                  <a:cubicBezTo>
                    <a:pt x="6616700" y="541020"/>
                    <a:pt x="6535420" y="622300"/>
                    <a:pt x="6435217" y="622300"/>
                  </a:cubicBezTo>
                  <a:lnTo>
                    <a:pt x="181483" y="622300"/>
                  </a:lnTo>
                  <a:cubicBezTo>
                    <a:pt x="81280" y="622300"/>
                    <a:pt x="0" y="541020"/>
                    <a:pt x="0" y="440817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AFC4D6"/>
              </a:solidFill>
              <a:prstDash val="solid"/>
              <a:miter/>
            </a:ln>
          </p:spPr>
        </p:sp>
      </p:grpSp>
      <p:sp>
        <p:nvSpPr>
          <p:cNvPr name="TextBox 70" id="70"/>
          <p:cNvSpPr txBox="true"/>
          <p:nvPr/>
        </p:nvSpPr>
        <p:spPr>
          <a:xfrm rot="0">
            <a:off x="2625728" y="5327028"/>
            <a:ext cx="278778" cy="204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91"/>
              </a:lnSpc>
            </a:pPr>
            <a:r>
              <a:rPr lang="en-US" sz="1425" spc="141">
                <a:solidFill>
                  <a:srgbClr val="1D5994"/>
                </a:solidFill>
                <a:latin typeface="Arimo"/>
                <a:ea typeface="Arimo"/>
                <a:cs typeface="Arimo"/>
                <a:sym typeface="Arimo"/>
              </a:rPr>
              <a:t>03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3025159" y="5247303"/>
            <a:ext cx="3985155" cy="357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9"/>
              </a:lnSpc>
            </a:pPr>
            <a:r>
              <a:rPr lang="en-US" sz="1950">
                <a:solidFill>
                  <a:srgbClr val="0F2C47"/>
                </a:solidFill>
                <a:latin typeface="Arimo"/>
                <a:ea typeface="Arimo"/>
                <a:cs typeface="Arimo"/>
                <a:sym typeface="Arimo"/>
              </a:rPr>
              <a:t>Malnutrice potvrzena podle GLIM?</a:t>
            </a:r>
          </a:p>
        </p:txBody>
      </p:sp>
      <p:grpSp>
        <p:nvGrpSpPr>
          <p:cNvPr name="Group 72" id="72"/>
          <p:cNvGrpSpPr/>
          <p:nvPr/>
        </p:nvGrpSpPr>
        <p:grpSpPr>
          <a:xfrm rot="0">
            <a:off x="7391400" y="5400675"/>
            <a:ext cx="4438650" cy="19050"/>
            <a:chOff x="0" y="0"/>
            <a:chExt cx="5918200" cy="2540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5918200" cy="25400"/>
            </a:xfrm>
            <a:custGeom>
              <a:avLst/>
              <a:gdLst/>
              <a:ahLst/>
              <a:cxnLst/>
              <a:rect r="r" b="b" t="t" l="l"/>
              <a:pathLst>
                <a:path h="25400" w="5918200">
                  <a:moveTo>
                    <a:pt x="0" y="0"/>
                  </a:moveTo>
                  <a:lnTo>
                    <a:pt x="5918200" y="0"/>
                  </a:lnTo>
                  <a:lnTo>
                    <a:pt x="59182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AFC4D6"/>
            </a:solidFill>
          </p:spPr>
        </p:sp>
      </p:grpSp>
      <p:sp>
        <p:nvSpPr>
          <p:cNvPr name="TextBox 74" id="74"/>
          <p:cNvSpPr txBox="true"/>
          <p:nvPr/>
        </p:nvSpPr>
        <p:spPr>
          <a:xfrm rot="0">
            <a:off x="7531103" y="5130803"/>
            <a:ext cx="609600" cy="268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1425" spc="185">
                <a:solidFill>
                  <a:srgbClr val="4A6884"/>
                </a:solidFill>
                <a:latin typeface="Arimo"/>
                <a:ea typeface="Arimo"/>
                <a:cs typeface="Arimo"/>
                <a:sym typeface="Arimo"/>
              </a:rPr>
              <a:t>NE</a:t>
            </a:r>
          </a:p>
        </p:txBody>
      </p:sp>
      <p:grpSp>
        <p:nvGrpSpPr>
          <p:cNvPr name="Group 75" id="75"/>
          <p:cNvGrpSpPr/>
          <p:nvPr/>
        </p:nvGrpSpPr>
        <p:grpSpPr>
          <a:xfrm rot="0">
            <a:off x="2967038" y="5862638"/>
            <a:ext cx="4962525" cy="466725"/>
            <a:chOff x="0" y="0"/>
            <a:chExt cx="6616700" cy="62230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6616700" cy="622300"/>
            </a:xfrm>
            <a:custGeom>
              <a:avLst/>
              <a:gdLst/>
              <a:ahLst/>
              <a:cxnLst/>
              <a:rect r="r" b="b" t="t" l="l"/>
              <a:pathLst>
                <a:path h="622300" w="6616700">
                  <a:moveTo>
                    <a:pt x="0" y="181483"/>
                  </a:moveTo>
                  <a:cubicBezTo>
                    <a:pt x="0" y="81280"/>
                    <a:pt x="81280" y="0"/>
                    <a:pt x="181483" y="0"/>
                  </a:cubicBezTo>
                  <a:lnTo>
                    <a:pt x="6435217" y="0"/>
                  </a:lnTo>
                  <a:cubicBezTo>
                    <a:pt x="6535420" y="0"/>
                    <a:pt x="6616700" y="81280"/>
                    <a:pt x="6616700" y="181483"/>
                  </a:cubicBezTo>
                  <a:lnTo>
                    <a:pt x="6616700" y="440817"/>
                  </a:lnTo>
                  <a:cubicBezTo>
                    <a:pt x="6616700" y="541020"/>
                    <a:pt x="6535420" y="622300"/>
                    <a:pt x="6435217" y="622300"/>
                  </a:cubicBezTo>
                  <a:lnTo>
                    <a:pt x="181483" y="622300"/>
                  </a:lnTo>
                  <a:cubicBezTo>
                    <a:pt x="81280" y="622300"/>
                    <a:pt x="0" y="541020"/>
                    <a:pt x="0" y="440817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AFC4D6"/>
              </a:solidFill>
              <a:prstDash val="solid"/>
              <a:miter/>
            </a:ln>
          </p:spPr>
        </p:sp>
      </p:grpSp>
      <p:sp>
        <p:nvSpPr>
          <p:cNvPr name="TextBox 77" id="77"/>
          <p:cNvSpPr txBox="true"/>
          <p:nvPr/>
        </p:nvSpPr>
        <p:spPr>
          <a:xfrm rot="0">
            <a:off x="3235328" y="6012828"/>
            <a:ext cx="278778" cy="204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91"/>
              </a:lnSpc>
            </a:pPr>
            <a:r>
              <a:rPr lang="en-US" sz="1425" spc="141">
                <a:solidFill>
                  <a:srgbClr val="1D5994"/>
                </a:solidFill>
                <a:latin typeface="Arimo"/>
                <a:ea typeface="Arimo"/>
                <a:cs typeface="Arimo"/>
                <a:sym typeface="Arimo"/>
              </a:rPr>
              <a:t>04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3634759" y="5933103"/>
            <a:ext cx="2847727" cy="357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9"/>
              </a:lnSpc>
            </a:pPr>
            <a:r>
              <a:rPr lang="en-US" sz="1950">
                <a:solidFill>
                  <a:srgbClr val="0F2C47"/>
                </a:solidFill>
                <a:latin typeface="Arimo"/>
                <a:ea typeface="Arimo"/>
                <a:cs typeface="Arimo"/>
                <a:sym typeface="Arimo"/>
              </a:rPr>
              <a:t>Je medicínská indikace?</a:t>
            </a:r>
          </a:p>
        </p:txBody>
      </p:sp>
      <p:grpSp>
        <p:nvGrpSpPr>
          <p:cNvPr name="Group 79" id="79"/>
          <p:cNvGrpSpPr/>
          <p:nvPr/>
        </p:nvGrpSpPr>
        <p:grpSpPr>
          <a:xfrm rot="0">
            <a:off x="8001000" y="6086475"/>
            <a:ext cx="3829050" cy="19050"/>
            <a:chOff x="0" y="0"/>
            <a:chExt cx="5105400" cy="2540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5105400" cy="25400"/>
            </a:xfrm>
            <a:custGeom>
              <a:avLst/>
              <a:gdLst/>
              <a:ahLst/>
              <a:cxnLst/>
              <a:rect r="r" b="b" t="t" l="l"/>
              <a:pathLst>
                <a:path h="25400" w="5105400">
                  <a:moveTo>
                    <a:pt x="0" y="0"/>
                  </a:moveTo>
                  <a:lnTo>
                    <a:pt x="5105400" y="0"/>
                  </a:lnTo>
                  <a:lnTo>
                    <a:pt x="51054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AFC4D6"/>
            </a:solidFill>
          </p:spPr>
        </p:sp>
      </p:grpSp>
      <p:sp>
        <p:nvSpPr>
          <p:cNvPr name="TextBox 81" id="81"/>
          <p:cNvSpPr txBox="true"/>
          <p:nvPr/>
        </p:nvSpPr>
        <p:spPr>
          <a:xfrm rot="0">
            <a:off x="8140703" y="5816603"/>
            <a:ext cx="469897" cy="268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1425" spc="185">
                <a:solidFill>
                  <a:srgbClr val="4A6884"/>
                </a:solidFill>
                <a:latin typeface="Arimo"/>
                <a:ea typeface="Arimo"/>
                <a:cs typeface="Arimo"/>
                <a:sym typeface="Arimo"/>
              </a:rPr>
              <a:t>NE</a:t>
            </a:r>
          </a:p>
        </p:txBody>
      </p:sp>
      <p:grpSp>
        <p:nvGrpSpPr>
          <p:cNvPr name="Group 82" id="82"/>
          <p:cNvGrpSpPr/>
          <p:nvPr/>
        </p:nvGrpSpPr>
        <p:grpSpPr>
          <a:xfrm rot="0">
            <a:off x="3576638" y="6548438"/>
            <a:ext cx="4962525" cy="466725"/>
            <a:chOff x="0" y="0"/>
            <a:chExt cx="6616700" cy="62230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6616700" cy="622300"/>
            </a:xfrm>
            <a:custGeom>
              <a:avLst/>
              <a:gdLst/>
              <a:ahLst/>
              <a:cxnLst/>
              <a:rect r="r" b="b" t="t" l="l"/>
              <a:pathLst>
                <a:path h="622300" w="6616700">
                  <a:moveTo>
                    <a:pt x="0" y="181483"/>
                  </a:moveTo>
                  <a:cubicBezTo>
                    <a:pt x="0" y="81280"/>
                    <a:pt x="81280" y="0"/>
                    <a:pt x="181483" y="0"/>
                  </a:cubicBezTo>
                  <a:lnTo>
                    <a:pt x="6435217" y="0"/>
                  </a:lnTo>
                  <a:cubicBezTo>
                    <a:pt x="6535420" y="0"/>
                    <a:pt x="6616700" y="81280"/>
                    <a:pt x="6616700" y="181483"/>
                  </a:cubicBezTo>
                  <a:lnTo>
                    <a:pt x="6616700" y="440817"/>
                  </a:lnTo>
                  <a:cubicBezTo>
                    <a:pt x="6616700" y="541020"/>
                    <a:pt x="6535420" y="622300"/>
                    <a:pt x="6435217" y="622300"/>
                  </a:cubicBezTo>
                  <a:lnTo>
                    <a:pt x="181483" y="622300"/>
                  </a:lnTo>
                  <a:cubicBezTo>
                    <a:pt x="81280" y="622300"/>
                    <a:pt x="0" y="541020"/>
                    <a:pt x="0" y="440817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AFC4D6"/>
              </a:solidFill>
              <a:prstDash val="solid"/>
              <a:miter/>
            </a:ln>
          </p:spPr>
        </p:sp>
      </p:grpSp>
      <p:sp>
        <p:nvSpPr>
          <p:cNvPr name="TextBox 84" id="84"/>
          <p:cNvSpPr txBox="true"/>
          <p:nvPr/>
        </p:nvSpPr>
        <p:spPr>
          <a:xfrm rot="0">
            <a:off x="3844928" y="6698628"/>
            <a:ext cx="278778" cy="204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91"/>
              </a:lnSpc>
            </a:pPr>
            <a:r>
              <a:rPr lang="en-US" sz="1425" spc="141">
                <a:solidFill>
                  <a:srgbClr val="1D5994"/>
                </a:solidFill>
                <a:latin typeface="Arimo"/>
                <a:ea typeface="Arimo"/>
                <a:cs typeface="Arimo"/>
                <a:sym typeface="Arimo"/>
              </a:rPr>
              <a:t>05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4244359" y="6618903"/>
            <a:ext cx="2174605" cy="357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9"/>
              </a:lnSpc>
            </a:pPr>
            <a:r>
              <a:rPr lang="en-US" sz="1950">
                <a:solidFill>
                  <a:srgbClr val="0F2C47"/>
                </a:solidFill>
                <a:latin typeface="Arimo"/>
                <a:ea typeface="Arimo"/>
                <a:cs typeface="Arimo"/>
                <a:sym typeface="Arimo"/>
              </a:rPr>
              <a:t>Je cíl dosažitelný?</a:t>
            </a:r>
          </a:p>
        </p:txBody>
      </p:sp>
      <p:grpSp>
        <p:nvGrpSpPr>
          <p:cNvPr name="Group 86" id="86"/>
          <p:cNvGrpSpPr/>
          <p:nvPr/>
        </p:nvGrpSpPr>
        <p:grpSpPr>
          <a:xfrm rot="0">
            <a:off x="8610600" y="6772275"/>
            <a:ext cx="3219450" cy="19050"/>
            <a:chOff x="0" y="0"/>
            <a:chExt cx="4292600" cy="2540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4292600" cy="25400"/>
            </a:xfrm>
            <a:custGeom>
              <a:avLst/>
              <a:gdLst/>
              <a:ahLst/>
              <a:cxnLst/>
              <a:rect r="r" b="b" t="t" l="l"/>
              <a:pathLst>
                <a:path h="25400" w="4292600">
                  <a:moveTo>
                    <a:pt x="0" y="0"/>
                  </a:moveTo>
                  <a:lnTo>
                    <a:pt x="4292600" y="0"/>
                  </a:lnTo>
                  <a:lnTo>
                    <a:pt x="4292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AFC4D6"/>
            </a:solidFill>
          </p:spPr>
        </p:sp>
      </p:grpSp>
      <p:sp>
        <p:nvSpPr>
          <p:cNvPr name="TextBox 88" id="88"/>
          <p:cNvSpPr txBox="true"/>
          <p:nvPr/>
        </p:nvSpPr>
        <p:spPr>
          <a:xfrm rot="0">
            <a:off x="8750303" y="6502403"/>
            <a:ext cx="555622" cy="268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1425" spc="185">
                <a:solidFill>
                  <a:srgbClr val="4A6884"/>
                </a:solidFill>
                <a:latin typeface="Arimo"/>
                <a:ea typeface="Arimo"/>
                <a:cs typeface="Arimo"/>
                <a:sym typeface="Arimo"/>
              </a:rPr>
              <a:t>NE</a:t>
            </a:r>
          </a:p>
        </p:txBody>
      </p:sp>
      <p:grpSp>
        <p:nvGrpSpPr>
          <p:cNvPr name="Group 89" id="89"/>
          <p:cNvGrpSpPr/>
          <p:nvPr/>
        </p:nvGrpSpPr>
        <p:grpSpPr>
          <a:xfrm rot="0">
            <a:off x="4186238" y="7234238"/>
            <a:ext cx="4962525" cy="466725"/>
            <a:chOff x="0" y="0"/>
            <a:chExt cx="6616700" cy="62230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6616700" cy="622300"/>
            </a:xfrm>
            <a:custGeom>
              <a:avLst/>
              <a:gdLst/>
              <a:ahLst/>
              <a:cxnLst/>
              <a:rect r="r" b="b" t="t" l="l"/>
              <a:pathLst>
                <a:path h="622300" w="6616700">
                  <a:moveTo>
                    <a:pt x="0" y="181483"/>
                  </a:moveTo>
                  <a:cubicBezTo>
                    <a:pt x="0" y="81280"/>
                    <a:pt x="81280" y="0"/>
                    <a:pt x="181483" y="0"/>
                  </a:cubicBezTo>
                  <a:lnTo>
                    <a:pt x="6435217" y="0"/>
                  </a:lnTo>
                  <a:cubicBezTo>
                    <a:pt x="6535420" y="0"/>
                    <a:pt x="6616700" y="81280"/>
                    <a:pt x="6616700" y="181483"/>
                  </a:cubicBezTo>
                  <a:lnTo>
                    <a:pt x="6616700" y="440817"/>
                  </a:lnTo>
                  <a:cubicBezTo>
                    <a:pt x="6616700" y="541020"/>
                    <a:pt x="6535420" y="622300"/>
                    <a:pt x="6435217" y="622300"/>
                  </a:cubicBezTo>
                  <a:lnTo>
                    <a:pt x="181483" y="622300"/>
                  </a:lnTo>
                  <a:cubicBezTo>
                    <a:pt x="81280" y="622300"/>
                    <a:pt x="0" y="541020"/>
                    <a:pt x="0" y="440817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AFC4D6"/>
              </a:solidFill>
              <a:prstDash val="solid"/>
              <a:miter/>
            </a:ln>
          </p:spPr>
        </p:sp>
      </p:grpSp>
      <p:sp>
        <p:nvSpPr>
          <p:cNvPr name="TextBox 91" id="91"/>
          <p:cNvSpPr txBox="true"/>
          <p:nvPr/>
        </p:nvSpPr>
        <p:spPr>
          <a:xfrm rot="0">
            <a:off x="4454528" y="7384428"/>
            <a:ext cx="278778" cy="204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91"/>
              </a:lnSpc>
            </a:pPr>
            <a:r>
              <a:rPr lang="en-US" sz="1425" spc="141">
                <a:solidFill>
                  <a:srgbClr val="1D5994"/>
                </a:solidFill>
                <a:latin typeface="Arimo"/>
                <a:ea typeface="Arimo"/>
                <a:cs typeface="Arimo"/>
                <a:sym typeface="Arimo"/>
              </a:rPr>
              <a:t>06</a:t>
            </a:r>
          </a:p>
        </p:txBody>
      </p:sp>
      <p:sp>
        <p:nvSpPr>
          <p:cNvPr name="TextBox 92" id="92"/>
          <p:cNvSpPr txBox="true"/>
          <p:nvPr/>
        </p:nvSpPr>
        <p:spPr>
          <a:xfrm rot="0">
            <a:off x="4853959" y="7304703"/>
            <a:ext cx="2639092" cy="357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9"/>
              </a:lnSpc>
            </a:pPr>
            <a:r>
              <a:rPr lang="en-US" sz="1950">
                <a:solidFill>
                  <a:srgbClr val="0F2C47"/>
                </a:solidFill>
                <a:latin typeface="Arimo"/>
                <a:ea typeface="Arimo"/>
                <a:cs typeface="Arimo"/>
                <a:sym typeface="Arimo"/>
              </a:rPr>
              <a:t>Známe přání pacienta?</a:t>
            </a:r>
          </a:p>
        </p:txBody>
      </p:sp>
      <p:grpSp>
        <p:nvGrpSpPr>
          <p:cNvPr name="Group 93" id="93"/>
          <p:cNvGrpSpPr/>
          <p:nvPr/>
        </p:nvGrpSpPr>
        <p:grpSpPr>
          <a:xfrm rot="0">
            <a:off x="9220200" y="7458075"/>
            <a:ext cx="2609850" cy="19050"/>
            <a:chOff x="0" y="0"/>
            <a:chExt cx="3479800" cy="2540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3479800" cy="25400"/>
            </a:xfrm>
            <a:custGeom>
              <a:avLst/>
              <a:gdLst/>
              <a:ahLst/>
              <a:cxnLst/>
              <a:rect r="r" b="b" t="t" l="l"/>
              <a:pathLst>
                <a:path h="25400" w="3479800">
                  <a:moveTo>
                    <a:pt x="0" y="0"/>
                  </a:moveTo>
                  <a:lnTo>
                    <a:pt x="3479800" y="0"/>
                  </a:lnTo>
                  <a:lnTo>
                    <a:pt x="34798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AFC4D6"/>
            </a:solidFill>
          </p:spPr>
        </p:sp>
      </p:grpSp>
      <p:sp>
        <p:nvSpPr>
          <p:cNvPr name="TextBox 95" id="95"/>
          <p:cNvSpPr txBox="true"/>
          <p:nvPr/>
        </p:nvSpPr>
        <p:spPr>
          <a:xfrm rot="0">
            <a:off x="9359903" y="7188203"/>
            <a:ext cx="555622" cy="268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1425" spc="185">
                <a:solidFill>
                  <a:srgbClr val="4A6884"/>
                </a:solidFill>
                <a:latin typeface="Arimo"/>
                <a:ea typeface="Arimo"/>
                <a:cs typeface="Arimo"/>
                <a:sym typeface="Arimo"/>
              </a:rPr>
              <a:t>NE</a:t>
            </a:r>
          </a:p>
        </p:txBody>
      </p:sp>
      <p:grpSp>
        <p:nvGrpSpPr>
          <p:cNvPr name="Group 96" id="96"/>
          <p:cNvGrpSpPr/>
          <p:nvPr/>
        </p:nvGrpSpPr>
        <p:grpSpPr>
          <a:xfrm rot="0">
            <a:off x="11811000" y="3657600"/>
            <a:ext cx="19050" cy="1752600"/>
            <a:chOff x="0" y="0"/>
            <a:chExt cx="25400" cy="233680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25400" cy="2336800"/>
            </a:xfrm>
            <a:custGeom>
              <a:avLst/>
              <a:gdLst/>
              <a:ahLst/>
              <a:cxnLst/>
              <a:rect r="r" b="b" t="t" l="l"/>
              <a:pathLst>
                <a:path h="2336800" w="25400">
                  <a:moveTo>
                    <a:pt x="0" y="0"/>
                  </a:moveTo>
                  <a:lnTo>
                    <a:pt x="25400" y="0"/>
                  </a:lnTo>
                  <a:lnTo>
                    <a:pt x="25400" y="2336800"/>
                  </a:lnTo>
                  <a:lnTo>
                    <a:pt x="0" y="2336800"/>
                  </a:lnTo>
                  <a:close/>
                </a:path>
              </a:pathLst>
            </a:custGeom>
            <a:solidFill>
              <a:srgbClr val="AFC4D6"/>
            </a:solid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11811000" y="6096000"/>
            <a:ext cx="19050" cy="1866900"/>
            <a:chOff x="0" y="0"/>
            <a:chExt cx="25400" cy="248920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25400" cy="2489200"/>
            </a:xfrm>
            <a:custGeom>
              <a:avLst/>
              <a:gdLst/>
              <a:ahLst/>
              <a:cxnLst/>
              <a:rect r="r" b="b" t="t" l="l"/>
              <a:pathLst>
                <a:path h="2489200" w="25400">
                  <a:moveTo>
                    <a:pt x="0" y="0"/>
                  </a:moveTo>
                  <a:lnTo>
                    <a:pt x="25400" y="0"/>
                  </a:lnTo>
                  <a:lnTo>
                    <a:pt x="25400" y="2489200"/>
                  </a:lnTo>
                  <a:lnTo>
                    <a:pt x="0" y="2489200"/>
                  </a:lnTo>
                  <a:close/>
                </a:path>
              </a:pathLst>
            </a:custGeom>
            <a:solidFill>
              <a:srgbClr val="AFC4D6"/>
            </a:solidFill>
          </p:spPr>
        </p:sp>
      </p:grpSp>
      <p:grpSp>
        <p:nvGrpSpPr>
          <p:cNvPr name="Group 100" id="100"/>
          <p:cNvGrpSpPr/>
          <p:nvPr/>
        </p:nvGrpSpPr>
        <p:grpSpPr>
          <a:xfrm rot="0">
            <a:off x="11811000" y="3648075"/>
            <a:ext cx="381000" cy="19050"/>
            <a:chOff x="0" y="0"/>
            <a:chExt cx="508000" cy="25400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508000" cy="25400"/>
            </a:xfrm>
            <a:custGeom>
              <a:avLst/>
              <a:gdLst/>
              <a:ahLst/>
              <a:cxnLst/>
              <a:rect r="r" b="b" t="t" l="l"/>
              <a:pathLst>
                <a:path h="25400" w="508000">
                  <a:moveTo>
                    <a:pt x="0" y="0"/>
                  </a:moveTo>
                  <a:lnTo>
                    <a:pt x="508000" y="0"/>
                  </a:lnTo>
                  <a:lnTo>
                    <a:pt x="508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AFC4D6"/>
            </a:solidFill>
          </p:spPr>
        </p:sp>
      </p:grpSp>
      <p:grpSp>
        <p:nvGrpSpPr>
          <p:cNvPr name="Group 102" id="102"/>
          <p:cNvGrpSpPr/>
          <p:nvPr/>
        </p:nvGrpSpPr>
        <p:grpSpPr>
          <a:xfrm rot="0">
            <a:off x="11811000" y="7953375"/>
            <a:ext cx="381000" cy="19050"/>
            <a:chOff x="0" y="0"/>
            <a:chExt cx="508000" cy="25400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508000" cy="25400"/>
            </a:xfrm>
            <a:custGeom>
              <a:avLst/>
              <a:gdLst/>
              <a:ahLst/>
              <a:cxnLst/>
              <a:rect r="r" b="b" t="t" l="l"/>
              <a:pathLst>
                <a:path h="25400" w="508000">
                  <a:moveTo>
                    <a:pt x="0" y="0"/>
                  </a:moveTo>
                  <a:lnTo>
                    <a:pt x="508000" y="0"/>
                  </a:lnTo>
                  <a:lnTo>
                    <a:pt x="508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AFC4D6"/>
            </a:solid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12187238" y="3348038"/>
            <a:ext cx="4962525" cy="655291"/>
            <a:chOff x="0" y="0"/>
            <a:chExt cx="6616700" cy="873722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6616700" cy="873760"/>
            </a:xfrm>
            <a:custGeom>
              <a:avLst/>
              <a:gdLst/>
              <a:ahLst/>
              <a:cxnLst/>
              <a:rect r="r" b="b" t="t" l="l"/>
              <a:pathLst>
                <a:path h="873760" w="6616700">
                  <a:moveTo>
                    <a:pt x="0" y="206248"/>
                  </a:moveTo>
                  <a:cubicBezTo>
                    <a:pt x="0" y="92329"/>
                    <a:pt x="92329" y="0"/>
                    <a:pt x="206248" y="0"/>
                  </a:cubicBezTo>
                  <a:lnTo>
                    <a:pt x="6410452" y="0"/>
                  </a:lnTo>
                  <a:cubicBezTo>
                    <a:pt x="6524371" y="0"/>
                    <a:pt x="6616700" y="92329"/>
                    <a:pt x="6616700" y="206248"/>
                  </a:cubicBezTo>
                  <a:lnTo>
                    <a:pt x="6616700" y="667512"/>
                  </a:lnTo>
                  <a:cubicBezTo>
                    <a:pt x="6616700" y="781431"/>
                    <a:pt x="6524371" y="873760"/>
                    <a:pt x="6410452" y="873760"/>
                  </a:cubicBezTo>
                  <a:lnTo>
                    <a:pt x="206248" y="873760"/>
                  </a:lnTo>
                  <a:cubicBezTo>
                    <a:pt x="92329" y="873760"/>
                    <a:pt x="0" y="781431"/>
                    <a:pt x="0" y="667512"/>
                  </a:cubicBezTo>
                  <a:close/>
                </a:path>
              </a:pathLst>
            </a:custGeom>
            <a:solidFill>
              <a:srgbClr val="F2F6FA"/>
            </a:solidFill>
            <a:ln w="9525" cap="sq">
              <a:solidFill>
                <a:srgbClr val="AFC4D6"/>
              </a:solidFill>
              <a:prstDash val="solid"/>
              <a:miter/>
            </a:ln>
          </p:spPr>
        </p:sp>
      </p:grpSp>
      <p:grpSp>
        <p:nvGrpSpPr>
          <p:cNvPr name="Group 106" id="106"/>
          <p:cNvGrpSpPr/>
          <p:nvPr/>
        </p:nvGrpSpPr>
        <p:grpSpPr>
          <a:xfrm rot="0">
            <a:off x="12449175" y="3514725"/>
            <a:ext cx="4587240" cy="360016"/>
            <a:chOff x="0" y="0"/>
            <a:chExt cx="6116320" cy="480022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6116320" cy="480020"/>
            </a:xfrm>
            <a:custGeom>
              <a:avLst/>
              <a:gdLst/>
              <a:ahLst/>
              <a:cxnLst/>
              <a:rect r="r" b="b" t="t" l="l"/>
              <a:pathLst>
                <a:path h="480020" w="6116320">
                  <a:moveTo>
                    <a:pt x="0" y="0"/>
                  </a:moveTo>
                  <a:lnTo>
                    <a:pt x="6116320" y="0"/>
                  </a:lnTo>
                  <a:lnTo>
                    <a:pt x="6116320" y="480020"/>
                  </a:lnTo>
                  <a:lnTo>
                    <a:pt x="0" y="4800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8274" r="0" b="-198274"/>
              </a:stretch>
            </a:blipFill>
          </p:spPr>
        </p:sp>
        <p:sp>
          <p:nvSpPr>
            <p:cNvPr name="TextBox 108" id="108"/>
            <p:cNvSpPr txBox="true"/>
            <p:nvPr/>
          </p:nvSpPr>
          <p:spPr>
            <a:xfrm>
              <a:off x="0" y="-28575"/>
              <a:ext cx="6116320" cy="50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10"/>
                </a:lnSpc>
              </a:pPr>
              <a:r>
                <a:rPr lang="en-US" sz="1950">
                  <a:solidFill>
                    <a:srgbClr val="0F2C47"/>
                  </a:solidFill>
                  <a:latin typeface="Inter"/>
                  <a:ea typeface="Inter"/>
                  <a:cs typeface="Inter"/>
                  <a:sym typeface="Inter"/>
                </a:rPr>
                <a:t>Rescreening za 7–10 dní</a:t>
              </a:r>
            </a:p>
          </p:txBody>
        </p:sp>
      </p:grpSp>
      <p:grpSp>
        <p:nvGrpSpPr>
          <p:cNvPr name="Group 109" id="109"/>
          <p:cNvGrpSpPr/>
          <p:nvPr/>
        </p:nvGrpSpPr>
        <p:grpSpPr>
          <a:xfrm rot="0">
            <a:off x="12187238" y="7539038"/>
            <a:ext cx="4962525" cy="847725"/>
            <a:chOff x="0" y="0"/>
            <a:chExt cx="6616700" cy="1130300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6616700" cy="1130300"/>
            </a:xfrm>
            <a:custGeom>
              <a:avLst/>
              <a:gdLst/>
              <a:ahLst/>
              <a:cxnLst/>
              <a:rect r="r" b="b" t="t" l="l"/>
              <a:pathLst>
                <a:path h="1130300" w="6616700">
                  <a:moveTo>
                    <a:pt x="0" y="205486"/>
                  </a:moveTo>
                  <a:cubicBezTo>
                    <a:pt x="0" y="91948"/>
                    <a:pt x="91948" y="0"/>
                    <a:pt x="205486" y="0"/>
                  </a:cubicBezTo>
                  <a:lnTo>
                    <a:pt x="6411214" y="0"/>
                  </a:lnTo>
                  <a:cubicBezTo>
                    <a:pt x="6524752" y="0"/>
                    <a:pt x="6616700" y="91948"/>
                    <a:pt x="6616700" y="205486"/>
                  </a:cubicBezTo>
                  <a:lnTo>
                    <a:pt x="6616700" y="924814"/>
                  </a:lnTo>
                  <a:cubicBezTo>
                    <a:pt x="6616700" y="1038352"/>
                    <a:pt x="6524752" y="1130300"/>
                    <a:pt x="6411214" y="1130300"/>
                  </a:cubicBezTo>
                  <a:lnTo>
                    <a:pt x="205486" y="1130300"/>
                  </a:lnTo>
                  <a:cubicBezTo>
                    <a:pt x="91948" y="1130300"/>
                    <a:pt x="0" y="1038352"/>
                    <a:pt x="0" y="924814"/>
                  </a:cubicBezTo>
                  <a:close/>
                </a:path>
              </a:pathLst>
            </a:custGeom>
            <a:solidFill>
              <a:srgbClr val="F2F6FA"/>
            </a:solidFill>
            <a:ln w="9525" cap="sq">
              <a:solidFill>
                <a:srgbClr val="AFC4D6"/>
              </a:solidFill>
              <a:prstDash val="solid"/>
              <a:miter/>
            </a:ln>
          </p:spPr>
        </p:sp>
      </p:grpSp>
      <p:grpSp>
        <p:nvGrpSpPr>
          <p:cNvPr name="Group 111" id="111"/>
          <p:cNvGrpSpPr/>
          <p:nvPr/>
        </p:nvGrpSpPr>
        <p:grpSpPr>
          <a:xfrm rot="0">
            <a:off x="12449175" y="7705725"/>
            <a:ext cx="4587240" cy="552450"/>
            <a:chOff x="0" y="0"/>
            <a:chExt cx="6116320" cy="736600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6116320" cy="736600"/>
            </a:xfrm>
            <a:custGeom>
              <a:avLst/>
              <a:gdLst/>
              <a:ahLst/>
              <a:cxnLst/>
              <a:rect r="r" b="b" t="t" l="l"/>
              <a:pathLst>
                <a:path h="736600" w="6116320">
                  <a:moveTo>
                    <a:pt x="0" y="0"/>
                  </a:moveTo>
                  <a:lnTo>
                    <a:pt x="6116320" y="0"/>
                  </a:lnTo>
                  <a:lnTo>
                    <a:pt x="6116320" y="736600"/>
                  </a:lnTo>
                  <a:lnTo>
                    <a:pt x="0" y="736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1793" r="0" b="-111793"/>
              </a:stretch>
            </a:blipFill>
          </p:spPr>
        </p:sp>
        <p:sp>
          <p:nvSpPr>
            <p:cNvPr name="TextBox 113" id="113"/>
            <p:cNvSpPr txBox="true"/>
            <p:nvPr/>
          </p:nvSpPr>
          <p:spPr>
            <a:xfrm>
              <a:off x="0" y="-28575"/>
              <a:ext cx="6116320" cy="765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10"/>
                </a:lnSpc>
              </a:pPr>
              <a:r>
                <a:rPr lang="en-US" sz="1950">
                  <a:solidFill>
                    <a:srgbClr val="0F2C47"/>
                  </a:solidFill>
                  <a:latin typeface="Inter"/>
                  <a:ea typeface="Inter"/>
                  <a:cs typeface="Inter"/>
                  <a:sym typeface="Inter"/>
                </a:rPr>
                <a:t>Comfort feeding</a:t>
              </a:r>
              <a:r>
                <a:rPr lang="en-US" sz="1950">
                  <a:solidFill>
                    <a:srgbClr val="0F2C47"/>
                  </a:solidFill>
                  <a:latin typeface="Inter"/>
                  <a:ea typeface="Inter"/>
                  <a:cs typeface="Inter"/>
                  <a:sym typeface="Inter"/>
                </a:rPr>
                <a:t> a paliativní péče</a:t>
              </a:r>
            </a:p>
          </p:txBody>
        </p:sp>
      </p:grpSp>
      <p:grpSp>
        <p:nvGrpSpPr>
          <p:cNvPr name="Group 114" id="114"/>
          <p:cNvGrpSpPr/>
          <p:nvPr/>
        </p:nvGrpSpPr>
        <p:grpSpPr>
          <a:xfrm rot="0">
            <a:off x="4800600" y="7924800"/>
            <a:ext cx="3684460" cy="457200"/>
            <a:chOff x="0" y="0"/>
            <a:chExt cx="4912614" cy="609600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4912614" cy="609600"/>
            </a:xfrm>
            <a:custGeom>
              <a:avLst/>
              <a:gdLst/>
              <a:ahLst/>
              <a:cxnLst/>
              <a:rect r="r" b="b" t="t" l="l"/>
              <a:pathLst>
                <a:path h="609600" w="4912614">
                  <a:moveTo>
                    <a:pt x="0" y="304800"/>
                  </a:moveTo>
                  <a:cubicBezTo>
                    <a:pt x="0" y="136525"/>
                    <a:pt x="136525" y="0"/>
                    <a:pt x="304800" y="0"/>
                  </a:cubicBezTo>
                  <a:lnTo>
                    <a:pt x="4607814" y="0"/>
                  </a:lnTo>
                  <a:cubicBezTo>
                    <a:pt x="4776089" y="0"/>
                    <a:pt x="4912614" y="136525"/>
                    <a:pt x="4912614" y="304800"/>
                  </a:cubicBezTo>
                  <a:cubicBezTo>
                    <a:pt x="4912614" y="473075"/>
                    <a:pt x="4776089" y="609600"/>
                    <a:pt x="4607814" y="609600"/>
                  </a:cubicBezTo>
                  <a:lnTo>
                    <a:pt x="304800" y="609600"/>
                  </a:lnTo>
                  <a:cubicBezTo>
                    <a:pt x="136525" y="609600"/>
                    <a:pt x="0" y="473075"/>
                    <a:pt x="0" y="304800"/>
                  </a:cubicBezTo>
                  <a:close/>
                </a:path>
              </a:pathLst>
            </a:custGeom>
            <a:solidFill>
              <a:srgbClr val="1D5994"/>
            </a:solidFill>
          </p:spPr>
        </p:sp>
      </p:grpSp>
      <p:sp>
        <p:nvSpPr>
          <p:cNvPr name="TextBox 116" id="116"/>
          <p:cNvSpPr txBox="true"/>
          <p:nvPr/>
        </p:nvSpPr>
        <p:spPr>
          <a:xfrm rot="0">
            <a:off x="5073625" y="8009771"/>
            <a:ext cx="567852" cy="268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1425" spc="185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ANO</a:t>
            </a:r>
          </a:p>
        </p:txBody>
      </p:sp>
      <p:sp>
        <p:nvSpPr>
          <p:cNvPr name="TextBox 117" id="117"/>
          <p:cNvSpPr txBox="true"/>
          <p:nvPr/>
        </p:nvSpPr>
        <p:spPr>
          <a:xfrm rot="0">
            <a:off x="5679605" y="8030194"/>
            <a:ext cx="2748820" cy="284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9"/>
              </a:lnSpc>
            </a:pPr>
            <a:r>
              <a:rPr lang="en-US" sz="195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Podání nutriční terapie</a:t>
            </a:r>
          </a:p>
        </p:txBody>
      </p:sp>
      <p:sp>
        <p:nvSpPr>
          <p:cNvPr name="TextBox 118" id="118"/>
          <p:cNvSpPr txBox="true"/>
          <p:nvPr/>
        </p:nvSpPr>
        <p:spPr>
          <a:xfrm rot="0">
            <a:off x="1168403" y="8502653"/>
            <a:ext cx="8876033" cy="311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6"/>
              </a:lnSpc>
            </a:pPr>
            <a:r>
              <a:rPr lang="en-US" sz="1500">
                <a:solidFill>
                  <a:srgbClr val="4A6884"/>
                </a:solidFill>
                <a:latin typeface="Arimo"/>
                <a:ea typeface="Arimo"/>
                <a:cs typeface="Arimo"/>
                <a:sym typeface="Arimo"/>
              </a:rPr>
              <a:t>Podle algoritmu rozhodování v klinické výživě · </a:t>
            </a:r>
            <a:r>
              <a:rPr lang="en-US" sz="1500" i="true">
                <a:solidFill>
                  <a:srgbClr val="4A6884"/>
                </a:solidFill>
                <a:latin typeface="Arimo Italics"/>
                <a:ea typeface="Arimo Italics"/>
                <a:cs typeface="Arimo Italics"/>
                <a:sym typeface="Arimo Italics"/>
              </a:rPr>
              <a:t>citaci zdroje doplnit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049000" y="0"/>
            <a:ext cx="7239000" cy="10287000"/>
            <a:chOff x="0" y="0"/>
            <a:chExt cx="9652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9652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652000">
                  <a:moveTo>
                    <a:pt x="0" y="0"/>
                  </a:moveTo>
                  <a:lnTo>
                    <a:pt x="9652000" y="0"/>
                  </a:lnTo>
                  <a:lnTo>
                    <a:pt x="9652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6578" t="0" r="-56579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905877" y="0"/>
            <a:ext cx="7382123" cy="10287000"/>
            <a:chOff x="0" y="0"/>
            <a:chExt cx="984283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84283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842830">
                  <a:moveTo>
                    <a:pt x="0" y="0"/>
                  </a:moveTo>
                  <a:lnTo>
                    <a:pt x="9842830" y="0"/>
                  </a:lnTo>
                  <a:lnTo>
                    <a:pt x="9842830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5000">
                  <a:srgbClr val="FFFFFF">
                    <a:alpha val="100000"/>
                  </a:srgbClr>
                </a:gs>
                <a:gs pos="54000">
                  <a:srgbClr val="FFFFFF">
                    <a:alpha val="0"/>
                  </a:srgbClr>
                </a:gs>
              </a:gsLst>
              <a:lin ang="0"/>
            </a:gra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168403" y="564680"/>
            <a:ext cx="421805" cy="33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1425" spc="185">
                <a:solidFill>
                  <a:srgbClr val="1D5994"/>
                </a:solidFill>
                <a:latin typeface="Arimo"/>
                <a:ea typeface="Arimo"/>
                <a:cs typeface="Arimo"/>
                <a:sym typeface="Arimo"/>
              </a:rPr>
              <a:t>III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74355" y="564680"/>
            <a:ext cx="1346549" cy="33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1425" spc="185">
                <a:solidFill>
                  <a:srgbClr val="4A6884"/>
                </a:solidFill>
                <a:latin typeface="Arimo"/>
                <a:ea typeface="Arimo"/>
                <a:cs typeface="Arimo"/>
                <a:sym typeface="Arimo"/>
              </a:rPr>
              <a:t>KAZUISTIKY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3279648" y="728662"/>
            <a:ext cx="209550" cy="28575"/>
            <a:chOff x="0" y="0"/>
            <a:chExt cx="279400" cy="381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1D5994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536823" y="728662"/>
            <a:ext cx="209550" cy="28575"/>
            <a:chOff x="0" y="0"/>
            <a:chExt cx="279400" cy="381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1D5994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3793998" y="728662"/>
            <a:ext cx="209550" cy="28575"/>
            <a:chOff x="0" y="0"/>
            <a:chExt cx="279400" cy="381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1D5994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4051173" y="728662"/>
            <a:ext cx="209550" cy="28575"/>
            <a:chOff x="0" y="0"/>
            <a:chExt cx="279400" cy="381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AFC4D6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4308348" y="728662"/>
            <a:ext cx="209550" cy="28575"/>
            <a:chOff x="0" y="0"/>
            <a:chExt cx="279400" cy="381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AFC4D6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4565523" y="728662"/>
            <a:ext cx="209550" cy="28575"/>
            <a:chOff x="0" y="0"/>
            <a:chExt cx="279400" cy="381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AFC4D6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8701783" y="564680"/>
            <a:ext cx="950214" cy="33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1425" spc="185">
                <a:solidFill>
                  <a:srgbClr val="4A6884"/>
                </a:solidFill>
                <a:latin typeface="Arimo"/>
                <a:ea typeface="Arimo"/>
                <a:cs typeface="Arimo"/>
                <a:sym typeface="Arimo"/>
              </a:rPr>
              <a:t>12 / 42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68403" y="4739824"/>
            <a:ext cx="9281917" cy="902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13"/>
              </a:lnSpc>
            </a:pPr>
            <a:r>
              <a:rPr lang="en-US" sz="6600" spc="-184">
                <a:solidFill>
                  <a:srgbClr val="0F2C47"/>
                </a:solidFill>
                <a:latin typeface="Arimo"/>
                <a:ea typeface="Arimo"/>
                <a:cs typeface="Arimo"/>
                <a:sym typeface="Arimo"/>
              </a:rPr>
              <a:t>Pacient s těžkou demencí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68403" y="5722839"/>
            <a:ext cx="9053880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250">
                <a:solidFill>
                  <a:srgbClr val="4A6884"/>
                </a:solidFill>
                <a:latin typeface="Inter"/>
                <a:ea typeface="Inter"/>
                <a:cs typeface="Inter"/>
                <a:sym typeface="Inter"/>
              </a:rPr>
              <a:t>Dva příběhy z rezidenční péče a otázky, které před pečující kladou.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72527" y="0"/>
            <a:ext cx="8290504" cy="10287000"/>
            <a:chOff x="0" y="0"/>
            <a:chExt cx="11054006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true" flipV="false" rot="0">
              <a:off x="0" y="0"/>
              <a:ext cx="11054006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1054006">
                  <a:moveTo>
                    <a:pt x="11054006" y="0"/>
                  </a:moveTo>
                  <a:lnTo>
                    <a:pt x="0" y="0"/>
                  </a:lnTo>
                  <a:lnTo>
                    <a:pt x="0" y="13716000"/>
                  </a:lnTo>
                  <a:lnTo>
                    <a:pt x="11054006" y="13716000"/>
                  </a:lnTo>
                  <a:lnTo>
                    <a:pt x="11054006" y="0"/>
                  </a:lnTo>
                  <a:close/>
                </a:path>
              </a:pathLst>
            </a:custGeom>
            <a:blipFill>
              <a:blip r:embed="rId3"/>
              <a:stretch>
                <a:fillRect l="-32720" t="0" r="-3272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763002" y="0"/>
            <a:ext cx="7515473" cy="10287000"/>
            <a:chOff x="0" y="0"/>
            <a:chExt cx="1002063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02063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0020630">
                  <a:moveTo>
                    <a:pt x="0" y="0"/>
                  </a:moveTo>
                  <a:lnTo>
                    <a:pt x="10020630" y="0"/>
                  </a:lnTo>
                  <a:lnTo>
                    <a:pt x="10020630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5000">
                  <a:srgbClr val="FFFFFF">
                    <a:alpha val="100000"/>
                  </a:srgbClr>
                </a:gs>
                <a:gs pos="54000">
                  <a:srgbClr val="FFFFFF">
                    <a:alpha val="0"/>
                  </a:srgbClr>
                </a:gs>
              </a:gsLst>
              <a:lin ang="0"/>
            </a:gra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168403" y="564680"/>
            <a:ext cx="421805" cy="33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1425" spc="185">
                <a:solidFill>
                  <a:srgbClr val="1D5994"/>
                </a:solidFill>
                <a:latin typeface="Arimo"/>
                <a:ea typeface="Arimo"/>
                <a:cs typeface="Arimo"/>
                <a:sym typeface="Arimo"/>
              </a:rPr>
              <a:t>III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74355" y="564680"/>
            <a:ext cx="1346549" cy="33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1425" spc="185">
                <a:solidFill>
                  <a:srgbClr val="4A6884"/>
                </a:solidFill>
                <a:latin typeface="Arimo"/>
                <a:ea typeface="Arimo"/>
                <a:cs typeface="Arimo"/>
                <a:sym typeface="Arimo"/>
              </a:rPr>
              <a:t>KAZUISTIKY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3279648" y="728662"/>
            <a:ext cx="209550" cy="28575"/>
            <a:chOff x="0" y="0"/>
            <a:chExt cx="279400" cy="381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1D5994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536823" y="728662"/>
            <a:ext cx="209550" cy="28575"/>
            <a:chOff x="0" y="0"/>
            <a:chExt cx="279400" cy="381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1D5994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3793998" y="728662"/>
            <a:ext cx="209550" cy="28575"/>
            <a:chOff x="0" y="0"/>
            <a:chExt cx="279400" cy="381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1D5994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4051173" y="728662"/>
            <a:ext cx="209550" cy="28575"/>
            <a:chOff x="0" y="0"/>
            <a:chExt cx="279400" cy="381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AFC4D6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4308348" y="728662"/>
            <a:ext cx="209550" cy="28575"/>
            <a:chOff x="0" y="0"/>
            <a:chExt cx="279400" cy="381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AFC4D6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4565523" y="728662"/>
            <a:ext cx="209550" cy="28575"/>
            <a:chOff x="0" y="0"/>
            <a:chExt cx="279400" cy="381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AFC4D6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8701783" y="564680"/>
            <a:ext cx="950214" cy="33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1425" spc="185">
                <a:solidFill>
                  <a:srgbClr val="4A6884"/>
                </a:solidFill>
                <a:latin typeface="Arimo"/>
                <a:ea typeface="Arimo"/>
                <a:cs typeface="Arimo"/>
                <a:sym typeface="Arimo"/>
              </a:rPr>
              <a:t>13 / 42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68403" y="1406528"/>
            <a:ext cx="8661149" cy="1219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52"/>
              </a:lnSpc>
            </a:pPr>
            <a:r>
              <a:rPr lang="en-US" sz="4500" spc="-99">
                <a:solidFill>
                  <a:srgbClr val="0F2C47"/>
                </a:solidFill>
                <a:latin typeface="Arimo"/>
                <a:ea typeface="Arimo"/>
                <a:cs typeface="Arimo"/>
                <a:sym typeface="Arimo"/>
              </a:rPr>
              <a:t>Je pro pana Jaroslava optimálním způsobem „comfort feeding“?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68403" y="4027018"/>
            <a:ext cx="8661149" cy="2134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7"/>
              </a:lnSpc>
            </a:pPr>
            <a:r>
              <a:rPr lang="en-US" sz="2100">
                <a:solidFill>
                  <a:srgbClr val="0F2C47"/>
                </a:solidFill>
                <a:latin typeface="Inter"/>
                <a:ea typeface="Inter"/>
                <a:cs typeface="Inter"/>
                <a:sym typeface="Inter"/>
              </a:rPr>
              <a:t>Pan Jaroslav, 88letý klient žijící v DZR s dg. m. Alzheimer ve stádiu pokročilé demence, s poruchou polykání (často absentující nebo závažně opožděný polykací reflex, drooling). Podávána MUS a zahuštěné tekutiny, příjem stravy 0–25 % kvůli obtížím. Manželka je přítomná při obědě a akcentuje obavy o jeho hmotnost.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143000" y="6605740"/>
            <a:ext cx="1914525" cy="9525"/>
            <a:chOff x="0" y="0"/>
            <a:chExt cx="2552700" cy="127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552700" cy="12700"/>
            </a:xfrm>
            <a:custGeom>
              <a:avLst/>
              <a:gdLst/>
              <a:ahLst/>
              <a:cxnLst/>
              <a:rect r="r" b="b" t="t" l="l"/>
              <a:pathLst>
                <a:path h="12700" w="2552700">
                  <a:moveTo>
                    <a:pt x="0" y="0"/>
                  </a:moveTo>
                  <a:lnTo>
                    <a:pt x="2552700" y="0"/>
                  </a:lnTo>
                  <a:lnTo>
                    <a:pt x="25527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AFC4D6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168403" y="6774009"/>
            <a:ext cx="1939928" cy="33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1425" spc="185">
                <a:solidFill>
                  <a:srgbClr val="4A6884"/>
                </a:solidFill>
                <a:latin typeface="Arimo"/>
                <a:ea typeface="Arimo"/>
                <a:cs typeface="Arimo"/>
                <a:sym typeface="Arimo"/>
              </a:rPr>
              <a:t>VĚK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68403" y="7238581"/>
            <a:ext cx="2055181" cy="303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3"/>
              </a:lnSpc>
            </a:pPr>
            <a:r>
              <a:rPr lang="en-US" sz="1800">
                <a:solidFill>
                  <a:srgbClr val="0F2C47"/>
                </a:solidFill>
                <a:latin typeface="Arimo"/>
                <a:ea typeface="Arimo"/>
                <a:cs typeface="Arimo"/>
                <a:sym typeface="Arimo"/>
              </a:rPr>
              <a:t>88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3324225" y="6605740"/>
            <a:ext cx="1914525" cy="9525"/>
            <a:chOff x="0" y="0"/>
            <a:chExt cx="2552700" cy="127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552700" cy="12700"/>
            </a:xfrm>
            <a:custGeom>
              <a:avLst/>
              <a:gdLst/>
              <a:ahLst/>
              <a:cxnLst/>
              <a:rect r="r" b="b" t="t" l="l"/>
              <a:pathLst>
                <a:path h="12700" w="2552700">
                  <a:moveTo>
                    <a:pt x="0" y="0"/>
                  </a:moveTo>
                  <a:lnTo>
                    <a:pt x="2552700" y="0"/>
                  </a:lnTo>
                  <a:lnTo>
                    <a:pt x="25527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AFC4D6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3349628" y="6774009"/>
            <a:ext cx="1939928" cy="33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1425" spc="185">
                <a:solidFill>
                  <a:srgbClr val="4A6884"/>
                </a:solidFill>
                <a:latin typeface="Arimo"/>
                <a:ea typeface="Arimo"/>
                <a:cs typeface="Arimo"/>
                <a:sym typeface="Arimo"/>
              </a:rPr>
              <a:t>PROSTŘEDÍ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3349628" y="7238581"/>
            <a:ext cx="2055181" cy="303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3"/>
              </a:lnSpc>
            </a:pPr>
            <a:r>
              <a:rPr lang="en-US" sz="1800">
                <a:solidFill>
                  <a:srgbClr val="0F2C47"/>
                </a:solidFill>
                <a:latin typeface="Arimo"/>
                <a:ea typeface="Arimo"/>
                <a:cs typeface="Arimo"/>
                <a:sym typeface="Arimo"/>
              </a:rPr>
              <a:t>DZR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5505450" y="6605740"/>
            <a:ext cx="1914525" cy="9525"/>
            <a:chOff x="0" y="0"/>
            <a:chExt cx="2552700" cy="127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552700" cy="12700"/>
            </a:xfrm>
            <a:custGeom>
              <a:avLst/>
              <a:gdLst/>
              <a:ahLst/>
              <a:cxnLst/>
              <a:rect r="r" b="b" t="t" l="l"/>
              <a:pathLst>
                <a:path h="12700" w="2552700">
                  <a:moveTo>
                    <a:pt x="0" y="0"/>
                  </a:moveTo>
                  <a:lnTo>
                    <a:pt x="2552700" y="0"/>
                  </a:lnTo>
                  <a:lnTo>
                    <a:pt x="25527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AFC4D6"/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5530853" y="6774009"/>
            <a:ext cx="1939928" cy="33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1425" spc="185">
                <a:solidFill>
                  <a:srgbClr val="4A6884"/>
                </a:solidFill>
                <a:latin typeface="Arimo"/>
                <a:ea typeface="Arimo"/>
                <a:cs typeface="Arimo"/>
                <a:sym typeface="Arimo"/>
              </a:rPr>
              <a:t>PŘÍJEM STRAVY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5530853" y="7238581"/>
            <a:ext cx="2055181" cy="303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3"/>
              </a:lnSpc>
            </a:pPr>
            <a:r>
              <a:rPr lang="en-US" sz="1800">
                <a:solidFill>
                  <a:srgbClr val="0F2C47"/>
                </a:solidFill>
                <a:latin typeface="Arimo"/>
                <a:ea typeface="Arimo"/>
                <a:cs typeface="Arimo"/>
                <a:sym typeface="Arimo"/>
              </a:rPr>
              <a:t>0–25 %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7686675" y="6605740"/>
            <a:ext cx="1914525" cy="9525"/>
            <a:chOff x="0" y="0"/>
            <a:chExt cx="2552700" cy="127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552700" cy="12700"/>
            </a:xfrm>
            <a:custGeom>
              <a:avLst/>
              <a:gdLst/>
              <a:ahLst/>
              <a:cxnLst/>
              <a:rect r="r" b="b" t="t" l="l"/>
              <a:pathLst>
                <a:path h="12700" w="2552700">
                  <a:moveTo>
                    <a:pt x="0" y="0"/>
                  </a:moveTo>
                  <a:lnTo>
                    <a:pt x="2552700" y="0"/>
                  </a:lnTo>
                  <a:lnTo>
                    <a:pt x="25527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AFC4D6"/>
            </a:solid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7712078" y="6774009"/>
            <a:ext cx="1939928" cy="33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1425" spc="185">
                <a:solidFill>
                  <a:srgbClr val="4A6884"/>
                </a:solidFill>
                <a:latin typeface="Arimo"/>
                <a:ea typeface="Arimo"/>
                <a:cs typeface="Arimo"/>
                <a:sym typeface="Arimo"/>
              </a:rPr>
              <a:t>STRAVA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712078" y="7238581"/>
            <a:ext cx="1939928" cy="897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3"/>
              </a:lnSpc>
            </a:pPr>
            <a:r>
              <a:rPr lang="en-US" sz="1800">
                <a:solidFill>
                  <a:srgbClr val="0F2C47"/>
                </a:solidFill>
                <a:latin typeface="Arimo"/>
                <a:ea typeface="Arimo"/>
                <a:cs typeface="Arimo"/>
                <a:sym typeface="Arimo"/>
              </a:rPr>
              <a:t>MUS, zahuštěné tekutiny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049000" y="0"/>
            <a:ext cx="7239000" cy="10287000"/>
            <a:chOff x="0" y="0"/>
            <a:chExt cx="9652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9652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652000">
                  <a:moveTo>
                    <a:pt x="0" y="0"/>
                  </a:moveTo>
                  <a:lnTo>
                    <a:pt x="9652000" y="0"/>
                  </a:lnTo>
                  <a:lnTo>
                    <a:pt x="9652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6578" t="0" r="-56579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179866" y="1321720"/>
            <a:ext cx="7447274" cy="10287000"/>
            <a:chOff x="0" y="0"/>
            <a:chExt cx="9929698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929699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929699">
                  <a:moveTo>
                    <a:pt x="0" y="0"/>
                  </a:moveTo>
                  <a:lnTo>
                    <a:pt x="9929699" y="0"/>
                  </a:lnTo>
                  <a:lnTo>
                    <a:pt x="9929699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5000">
                  <a:srgbClr val="FFFFFF">
                    <a:alpha val="100000"/>
                  </a:srgbClr>
                </a:gs>
                <a:gs pos="54000">
                  <a:srgbClr val="FFFFFF">
                    <a:alpha val="0"/>
                  </a:srgbClr>
                </a:gs>
              </a:gsLst>
              <a:lin ang="0"/>
            </a:gra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168403" y="564680"/>
            <a:ext cx="421805" cy="33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1425" spc="185">
                <a:solidFill>
                  <a:srgbClr val="1D5994"/>
                </a:solidFill>
                <a:latin typeface="Arimo"/>
                <a:ea typeface="Arimo"/>
                <a:cs typeface="Arimo"/>
                <a:sym typeface="Arimo"/>
              </a:rPr>
              <a:t>III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74355" y="564680"/>
            <a:ext cx="1346549" cy="33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1425" spc="185">
                <a:solidFill>
                  <a:srgbClr val="4A6884"/>
                </a:solidFill>
                <a:latin typeface="Arimo"/>
                <a:ea typeface="Arimo"/>
                <a:cs typeface="Arimo"/>
                <a:sym typeface="Arimo"/>
              </a:rPr>
              <a:t>KAZUISTIKY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3279648" y="728662"/>
            <a:ext cx="209550" cy="28575"/>
            <a:chOff x="0" y="0"/>
            <a:chExt cx="279400" cy="381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1D5994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536823" y="728662"/>
            <a:ext cx="209550" cy="28575"/>
            <a:chOff x="0" y="0"/>
            <a:chExt cx="279400" cy="381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1D5994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3793998" y="728662"/>
            <a:ext cx="209550" cy="28575"/>
            <a:chOff x="0" y="0"/>
            <a:chExt cx="279400" cy="381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1D5994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4051173" y="728662"/>
            <a:ext cx="209550" cy="28575"/>
            <a:chOff x="0" y="0"/>
            <a:chExt cx="279400" cy="381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AFC4D6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4308348" y="728662"/>
            <a:ext cx="209550" cy="28575"/>
            <a:chOff x="0" y="0"/>
            <a:chExt cx="279400" cy="381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AFC4D6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4565523" y="728662"/>
            <a:ext cx="209550" cy="28575"/>
            <a:chOff x="0" y="0"/>
            <a:chExt cx="279400" cy="381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AFC4D6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8701783" y="564680"/>
            <a:ext cx="950214" cy="33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1425" spc="185">
                <a:solidFill>
                  <a:srgbClr val="4A6884"/>
                </a:solidFill>
                <a:latin typeface="Arimo"/>
                <a:ea typeface="Arimo"/>
                <a:cs typeface="Arimo"/>
                <a:sym typeface="Arimo"/>
              </a:rPr>
              <a:t>14 / 42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68403" y="1406528"/>
            <a:ext cx="9253223" cy="579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52"/>
              </a:lnSpc>
            </a:pPr>
            <a:r>
              <a:rPr lang="en-US" sz="4500" spc="-99">
                <a:solidFill>
                  <a:srgbClr val="0F2C47"/>
                </a:solidFill>
                <a:latin typeface="Arimo"/>
                <a:ea typeface="Arimo"/>
                <a:cs typeface="Arimo"/>
                <a:sym typeface="Arimo"/>
              </a:rPr>
              <a:t>Pro koho paní Jaroslava jí?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68403" y="4921253"/>
            <a:ext cx="8661149" cy="1035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6"/>
              </a:lnSpc>
            </a:pPr>
            <a:r>
              <a:rPr lang="en-US" sz="2550">
                <a:solidFill>
                  <a:srgbClr val="0F2C47"/>
                </a:solidFill>
                <a:latin typeface="Inter"/>
                <a:ea typeface="Inter"/>
                <a:cs typeface="Inter"/>
                <a:sym typeface="Inter"/>
              </a:rPr>
              <a:t>Paní Jaroslava je klientka s těžkou demencí institucionalizovaná ve Vašem zařízení.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68403" y="6321428"/>
            <a:ext cx="8813174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250">
                <a:solidFill>
                  <a:srgbClr val="4A6884"/>
                </a:solidFill>
                <a:latin typeface="Inter"/>
                <a:ea typeface="Inter"/>
                <a:cs typeface="Inter"/>
                <a:sym typeface="Inter"/>
              </a:rPr>
              <a:t>Dcera trvá na podávání stravy bez ohledu na to, že paní Jaroslava stravu opakovaně odmítá a má velmi malou chuť k jídlu.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68403" y="564680"/>
            <a:ext cx="421805" cy="33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1425" spc="185">
                <a:solidFill>
                  <a:srgbClr val="1D5994"/>
                </a:solidFill>
                <a:latin typeface="Arimo"/>
                <a:ea typeface="Arimo"/>
                <a:cs typeface="Arimo"/>
                <a:sym typeface="Arimo"/>
              </a:rPr>
              <a:t>III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774355" y="564680"/>
            <a:ext cx="1346549" cy="33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1425" spc="185">
                <a:solidFill>
                  <a:srgbClr val="4A6884"/>
                </a:solidFill>
                <a:latin typeface="Arimo"/>
                <a:ea typeface="Arimo"/>
                <a:cs typeface="Arimo"/>
                <a:sym typeface="Arimo"/>
              </a:rPr>
              <a:t>KAZUISTIKY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3279648" y="728662"/>
            <a:ext cx="209550" cy="28575"/>
            <a:chOff x="0" y="0"/>
            <a:chExt cx="279400" cy="381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1D5994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536823" y="728662"/>
            <a:ext cx="209550" cy="28575"/>
            <a:chOff x="0" y="0"/>
            <a:chExt cx="279400" cy="381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1D5994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3793998" y="728662"/>
            <a:ext cx="209550" cy="28575"/>
            <a:chOff x="0" y="0"/>
            <a:chExt cx="279400" cy="381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1D5994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4051173" y="728662"/>
            <a:ext cx="209550" cy="28575"/>
            <a:chOff x="0" y="0"/>
            <a:chExt cx="279400" cy="381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AFC4D6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4308348" y="728662"/>
            <a:ext cx="209550" cy="28575"/>
            <a:chOff x="0" y="0"/>
            <a:chExt cx="279400" cy="381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AFC4D6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4565523" y="728662"/>
            <a:ext cx="209550" cy="28575"/>
            <a:chOff x="0" y="0"/>
            <a:chExt cx="279400" cy="381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AFC4D6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6245583" y="564680"/>
            <a:ext cx="950214" cy="33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1425" spc="185">
                <a:solidFill>
                  <a:srgbClr val="4A6884"/>
                </a:solidFill>
                <a:latin typeface="Arimo"/>
                <a:ea typeface="Arimo"/>
                <a:cs typeface="Arimo"/>
                <a:sym typeface="Arimo"/>
              </a:rPr>
              <a:t>15 / 42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68403" y="1425578"/>
            <a:ext cx="15253973" cy="1488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66"/>
              </a:lnSpc>
            </a:pPr>
            <a:r>
              <a:rPr lang="en-US" sz="5550" spc="-127">
                <a:solidFill>
                  <a:srgbClr val="0F2C47"/>
                </a:solidFill>
                <a:latin typeface="Arimo"/>
                <a:ea typeface="Arimo"/>
                <a:cs typeface="Arimo"/>
                <a:sym typeface="Arimo"/>
              </a:rPr>
              <a:t>Demence postupně zhoršuje paměť, </a:t>
            </a:r>
          </a:p>
          <a:p>
            <a:pPr algn="l">
              <a:lnSpc>
                <a:spcPts val="5668"/>
              </a:lnSpc>
            </a:pPr>
            <a:r>
              <a:rPr lang="en-US" sz="5550" spc="-133">
                <a:solidFill>
                  <a:srgbClr val="0F2C47"/>
                </a:solidFill>
                <a:latin typeface="Arimo"/>
                <a:ea typeface="Arimo"/>
                <a:cs typeface="Arimo"/>
                <a:sym typeface="Arimo"/>
              </a:rPr>
              <a:t>myšlení, jazyk, plánování i osobnost.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68403" y="3542586"/>
            <a:ext cx="7719317" cy="1222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3"/>
              </a:lnSpc>
            </a:pPr>
            <a:r>
              <a:rPr lang="en-US" sz="1950">
                <a:solidFill>
                  <a:srgbClr val="4A6884"/>
                </a:solidFill>
                <a:latin typeface="Inter"/>
                <a:ea typeface="Inter"/>
                <a:cs typeface="Inter"/>
                <a:sym typeface="Inter"/>
              </a:rPr>
              <a:t>Nejčastější příčinou je Alzheimerova choroba. Onemocnění je progresivní a obvykle se v horizontu několika let u většiny lidí rozvinou problémy se žvýkáním a polykáním.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143000" y="5018932"/>
            <a:ext cx="7543800" cy="9525"/>
            <a:chOff x="0" y="0"/>
            <a:chExt cx="10058400" cy="127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058400" cy="12700"/>
            </a:xfrm>
            <a:custGeom>
              <a:avLst/>
              <a:gdLst/>
              <a:ahLst/>
              <a:cxnLst/>
              <a:rect r="r" b="b" t="t" l="l"/>
              <a:pathLst>
                <a:path h="1270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AFC4D6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168403" y="5149110"/>
            <a:ext cx="7719317" cy="415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7"/>
              </a:lnSpc>
            </a:pPr>
            <a:r>
              <a:rPr lang="en-US" sz="1950">
                <a:solidFill>
                  <a:srgbClr val="0F2C47"/>
                </a:solidFill>
                <a:latin typeface="Inter"/>
                <a:ea typeface="Inter"/>
                <a:cs typeface="Inter"/>
                <a:sym typeface="Inter"/>
              </a:rPr>
              <a:t>problémy s pamětí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143000" y="5704732"/>
            <a:ext cx="7543800" cy="9525"/>
            <a:chOff x="0" y="0"/>
            <a:chExt cx="10058400" cy="127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058400" cy="12700"/>
            </a:xfrm>
            <a:custGeom>
              <a:avLst/>
              <a:gdLst/>
              <a:ahLst/>
              <a:cxnLst/>
              <a:rect r="r" b="b" t="t" l="l"/>
              <a:pathLst>
                <a:path h="1270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AFC4D6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168403" y="5834910"/>
            <a:ext cx="7719317" cy="415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7"/>
              </a:lnSpc>
            </a:pPr>
            <a:r>
              <a:rPr lang="en-US" sz="1950">
                <a:solidFill>
                  <a:srgbClr val="0F2C47"/>
                </a:solidFill>
                <a:latin typeface="Inter"/>
                <a:ea typeface="Inter"/>
                <a:cs typeface="Inter"/>
                <a:sym typeface="Inter"/>
              </a:rPr>
              <a:t>problémy s myšlením a plánováním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143000" y="6390532"/>
            <a:ext cx="7543800" cy="9525"/>
            <a:chOff x="0" y="0"/>
            <a:chExt cx="10058400" cy="127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058400" cy="12700"/>
            </a:xfrm>
            <a:custGeom>
              <a:avLst/>
              <a:gdLst/>
              <a:ahLst/>
              <a:cxnLst/>
              <a:rect r="r" b="b" t="t" l="l"/>
              <a:pathLst>
                <a:path h="1270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AFC4D6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168403" y="6520710"/>
            <a:ext cx="7719317" cy="415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7"/>
              </a:lnSpc>
            </a:pPr>
            <a:r>
              <a:rPr lang="en-US" sz="1950">
                <a:solidFill>
                  <a:srgbClr val="0F2C47"/>
                </a:solidFill>
                <a:latin typeface="Inter"/>
                <a:ea typeface="Inter"/>
                <a:cs typeface="Inter"/>
                <a:sym typeface="Inter"/>
              </a:rPr>
              <a:t>problémy s vyjadřováním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143000" y="7076332"/>
            <a:ext cx="7543800" cy="9525"/>
            <a:chOff x="0" y="0"/>
            <a:chExt cx="10058400" cy="127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058400" cy="12700"/>
            </a:xfrm>
            <a:custGeom>
              <a:avLst/>
              <a:gdLst/>
              <a:ahLst/>
              <a:cxnLst/>
              <a:rect r="r" b="b" t="t" l="l"/>
              <a:pathLst>
                <a:path h="1270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AFC4D6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1168403" y="7206510"/>
            <a:ext cx="7719317" cy="415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7"/>
              </a:lnSpc>
            </a:pPr>
            <a:r>
              <a:rPr lang="en-US" sz="1950">
                <a:solidFill>
                  <a:srgbClr val="0F2C47"/>
                </a:solidFill>
                <a:latin typeface="Inter"/>
                <a:ea typeface="Inter"/>
                <a:cs typeface="Inter"/>
                <a:sym typeface="Inter"/>
              </a:rPr>
              <a:t>neschopnost rozpoznávat lidi či věci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143000" y="7762132"/>
            <a:ext cx="7543800" cy="9525"/>
            <a:chOff x="0" y="0"/>
            <a:chExt cx="10058400" cy="127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058400" cy="12700"/>
            </a:xfrm>
            <a:custGeom>
              <a:avLst/>
              <a:gdLst/>
              <a:ahLst/>
              <a:cxnLst/>
              <a:rect r="r" b="b" t="t" l="l"/>
              <a:pathLst>
                <a:path h="1270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AFC4D6"/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1168403" y="7892310"/>
            <a:ext cx="7719317" cy="415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7"/>
              </a:lnSpc>
            </a:pPr>
            <a:r>
              <a:rPr lang="en-US" sz="1950">
                <a:solidFill>
                  <a:srgbClr val="0F2C47"/>
                </a:solidFill>
                <a:latin typeface="Inter"/>
                <a:ea typeface="Inter"/>
                <a:cs typeface="Inter"/>
                <a:sym typeface="Inter"/>
              </a:rPr>
              <a:t>změna osobnosti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626603" y="3628311"/>
            <a:ext cx="8247383" cy="372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4"/>
              </a:lnSpc>
            </a:pPr>
            <a:r>
              <a:rPr lang="en-US" sz="2550">
                <a:solidFill>
                  <a:srgbClr val="0F2C47"/>
                </a:solidFill>
                <a:latin typeface="Arimo"/>
                <a:ea typeface="Arimo"/>
                <a:cs typeface="Arimo"/>
                <a:sym typeface="Arimo"/>
              </a:rPr>
              <a:t>Tělo se postupně zpomaluje, jeho nároky se mění.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9601200" y="4255141"/>
            <a:ext cx="7543800" cy="9525"/>
            <a:chOff x="0" y="0"/>
            <a:chExt cx="10058400" cy="127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058400" cy="12700"/>
            </a:xfrm>
            <a:custGeom>
              <a:avLst/>
              <a:gdLst/>
              <a:ahLst/>
              <a:cxnLst/>
              <a:rect r="r" b="b" t="t" l="l"/>
              <a:pathLst>
                <a:path h="1270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AFC4D6"/>
            </a:solid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9626603" y="4385320"/>
            <a:ext cx="7719317" cy="415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7"/>
              </a:lnSpc>
            </a:pPr>
            <a:r>
              <a:rPr lang="en-US" sz="1950">
                <a:solidFill>
                  <a:srgbClr val="0F2C47"/>
                </a:solidFill>
                <a:latin typeface="Inter"/>
                <a:ea typeface="Inter"/>
                <a:cs typeface="Inter"/>
                <a:sym typeface="Inter"/>
              </a:rPr>
              <a:t>potíže s polykáním některých druhů potravin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9601200" y="4940941"/>
            <a:ext cx="7543800" cy="9525"/>
            <a:chOff x="0" y="0"/>
            <a:chExt cx="10058400" cy="127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058400" cy="12700"/>
            </a:xfrm>
            <a:custGeom>
              <a:avLst/>
              <a:gdLst/>
              <a:ahLst/>
              <a:cxnLst/>
              <a:rect r="r" b="b" t="t" l="l"/>
              <a:pathLst>
                <a:path h="1270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AFC4D6"/>
            </a:solidFill>
          </p:spPr>
        </p:sp>
      </p:grpSp>
      <p:sp>
        <p:nvSpPr>
          <p:cNvPr name="TextBox 40" id="40"/>
          <p:cNvSpPr txBox="true"/>
          <p:nvPr/>
        </p:nvSpPr>
        <p:spPr>
          <a:xfrm rot="0">
            <a:off x="9626603" y="5071120"/>
            <a:ext cx="7719317" cy="415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7"/>
              </a:lnSpc>
            </a:pPr>
            <a:r>
              <a:rPr lang="en-US" sz="1950">
                <a:solidFill>
                  <a:srgbClr val="0F2C47"/>
                </a:solidFill>
                <a:latin typeface="Inter"/>
                <a:ea typeface="Inter"/>
                <a:cs typeface="Inter"/>
                <a:sym typeface="Inter"/>
              </a:rPr>
              <a:t>nemusí cítit hlad, přestávají jíst a pít (i bez dysfagie)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9601200" y="5626741"/>
            <a:ext cx="7543800" cy="9525"/>
            <a:chOff x="0" y="0"/>
            <a:chExt cx="10058400" cy="127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058400" cy="12700"/>
            </a:xfrm>
            <a:custGeom>
              <a:avLst/>
              <a:gdLst/>
              <a:ahLst/>
              <a:cxnLst/>
              <a:rect r="r" b="b" t="t" l="l"/>
              <a:pathLst>
                <a:path h="1270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AFC4D6"/>
            </a:solidFill>
          </p:spPr>
        </p:sp>
      </p:grpSp>
      <p:sp>
        <p:nvSpPr>
          <p:cNvPr name="TextBox 43" id="43"/>
          <p:cNvSpPr txBox="true"/>
          <p:nvPr/>
        </p:nvSpPr>
        <p:spPr>
          <a:xfrm rot="0">
            <a:off x="9626603" y="5756920"/>
            <a:ext cx="7719317" cy="415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7"/>
              </a:lnSpc>
            </a:pPr>
            <a:r>
              <a:rPr lang="en-US" sz="1950">
                <a:solidFill>
                  <a:srgbClr val="0F2C47"/>
                </a:solidFill>
                <a:latin typeface="Inter"/>
                <a:ea typeface="Inter"/>
                <a:cs typeface="Inter"/>
                <a:sym typeface="Inter"/>
              </a:rPr>
              <a:t>zapomínají jíst či jak jíst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9601200" y="6312541"/>
            <a:ext cx="7543800" cy="9525"/>
            <a:chOff x="0" y="0"/>
            <a:chExt cx="10058400" cy="127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058400" cy="12700"/>
            </a:xfrm>
            <a:custGeom>
              <a:avLst/>
              <a:gdLst/>
              <a:ahLst/>
              <a:cxnLst/>
              <a:rect r="r" b="b" t="t" l="l"/>
              <a:pathLst>
                <a:path h="1270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AFC4D6"/>
            </a:solidFill>
          </p:spPr>
        </p:sp>
      </p:grpSp>
      <p:sp>
        <p:nvSpPr>
          <p:cNvPr name="TextBox 46" id="46"/>
          <p:cNvSpPr txBox="true"/>
          <p:nvPr/>
        </p:nvSpPr>
        <p:spPr>
          <a:xfrm rot="0">
            <a:off x="9626603" y="6442720"/>
            <a:ext cx="7719317" cy="415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7"/>
              </a:lnSpc>
            </a:pPr>
            <a:r>
              <a:rPr lang="en-US" sz="1950">
                <a:solidFill>
                  <a:srgbClr val="0F2C47"/>
                </a:solidFill>
                <a:latin typeface="Inter"/>
                <a:ea typeface="Inter"/>
                <a:cs typeface="Inter"/>
                <a:sym typeface="Inter"/>
              </a:rPr>
              <a:t>usínají u jídla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9601200" y="6998341"/>
            <a:ext cx="7543800" cy="9525"/>
            <a:chOff x="0" y="0"/>
            <a:chExt cx="10058400" cy="127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058400" cy="12700"/>
            </a:xfrm>
            <a:custGeom>
              <a:avLst/>
              <a:gdLst/>
              <a:ahLst/>
              <a:cxnLst/>
              <a:rect r="r" b="b" t="t" l="l"/>
              <a:pathLst>
                <a:path h="1270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AFC4D6"/>
            </a:solidFill>
          </p:spPr>
        </p:sp>
      </p:grpSp>
      <p:sp>
        <p:nvSpPr>
          <p:cNvPr name="TextBox 49" id="49"/>
          <p:cNvSpPr txBox="true"/>
          <p:nvPr/>
        </p:nvSpPr>
        <p:spPr>
          <a:xfrm rot="0">
            <a:off x="9626603" y="7128520"/>
            <a:ext cx="7719317" cy="415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7"/>
              </a:lnSpc>
            </a:pPr>
            <a:r>
              <a:rPr lang="en-US" sz="1950">
                <a:solidFill>
                  <a:srgbClr val="0F2C47"/>
                </a:solidFill>
                <a:latin typeface="Inter"/>
                <a:ea typeface="Inter"/>
                <a:cs typeface="Inter"/>
                <a:sym typeface="Inter"/>
              </a:rPr>
              <a:t>zvýšená námaha při jídle, nutná asistence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9626603" y="7890520"/>
            <a:ext cx="7719317" cy="720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5"/>
              </a:lnSpc>
            </a:pPr>
            <a:r>
              <a:rPr lang="en-US" sz="1800" i="true">
                <a:solidFill>
                  <a:srgbClr val="4A6884"/>
                </a:solidFill>
                <a:latin typeface="Inter Italics"/>
                <a:ea typeface="Inter Italics"/>
                <a:cs typeface="Inter Italics"/>
                <a:sym typeface="Inter Italics"/>
              </a:rPr>
              <a:t>Změny v příjmu stravy, polykání a funkčním stavu napovídají přirozené deterioraci.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68403" y="564680"/>
            <a:ext cx="421805" cy="33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1425" spc="185">
                <a:solidFill>
                  <a:srgbClr val="1D5994"/>
                </a:solidFill>
                <a:latin typeface="Arimo"/>
                <a:ea typeface="Arimo"/>
                <a:cs typeface="Arimo"/>
                <a:sym typeface="Arimo"/>
              </a:rPr>
              <a:t>III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774355" y="564680"/>
            <a:ext cx="1346549" cy="33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1425" spc="185">
                <a:solidFill>
                  <a:srgbClr val="4A6884"/>
                </a:solidFill>
                <a:latin typeface="Arimo"/>
                <a:ea typeface="Arimo"/>
                <a:cs typeface="Arimo"/>
                <a:sym typeface="Arimo"/>
              </a:rPr>
              <a:t>KAZUISTIKY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3279648" y="728662"/>
            <a:ext cx="209550" cy="28575"/>
            <a:chOff x="0" y="0"/>
            <a:chExt cx="279400" cy="381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1D5994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536823" y="728662"/>
            <a:ext cx="209550" cy="28575"/>
            <a:chOff x="0" y="0"/>
            <a:chExt cx="279400" cy="381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1D5994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3793998" y="728662"/>
            <a:ext cx="209550" cy="28575"/>
            <a:chOff x="0" y="0"/>
            <a:chExt cx="279400" cy="381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1D5994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4051173" y="728662"/>
            <a:ext cx="209550" cy="28575"/>
            <a:chOff x="0" y="0"/>
            <a:chExt cx="279400" cy="381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AFC4D6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4308348" y="728662"/>
            <a:ext cx="209550" cy="28575"/>
            <a:chOff x="0" y="0"/>
            <a:chExt cx="279400" cy="381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AFC4D6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4565523" y="728662"/>
            <a:ext cx="209550" cy="28575"/>
            <a:chOff x="0" y="0"/>
            <a:chExt cx="279400" cy="381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AFC4D6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6245583" y="564680"/>
            <a:ext cx="950214" cy="33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1425" spc="185">
                <a:solidFill>
                  <a:srgbClr val="4A6884"/>
                </a:solidFill>
                <a:latin typeface="Arimo"/>
                <a:ea typeface="Arimo"/>
                <a:cs typeface="Arimo"/>
                <a:sym typeface="Arimo"/>
              </a:rPr>
              <a:t>16 / 42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68403" y="1425578"/>
            <a:ext cx="15253973" cy="1485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68"/>
              </a:lnSpc>
            </a:pPr>
            <a:r>
              <a:rPr lang="en-US" sz="5550" spc="-133">
                <a:solidFill>
                  <a:srgbClr val="0F2C47"/>
                </a:solidFill>
                <a:latin typeface="Arimo"/>
                <a:ea typeface="Arimo"/>
                <a:cs typeface="Arimo"/>
                <a:sym typeface="Arimo"/>
              </a:rPr>
              <a:t>Kdy je třeba se o výběr jídla či jiné formy výživy zajímat?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68403" y="3258093"/>
            <a:ext cx="7719317" cy="1608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3"/>
              </a:lnSpc>
            </a:pPr>
            <a:r>
              <a:rPr lang="en-US" sz="1950">
                <a:solidFill>
                  <a:srgbClr val="4A6884"/>
                </a:solidFill>
                <a:latin typeface="Inter"/>
                <a:ea typeface="Inter"/>
                <a:cs typeface="Inter"/>
                <a:sym typeface="Inter"/>
              </a:rPr>
              <a:t>Pacient s poruchou polykání může nechtěně vdechnout jídlo či pití do plic. Tomu se říká </a:t>
            </a:r>
            <a:r>
              <a:rPr lang="en-US" sz="1950" b="true">
                <a:solidFill>
                  <a:srgbClr val="0F2C47"/>
                </a:solidFill>
                <a:latin typeface="Inter Bold"/>
                <a:ea typeface="Inter Bold"/>
                <a:cs typeface="Inter Bold"/>
                <a:sym typeface="Inter Bold"/>
              </a:rPr>
              <a:t>aspirace </a:t>
            </a:r>
            <a:r>
              <a:rPr lang="en-US" sz="1950">
                <a:solidFill>
                  <a:srgbClr val="4A6884"/>
                </a:solidFill>
                <a:latin typeface="Inter"/>
                <a:ea typeface="Inter"/>
                <a:cs typeface="Inter"/>
                <a:sym typeface="Inter"/>
              </a:rPr>
              <a:t>a může způsobit zápal plic. Porucha polykání je způsobena neschopností kontrolovat svaly hrdla. Dále je vhodné si všímat: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143000" y="5082626"/>
            <a:ext cx="7543800" cy="9525"/>
            <a:chOff x="0" y="0"/>
            <a:chExt cx="10058400" cy="127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058400" cy="12700"/>
            </a:xfrm>
            <a:custGeom>
              <a:avLst/>
              <a:gdLst/>
              <a:ahLst/>
              <a:cxnLst/>
              <a:rect r="r" b="b" t="t" l="l"/>
              <a:pathLst>
                <a:path h="1270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AFC4D6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168403" y="5193754"/>
            <a:ext cx="7719317" cy="401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875">
                <a:solidFill>
                  <a:srgbClr val="0F2C47"/>
                </a:solidFill>
                <a:latin typeface="Inter"/>
                <a:ea typeface="Inter"/>
                <a:cs typeface="Inter"/>
                <a:sym typeface="Inter"/>
              </a:rPr>
              <a:t>úbytku na hmotnosti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143000" y="5716038"/>
            <a:ext cx="7543800" cy="9525"/>
            <a:chOff x="0" y="0"/>
            <a:chExt cx="10058400" cy="127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058400" cy="12700"/>
            </a:xfrm>
            <a:custGeom>
              <a:avLst/>
              <a:gdLst/>
              <a:ahLst/>
              <a:cxnLst/>
              <a:rect r="r" b="b" t="t" l="l"/>
              <a:pathLst>
                <a:path h="1270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AFC4D6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168403" y="5827166"/>
            <a:ext cx="7719317" cy="401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875">
                <a:solidFill>
                  <a:srgbClr val="0F2C47"/>
                </a:solidFill>
                <a:latin typeface="Inter"/>
                <a:ea typeface="Inter"/>
                <a:cs typeface="Inter"/>
                <a:sym typeface="Inter"/>
              </a:rPr>
              <a:t>kašle či sípání během jídla a pití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143000" y="6349451"/>
            <a:ext cx="7543800" cy="9525"/>
            <a:chOff x="0" y="0"/>
            <a:chExt cx="10058400" cy="127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058400" cy="12700"/>
            </a:xfrm>
            <a:custGeom>
              <a:avLst/>
              <a:gdLst/>
              <a:ahLst/>
              <a:cxnLst/>
              <a:rect r="r" b="b" t="t" l="l"/>
              <a:pathLst>
                <a:path h="1270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AFC4D6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168403" y="6460579"/>
            <a:ext cx="7719317" cy="401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875">
                <a:solidFill>
                  <a:srgbClr val="0F2C47"/>
                </a:solidFill>
                <a:latin typeface="Inter"/>
                <a:ea typeface="Inter"/>
                <a:cs typeface="Inter"/>
                <a:sym typeface="Inter"/>
              </a:rPr>
              <a:t>vytékání jídla či pití z úst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143000" y="6982863"/>
            <a:ext cx="7543800" cy="9525"/>
            <a:chOff x="0" y="0"/>
            <a:chExt cx="10058400" cy="127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058400" cy="12700"/>
            </a:xfrm>
            <a:custGeom>
              <a:avLst/>
              <a:gdLst/>
              <a:ahLst/>
              <a:cxnLst/>
              <a:rect r="r" b="b" t="t" l="l"/>
              <a:pathLst>
                <a:path h="1270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AFC4D6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1168403" y="7093991"/>
            <a:ext cx="7719317" cy="401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875">
                <a:solidFill>
                  <a:srgbClr val="0F2C47"/>
                </a:solidFill>
                <a:latin typeface="Inter"/>
                <a:ea typeface="Inter"/>
                <a:cs typeface="Inter"/>
                <a:sym typeface="Inter"/>
              </a:rPr>
              <a:t>částí sousta v ústní dutině i po polknutí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143000" y="7616276"/>
            <a:ext cx="7543800" cy="9525"/>
            <a:chOff x="0" y="0"/>
            <a:chExt cx="10058400" cy="127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058400" cy="12700"/>
            </a:xfrm>
            <a:custGeom>
              <a:avLst/>
              <a:gdLst/>
              <a:ahLst/>
              <a:cxnLst/>
              <a:rect r="r" b="b" t="t" l="l"/>
              <a:pathLst>
                <a:path h="1270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AFC4D6"/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1168403" y="7727404"/>
            <a:ext cx="7719317" cy="401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875">
                <a:solidFill>
                  <a:srgbClr val="0F2C47"/>
                </a:solidFill>
                <a:latin typeface="Inter"/>
                <a:ea typeface="Inter"/>
                <a:cs typeface="Inter"/>
                <a:sym typeface="Inter"/>
              </a:rPr>
              <a:t>dlouhé doby strávené jídlem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143000" y="8249688"/>
            <a:ext cx="7543800" cy="9525"/>
            <a:chOff x="0" y="0"/>
            <a:chExt cx="10058400" cy="127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058400" cy="12700"/>
            </a:xfrm>
            <a:custGeom>
              <a:avLst/>
              <a:gdLst/>
              <a:ahLst/>
              <a:cxnLst/>
              <a:rect r="r" b="b" t="t" l="l"/>
              <a:pathLst>
                <a:path h="1270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AFC4D6"/>
            </a:solid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1168403" y="8360816"/>
            <a:ext cx="7719317" cy="401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875">
                <a:solidFill>
                  <a:srgbClr val="0F2C47"/>
                </a:solidFill>
                <a:latin typeface="Inter"/>
                <a:ea typeface="Inter"/>
                <a:cs typeface="Inter"/>
                <a:sym typeface="Inter"/>
              </a:rPr>
              <a:t>nejistoty, zda je pacient hladový či žíznivý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626603" y="3277143"/>
            <a:ext cx="7719317" cy="758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875">
                <a:solidFill>
                  <a:srgbClr val="4A6884"/>
                </a:solidFill>
                <a:latin typeface="Inter"/>
                <a:ea typeface="Inter"/>
                <a:cs typeface="Inter"/>
                <a:sym typeface="Inter"/>
              </a:rPr>
              <a:t>U pacientů s demencí si nikdy nejste jisti, zda cítí hlad či žízeň. Pacienti s velmi těžkou formou demence toto referují pouze zřídka.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9596438" y="4209012"/>
            <a:ext cx="7553325" cy="1556071"/>
            <a:chOff x="0" y="0"/>
            <a:chExt cx="10071100" cy="207476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071100" cy="2074799"/>
            </a:xfrm>
            <a:custGeom>
              <a:avLst/>
              <a:gdLst/>
              <a:ahLst/>
              <a:cxnLst/>
              <a:rect r="r" b="b" t="t" l="l"/>
              <a:pathLst>
                <a:path h="2074799" w="10071100">
                  <a:moveTo>
                    <a:pt x="0" y="204470"/>
                  </a:moveTo>
                  <a:cubicBezTo>
                    <a:pt x="0" y="91567"/>
                    <a:pt x="91567" y="0"/>
                    <a:pt x="204470" y="0"/>
                  </a:cubicBezTo>
                  <a:lnTo>
                    <a:pt x="9866630" y="0"/>
                  </a:lnTo>
                  <a:cubicBezTo>
                    <a:pt x="9979533" y="0"/>
                    <a:pt x="10071100" y="91567"/>
                    <a:pt x="10071100" y="204470"/>
                  </a:cubicBezTo>
                  <a:lnTo>
                    <a:pt x="10071100" y="1870329"/>
                  </a:lnTo>
                  <a:cubicBezTo>
                    <a:pt x="10071100" y="1983232"/>
                    <a:pt x="9979533" y="2074799"/>
                    <a:pt x="9866630" y="2074799"/>
                  </a:cubicBezTo>
                  <a:lnTo>
                    <a:pt x="204470" y="2074799"/>
                  </a:lnTo>
                  <a:cubicBezTo>
                    <a:pt x="91567" y="2074799"/>
                    <a:pt x="0" y="1983232"/>
                    <a:pt x="0" y="1870329"/>
                  </a:cubicBezTo>
                  <a:close/>
                </a:path>
              </a:pathLst>
            </a:custGeom>
            <a:solidFill>
              <a:srgbClr val="F2F6FA"/>
            </a:solidFill>
            <a:ln w="9525" cap="sq">
              <a:solidFill>
                <a:srgbClr val="AFC4D6"/>
              </a:solidFill>
              <a:prstDash val="solid"/>
              <a:miter/>
            </a:ln>
          </p:spPr>
        </p:sp>
      </p:grpSp>
      <p:sp>
        <p:nvSpPr>
          <p:cNvPr name="TextBox 40" id="40"/>
          <p:cNvSpPr txBox="true"/>
          <p:nvPr/>
        </p:nvSpPr>
        <p:spPr>
          <a:xfrm rot="0">
            <a:off x="9940928" y="4420143"/>
            <a:ext cx="7071808" cy="33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1425" spc="185">
                <a:solidFill>
                  <a:srgbClr val="1D5994"/>
                </a:solidFill>
                <a:latin typeface="Arimo"/>
                <a:ea typeface="Arimo"/>
                <a:cs typeface="Arimo"/>
                <a:sym typeface="Arimo"/>
              </a:rPr>
              <a:t>MOŽNOST A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940928" y="4884715"/>
            <a:ext cx="7071808" cy="633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0"/>
              </a:lnSpc>
            </a:pPr>
            <a:r>
              <a:rPr lang="en-US" sz="2175">
                <a:solidFill>
                  <a:srgbClr val="0F2C47"/>
                </a:solidFill>
                <a:latin typeface="Arimo"/>
                <a:ea typeface="Arimo"/>
                <a:cs typeface="Arimo"/>
                <a:sym typeface="Arimo"/>
              </a:rPr>
              <a:t>Úprava konzistence stravy a tekutin, </a:t>
            </a:r>
          </a:p>
          <a:p>
            <a:pPr algn="l">
              <a:lnSpc>
                <a:spcPts val="2422"/>
              </a:lnSpc>
            </a:pPr>
            <a:r>
              <a:rPr lang="en-US" sz="2175">
                <a:solidFill>
                  <a:srgbClr val="0F2C47"/>
                </a:solidFill>
                <a:latin typeface="Arimo"/>
                <a:ea typeface="Arimo"/>
                <a:cs typeface="Arimo"/>
                <a:sym typeface="Arimo"/>
              </a:rPr>
              <a:t>asistence u jídla a pití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9596438" y="5946057"/>
            <a:ext cx="7553325" cy="1224629"/>
            <a:chOff x="0" y="0"/>
            <a:chExt cx="10071100" cy="1632839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071100" cy="1632966"/>
            </a:xfrm>
            <a:custGeom>
              <a:avLst/>
              <a:gdLst/>
              <a:ahLst/>
              <a:cxnLst/>
              <a:rect r="r" b="b" t="t" l="l"/>
              <a:pathLst>
                <a:path h="1632966" w="10071100">
                  <a:moveTo>
                    <a:pt x="0" y="204851"/>
                  </a:moveTo>
                  <a:cubicBezTo>
                    <a:pt x="0" y="91694"/>
                    <a:pt x="91694" y="0"/>
                    <a:pt x="204851" y="0"/>
                  </a:cubicBezTo>
                  <a:lnTo>
                    <a:pt x="9866249" y="0"/>
                  </a:lnTo>
                  <a:cubicBezTo>
                    <a:pt x="9979406" y="0"/>
                    <a:pt x="10071100" y="91694"/>
                    <a:pt x="10071100" y="204851"/>
                  </a:cubicBezTo>
                  <a:lnTo>
                    <a:pt x="10071100" y="1428115"/>
                  </a:lnTo>
                  <a:cubicBezTo>
                    <a:pt x="10071100" y="1541272"/>
                    <a:pt x="9979406" y="1632966"/>
                    <a:pt x="9866249" y="1632966"/>
                  </a:cubicBezTo>
                  <a:lnTo>
                    <a:pt x="204851" y="1632966"/>
                  </a:lnTo>
                  <a:cubicBezTo>
                    <a:pt x="91694" y="1632839"/>
                    <a:pt x="0" y="1541145"/>
                    <a:pt x="0" y="1428115"/>
                  </a:cubicBezTo>
                  <a:close/>
                </a:path>
              </a:pathLst>
            </a:custGeom>
            <a:solidFill>
              <a:srgbClr val="F2F6FA"/>
            </a:solidFill>
            <a:ln w="9525" cap="sq">
              <a:solidFill>
                <a:srgbClr val="AFC4D6"/>
              </a:solidFill>
              <a:prstDash val="solid"/>
              <a:miter/>
            </a:ln>
          </p:spPr>
        </p:sp>
      </p:grpSp>
      <p:sp>
        <p:nvSpPr>
          <p:cNvPr name="TextBox 44" id="44"/>
          <p:cNvSpPr txBox="true"/>
          <p:nvPr/>
        </p:nvSpPr>
        <p:spPr>
          <a:xfrm rot="0">
            <a:off x="9940928" y="6157189"/>
            <a:ext cx="7071808" cy="33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1425" spc="185">
                <a:solidFill>
                  <a:srgbClr val="1D5994"/>
                </a:solidFill>
                <a:latin typeface="Arimo"/>
                <a:ea typeface="Arimo"/>
                <a:cs typeface="Arimo"/>
                <a:sym typeface="Arimo"/>
              </a:rPr>
              <a:t>MOŽNOST B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9940928" y="6621761"/>
            <a:ext cx="7555868" cy="318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2"/>
              </a:lnSpc>
            </a:pPr>
            <a:r>
              <a:rPr lang="en-US" sz="2175">
                <a:solidFill>
                  <a:srgbClr val="0F2C47"/>
                </a:solidFill>
                <a:latin typeface="Arimo"/>
                <a:ea typeface="Arimo"/>
                <a:cs typeface="Arimo"/>
                <a:sym typeface="Arimo"/>
              </a:rPr>
              <a:t>Živení pomocí vyživovací sondy či stomie (vývodu)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9626603" y="7343727"/>
            <a:ext cx="7719317" cy="617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7"/>
              </a:lnSpc>
            </a:pPr>
            <a:r>
              <a:rPr lang="en-US" sz="1800" i="true">
                <a:solidFill>
                  <a:srgbClr val="4A6884"/>
                </a:solidFill>
                <a:latin typeface="Inter Italics"/>
                <a:ea typeface="Inter Italics"/>
                <a:cs typeface="Inter Italics"/>
                <a:sym typeface="Inter Italics"/>
              </a:rPr>
              <a:t>Bezpečnou konzistenci nechte otestovat klinickým logopedem. </a:t>
            </a:r>
          </a:p>
          <a:p>
            <a:pPr algn="l">
              <a:lnSpc>
                <a:spcPts val="2548"/>
              </a:lnSpc>
            </a:pPr>
            <a:r>
              <a:rPr lang="en-US" sz="1800" i="true">
                <a:solidFill>
                  <a:srgbClr val="4A6884"/>
                </a:solidFill>
                <a:latin typeface="Inter Italics"/>
                <a:ea typeface="Inter Italics"/>
                <a:cs typeface="Inter Italics"/>
                <a:sym typeface="Inter Italics"/>
              </a:rPr>
              <a:t>Texturu upravujte tak zřídka, jak je možné.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9596438" y="8147895"/>
            <a:ext cx="3844528" cy="493138"/>
            <a:chOff x="0" y="0"/>
            <a:chExt cx="5126038" cy="657517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126101" cy="657606"/>
            </a:xfrm>
            <a:custGeom>
              <a:avLst/>
              <a:gdLst/>
              <a:ahLst/>
              <a:cxnLst/>
              <a:rect r="r" b="b" t="t" l="l"/>
              <a:pathLst>
                <a:path h="657606" w="5126101">
                  <a:moveTo>
                    <a:pt x="0" y="328803"/>
                  </a:moveTo>
                  <a:cubicBezTo>
                    <a:pt x="0" y="147193"/>
                    <a:pt x="147193" y="0"/>
                    <a:pt x="328803" y="0"/>
                  </a:cubicBezTo>
                  <a:lnTo>
                    <a:pt x="4797298" y="0"/>
                  </a:lnTo>
                  <a:cubicBezTo>
                    <a:pt x="4978908" y="0"/>
                    <a:pt x="5126101" y="147193"/>
                    <a:pt x="5126101" y="328803"/>
                  </a:cubicBezTo>
                  <a:cubicBezTo>
                    <a:pt x="5126101" y="510413"/>
                    <a:pt x="4978908" y="657606"/>
                    <a:pt x="4797298" y="657606"/>
                  </a:cubicBezTo>
                  <a:lnTo>
                    <a:pt x="328803" y="657606"/>
                  </a:lnTo>
                  <a:cubicBezTo>
                    <a:pt x="147193" y="657479"/>
                    <a:pt x="0" y="510286"/>
                    <a:pt x="0" y="328803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92" r="1" b="-101879"/>
              </a:stretch>
            </a:blipFill>
            <a:ln w="9525" cap="sq">
              <a:solidFill>
                <a:srgbClr val="AFC4D6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9801225" y="8247907"/>
            <a:ext cx="3550006" cy="331213"/>
            <a:chOff x="0" y="0"/>
            <a:chExt cx="4733341" cy="441617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4733337" cy="441623"/>
            </a:xfrm>
            <a:custGeom>
              <a:avLst/>
              <a:gdLst/>
              <a:ahLst/>
              <a:cxnLst/>
              <a:rect r="r" b="b" t="t" l="l"/>
              <a:pathLst>
                <a:path h="441623" w="4733337">
                  <a:moveTo>
                    <a:pt x="0" y="0"/>
                  </a:moveTo>
                  <a:lnTo>
                    <a:pt x="4733337" y="0"/>
                  </a:lnTo>
                  <a:lnTo>
                    <a:pt x="4733337" y="441623"/>
                  </a:lnTo>
                  <a:lnTo>
                    <a:pt x="0" y="44162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8842" r="0" b="-158841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57150"/>
              <a:ext cx="4733341" cy="4987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48"/>
                </a:lnSpc>
              </a:pPr>
              <a:r>
                <a:rPr lang="en-US" sz="1425" spc="185">
                  <a:solidFill>
                    <a:srgbClr val="1D5994"/>
                  </a:solidFill>
                  <a:latin typeface="Arimo"/>
                  <a:ea typeface="Arimo"/>
                  <a:cs typeface="Arimo"/>
                  <a:sym typeface="Arimo"/>
                </a:rPr>
                <a:t>DOPORUČENÍ 26 · GPP · 94 %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68403" y="564680"/>
            <a:ext cx="289646" cy="33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1425" spc="185">
                <a:solidFill>
                  <a:srgbClr val="8FC9F5"/>
                </a:solidFill>
                <a:latin typeface="Arimo"/>
                <a:ea typeface="Arimo"/>
                <a:cs typeface="Arimo"/>
                <a:sym typeface="Arimo"/>
              </a:rPr>
              <a:t>IV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642196" y="564680"/>
            <a:ext cx="1979095" cy="268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1425" spc="185">
                <a:solidFill>
                  <a:srgbClr val="A6C2DB"/>
                </a:solidFill>
                <a:latin typeface="Arimo"/>
                <a:ea typeface="Arimo"/>
                <a:cs typeface="Arimo"/>
                <a:sym typeface="Arimo"/>
              </a:rPr>
              <a:t>KONEC ŽIVOTA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3411741" y="728662"/>
            <a:ext cx="209550" cy="28575"/>
            <a:chOff x="0" y="0"/>
            <a:chExt cx="279400" cy="381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8FC9F5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668916" y="728662"/>
            <a:ext cx="209550" cy="28575"/>
            <a:chOff x="0" y="0"/>
            <a:chExt cx="279400" cy="381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8FC9F5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3926091" y="728662"/>
            <a:ext cx="209550" cy="28575"/>
            <a:chOff x="0" y="0"/>
            <a:chExt cx="279400" cy="381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8FC9F5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4183266" y="728662"/>
            <a:ext cx="209550" cy="28575"/>
            <a:chOff x="0" y="0"/>
            <a:chExt cx="279400" cy="381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8FC9F5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4440441" y="728662"/>
            <a:ext cx="209550" cy="28575"/>
            <a:chOff x="0" y="0"/>
            <a:chExt cx="279400" cy="381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2A548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4697616" y="728662"/>
            <a:ext cx="209550" cy="28575"/>
            <a:chOff x="0" y="0"/>
            <a:chExt cx="279400" cy="381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2A5480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6245583" y="564680"/>
            <a:ext cx="950214" cy="33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1425" spc="185">
                <a:solidFill>
                  <a:srgbClr val="A6C2DB"/>
                </a:solidFill>
                <a:latin typeface="Arimo"/>
                <a:ea typeface="Arimo"/>
                <a:cs typeface="Arimo"/>
                <a:sym typeface="Arimo"/>
              </a:rPr>
              <a:t>17 / 42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68403" y="5612264"/>
            <a:ext cx="13569953" cy="482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250">
                <a:solidFill>
                  <a:srgbClr val="A6C2DB"/>
                </a:solidFill>
                <a:latin typeface="Inter"/>
                <a:ea typeface="Inter"/>
                <a:cs typeface="Inter"/>
                <a:sym typeface="Inter"/>
              </a:rPr>
              <a:t>Nároky klientů v rezidenční péči se mění s blížícím se koncem života.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68403" y="3502028"/>
            <a:ext cx="16431263" cy="1963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43"/>
              </a:lnSpc>
            </a:pPr>
            <a:r>
              <a:rPr lang="en-US" sz="7800" spc="-217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Pokud klient přestává jíst, netrpí. Neumírá hlady.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138238" y="8617525"/>
            <a:ext cx="3844528" cy="493138"/>
            <a:chOff x="0" y="0"/>
            <a:chExt cx="5126038" cy="65751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126101" cy="657606"/>
            </a:xfrm>
            <a:custGeom>
              <a:avLst/>
              <a:gdLst/>
              <a:ahLst/>
              <a:cxnLst/>
              <a:rect r="r" b="b" t="t" l="l"/>
              <a:pathLst>
                <a:path h="657606" w="5126101">
                  <a:moveTo>
                    <a:pt x="0" y="328803"/>
                  </a:moveTo>
                  <a:cubicBezTo>
                    <a:pt x="0" y="147193"/>
                    <a:pt x="147193" y="0"/>
                    <a:pt x="328803" y="0"/>
                  </a:cubicBezTo>
                  <a:lnTo>
                    <a:pt x="4797298" y="0"/>
                  </a:lnTo>
                  <a:cubicBezTo>
                    <a:pt x="4978908" y="0"/>
                    <a:pt x="5126101" y="147193"/>
                    <a:pt x="5126101" y="328803"/>
                  </a:cubicBezTo>
                  <a:cubicBezTo>
                    <a:pt x="5126101" y="510413"/>
                    <a:pt x="4978908" y="657606"/>
                    <a:pt x="4797298" y="657606"/>
                  </a:cubicBezTo>
                  <a:lnTo>
                    <a:pt x="328803" y="657606"/>
                  </a:lnTo>
                  <a:cubicBezTo>
                    <a:pt x="147193" y="657479"/>
                    <a:pt x="0" y="510286"/>
                    <a:pt x="0" y="328803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92" r="1" b="-101879"/>
              </a:stretch>
            </a:blipFill>
            <a:ln w="9525" cap="sq">
              <a:solidFill>
                <a:srgbClr val="2A5480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343025" y="8717537"/>
            <a:ext cx="3550006" cy="331213"/>
            <a:chOff x="0" y="0"/>
            <a:chExt cx="4733341" cy="44161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733337" cy="441623"/>
            </a:xfrm>
            <a:custGeom>
              <a:avLst/>
              <a:gdLst/>
              <a:ahLst/>
              <a:cxnLst/>
              <a:rect r="r" b="b" t="t" l="l"/>
              <a:pathLst>
                <a:path h="441623" w="4733337">
                  <a:moveTo>
                    <a:pt x="0" y="0"/>
                  </a:moveTo>
                  <a:lnTo>
                    <a:pt x="4733337" y="0"/>
                  </a:lnTo>
                  <a:lnTo>
                    <a:pt x="4733337" y="441623"/>
                  </a:lnTo>
                  <a:lnTo>
                    <a:pt x="0" y="44162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8842" r="0" b="-158841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57150"/>
              <a:ext cx="4733341" cy="4987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48"/>
                </a:lnSpc>
              </a:pPr>
              <a:r>
                <a:rPr lang="en-US" sz="1425" spc="185">
                  <a:solidFill>
                    <a:srgbClr val="8FC9F5"/>
                  </a:solidFill>
                  <a:latin typeface="Arimo"/>
                  <a:ea typeface="Arimo"/>
                  <a:cs typeface="Arimo"/>
                  <a:sym typeface="Arimo"/>
                </a:rPr>
                <a:t>DOPORUČENÍ 35 · GPP · 96 %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5544800" y="8390553"/>
            <a:ext cx="1600200" cy="753447"/>
            <a:chOff x="0" y="0"/>
            <a:chExt cx="2133600" cy="1004595"/>
          </a:xfrm>
        </p:grpSpPr>
        <p:sp>
          <p:nvSpPr>
            <p:cNvPr name="Freeform 25" id="25" descr="preencoded.png"/>
            <p:cNvSpPr/>
            <p:nvPr/>
          </p:nvSpPr>
          <p:spPr>
            <a:xfrm flipH="false" flipV="false" rot="0">
              <a:off x="0" y="0"/>
              <a:ext cx="2133600" cy="1004570"/>
            </a:xfrm>
            <a:custGeom>
              <a:avLst/>
              <a:gdLst/>
              <a:ahLst/>
              <a:cxnLst/>
              <a:rect r="r" b="b" t="t" l="l"/>
              <a:pathLst>
                <a:path h="1004570" w="2133600">
                  <a:moveTo>
                    <a:pt x="0" y="0"/>
                  </a:moveTo>
                  <a:lnTo>
                    <a:pt x="2133600" y="0"/>
                  </a:lnTo>
                  <a:lnTo>
                    <a:pt x="2133600" y="1004570"/>
                  </a:lnTo>
                  <a:lnTo>
                    <a:pt x="0" y="10045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90000"/>
              </a:blip>
              <a:stretch>
                <a:fillRect l="0" t="-1" r="0" b="-3"/>
              </a:stretch>
            </a:blipFill>
          </p:spPr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68403" y="564680"/>
            <a:ext cx="289646" cy="33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1425" spc="185">
                <a:solidFill>
                  <a:srgbClr val="1D5994"/>
                </a:solidFill>
                <a:latin typeface="Arimo"/>
                <a:ea typeface="Arimo"/>
                <a:cs typeface="Arimo"/>
                <a:sym typeface="Arimo"/>
              </a:rPr>
              <a:t>IV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642196" y="564680"/>
            <a:ext cx="1874320" cy="268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1425" spc="185">
                <a:solidFill>
                  <a:srgbClr val="4A6884"/>
                </a:solidFill>
                <a:latin typeface="Arimo"/>
                <a:ea typeface="Arimo"/>
                <a:cs typeface="Arimo"/>
                <a:sym typeface="Arimo"/>
              </a:rPr>
              <a:t>KONEC ŽIVOTA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3411741" y="728662"/>
            <a:ext cx="209550" cy="28575"/>
            <a:chOff x="0" y="0"/>
            <a:chExt cx="279400" cy="381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1D5994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668916" y="728662"/>
            <a:ext cx="209550" cy="28575"/>
            <a:chOff x="0" y="0"/>
            <a:chExt cx="279400" cy="381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1D5994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3926091" y="728662"/>
            <a:ext cx="209550" cy="28575"/>
            <a:chOff x="0" y="0"/>
            <a:chExt cx="279400" cy="381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1D5994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4183266" y="728662"/>
            <a:ext cx="209550" cy="28575"/>
            <a:chOff x="0" y="0"/>
            <a:chExt cx="279400" cy="381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1D5994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4440441" y="728662"/>
            <a:ext cx="209550" cy="28575"/>
            <a:chOff x="0" y="0"/>
            <a:chExt cx="279400" cy="381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AFC4D6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4697616" y="728662"/>
            <a:ext cx="209550" cy="28575"/>
            <a:chOff x="0" y="0"/>
            <a:chExt cx="279400" cy="381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AFC4D6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6245583" y="564680"/>
            <a:ext cx="950214" cy="33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1425" spc="185">
                <a:solidFill>
                  <a:srgbClr val="4A6884"/>
                </a:solidFill>
                <a:latin typeface="Arimo"/>
                <a:ea typeface="Arimo"/>
                <a:cs typeface="Arimo"/>
                <a:sym typeface="Arimo"/>
              </a:rPr>
              <a:t>18 / 42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68403" y="1425578"/>
            <a:ext cx="15253973" cy="1488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66"/>
              </a:lnSpc>
            </a:pPr>
            <a:r>
              <a:rPr lang="en-US" sz="5550" spc="-127">
                <a:solidFill>
                  <a:srgbClr val="0F2C47"/>
                </a:solidFill>
                <a:latin typeface="Arimo"/>
                <a:ea typeface="Arimo"/>
                <a:cs typeface="Arimo"/>
                <a:sym typeface="Arimo"/>
              </a:rPr>
              <a:t>Hlad je na konci života </a:t>
            </a:r>
          </a:p>
          <a:p>
            <a:pPr algn="l">
              <a:lnSpc>
                <a:spcPts val="5668"/>
              </a:lnSpc>
            </a:pPr>
            <a:r>
              <a:rPr lang="en-US" sz="5550" spc="-133">
                <a:solidFill>
                  <a:srgbClr val="0F2C47"/>
                </a:solidFill>
                <a:latin typeface="Arimo"/>
                <a:ea typeface="Arimo"/>
                <a:cs typeface="Arimo"/>
                <a:sym typeface="Arimo"/>
              </a:rPr>
              <a:t>spontánně tlumen.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68403" y="3870664"/>
            <a:ext cx="7719317" cy="3038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2"/>
              </a:lnSpc>
            </a:pPr>
            <a:r>
              <a:rPr lang="en-US" sz="1950">
                <a:solidFill>
                  <a:srgbClr val="4A6884"/>
                </a:solidFill>
                <a:latin typeface="Inter"/>
                <a:ea typeface="Inter"/>
                <a:cs typeface="Inter"/>
                <a:sym typeface="Inter"/>
              </a:rPr>
              <a:t>U bezprostředně umírajících je </a:t>
            </a:r>
            <a:r>
              <a:rPr lang="en-US" sz="1950" b="true">
                <a:solidFill>
                  <a:srgbClr val="4A6884"/>
                </a:solidFill>
                <a:latin typeface="Inter Bold"/>
                <a:ea typeface="Inter Bold"/>
                <a:cs typeface="Inter Bold"/>
                <a:sym typeface="Inter Bold"/>
              </a:rPr>
              <a:t>pocit hladu zpravidla vzácný</a:t>
            </a:r>
            <a:r>
              <a:rPr lang="en-US" sz="1950">
                <a:solidFill>
                  <a:srgbClr val="4A6884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</a:p>
          <a:p>
            <a:pPr algn="l">
              <a:lnSpc>
                <a:spcPts val="3012"/>
              </a:lnSpc>
            </a:pPr>
            <a:r>
              <a:rPr lang="en-US" sz="1950">
                <a:solidFill>
                  <a:srgbClr val="4A6884"/>
                </a:solidFill>
                <a:latin typeface="Inter"/>
                <a:ea typeface="Inter"/>
                <a:cs typeface="Inter"/>
                <a:sym typeface="Inter"/>
              </a:rPr>
              <a:t>a malé množství jídla podle přání pacienta obvykle postačuje</a:t>
            </a:r>
          </a:p>
          <a:p>
            <a:pPr algn="l">
              <a:lnSpc>
                <a:spcPts val="3012"/>
              </a:lnSpc>
            </a:pPr>
            <a:r>
              <a:rPr lang="en-US" sz="1950">
                <a:solidFill>
                  <a:srgbClr val="4A6884"/>
                </a:solidFill>
                <a:latin typeface="Inter"/>
                <a:ea typeface="Inter"/>
                <a:cs typeface="Inter"/>
                <a:sym typeface="Inter"/>
              </a:rPr>
              <a:t> ke komfortu. Ztráta chuti k jídlu a zájmu o příjem potravy je </a:t>
            </a:r>
            <a:r>
              <a:rPr lang="en-US" sz="1950" b="true">
                <a:solidFill>
                  <a:srgbClr val="4A6884"/>
                </a:solidFill>
                <a:latin typeface="Inter Bold"/>
                <a:ea typeface="Inter Bold"/>
                <a:cs typeface="Inter Bold"/>
                <a:sym typeface="Inter Bold"/>
              </a:rPr>
              <a:t>součástí přirozeného procesu umírání.</a:t>
            </a:r>
          </a:p>
          <a:p>
            <a:pPr algn="l">
              <a:lnSpc>
                <a:spcPts val="3012"/>
              </a:lnSpc>
            </a:pPr>
          </a:p>
          <a:p>
            <a:pPr algn="l">
              <a:lnSpc>
                <a:spcPts val="3013"/>
              </a:lnSpc>
            </a:pPr>
            <a:r>
              <a:rPr lang="en-US" sz="1950">
                <a:solidFill>
                  <a:srgbClr val="4A6884"/>
                </a:solidFill>
                <a:latin typeface="Inter"/>
                <a:ea typeface="Inter"/>
                <a:cs typeface="Inter"/>
                <a:sym typeface="Inter"/>
              </a:rPr>
              <a:t>Zvyšuje se produkce endogenních opioidů (např. β-endorfin, enkefaliny), které mohou být významně potentnější než morfin. Tím je zajištěna relaxace a úleva od bolesti.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626603" y="3965029"/>
            <a:ext cx="7719317" cy="33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1425" spc="185">
                <a:solidFill>
                  <a:srgbClr val="1D5994"/>
                </a:solidFill>
                <a:latin typeface="Arimo"/>
                <a:ea typeface="Arimo"/>
                <a:cs typeface="Arimo"/>
                <a:sym typeface="Arimo"/>
              </a:rPr>
              <a:t>PŘESNĚJI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601200" y="4480398"/>
            <a:ext cx="7543800" cy="9525"/>
            <a:chOff x="0" y="0"/>
            <a:chExt cx="10058400" cy="127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058400" cy="12700"/>
            </a:xfrm>
            <a:custGeom>
              <a:avLst/>
              <a:gdLst/>
              <a:ahLst/>
              <a:cxnLst/>
              <a:rect r="r" b="b" t="t" l="l"/>
              <a:pathLst>
                <a:path h="1270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AFC4D6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9626603" y="4610567"/>
            <a:ext cx="7719317" cy="338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875">
                <a:solidFill>
                  <a:srgbClr val="0F2C47"/>
                </a:solidFill>
                <a:latin typeface="Inter"/>
                <a:ea typeface="Inter"/>
                <a:cs typeface="Inter"/>
                <a:sym typeface="Inter"/>
              </a:rPr>
              <a:t>ketóza a změny regulace apetitu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601200" y="5143500"/>
            <a:ext cx="7543800" cy="9525"/>
            <a:chOff x="0" y="0"/>
            <a:chExt cx="10058400" cy="127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058400" cy="12700"/>
            </a:xfrm>
            <a:custGeom>
              <a:avLst/>
              <a:gdLst/>
              <a:ahLst/>
              <a:cxnLst/>
              <a:rect r="r" b="b" t="t" l="l"/>
              <a:pathLst>
                <a:path h="1270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AFC4D6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9601200" y="5367014"/>
            <a:ext cx="7719317" cy="338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875">
                <a:solidFill>
                  <a:srgbClr val="0F2C47"/>
                </a:solidFill>
                <a:latin typeface="Inter"/>
                <a:ea typeface="Inter"/>
                <a:cs typeface="Inter"/>
                <a:sym typeface="Inter"/>
              </a:rPr>
              <a:t>terminální hypometabolismus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9601200" y="5971901"/>
            <a:ext cx="7543800" cy="9525"/>
            <a:chOff x="0" y="0"/>
            <a:chExt cx="10058400" cy="127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058400" cy="12700"/>
            </a:xfrm>
            <a:custGeom>
              <a:avLst/>
              <a:gdLst/>
              <a:ahLst/>
              <a:cxnLst/>
              <a:rect r="r" b="b" t="t" l="l"/>
              <a:pathLst>
                <a:path h="1270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AFC4D6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9601200" y="6190976"/>
            <a:ext cx="7719317" cy="401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875">
                <a:solidFill>
                  <a:srgbClr val="0F2C47"/>
                </a:solidFill>
                <a:latin typeface="Inter"/>
                <a:ea typeface="Inter"/>
                <a:cs typeface="Inter"/>
                <a:sym typeface="Inter"/>
              </a:rPr>
              <a:t>akumulace endogenních opioidů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9601200" y="6811267"/>
            <a:ext cx="7543800" cy="9525"/>
            <a:chOff x="0" y="0"/>
            <a:chExt cx="10058400" cy="127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058400" cy="12700"/>
            </a:xfrm>
            <a:custGeom>
              <a:avLst/>
              <a:gdLst/>
              <a:ahLst/>
              <a:cxnLst/>
              <a:rect r="r" b="b" t="t" l="l"/>
              <a:pathLst>
                <a:path h="1270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AFC4D6"/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9626603" y="6982292"/>
            <a:ext cx="7719317" cy="338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875">
                <a:solidFill>
                  <a:srgbClr val="0F2C47"/>
                </a:solidFill>
                <a:latin typeface="Inter"/>
                <a:ea typeface="Inter"/>
                <a:cs typeface="Inter"/>
                <a:sym typeface="Inter"/>
              </a:rPr>
              <a:t>progre</a:t>
            </a:r>
            <a:r>
              <a:rPr lang="en-US" sz="1875">
                <a:solidFill>
                  <a:srgbClr val="0F2C47"/>
                </a:solidFill>
                <a:latin typeface="Inter"/>
                <a:ea typeface="Inter"/>
                <a:cs typeface="Inter"/>
                <a:sym typeface="Inter"/>
              </a:rPr>
              <a:t>sivní orgánové selhávání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9601200" y="7523636"/>
            <a:ext cx="7543800" cy="9525"/>
            <a:chOff x="0" y="0"/>
            <a:chExt cx="10058400" cy="127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058400" cy="12700"/>
            </a:xfrm>
            <a:custGeom>
              <a:avLst/>
              <a:gdLst/>
              <a:ahLst/>
              <a:cxnLst/>
              <a:rect r="r" b="b" t="t" l="l"/>
              <a:pathLst>
                <a:path h="1270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AFC4D6"/>
            </a:solid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9626603" y="7653814"/>
            <a:ext cx="7719317" cy="338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875">
                <a:solidFill>
                  <a:srgbClr val="0F2C47"/>
                </a:solidFill>
                <a:latin typeface="Inter"/>
                <a:ea typeface="Inter"/>
                <a:cs typeface="Inter"/>
                <a:sym typeface="Inter"/>
              </a:rPr>
              <a:t>metabolické změny a celkový útlum CNS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68403" y="564680"/>
            <a:ext cx="289646" cy="33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1425" spc="185">
                <a:solidFill>
                  <a:srgbClr val="1D5994"/>
                </a:solidFill>
                <a:latin typeface="Arimo"/>
                <a:ea typeface="Arimo"/>
                <a:cs typeface="Arimo"/>
                <a:sym typeface="Arimo"/>
              </a:rPr>
              <a:t>IV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642196" y="564680"/>
            <a:ext cx="1769545" cy="268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1425" spc="185">
                <a:solidFill>
                  <a:srgbClr val="4A6884"/>
                </a:solidFill>
                <a:latin typeface="Arimo"/>
                <a:ea typeface="Arimo"/>
                <a:cs typeface="Arimo"/>
                <a:sym typeface="Arimo"/>
              </a:rPr>
              <a:t>KONEC ŽIVOTA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3411741" y="728662"/>
            <a:ext cx="209550" cy="28575"/>
            <a:chOff x="0" y="0"/>
            <a:chExt cx="279400" cy="381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1D5994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668916" y="728662"/>
            <a:ext cx="209550" cy="28575"/>
            <a:chOff x="0" y="0"/>
            <a:chExt cx="279400" cy="381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1D5994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3926091" y="728662"/>
            <a:ext cx="209550" cy="28575"/>
            <a:chOff x="0" y="0"/>
            <a:chExt cx="279400" cy="381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1D5994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4183266" y="728662"/>
            <a:ext cx="209550" cy="28575"/>
            <a:chOff x="0" y="0"/>
            <a:chExt cx="279400" cy="381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1D5994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4440441" y="728662"/>
            <a:ext cx="209550" cy="28575"/>
            <a:chOff x="0" y="0"/>
            <a:chExt cx="279400" cy="381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AFC4D6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4697616" y="728662"/>
            <a:ext cx="209550" cy="28575"/>
            <a:chOff x="0" y="0"/>
            <a:chExt cx="279400" cy="381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AFC4D6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6245583" y="564680"/>
            <a:ext cx="950214" cy="33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1425" spc="185">
                <a:solidFill>
                  <a:srgbClr val="4A6884"/>
                </a:solidFill>
                <a:latin typeface="Arimo"/>
                <a:ea typeface="Arimo"/>
                <a:cs typeface="Arimo"/>
                <a:sym typeface="Arimo"/>
              </a:rPr>
              <a:t>19 / 42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68403" y="1425578"/>
            <a:ext cx="10816332" cy="1488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66"/>
              </a:lnSpc>
            </a:pPr>
            <a:r>
              <a:rPr lang="en-US" sz="5550" spc="-127">
                <a:solidFill>
                  <a:srgbClr val="0F2C47"/>
                </a:solidFill>
                <a:latin typeface="Arimo"/>
                <a:ea typeface="Arimo"/>
                <a:cs typeface="Arimo"/>
                <a:sym typeface="Arimo"/>
              </a:rPr>
              <a:t>Žízeň na konci života často tlumíme </a:t>
            </a:r>
          </a:p>
          <a:p>
            <a:pPr algn="l">
              <a:lnSpc>
                <a:spcPts val="5668"/>
              </a:lnSpc>
            </a:pPr>
            <a:r>
              <a:rPr lang="en-US" sz="5550" spc="-133">
                <a:solidFill>
                  <a:srgbClr val="0F2C47"/>
                </a:solidFill>
                <a:latin typeface="Arimo"/>
                <a:ea typeface="Arimo"/>
                <a:cs typeface="Arimo"/>
                <a:sym typeface="Arimo"/>
              </a:rPr>
              <a:t>účinněji péčí o ústa než infuzí.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68403" y="3587525"/>
            <a:ext cx="7719317" cy="752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2"/>
              </a:lnSpc>
            </a:pPr>
            <a:r>
              <a:rPr lang="en-US" sz="1950">
                <a:solidFill>
                  <a:srgbClr val="4A6884"/>
                </a:solidFill>
                <a:latin typeface="Inter"/>
                <a:ea typeface="Inter"/>
                <a:cs typeface="Inter"/>
                <a:sym typeface="Inter"/>
              </a:rPr>
              <a:t>Pocit hladu u umírajícího klienta obvykle není přítomen. </a:t>
            </a:r>
          </a:p>
          <a:p>
            <a:pPr algn="l">
              <a:lnSpc>
                <a:spcPts val="3013"/>
              </a:lnSpc>
            </a:pPr>
            <a:r>
              <a:rPr lang="en-US" sz="1950">
                <a:solidFill>
                  <a:srgbClr val="4A6884"/>
                </a:solidFill>
                <a:latin typeface="Inter"/>
                <a:ea typeface="Inter"/>
                <a:cs typeface="Inter"/>
                <a:sym typeface="Inter"/>
              </a:rPr>
              <a:t>Je-li strava nabídnuta, přijme velmi malé množství.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68403" y="4588697"/>
            <a:ext cx="7719317" cy="1133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2"/>
              </a:lnSpc>
            </a:pPr>
            <a:r>
              <a:rPr lang="en-US" sz="1950" b="true">
                <a:solidFill>
                  <a:srgbClr val="0F2C47"/>
                </a:solidFill>
                <a:latin typeface="Inter Bold"/>
                <a:ea typeface="Inter Bold"/>
                <a:cs typeface="Inter Bold"/>
                <a:sym typeface="Inter Bold"/>
              </a:rPr>
              <a:t>Hlavním diskomfortem je žízeň</a:t>
            </a:r>
            <a:r>
              <a:rPr lang="en-US" sz="1950">
                <a:solidFill>
                  <a:srgbClr val="4A6884"/>
                </a:solidFill>
                <a:latin typeface="Inter"/>
                <a:ea typeface="Inter"/>
                <a:cs typeface="Inter"/>
                <a:sym typeface="Inter"/>
              </a:rPr>
              <a:t>, a tu lze uspokojivě zvládnout popíjením po malých dávkách, kousky ledu, tvrdým bonbonem </a:t>
            </a:r>
          </a:p>
          <a:p>
            <a:pPr algn="l">
              <a:lnSpc>
                <a:spcPts val="3013"/>
              </a:lnSpc>
            </a:pPr>
            <a:r>
              <a:rPr lang="en-US" sz="1950">
                <a:solidFill>
                  <a:srgbClr val="4A6884"/>
                </a:solidFill>
                <a:latin typeface="Inter"/>
                <a:ea typeface="Inter"/>
                <a:cs typeface="Inter"/>
                <a:sym typeface="Inter"/>
              </a:rPr>
              <a:t>a dobrou péčí o dutinu ústní.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68403" y="5976147"/>
            <a:ext cx="7592630" cy="2276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2"/>
              </a:lnSpc>
            </a:pPr>
            <a:r>
              <a:rPr lang="en-US" sz="1950">
                <a:solidFill>
                  <a:srgbClr val="4A6884"/>
                </a:solidFill>
                <a:latin typeface="Inter"/>
                <a:ea typeface="Inter"/>
                <a:cs typeface="Inter"/>
                <a:sym typeface="Inter"/>
              </a:rPr>
              <a:t>Mezi pocitem žízně v terminální fázi a skutečným příjmem tekutin je jen malá souvislost, a to i při podání nitrožilně.</a:t>
            </a:r>
          </a:p>
          <a:p>
            <a:pPr algn="l">
              <a:lnSpc>
                <a:spcPts val="3012"/>
              </a:lnSpc>
            </a:pPr>
          </a:p>
          <a:p>
            <a:pPr algn="l">
              <a:lnSpc>
                <a:spcPts val="3013"/>
              </a:lnSpc>
            </a:pPr>
            <a:r>
              <a:rPr lang="en-US" sz="1950">
                <a:solidFill>
                  <a:srgbClr val="4A6884"/>
                </a:solidFill>
                <a:latin typeface="Inter"/>
                <a:ea typeface="Inter"/>
                <a:cs typeface="Inter"/>
                <a:sym typeface="Inter"/>
              </a:rPr>
              <a:t>Přínos a zátěž hydratace vždy hodnotíme individuálně – při převodnění nebo absenci efektu objem snížíme či hydrataci ukončíme.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626603" y="3606575"/>
            <a:ext cx="7719317" cy="33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1425" spc="185">
                <a:solidFill>
                  <a:srgbClr val="1D5994"/>
                </a:solidFill>
                <a:latin typeface="Arimo"/>
                <a:ea typeface="Arimo"/>
                <a:cs typeface="Arimo"/>
                <a:sym typeface="Arimo"/>
              </a:rPr>
              <a:t>KDYŽ JE HYDRATACE INDIKOVÁNA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601200" y="4121944"/>
            <a:ext cx="7543800" cy="9525"/>
            <a:chOff x="0" y="0"/>
            <a:chExt cx="10058400" cy="127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058400" cy="12700"/>
            </a:xfrm>
            <a:custGeom>
              <a:avLst/>
              <a:gdLst/>
              <a:ahLst/>
              <a:cxnLst/>
              <a:rect r="r" b="b" t="t" l="l"/>
              <a:pathLst>
                <a:path h="1270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AFC4D6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9626603" y="4242597"/>
            <a:ext cx="7719317" cy="690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875">
                <a:solidFill>
                  <a:srgbClr val="0F2C47"/>
                </a:solidFill>
                <a:latin typeface="Inter"/>
                <a:ea typeface="Inter"/>
                <a:cs typeface="Inter"/>
                <a:sym typeface="Inter"/>
              </a:rPr>
              <a:t>Parenterální tekutiny lze podat dočasně, k překlenutí krizové situace (či jako terapeutický pokus).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601200" y="5131594"/>
            <a:ext cx="7543800" cy="9525"/>
            <a:chOff x="0" y="0"/>
            <a:chExt cx="10058400" cy="127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058400" cy="12700"/>
            </a:xfrm>
            <a:custGeom>
              <a:avLst/>
              <a:gdLst/>
              <a:ahLst/>
              <a:cxnLst/>
              <a:rect r="r" b="b" t="t" l="l"/>
              <a:pathLst>
                <a:path h="1270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AFC4D6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9626603" y="5252247"/>
            <a:ext cx="7719317" cy="690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875">
                <a:solidFill>
                  <a:srgbClr val="0F2C47"/>
                </a:solidFill>
                <a:latin typeface="Inter"/>
                <a:ea typeface="Inter"/>
                <a:cs typeface="Inter"/>
                <a:sym typeface="Inter"/>
              </a:rPr>
              <a:t>U mírné a střední dehydratace preferujeme podkožní cestu (hypodermoklýza), zvlášť může-li klient zůstat v zařízení.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601200" y="6141244"/>
            <a:ext cx="7543800" cy="9525"/>
            <a:chOff x="0" y="0"/>
            <a:chExt cx="10058400" cy="127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058400" cy="12700"/>
            </a:xfrm>
            <a:custGeom>
              <a:avLst/>
              <a:gdLst/>
              <a:ahLst/>
              <a:cxnLst/>
              <a:rect r="r" b="b" t="t" l="l"/>
              <a:pathLst>
                <a:path h="1270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AFC4D6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9626603" y="6261897"/>
            <a:ext cx="7719317" cy="690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875">
                <a:solidFill>
                  <a:srgbClr val="0F2C47"/>
                </a:solidFill>
                <a:latin typeface="Inter"/>
                <a:ea typeface="Inter"/>
                <a:cs typeface="Inter"/>
                <a:sym typeface="Inter"/>
              </a:rPr>
              <a:t>Roztoky izotonické, do 3 000 ml/den a 1 500 ml na jedno místo vpichu. Ve většině případů nepřekročí 1 000 ml.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9601200" y="7150894"/>
            <a:ext cx="7543800" cy="9525"/>
            <a:chOff x="0" y="0"/>
            <a:chExt cx="10058400" cy="127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058400" cy="12700"/>
            </a:xfrm>
            <a:custGeom>
              <a:avLst/>
              <a:gdLst/>
              <a:ahLst/>
              <a:cxnLst/>
              <a:rect r="r" b="b" t="t" l="l"/>
              <a:pathLst>
                <a:path h="1270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AFC4D6"/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9626603" y="7271547"/>
            <a:ext cx="7719317" cy="338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875">
                <a:solidFill>
                  <a:srgbClr val="0F2C47"/>
                </a:solidFill>
                <a:latin typeface="Inter"/>
                <a:ea typeface="Inter"/>
                <a:cs typeface="Inter"/>
                <a:sym typeface="Inter"/>
              </a:rPr>
              <a:t>U těžké dehydratace a větších objemů nitrožilní cesta.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9596438" y="8065294"/>
            <a:ext cx="5297757" cy="493138"/>
            <a:chOff x="0" y="0"/>
            <a:chExt cx="7063677" cy="657517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063740" cy="657606"/>
            </a:xfrm>
            <a:custGeom>
              <a:avLst/>
              <a:gdLst/>
              <a:ahLst/>
              <a:cxnLst/>
              <a:rect r="r" b="b" t="t" l="l"/>
              <a:pathLst>
                <a:path h="657606" w="7063740">
                  <a:moveTo>
                    <a:pt x="0" y="328803"/>
                  </a:moveTo>
                  <a:cubicBezTo>
                    <a:pt x="0" y="147193"/>
                    <a:pt x="147193" y="0"/>
                    <a:pt x="328803" y="0"/>
                  </a:cubicBezTo>
                  <a:lnTo>
                    <a:pt x="6734937" y="0"/>
                  </a:lnTo>
                  <a:cubicBezTo>
                    <a:pt x="6916547" y="0"/>
                    <a:pt x="7063740" y="147193"/>
                    <a:pt x="7063740" y="328803"/>
                  </a:cubicBezTo>
                  <a:cubicBezTo>
                    <a:pt x="7063740" y="510413"/>
                    <a:pt x="6916547" y="657606"/>
                    <a:pt x="6734937" y="657606"/>
                  </a:cubicBezTo>
                  <a:lnTo>
                    <a:pt x="328803" y="657606"/>
                  </a:lnTo>
                  <a:cubicBezTo>
                    <a:pt x="147193" y="657479"/>
                    <a:pt x="0" y="510286"/>
                    <a:pt x="0" y="328803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9305" r="0" b="-159291"/>
              </a:stretch>
            </a:blipFill>
            <a:ln w="9525" cap="sq">
              <a:solidFill>
                <a:srgbClr val="AFC4D6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9801225" y="8165306"/>
            <a:ext cx="5046831" cy="331213"/>
            <a:chOff x="0" y="0"/>
            <a:chExt cx="6729108" cy="441617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729109" cy="441623"/>
            </a:xfrm>
            <a:custGeom>
              <a:avLst/>
              <a:gdLst/>
              <a:ahLst/>
              <a:cxnLst/>
              <a:rect r="r" b="b" t="t" l="l"/>
              <a:pathLst>
                <a:path h="441623" w="6729109">
                  <a:moveTo>
                    <a:pt x="0" y="0"/>
                  </a:moveTo>
                  <a:lnTo>
                    <a:pt x="6729109" y="0"/>
                  </a:lnTo>
                  <a:lnTo>
                    <a:pt x="6729109" y="441623"/>
                  </a:lnTo>
                  <a:lnTo>
                    <a:pt x="0" y="44162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6898" r="0" b="-246897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57150"/>
              <a:ext cx="6729108" cy="4987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48"/>
                </a:lnSpc>
              </a:pPr>
              <a:r>
                <a:rPr lang="en-US" sz="1425" spc="185">
                  <a:solidFill>
                    <a:srgbClr val="1D5994"/>
                  </a:solidFill>
                  <a:latin typeface="Arimo"/>
                  <a:ea typeface="Arimo"/>
                  <a:cs typeface="Arimo"/>
                  <a:sym typeface="Arimo"/>
                </a:rPr>
                <a:t>DOPORUČENÍ 39 · GPP · 100 % KONSENZUS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68403" y="564680"/>
            <a:ext cx="289646" cy="33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1425" spc="185">
                <a:solidFill>
                  <a:srgbClr val="1D5994"/>
                </a:solidFill>
                <a:latin typeface="Arimo"/>
                <a:ea typeface="Arimo"/>
                <a:cs typeface="Arimo"/>
                <a:sym typeface="Arimo"/>
              </a:rPr>
              <a:t>IV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642196" y="564680"/>
            <a:ext cx="1874320" cy="268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1425" spc="185">
                <a:solidFill>
                  <a:srgbClr val="4A6884"/>
                </a:solidFill>
                <a:latin typeface="Arimo"/>
                <a:ea typeface="Arimo"/>
                <a:cs typeface="Arimo"/>
                <a:sym typeface="Arimo"/>
              </a:rPr>
              <a:t>KONEC ŽIVOTA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3411741" y="728662"/>
            <a:ext cx="209550" cy="28575"/>
            <a:chOff x="0" y="0"/>
            <a:chExt cx="279400" cy="381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1D5994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668916" y="728662"/>
            <a:ext cx="209550" cy="28575"/>
            <a:chOff x="0" y="0"/>
            <a:chExt cx="279400" cy="381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1D5994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3926091" y="728662"/>
            <a:ext cx="209550" cy="28575"/>
            <a:chOff x="0" y="0"/>
            <a:chExt cx="279400" cy="381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1D5994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4183266" y="728662"/>
            <a:ext cx="209550" cy="28575"/>
            <a:chOff x="0" y="0"/>
            <a:chExt cx="279400" cy="381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1D5994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4440441" y="728662"/>
            <a:ext cx="209550" cy="28575"/>
            <a:chOff x="0" y="0"/>
            <a:chExt cx="279400" cy="381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AFC4D6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4697616" y="728662"/>
            <a:ext cx="209550" cy="28575"/>
            <a:chOff x="0" y="0"/>
            <a:chExt cx="279400" cy="381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AFC4D6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6245583" y="564680"/>
            <a:ext cx="950214" cy="33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1425" spc="185">
                <a:solidFill>
                  <a:srgbClr val="4A6884"/>
                </a:solidFill>
                <a:latin typeface="Arimo"/>
                <a:ea typeface="Arimo"/>
                <a:cs typeface="Arimo"/>
                <a:sym typeface="Arimo"/>
              </a:rPr>
              <a:t>20 / 42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68403" y="1425578"/>
            <a:ext cx="15253973" cy="1488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66"/>
              </a:lnSpc>
            </a:pPr>
            <a:r>
              <a:rPr lang="en-US" sz="5550" spc="-127">
                <a:solidFill>
                  <a:srgbClr val="0F2C47"/>
                </a:solidFill>
                <a:latin typeface="Arimo"/>
                <a:ea typeface="Arimo"/>
                <a:cs typeface="Arimo"/>
                <a:sym typeface="Arimo"/>
              </a:rPr>
              <a:t>Jak bude vypadat, když zvolím úpravu </a:t>
            </a:r>
          </a:p>
          <a:p>
            <a:pPr algn="l">
              <a:lnSpc>
                <a:spcPts val="5668"/>
              </a:lnSpc>
            </a:pPr>
            <a:r>
              <a:rPr lang="en-US" sz="5550" spc="-133">
                <a:solidFill>
                  <a:srgbClr val="0F2C47"/>
                </a:solidFill>
                <a:latin typeface="Arimo"/>
                <a:ea typeface="Arimo"/>
                <a:cs typeface="Arimo"/>
                <a:sym typeface="Arimo"/>
              </a:rPr>
              <a:t>konzistence a asistované podávání stravy?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68403" y="3794693"/>
            <a:ext cx="7807998" cy="1514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2"/>
              </a:lnSpc>
            </a:pPr>
            <a:r>
              <a:rPr lang="en-US" sz="1950">
                <a:solidFill>
                  <a:srgbClr val="4A6884"/>
                </a:solidFill>
                <a:latin typeface="Inter"/>
                <a:ea typeface="Inter"/>
                <a:cs typeface="Inter"/>
                <a:sym typeface="Inter"/>
              </a:rPr>
              <a:t>Vysvětlení možností úpravy stravy a tekutin (kdo o ni rozhoduje), popsání principu asistovaného krmení, rizik (vyšší riziko aspirace) </a:t>
            </a:r>
          </a:p>
          <a:p>
            <a:pPr algn="l">
              <a:lnSpc>
                <a:spcPts val="3013"/>
              </a:lnSpc>
            </a:pPr>
            <a:r>
              <a:rPr lang="en-US" sz="1950">
                <a:solidFill>
                  <a:srgbClr val="4A6884"/>
                </a:solidFill>
                <a:latin typeface="Inter"/>
                <a:ea typeface="Inter"/>
                <a:cs typeface="Inter"/>
                <a:sym typeface="Inter"/>
              </a:rPr>
              <a:t>i benefitů spojených s krmením (socializace, péče ze strany rodiny), popř. postupu krmení ve zdravotnickém či sociálním zařízení.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68403" y="5719763"/>
            <a:ext cx="7719317" cy="1695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250">
                <a:solidFill>
                  <a:srgbClr val="0F2C47"/>
                </a:solidFill>
                <a:latin typeface="Inter"/>
                <a:ea typeface="Inter"/>
                <a:cs typeface="Inter"/>
                <a:sym typeface="Inter"/>
              </a:rPr>
              <a:t>Klient bude živen, dokud a pokud mu podávání stravy nezpůsobuje stres. Pacientovi se pomáhá jíst a</a:t>
            </a:r>
            <a:r>
              <a:rPr lang="en-US" sz="2250">
                <a:solidFill>
                  <a:srgbClr val="0F2C47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250">
                <a:solidFill>
                  <a:srgbClr val="0F2C47"/>
                </a:solidFill>
                <a:latin typeface="Inter"/>
                <a:ea typeface="Inter"/>
                <a:cs typeface="Inter"/>
                <a:sym typeface="Inter"/>
              </a:rPr>
              <a:t>pí</a:t>
            </a:r>
            <a:r>
              <a:rPr lang="en-US" sz="2250">
                <a:solidFill>
                  <a:srgbClr val="0F2C47"/>
                </a:solidFill>
                <a:latin typeface="Inter"/>
                <a:ea typeface="Inter"/>
                <a:cs typeface="Inter"/>
                <a:sym typeface="Inter"/>
              </a:rPr>
              <a:t>t </a:t>
            </a:r>
            <a:r>
              <a:rPr lang="en-US" sz="2250">
                <a:solidFill>
                  <a:srgbClr val="0F2C47"/>
                </a:solidFill>
                <a:latin typeface="Inter"/>
                <a:ea typeface="Inter"/>
                <a:cs typeface="Inter"/>
                <a:sym typeface="Inter"/>
              </a:rPr>
              <a:t>t</a:t>
            </a:r>
            <a:r>
              <a:rPr lang="en-US" sz="2250">
                <a:solidFill>
                  <a:srgbClr val="0F2C47"/>
                </a:solidFill>
                <a:latin typeface="Inter"/>
                <a:ea typeface="Inter"/>
                <a:cs typeface="Inter"/>
                <a:sym typeface="Inter"/>
              </a:rPr>
              <a:t>o, co má rád, a tolik, kolik chce.</a:t>
            </a:r>
          </a:p>
          <a:p>
            <a:pPr algn="l">
              <a:lnSpc>
                <a:spcPts val="3375"/>
              </a:lnSpc>
            </a:pPr>
            <a:r>
              <a:rPr lang="en-US" sz="2250" b="true">
                <a:solidFill>
                  <a:srgbClr val="0F2C47"/>
                </a:solidFill>
                <a:latin typeface="Inter Bold"/>
                <a:ea typeface="Inter Bold"/>
                <a:cs typeface="Inter Bold"/>
                <a:sym typeface="Inter Bold"/>
              </a:rPr>
              <a:t>Hmatatelná alternativa k sondové výživě.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626603" y="3813743"/>
            <a:ext cx="7719317" cy="33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1425" spc="185">
                <a:solidFill>
                  <a:srgbClr val="1D5994"/>
                </a:solidFill>
                <a:latin typeface="Arimo"/>
                <a:ea typeface="Arimo"/>
                <a:cs typeface="Arimo"/>
                <a:sym typeface="Arimo"/>
              </a:rPr>
              <a:t>OTÁZKY, KTERÉ PŘIJDOU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601200" y="4329112"/>
            <a:ext cx="7543800" cy="9525"/>
            <a:chOff x="0" y="0"/>
            <a:chExt cx="10058400" cy="127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058400" cy="12700"/>
            </a:xfrm>
            <a:custGeom>
              <a:avLst/>
              <a:gdLst/>
              <a:ahLst/>
              <a:cxnLst/>
              <a:rect r="r" b="b" t="t" l="l"/>
              <a:pathLst>
                <a:path h="1270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AFC4D6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9626603" y="4478341"/>
            <a:ext cx="7719317" cy="348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7"/>
              </a:lnSpc>
            </a:pPr>
            <a:r>
              <a:rPr lang="en-US" sz="1950">
                <a:solidFill>
                  <a:srgbClr val="0F2C47"/>
                </a:solidFill>
                <a:latin typeface="Inter"/>
                <a:ea typeface="Inter"/>
                <a:cs typeface="Inter"/>
                <a:sym typeface="Inter"/>
              </a:rPr>
              <a:t>Mohou být všichni pacienti s demencí asistovaně živeni?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601200" y="5053012"/>
            <a:ext cx="7543800" cy="9525"/>
            <a:chOff x="0" y="0"/>
            <a:chExt cx="10058400" cy="127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058400" cy="12700"/>
            </a:xfrm>
            <a:custGeom>
              <a:avLst/>
              <a:gdLst/>
              <a:ahLst/>
              <a:cxnLst/>
              <a:rect r="r" b="b" t="t" l="l"/>
              <a:pathLst>
                <a:path h="1270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AFC4D6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9626603" y="5202241"/>
            <a:ext cx="7719317" cy="348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7"/>
              </a:lnSpc>
            </a:pPr>
            <a:r>
              <a:rPr lang="en-US" sz="1950">
                <a:solidFill>
                  <a:srgbClr val="0F2C47"/>
                </a:solidFill>
                <a:latin typeface="Inter"/>
                <a:ea typeface="Inter"/>
                <a:cs typeface="Inter"/>
                <a:sym typeface="Inter"/>
              </a:rPr>
              <a:t>Jak funkční asistované podávání stravy je?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9601200" y="5776912"/>
            <a:ext cx="7543800" cy="9525"/>
            <a:chOff x="0" y="0"/>
            <a:chExt cx="10058400" cy="127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058400" cy="12700"/>
            </a:xfrm>
            <a:custGeom>
              <a:avLst/>
              <a:gdLst/>
              <a:ahLst/>
              <a:cxnLst/>
              <a:rect r="r" b="b" t="t" l="l"/>
              <a:pathLst>
                <a:path h="1270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AFC4D6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9626603" y="5926141"/>
            <a:ext cx="7719317" cy="787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7"/>
              </a:lnSpc>
            </a:pPr>
            <a:r>
              <a:rPr lang="en-US" sz="1950">
                <a:solidFill>
                  <a:srgbClr val="0F2C47"/>
                </a:solidFill>
                <a:latin typeface="Inter"/>
                <a:ea typeface="Inter"/>
                <a:cs typeface="Inter"/>
                <a:sym typeface="Inter"/>
              </a:rPr>
              <a:t>Co se stane, pokud můj příbuzný nebude schopen nic ústy sníst?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9596438" y="6545266"/>
            <a:ext cx="7543800" cy="9525"/>
            <a:chOff x="0" y="0"/>
            <a:chExt cx="10058400" cy="127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058400" cy="12700"/>
            </a:xfrm>
            <a:custGeom>
              <a:avLst/>
              <a:gdLst/>
              <a:ahLst/>
              <a:cxnLst/>
              <a:rect r="r" b="b" t="t" l="l"/>
              <a:pathLst>
                <a:path h="1270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AFC4D6"/>
            </a:solid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9627618" y="6818319"/>
            <a:ext cx="7719317" cy="415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7"/>
              </a:lnSpc>
            </a:pPr>
            <a:r>
              <a:rPr lang="en-US" sz="1950">
                <a:solidFill>
                  <a:srgbClr val="0F2C47"/>
                </a:solidFill>
                <a:latin typeface="Inter"/>
                <a:ea typeface="Inter"/>
                <a:cs typeface="Inter"/>
                <a:sym typeface="Inter"/>
              </a:rPr>
              <a:t>Co mohu udělat, abych pomohl, když nebude moci jíst či pít?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9596438" y="7558097"/>
            <a:ext cx="3976611" cy="493138"/>
            <a:chOff x="0" y="0"/>
            <a:chExt cx="5302148" cy="657517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302250" cy="657479"/>
            </a:xfrm>
            <a:custGeom>
              <a:avLst/>
              <a:gdLst/>
              <a:ahLst/>
              <a:cxnLst/>
              <a:rect r="r" b="b" t="t" l="l"/>
              <a:pathLst>
                <a:path h="657479" w="5302250">
                  <a:moveTo>
                    <a:pt x="0" y="328803"/>
                  </a:moveTo>
                  <a:cubicBezTo>
                    <a:pt x="0" y="147193"/>
                    <a:pt x="147193" y="0"/>
                    <a:pt x="328803" y="0"/>
                  </a:cubicBezTo>
                  <a:lnTo>
                    <a:pt x="4973447" y="0"/>
                  </a:lnTo>
                  <a:cubicBezTo>
                    <a:pt x="5155057" y="0"/>
                    <a:pt x="5302250" y="147193"/>
                    <a:pt x="5302250" y="328803"/>
                  </a:cubicBezTo>
                  <a:cubicBezTo>
                    <a:pt x="5302250" y="510413"/>
                    <a:pt x="5154930" y="657479"/>
                    <a:pt x="4973447" y="657479"/>
                  </a:cubicBezTo>
                  <a:lnTo>
                    <a:pt x="328803" y="657479"/>
                  </a:lnTo>
                  <a:cubicBezTo>
                    <a:pt x="147193" y="657479"/>
                    <a:pt x="0" y="510286"/>
                    <a:pt x="0" y="328803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131" r="1" b="-107137"/>
              </a:stretch>
            </a:blipFill>
            <a:ln w="9525" cap="sq">
              <a:solidFill>
                <a:srgbClr val="AFC4D6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9801225" y="7658110"/>
            <a:ext cx="3686051" cy="331213"/>
            <a:chOff x="0" y="0"/>
            <a:chExt cx="4914735" cy="441617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914735" cy="441623"/>
            </a:xfrm>
            <a:custGeom>
              <a:avLst/>
              <a:gdLst/>
              <a:ahLst/>
              <a:cxnLst/>
              <a:rect r="r" b="b" t="t" l="l"/>
              <a:pathLst>
                <a:path h="441623" w="4914735">
                  <a:moveTo>
                    <a:pt x="0" y="0"/>
                  </a:moveTo>
                  <a:lnTo>
                    <a:pt x="4914735" y="0"/>
                  </a:lnTo>
                  <a:lnTo>
                    <a:pt x="4914735" y="441623"/>
                  </a:lnTo>
                  <a:lnTo>
                    <a:pt x="0" y="44162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6845" r="0" b="-166844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57150"/>
              <a:ext cx="4914735" cy="4987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48"/>
                </a:lnSpc>
              </a:pPr>
              <a:r>
                <a:rPr lang="en-US" sz="1425" spc="185">
                  <a:solidFill>
                    <a:srgbClr val="1D5994"/>
                  </a:solidFill>
                  <a:latin typeface="Arimo"/>
                  <a:ea typeface="Arimo"/>
                  <a:cs typeface="Arimo"/>
                  <a:sym typeface="Arimo"/>
                </a:rPr>
                <a:t>DOPORUČENÍ 16 · GPP · 100 %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68403" y="564680"/>
            <a:ext cx="157563" cy="33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1425" spc="185">
                <a:solidFill>
                  <a:srgbClr val="1D5994"/>
                </a:solidFill>
                <a:latin typeface="Arimo"/>
                <a:ea typeface="Arimo"/>
                <a:cs typeface="Arimo"/>
                <a:sym typeface="Arimo"/>
              </a:rPr>
              <a:t>V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510113" y="564680"/>
            <a:ext cx="1478632" cy="33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1425" spc="185">
                <a:solidFill>
                  <a:srgbClr val="4A6884"/>
                </a:solidFill>
                <a:latin typeface="Arimo"/>
                <a:ea typeface="Arimo"/>
                <a:cs typeface="Arimo"/>
                <a:sym typeface="Arimo"/>
              </a:rPr>
              <a:t>ROZHODOVÁNÍ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3147489" y="728662"/>
            <a:ext cx="209550" cy="28575"/>
            <a:chOff x="0" y="0"/>
            <a:chExt cx="279400" cy="381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1D5994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404664" y="728662"/>
            <a:ext cx="209550" cy="28575"/>
            <a:chOff x="0" y="0"/>
            <a:chExt cx="279400" cy="381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1D5994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3661839" y="728662"/>
            <a:ext cx="209550" cy="28575"/>
            <a:chOff x="0" y="0"/>
            <a:chExt cx="279400" cy="381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1D5994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919014" y="728662"/>
            <a:ext cx="209550" cy="28575"/>
            <a:chOff x="0" y="0"/>
            <a:chExt cx="279400" cy="381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1D5994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4176189" y="728662"/>
            <a:ext cx="209550" cy="28575"/>
            <a:chOff x="0" y="0"/>
            <a:chExt cx="279400" cy="381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1D5994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4433364" y="728662"/>
            <a:ext cx="209550" cy="28575"/>
            <a:chOff x="0" y="0"/>
            <a:chExt cx="279400" cy="381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AFC4D6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6245583" y="564680"/>
            <a:ext cx="950214" cy="33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1425" spc="185">
                <a:solidFill>
                  <a:srgbClr val="4A6884"/>
                </a:solidFill>
                <a:latin typeface="Arimo"/>
                <a:ea typeface="Arimo"/>
                <a:cs typeface="Arimo"/>
                <a:sym typeface="Arimo"/>
              </a:rPr>
              <a:t>25 / 42</a:t>
            </a:r>
          </a:p>
        </p:txBody>
      </p:sp>
      <p:sp>
        <p:nvSpPr>
          <p:cNvPr name="Freeform 17" id="17" descr="preencoded.png"/>
          <p:cNvSpPr/>
          <p:nvPr/>
        </p:nvSpPr>
        <p:spPr>
          <a:xfrm flipH="false" flipV="false" rot="0">
            <a:off x="16535400" y="1333500"/>
            <a:ext cx="609600" cy="609600"/>
          </a:xfrm>
          <a:custGeom>
            <a:avLst/>
            <a:gdLst/>
            <a:ahLst/>
            <a:cxnLst/>
            <a:rect r="r" b="b" t="t" l="l"/>
            <a:pathLst>
              <a:path h="609600" w="609600">
                <a:moveTo>
                  <a:pt x="0" y="0"/>
                </a:moveTo>
                <a:lnTo>
                  <a:pt x="609600" y="0"/>
                </a:lnTo>
                <a:lnTo>
                  <a:pt x="6096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168403" y="1425578"/>
            <a:ext cx="15253973" cy="1488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66"/>
              </a:lnSpc>
            </a:pPr>
            <a:r>
              <a:rPr lang="en-US" sz="5550" spc="-116">
                <a:solidFill>
                  <a:srgbClr val="0F2C47"/>
                </a:solidFill>
                <a:latin typeface="Arimo"/>
                <a:ea typeface="Arimo"/>
                <a:cs typeface="Arimo"/>
                <a:sym typeface="Arimo"/>
              </a:rPr>
              <a:t>Když příbor “přestane fungovat”, </a:t>
            </a:r>
          </a:p>
          <a:p>
            <a:pPr algn="l">
              <a:lnSpc>
                <a:spcPts val="5668"/>
              </a:lnSpc>
            </a:pPr>
            <a:r>
              <a:rPr lang="en-US" sz="5550" spc="-122">
                <a:solidFill>
                  <a:srgbClr val="0F2C47"/>
                </a:solidFill>
                <a:latin typeface="Arimo"/>
                <a:ea typeface="Arimo"/>
                <a:cs typeface="Arimo"/>
                <a:sym typeface="Arimo"/>
              </a:rPr>
              <a:t>nabídneme jídlo do ruky.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68403" y="4053135"/>
            <a:ext cx="7719317" cy="11534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2"/>
              </a:lnSpc>
            </a:pPr>
            <a:r>
              <a:rPr lang="en-US" sz="2100">
                <a:solidFill>
                  <a:srgbClr val="0F2C47"/>
                </a:solidFill>
                <a:latin typeface="Inter"/>
                <a:ea typeface="Inter"/>
                <a:cs typeface="Inter"/>
                <a:sym typeface="Inter"/>
              </a:rPr>
              <a:t>Klientům s demencí a malnutricí či dehydratací nebo jejich rizikem </a:t>
            </a:r>
            <a:r>
              <a:rPr lang="en-US" sz="2100" b="true">
                <a:solidFill>
                  <a:srgbClr val="0F2C47"/>
                </a:solidFill>
                <a:latin typeface="Inter Bold"/>
                <a:ea typeface="Inter Bold"/>
                <a:cs typeface="Inter Bold"/>
                <a:sym typeface="Inter Bold"/>
              </a:rPr>
              <a:t>často nabízíme nápoje, svačiny a “finger foods”</a:t>
            </a:r>
            <a:r>
              <a:rPr lang="en-US" sz="2100">
                <a:solidFill>
                  <a:srgbClr val="0F2C47"/>
                </a:solidFill>
                <a:latin typeface="Inter"/>
                <a:ea typeface="Inter"/>
                <a:cs typeface="Inter"/>
                <a:sym typeface="Inter"/>
              </a:rPr>
              <a:t>, abychom příjem usnadnili.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68403" y="5462835"/>
            <a:ext cx="7719317" cy="1514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2"/>
              </a:lnSpc>
            </a:pPr>
            <a:r>
              <a:rPr lang="en-US" sz="1950">
                <a:solidFill>
                  <a:srgbClr val="4A6884"/>
                </a:solidFill>
                <a:latin typeface="Inter"/>
                <a:ea typeface="Inter"/>
                <a:cs typeface="Inter"/>
                <a:sym typeface="Inter"/>
              </a:rPr>
              <a:t>Přímá evidence je velmi omezená. Doporučení stojí na tom, že náklady jsou minimální, riziko újmy žádné a možný přínos reálný. </a:t>
            </a:r>
          </a:p>
          <a:p>
            <a:pPr algn="l">
              <a:lnSpc>
                <a:spcPts val="3013"/>
              </a:lnSpc>
            </a:pPr>
            <a:r>
              <a:rPr lang="en-US" sz="1950">
                <a:solidFill>
                  <a:srgbClr val="4A6884"/>
                </a:solidFill>
                <a:latin typeface="Inter"/>
                <a:ea typeface="Inter"/>
                <a:cs typeface="Inter"/>
                <a:sym typeface="Inter"/>
              </a:rPr>
              <a:t>V jedné studii se u deseti z dvanácti klientů zastavil úbytek hmotnosti a zlepšila se samostatnost při jídle.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138238" y="7282605"/>
            <a:ext cx="3976611" cy="493138"/>
            <a:chOff x="0" y="0"/>
            <a:chExt cx="5302148" cy="65751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302250" cy="657479"/>
            </a:xfrm>
            <a:custGeom>
              <a:avLst/>
              <a:gdLst/>
              <a:ahLst/>
              <a:cxnLst/>
              <a:rect r="r" b="b" t="t" l="l"/>
              <a:pathLst>
                <a:path h="657479" w="5302250">
                  <a:moveTo>
                    <a:pt x="0" y="328803"/>
                  </a:moveTo>
                  <a:cubicBezTo>
                    <a:pt x="0" y="147193"/>
                    <a:pt x="147193" y="0"/>
                    <a:pt x="328803" y="0"/>
                  </a:cubicBezTo>
                  <a:lnTo>
                    <a:pt x="4973447" y="0"/>
                  </a:lnTo>
                  <a:cubicBezTo>
                    <a:pt x="5155057" y="0"/>
                    <a:pt x="5302250" y="147193"/>
                    <a:pt x="5302250" y="328803"/>
                  </a:cubicBezTo>
                  <a:cubicBezTo>
                    <a:pt x="5302250" y="510413"/>
                    <a:pt x="5154930" y="657479"/>
                    <a:pt x="4973447" y="657479"/>
                  </a:cubicBezTo>
                  <a:lnTo>
                    <a:pt x="328803" y="657479"/>
                  </a:lnTo>
                  <a:cubicBezTo>
                    <a:pt x="147193" y="657479"/>
                    <a:pt x="0" y="510286"/>
                    <a:pt x="0" y="328803"/>
                  </a:cubicBez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07131" r="1" b="-107137"/>
              </a:stretch>
            </a:blipFill>
            <a:ln w="9525" cap="sq">
              <a:solidFill>
                <a:srgbClr val="AFC4D6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1343025" y="7382618"/>
            <a:ext cx="3686051" cy="331213"/>
            <a:chOff x="0" y="0"/>
            <a:chExt cx="4914735" cy="44161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914735" cy="441623"/>
            </a:xfrm>
            <a:custGeom>
              <a:avLst/>
              <a:gdLst/>
              <a:ahLst/>
              <a:cxnLst/>
              <a:rect r="r" b="b" t="t" l="l"/>
              <a:pathLst>
                <a:path h="441623" w="4914735">
                  <a:moveTo>
                    <a:pt x="0" y="0"/>
                  </a:moveTo>
                  <a:lnTo>
                    <a:pt x="4914735" y="0"/>
                  </a:lnTo>
                  <a:lnTo>
                    <a:pt x="4914735" y="441623"/>
                  </a:lnTo>
                  <a:lnTo>
                    <a:pt x="0" y="44162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66845" r="0" b="-166844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4914735" cy="4987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48"/>
                </a:lnSpc>
              </a:pPr>
              <a:r>
                <a:rPr lang="en-US" sz="1425" spc="185">
                  <a:solidFill>
                    <a:srgbClr val="1D5994"/>
                  </a:solidFill>
                  <a:latin typeface="Arimo"/>
                  <a:ea typeface="Arimo"/>
                  <a:cs typeface="Arimo"/>
                  <a:sym typeface="Arimo"/>
                </a:rPr>
                <a:t>DOPORUČENÍ 19 · GPP · 100 %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9626603" y="4053135"/>
            <a:ext cx="7719317" cy="33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1425" spc="185">
                <a:solidFill>
                  <a:srgbClr val="1D5994"/>
                </a:solidFill>
                <a:latin typeface="Arimo"/>
                <a:ea typeface="Arimo"/>
                <a:cs typeface="Arimo"/>
                <a:sym typeface="Arimo"/>
              </a:rPr>
              <a:t>CO SE OSVĚDČUJE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9601200" y="4568504"/>
            <a:ext cx="7543800" cy="9525"/>
            <a:chOff x="0" y="0"/>
            <a:chExt cx="10058400" cy="127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058400" cy="12700"/>
            </a:xfrm>
            <a:custGeom>
              <a:avLst/>
              <a:gdLst/>
              <a:ahLst/>
              <a:cxnLst/>
              <a:rect r="r" b="b" t="t" l="l"/>
              <a:pathLst>
                <a:path h="1270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AFC4D6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9626603" y="4689158"/>
            <a:ext cx="7719317" cy="758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875">
                <a:solidFill>
                  <a:srgbClr val="0F2C47"/>
                </a:solidFill>
                <a:latin typeface="Inter"/>
                <a:ea typeface="Inter"/>
                <a:cs typeface="Inter"/>
                <a:sym typeface="Inter"/>
              </a:rPr>
              <a:t>Kousky ovoce a zeleniny, které drží formu: jahody, mandarinka, okurka, vařená brambora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9601200" y="5578154"/>
            <a:ext cx="7543800" cy="9525"/>
            <a:chOff x="0" y="0"/>
            <a:chExt cx="10058400" cy="127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058400" cy="12700"/>
            </a:xfrm>
            <a:custGeom>
              <a:avLst/>
              <a:gdLst/>
              <a:ahLst/>
              <a:cxnLst/>
              <a:rect r="r" b="b" t="t" l="l"/>
              <a:pathLst>
                <a:path h="1270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AFC4D6"/>
            </a:solid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9626603" y="5698808"/>
            <a:ext cx="7719317" cy="401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875">
                <a:solidFill>
                  <a:srgbClr val="0F2C47"/>
                </a:solidFill>
                <a:latin typeface="Inter"/>
                <a:ea typeface="Inter"/>
                <a:cs typeface="Inter"/>
                <a:sym typeface="Inter"/>
              </a:rPr>
              <a:t>Vejce na tvrdo, kousky sýra, malé sendviče a wrapy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9601200" y="6230617"/>
            <a:ext cx="7543800" cy="9525"/>
            <a:chOff x="0" y="0"/>
            <a:chExt cx="10058400" cy="127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058400" cy="12700"/>
            </a:xfrm>
            <a:custGeom>
              <a:avLst/>
              <a:gdLst/>
              <a:ahLst/>
              <a:cxnLst/>
              <a:rect r="r" b="b" t="t" l="l"/>
              <a:pathLst>
                <a:path h="1270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AFC4D6"/>
            </a:solid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9626603" y="6351260"/>
            <a:ext cx="7719317" cy="401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875">
                <a:solidFill>
                  <a:srgbClr val="0F2C47"/>
                </a:solidFill>
                <a:latin typeface="Inter"/>
                <a:ea typeface="Inter"/>
                <a:cs typeface="Inter"/>
                <a:sym typeface="Inter"/>
              </a:rPr>
              <a:t>Muffin, tvarohový či ovesný pruh, energetická tyčinka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9601200" y="6883079"/>
            <a:ext cx="7543800" cy="9525"/>
            <a:chOff x="0" y="0"/>
            <a:chExt cx="10058400" cy="127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058400" cy="12700"/>
            </a:xfrm>
            <a:custGeom>
              <a:avLst/>
              <a:gdLst/>
              <a:ahLst/>
              <a:cxnLst/>
              <a:rect r="r" b="b" t="t" l="l"/>
              <a:pathLst>
                <a:path h="1270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AFC4D6"/>
            </a:solid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9626603" y="7003732"/>
            <a:ext cx="7719317" cy="401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875">
                <a:solidFill>
                  <a:srgbClr val="0F2C47"/>
                </a:solidFill>
                <a:latin typeface="Inter"/>
                <a:ea typeface="Inter"/>
                <a:cs typeface="Inter"/>
                <a:sym typeface="Inter"/>
              </a:rPr>
              <a:t>Dostupná svačina i mimo jídelní dobu a delší čas na jídlo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626603" y="7741910"/>
            <a:ext cx="8247383" cy="377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5"/>
              </a:lnSpc>
            </a:pPr>
            <a:r>
              <a:rPr lang="en-US" sz="1800" i="true">
                <a:solidFill>
                  <a:srgbClr val="4A6884"/>
                </a:solidFill>
                <a:latin typeface="Inter Italics"/>
                <a:ea typeface="Inter Italics"/>
                <a:cs typeface="Inter Italics"/>
                <a:sym typeface="Inter Italics"/>
              </a:rPr>
              <a:t>Pozor na dysfagii. Jídlo do ruky nenahrazuje bezpečnou konzistenci.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>
  <p:cSld>
    <p:bg>
      <p:bgPr>
        <a:solidFill>
          <a:srgbClr val="0F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68403" y="564680"/>
            <a:ext cx="289646" cy="33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1425" spc="185">
                <a:solidFill>
                  <a:srgbClr val="8FC9F5"/>
                </a:solidFill>
                <a:latin typeface="Arimo"/>
                <a:ea typeface="Arimo"/>
                <a:cs typeface="Arimo"/>
                <a:sym typeface="Arimo"/>
              </a:rPr>
              <a:t>IV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642196" y="564680"/>
            <a:ext cx="1874320" cy="268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1425" spc="185">
                <a:solidFill>
                  <a:srgbClr val="A6C2DB"/>
                </a:solidFill>
                <a:latin typeface="Arimo"/>
                <a:ea typeface="Arimo"/>
                <a:cs typeface="Arimo"/>
                <a:sym typeface="Arimo"/>
              </a:rPr>
              <a:t>KONEC ŽIVOTA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3411741" y="728662"/>
            <a:ext cx="209550" cy="28575"/>
            <a:chOff x="0" y="0"/>
            <a:chExt cx="279400" cy="381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8FC9F5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668916" y="728662"/>
            <a:ext cx="209550" cy="28575"/>
            <a:chOff x="0" y="0"/>
            <a:chExt cx="279400" cy="381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8FC9F5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3926091" y="728662"/>
            <a:ext cx="209550" cy="28575"/>
            <a:chOff x="0" y="0"/>
            <a:chExt cx="279400" cy="381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8FC9F5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4183266" y="728662"/>
            <a:ext cx="209550" cy="28575"/>
            <a:chOff x="0" y="0"/>
            <a:chExt cx="279400" cy="381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8FC9F5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4440441" y="728662"/>
            <a:ext cx="209550" cy="28575"/>
            <a:chOff x="0" y="0"/>
            <a:chExt cx="279400" cy="381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2A548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4697616" y="728662"/>
            <a:ext cx="209550" cy="28575"/>
            <a:chOff x="0" y="0"/>
            <a:chExt cx="279400" cy="381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2A5480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6245583" y="564680"/>
            <a:ext cx="950214" cy="33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1425" spc="185">
                <a:solidFill>
                  <a:srgbClr val="A6C2DB"/>
                </a:solidFill>
                <a:latin typeface="Arimo"/>
                <a:ea typeface="Arimo"/>
                <a:cs typeface="Arimo"/>
                <a:sym typeface="Arimo"/>
              </a:rPr>
              <a:t>21 / 42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68403" y="4900936"/>
            <a:ext cx="12703178" cy="1466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83"/>
              </a:lnSpc>
            </a:pPr>
            <a:r>
              <a:rPr lang="en-US" sz="5400" spc="-12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Zavřete oči. Máte pokročilou demenci </a:t>
            </a:r>
          </a:p>
          <a:p>
            <a:pPr algn="l">
              <a:lnSpc>
                <a:spcPts val="5588"/>
              </a:lnSpc>
            </a:pPr>
            <a:r>
              <a:rPr lang="en-US" sz="5400" spc="-13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 nemůžete říct, že nechcete jíst.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68403" y="6837035"/>
            <a:ext cx="13569953" cy="549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6"/>
              </a:lnSpc>
            </a:pPr>
            <a:r>
              <a:rPr lang="en-US" sz="2550">
                <a:solidFill>
                  <a:srgbClr val="A6C2DB"/>
                </a:solidFill>
                <a:latin typeface="Inter"/>
                <a:ea typeface="Inter"/>
                <a:cs typeface="Inter"/>
                <a:sym typeface="Inter"/>
              </a:rPr>
              <a:t>Co uděláte, když se Vás někdo bude snažit nakrmit?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049000" y="0"/>
            <a:ext cx="7239000" cy="10287000"/>
            <a:chOff x="0" y="0"/>
            <a:chExt cx="9652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652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652000">
                  <a:moveTo>
                    <a:pt x="0" y="0"/>
                  </a:moveTo>
                  <a:lnTo>
                    <a:pt x="9652000" y="0"/>
                  </a:lnTo>
                  <a:lnTo>
                    <a:pt x="9652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6846" t="0" r="-56846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168403" y="564680"/>
            <a:ext cx="289646" cy="33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1425" spc="185">
                <a:solidFill>
                  <a:srgbClr val="1D5994"/>
                </a:solidFill>
                <a:latin typeface="Arimo"/>
                <a:ea typeface="Arimo"/>
                <a:cs typeface="Arimo"/>
                <a:sym typeface="Arimo"/>
              </a:rPr>
              <a:t>IV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42196" y="564680"/>
            <a:ext cx="1769545" cy="268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1425" spc="185">
                <a:solidFill>
                  <a:srgbClr val="4A6884"/>
                </a:solidFill>
                <a:latin typeface="Arimo"/>
                <a:ea typeface="Arimo"/>
                <a:cs typeface="Arimo"/>
                <a:sym typeface="Arimo"/>
              </a:rPr>
              <a:t>KONEC ŽIVOTA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3411741" y="728662"/>
            <a:ext cx="209550" cy="28575"/>
            <a:chOff x="0" y="0"/>
            <a:chExt cx="279400" cy="381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1D5994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3668916" y="728662"/>
            <a:ext cx="209550" cy="28575"/>
            <a:chOff x="0" y="0"/>
            <a:chExt cx="279400" cy="381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1D5994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926091" y="728662"/>
            <a:ext cx="209550" cy="28575"/>
            <a:chOff x="0" y="0"/>
            <a:chExt cx="279400" cy="381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1D5994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4183266" y="728662"/>
            <a:ext cx="209550" cy="28575"/>
            <a:chOff x="0" y="0"/>
            <a:chExt cx="279400" cy="381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1D5994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4440441" y="728662"/>
            <a:ext cx="209550" cy="28575"/>
            <a:chOff x="0" y="0"/>
            <a:chExt cx="279400" cy="381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AFC4D6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4697616" y="728662"/>
            <a:ext cx="209550" cy="28575"/>
            <a:chOff x="0" y="0"/>
            <a:chExt cx="279400" cy="381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AFC4D6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8701783" y="564680"/>
            <a:ext cx="950214" cy="33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1425" spc="185">
                <a:solidFill>
                  <a:srgbClr val="4A6884"/>
                </a:solidFill>
                <a:latin typeface="Arimo"/>
                <a:ea typeface="Arimo"/>
                <a:cs typeface="Arimo"/>
                <a:sym typeface="Arimo"/>
              </a:rPr>
              <a:t>22 / 42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68403" y="3704130"/>
            <a:ext cx="8661149" cy="2831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1"/>
              </a:lnSpc>
            </a:pPr>
            <a:r>
              <a:rPr lang="en-US" sz="3900" spc="-78">
                <a:solidFill>
                  <a:srgbClr val="0F2C47"/>
                </a:solidFill>
                <a:latin typeface="Arimo"/>
                <a:ea typeface="Arimo"/>
                <a:cs typeface="Arimo"/>
                <a:sym typeface="Arimo"/>
              </a:rPr>
              <a:t>Plivu. Odvracím hlavu. Pevně zavírám ústa. Bráním se ruce s příborem. Zlobím se. Křičím. Chci odejít z místnosti. Odstrkuji talíř. </a:t>
            </a:r>
            <a:r>
              <a:rPr lang="en-US" sz="3900" spc="-78">
                <a:solidFill>
                  <a:srgbClr val="4A6884"/>
                </a:solidFill>
                <a:latin typeface="Arimo"/>
                <a:ea typeface="Arimo"/>
                <a:cs typeface="Arimo"/>
                <a:sym typeface="Arimo"/>
              </a:rPr>
              <a:t>Tvářím se útrpně, bolestivě…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0858252" y="0"/>
            <a:ext cx="7447274" cy="10287000"/>
            <a:chOff x="0" y="0"/>
            <a:chExt cx="9929698" cy="13716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929699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929699">
                  <a:moveTo>
                    <a:pt x="0" y="0"/>
                  </a:moveTo>
                  <a:lnTo>
                    <a:pt x="9929699" y="0"/>
                  </a:lnTo>
                  <a:lnTo>
                    <a:pt x="9929699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5000">
                  <a:srgbClr val="FFFFFF">
                    <a:alpha val="100000"/>
                  </a:srgbClr>
                </a:gs>
                <a:gs pos="54000">
                  <a:srgbClr val="FFFFFF">
                    <a:alpha val="0"/>
                  </a:srgbClr>
                </a:gs>
              </a:gsLst>
              <a:lin ang="0"/>
            </a:gradFill>
          </p:spPr>
        </p:sp>
      </p:grp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68403" y="564680"/>
            <a:ext cx="289646" cy="33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1425" spc="185">
                <a:solidFill>
                  <a:srgbClr val="8FC9F5"/>
                </a:solidFill>
                <a:latin typeface="Arimo"/>
                <a:ea typeface="Arimo"/>
                <a:cs typeface="Arimo"/>
                <a:sym typeface="Arimo"/>
              </a:rPr>
              <a:t>IV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642196" y="564680"/>
            <a:ext cx="1874320" cy="268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1425" spc="185">
                <a:solidFill>
                  <a:srgbClr val="A6C2DB"/>
                </a:solidFill>
                <a:latin typeface="Arimo"/>
                <a:ea typeface="Arimo"/>
                <a:cs typeface="Arimo"/>
                <a:sym typeface="Arimo"/>
              </a:rPr>
              <a:t>KONEC ŽIVOTA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3411741" y="728662"/>
            <a:ext cx="209550" cy="28575"/>
            <a:chOff x="0" y="0"/>
            <a:chExt cx="279400" cy="381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8FC9F5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668916" y="728662"/>
            <a:ext cx="209550" cy="28575"/>
            <a:chOff x="0" y="0"/>
            <a:chExt cx="279400" cy="381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8FC9F5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3926091" y="728662"/>
            <a:ext cx="209550" cy="28575"/>
            <a:chOff x="0" y="0"/>
            <a:chExt cx="279400" cy="381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8FC9F5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4183266" y="728662"/>
            <a:ext cx="209550" cy="28575"/>
            <a:chOff x="0" y="0"/>
            <a:chExt cx="279400" cy="381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8FC9F5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4440441" y="728662"/>
            <a:ext cx="209550" cy="28575"/>
            <a:chOff x="0" y="0"/>
            <a:chExt cx="279400" cy="381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2A548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4697616" y="728662"/>
            <a:ext cx="209550" cy="28575"/>
            <a:chOff x="0" y="0"/>
            <a:chExt cx="279400" cy="381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2A5480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6245583" y="564680"/>
            <a:ext cx="950214" cy="33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1425" spc="185">
                <a:solidFill>
                  <a:srgbClr val="A6C2DB"/>
                </a:solidFill>
                <a:latin typeface="Arimo"/>
                <a:ea typeface="Arimo"/>
                <a:cs typeface="Arimo"/>
                <a:sym typeface="Arimo"/>
              </a:rPr>
              <a:t>23 / 42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68403" y="5714908"/>
            <a:ext cx="12114533" cy="911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250">
                <a:solidFill>
                  <a:srgbClr val="A6C2DB"/>
                </a:solidFill>
                <a:latin typeface="Inter"/>
                <a:ea typeface="Inter"/>
                <a:cs typeface="Inter"/>
                <a:sym typeface="Inter"/>
              </a:rPr>
              <a:t>Nepřijímání stravy se stává významným zdrojem úzkosti všech osob zapojených do péče.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68403" y="3502028"/>
            <a:ext cx="12749976" cy="2018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36"/>
              </a:lnSpc>
            </a:pPr>
            <a:r>
              <a:rPr lang="en-US" sz="7800" spc="-21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Neum</a:t>
            </a:r>
            <a:r>
              <a:rPr lang="en-US" sz="7800" spc="-21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írá proto, že přestal jíst.</a:t>
            </a:r>
          </a:p>
          <a:p>
            <a:pPr algn="l">
              <a:lnSpc>
                <a:spcPts val="7643"/>
              </a:lnSpc>
            </a:pPr>
            <a:r>
              <a:rPr lang="en-US" sz="7800" spc="-217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Přestává jíst, protože umírá.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143000" y="8390553"/>
            <a:ext cx="1600200" cy="753447"/>
            <a:chOff x="0" y="0"/>
            <a:chExt cx="2133600" cy="1004595"/>
          </a:xfrm>
        </p:grpSpPr>
        <p:sp>
          <p:nvSpPr>
            <p:cNvPr name="Freeform 20" id="20" descr="preencoded.png"/>
            <p:cNvSpPr/>
            <p:nvPr/>
          </p:nvSpPr>
          <p:spPr>
            <a:xfrm flipH="false" flipV="false" rot="0">
              <a:off x="0" y="0"/>
              <a:ext cx="2133600" cy="1004570"/>
            </a:xfrm>
            <a:custGeom>
              <a:avLst/>
              <a:gdLst/>
              <a:ahLst/>
              <a:cxnLst/>
              <a:rect r="r" b="b" t="t" l="l"/>
              <a:pathLst>
                <a:path h="1004570" w="2133600">
                  <a:moveTo>
                    <a:pt x="0" y="0"/>
                  </a:moveTo>
                  <a:lnTo>
                    <a:pt x="2133600" y="0"/>
                  </a:lnTo>
                  <a:lnTo>
                    <a:pt x="2133600" y="1004570"/>
                  </a:lnTo>
                  <a:lnTo>
                    <a:pt x="0" y="10045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90000"/>
              </a:blip>
              <a:stretch>
                <a:fillRect l="0" t="-1" r="0" b="-3"/>
              </a:stretch>
            </a:blipFill>
          </p:spPr>
        </p:sp>
      </p:grp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68403" y="564680"/>
            <a:ext cx="157563" cy="33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1425" spc="185">
                <a:solidFill>
                  <a:srgbClr val="1D5994"/>
                </a:solidFill>
                <a:latin typeface="Arimo"/>
                <a:ea typeface="Arimo"/>
                <a:cs typeface="Arimo"/>
                <a:sym typeface="Arimo"/>
              </a:rPr>
              <a:t>V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510113" y="564680"/>
            <a:ext cx="1478632" cy="33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1425" spc="185">
                <a:solidFill>
                  <a:srgbClr val="4A6884"/>
                </a:solidFill>
                <a:latin typeface="Arimo"/>
                <a:ea typeface="Arimo"/>
                <a:cs typeface="Arimo"/>
                <a:sym typeface="Arimo"/>
              </a:rPr>
              <a:t>ROZHODOVÁNÍ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3147489" y="728662"/>
            <a:ext cx="209550" cy="28575"/>
            <a:chOff x="0" y="0"/>
            <a:chExt cx="279400" cy="381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1D5994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404664" y="728662"/>
            <a:ext cx="209550" cy="28575"/>
            <a:chOff x="0" y="0"/>
            <a:chExt cx="279400" cy="381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1D5994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3661839" y="728662"/>
            <a:ext cx="209550" cy="28575"/>
            <a:chOff x="0" y="0"/>
            <a:chExt cx="279400" cy="381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1D5994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919014" y="728662"/>
            <a:ext cx="209550" cy="28575"/>
            <a:chOff x="0" y="0"/>
            <a:chExt cx="279400" cy="381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1D5994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4176189" y="728662"/>
            <a:ext cx="209550" cy="28575"/>
            <a:chOff x="0" y="0"/>
            <a:chExt cx="279400" cy="381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1D5994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4433364" y="728662"/>
            <a:ext cx="209550" cy="28575"/>
            <a:chOff x="0" y="0"/>
            <a:chExt cx="279400" cy="381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AFC4D6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6245583" y="564680"/>
            <a:ext cx="950214" cy="33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1425" spc="185">
                <a:solidFill>
                  <a:srgbClr val="4A6884"/>
                </a:solidFill>
                <a:latin typeface="Arimo"/>
                <a:ea typeface="Arimo"/>
                <a:cs typeface="Arimo"/>
                <a:sym typeface="Arimo"/>
              </a:rPr>
              <a:t>24 / 42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68403" y="1425578"/>
            <a:ext cx="15253973" cy="1488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66"/>
              </a:lnSpc>
            </a:pPr>
            <a:r>
              <a:rPr lang="en-US" sz="5550" spc="-127">
                <a:solidFill>
                  <a:srgbClr val="0F2C47"/>
                </a:solidFill>
                <a:latin typeface="Arimo"/>
                <a:ea typeface="Arimo"/>
                <a:cs typeface="Arimo"/>
                <a:sym typeface="Arimo"/>
              </a:rPr>
              <a:t>Snížený příjem stravy je pouze symptom. </a:t>
            </a:r>
          </a:p>
          <a:p>
            <a:pPr algn="l">
              <a:lnSpc>
                <a:spcPts val="5668"/>
              </a:lnSpc>
            </a:pPr>
            <a:r>
              <a:rPr lang="en-US" sz="5550" spc="-133">
                <a:solidFill>
                  <a:srgbClr val="0F2C47"/>
                </a:solidFill>
                <a:latin typeface="Arimo"/>
                <a:ea typeface="Arimo"/>
                <a:cs typeface="Arimo"/>
                <a:sym typeface="Arimo"/>
              </a:rPr>
              <a:t>K úmrtí vede onemocnění samo.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68403" y="3894934"/>
            <a:ext cx="8247383" cy="372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4"/>
              </a:lnSpc>
            </a:pPr>
            <a:r>
              <a:rPr lang="en-US" sz="2550">
                <a:solidFill>
                  <a:srgbClr val="0F2C47"/>
                </a:solidFill>
                <a:latin typeface="Arimo"/>
                <a:ea typeface="Arimo"/>
                <a:cs typeface="Arimo"/>
                <a:sym typeface="Arimo"/>
              </a:rPr>
              <a:t>Nutnost informací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68403" y="4432868"/>
            <a:ext cx="7719317" cy="752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2"/>
              </a:lnSpc>
            </a:pPr>
            <a:r>
              <a:rPr lang="en-US" sz="1950">
                <a:solidFill>
                  <a:srgbClr val="4A6884"/>
                </a:solidFill>
                <a:latin typeface="Inter"/>
                <a:ea typeface="Inter"/>
                <a:cs typeface="Inter"/>
                <a:sym typeface="Inter"/>
              </a:rPr>
              <a:t>Lidé s pokročilou demencí se blíží ke konci života. Sledovat je </a:t>
            </a:r>
          </a:p>
          <a:p>
            <a:pPr algn="l">
              <a:lnSpc>
                <a:spcPts val="3013"/>
              </a:lnSpc>
            </a:pPr>
            <a:r>
              <a:rPr lang="en-US" sz="1950">
                <a:solidFill>
                  <a:srgbClr val="4A6884"/>
                </a:solidFill>
                <a:latin typeface="Inter"/>
                <a:ea typeface="Inter"/>
                <a:cs typeface="Inter"/>
                <a:sym typeface="Inter"/>
              </a:rPr>
              <a:t>a jejich nemoc může být těžké pro každého, kdo se o ně stará.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68403" y="5434041"/>
            <a:ext cx="7719317" cy="1222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3"/>
              </a:lnSpc>
            </a:pPr>
            <a:r>
              <a:rPr lang="en-US" sz="1950">
                <a:solidFill>
                  <a:srgbClr val="4A6884"/>
                </a:solidFill>
                <a:latin typeface="Inter"/>
                <a:ea typeface="Inter"/>
                <a:cs typeface="Inter"/>
                <a:sym typeface="Inter"/>
              </a:rPr>
              <a:t>Důležité je znát, co si přeje (by si přál) pacient a poté jeho příbuzní. Tyto informace jsou klíčové při dalším rozhodování o péči.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68403" y="6821491"/>
            <a:ext cx="7719317" cy="752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2"/>
              </a:lnSpc>
            </a:pPr>
            <a:r>
              <a:rPr lang="en-US" b="true" sz="1950" i="true">
                <a:solidFill>
                  <a:srgbClr val="0F2C47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“</a:t>
            </a:r>
            <a:r>
              <a:rPr lang="en-US" b="true" sz="1950" i="true">
                <a:solidFill>
                  <a:srgbClr val="0F2C47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Rodina je často ve větší úzkosti z nízkého příjmu stravy </a:t>
            </a:r>
          </a:p>
          <a:p>
            <a:pPr algn="l">
              <a:lnSpc>
                <a:spcPts val="3013"/>
              </a:lnSpc>
            </a:pPr>
            <a:r>
              <a:rPr lang="en-US" b="true" sz="1950" i="true">
                <a:solidFill>
                  <a:srgbClr val="0F2C47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než samotný klient.”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601200" y="3860006"/>
            <a:ext cx="7543800" cy="9525"/>
            <a:chOff x="0" y="0"/>
            <a:chExt cx="10058400" cy="127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058400" cy="12700"/>
            </a:xfrm>
            <a:custGeom>
              <a:avLst/>
              <a:gdLst/>
              <a:ahLst/>
              <a:cxnLst/>
              <a:rect r="r" b="b" t="t" l="l"/>
              <a:pathLst>
                <a:path h="1270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AFC4D6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9626603" y="3990184"/>
            <a:ext cx="7719317" cy="758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875">
                <a:solidFill>
                  <a:srgbClr val="0F2C47"/>
                </a:solidFill>
                <a:latin typeface="Inter"/>
                <a:ea typeface="Inter"/>
                <a:cs typeface="Inter"/>
                <a:sym typeface="Inter"/>
              </a:rPr>
              <a:t>Pro příbuzné může být velmi stresující a bolestivé vidět svého blízkého odmítat stravu či pití.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601200" y="4888706"/>
            <a:ext cx="7543800" cy="9525"/>
            <a:chOff x="0" y="0"/>
            <a:chExt cx="10058400" cy="127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058400" cy="12700"/>
            </a:xfrm>
            <a:custGeom>
              <a:avLst/>
              <a:gdLst/>
              <a:ahLst/>
              <a:cxnLst/>
              <a:rect r="r" b="b" t="t" l="l"/>
              <a:pathLst>
                <a:path h="1270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AFC4D6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9626603" y="5018884"/>
            <a:ext cx="7719317" cy="1043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875">
                <a:solidFill>
                  <a:srgbClr val="0F2C47"/>
                </a:solidFill>
                <a:latin typeface="Inter"/>
                <a:ea typeface="Inter"/>
                <a:cs typeface="Inter"/>
                <a:sym typeface="Inter"/>
              </a:rPr>
              <a:t>Strava i pití je spojováno s „životní sílou“ a je silným socializačním prostředkem. </a:t>
            </a:r>
          </a:p>
          <a:p>
            <a:pPr algn="l">
              <a:lnSpc>
                <a:spcPts val="2812"/>
              </a:lnSpc>
            </a:pPr>
            <a:r>
              <a:rPr lang="en-US" sz="1875">
                <a:solidFill>
                  <a:srgbClr val="0F2C47"/>
                </a:solidFill>
                <a:latin typeface="Inter"/>
                <a:ea typeface="Inter"/>
                <a:cs typeface="Inter"/>
                <a:sym typeface="Inter"/>
              </a:rPr>
              <a:t>Je těžké přijmout, že osoba blízká „přirozeně“ přestane jíst.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601200" y="6274594"/>
            <a:ext cx="7543800" cy="9525"/>
            <a:chOff x="0" y="0"/>
            <a:chExt cx="10058400" cy="127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058400" cy="12700"/>
            </a:xfrm>
            <a:custGeom>
              <a:avLst/>
              <a:gdLst/>
              <a:ahLst/>
              <a:cxnLst/>
              <a:rect r="r" b="b" t="t" l="l"/>
              <a:pathLst>
                <a:path h="1270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AFC4D6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9626603" y="6404772"/>
            <a:ext cx="7719317" cy="1043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875">
                <a:solidFill>
                  <a:srgbClr val="0F2C47"/>
                </a:solidFill>
                <a:latin typeface="Inter"/>
                <a:ea typeface="Inter"/>
                <a:cs typeface="Inter"/>
                <a:sym typeface="Inter"/>
              </a:rPr>
              <a:t>Zvažujeme více aspektů - dříve vyslovená přání, náboženské a kulturní hodnoty, co jídlo pro danou osobu představovalo, blízkost druhé osoby a samotná péče, trávení času.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9601200" y="7660481"/>
            <a:ext cx="7543800" cy="9525"/>
            <a:chOff x="0" y="0"/>
            <a:chExt cx="10058400" cy="127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058400" cy="12700"/>
            </a:xfrm>
            <a:custGeom>
              <a:avLst/>
              <a:gdLst/>
              <a:ahLst/>
              <a:cxnLst/>
              <a:rect r="r" b="b" t="t" l="l"/>
              <a:pathLst>
                <a:path h="1270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AFC4D6"/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9626603" y="7790659"/>
            <a:ext cx="7719317" cy="401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875">
                <a:solidFill>
                  <a:srgbClr val="0F2C47"/>
                </a:solidFill>
                <a:latin typeface="Inter"/>
                <a:ea typeface="Inter"/>
                <a:cs typeface="Inter"/>
                <a:sym typeface="Inter"/>
              </a:rPr>
              <a:t>Pečlivé zvážení pro a proti individuálně v závislosti na pacientovi.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049000" y="0"/>
            <a:ext cx="7239000" cy="10287000"/>
            <a:chOff x="0" y="0"/>
            <a:chExt cx="9652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9652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652000">
                  <a:moveTo>
                    <a:pt x="0" y="0"/>
                  </a:moveTo>
                  <a:lnTo>
                    <a:pt x="9652000" y="0"/>
                  </a:lnTo>
                  <a:lnTo>
                    <a:pt x="9652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32326" t="0" r="-132326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049000" y="0"/>
            <a:ext cx="7239000" cy="11723100"/>
            <a:chOff x="0" y="0"/>
            <a:chExt cx="9652000" cy="15630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652000" cy="15630799"/>
            </a:xfrm>
            <a:custGeom>
              <a:avLst/>
              <a:gdLst/>
              <a:ahLst/>
              <a:cxnLst/>
              <a:rect r="r" b="b" t="t" l="l"/>
              <a:pathLst>
                <a:path h="15630799" w="9652000">
                  <a:moveTo>
                    <a:pt x="0" y="0"/>
                  </a:moveTo>
                  <a:lnTo>
                    <a:pt x="9652000" y="0"/>
                  </a:lnTo>
                  <a:lnTo>
                    <a:pt x="9652000" y="15630799"/>
                  </a:lnTo>
                  <a:lnTo>
                    <a:pt x="0" y="15630799"/>
                  </a:lnTo>
                  <a:close/>
                </a:path>
              </a:pathLst>
            </a:custGeom>
            <a:blipFill>
              <a:blip r:embed="rId4"/>
              <a:stretch>
                <a:fillRect l="-57962" t="0" r="-57962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3147489" y="728662"/>
            <a:ext cx="209550" cy="28575"/>
            <a:chOff x="0" y="0"/>
            <a:chExt cx="279400" cy="381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1D5994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3404664" y="728662"/>
            <a:ext cx="209550" cy="28575"/>
            <a:chOff x="0" y="0"/>
            <a:chExt cx="279400" cy="381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1D5994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661839" y="728662"/>
            <a:ext cx="209550" cy="28575"/>
            <a:chOff x="0" y="0"/>
            <a:chExt cx="279400" cy="381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1D5994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3919014" y="728662"/>
            <a:ext cx="209550" cy="28575"/>
            <a:chOff x="0" y="0"/>
            <a:chExt cx="279400" cy="381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1D5994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4176189" y="728662"/>
            <a:ext cx="209550" cy="28575"/>
            <a:chOff x="0" y="0"/>
            <a:chExt cx="279400" cy="381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1D5994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4433364" y="728662"/>
            <a:ext cx="209550" cy="28575"/>
            <a:chOff x="0" y="0"/>
            <a:chExt cx="279400" cy="381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AFC4D6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138238" y="7673426"/>
            <a:ext cx="3844528" cy="493138"/>
            <a:chOff x="0" y="0"/>
            <a:chExt cx="5126038" cy="65751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126101" cy="657606"/>
            </a:xfrm>
            <a:custGeom>
              <a:avLst/>
              <a:gdLst/>
              <a:ahLst/>
              <a:cxnLst/>
              <a:rect r="r" b="b" t="t" l="l"/>
              <a:pathLst>
                <a:path h="657606" w="5126101">
                  <a:moveTo>
                    <a:pt x="0" y="328803"/>
                  </a:moveTo>
                  <a:cubicBezTo>
                    <a:pt x="0" y="147193"/>
                    <a:pt x="147193" y="0"/>
                    <a:pt x="328803" y="0"/>
                  </a:cubicBezTo>
                  <a:lnTo>
                    <a:pt x="4797298" y="0"/>
                  </a:lnTo>
                  <a:cubicBezTo>
                    <a:pt x="4978908" y="0"/>
                    <a:pt x="5126101" y="147193"/>
                    <a:pt x="5126101" y="328803"/>
                  </a:cubicBezTo>
                  <a:cubicBezTo>
                    <a:pt x="5126101" y="510413"/>
                    <a:pt x="4978908" y="657606"/>
                    <a:pt x="4797298" y="657606"/>
                  </a:cubicBezTo>
                  <a:lnTo>
                    <a:pt x="328803" y="657606"/>
                  </a:lnTo>
                  <a:cubicBezTo>
                    <a:pt x="147193" y="657479"/>
                    <a:pt x="0" y="510286"/>
                    <a:pt x="0" y="328803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92" r="1" b="-101879"/>
              </a:stretch>
            </a:blipFill>
            <a:ln w="9525" cap="sq">
              <a:solidFill>
                <a:srgbClr val="AFC4D6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343025" y="7773438"/>
            <a:ext cx="3550006" cy="331213"/>
            <a:chOff x="0" y="0"/>
            <a:chExt cx="4733341" cy="44161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733337" cy="441623"/>
            </a:xfrm>
            <a:custGeom>
              <a:avLst/>
              <a:gdLst/>
              <a:ahLst/>
              <a:cxnLst/>
              <a:rect r="r" b="b" t="t" l="l"/>
              <a:pathLst>
                <a:path h="441623" w="4733337">
                  <a:moveTo>
                    <a:pt x="0" y="0"/>
                  </a:moveTo>
                  <a:lnTo>
                    <a:pt x="4733337" y="0"/>
                  </a:lnTo>
                  <a:lnTo>
                    <a:pt x="4733337" y="441623"/>
                  </a:lnTo>
                  <a:lnTo>
                    <a:pt x="0" y="44162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8842" r="0" b="-15884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4733341" cy="4987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48"/>
                </a:lnSpc>
              </a:pPr>
              <a:r>
                <a:rPr lang="en-US" sz="1425" spc="185">
                  <a:solidFill>
                    <a:srgbClr val="1D5994"/>
                  </a:solidFill>
                  <a:latin typeface="Arimo"/>
                  <a:ea typeface="Arimo"/>
                  <a:cs typeface="Arimo"/>
                  <a:sym typeface="Arimo"/>
                </a:rPr>
                <a:t>DOPORUČENÍ 26 · GPP · 94 %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168403" y="564680"/>
            <a:ext cx="157563" cy="33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1425" spc="185">
                <a:solidFill>
                  <a:srgbClr val="1D5994"/>
                </a:solidFill>
                <a:latin typeface="Arimo"/>
                <a:ea typeface="Arimo"/>
                <a:cs typeface="Arimo"/>
                <a:sym typeface="Arimo"/>
              </a:rPr>
              <a:t>V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510113" y="564680"/>
            <a:ext cx="1637376" cy="268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1425" spc="185">
                <a:solidFill>
                  <a:srgbClr val="4A6884"/>
                </a:solidFill>
                <a:latin typeface="Arimo"/>
                <a:ea typeface="Arimo"/>
                <a:cs typeface="Arimo"/>
                <a:sym typeface="Arimo"/>
              </a:rPr>
              <a:t>ROZHODOVÁNÍ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701783" y="564680"/>
            <a:ext cx="950214" cy="33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1425" spc="185">
                <a:solidFill>
                  <a:srgbClr val="4A6884"/>
                </a:solidFill>
                <a:latin typeface="Arimo"/>
                <a:ea typeface="Arimo"/>
                <a:cs typeface="Arimo"/>
                <a:sym typeface="Arimo"/>
              </a:rPr>
              <a:t>26 / 42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68403" y="1406528"/>
            <a:ext cx="8661149" cy="1214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10"/>
              </a:lnSpc>
            </a:pPr>
            <a:r>
              <a:rPr lang="en-US" sz="4500" spc="-99">
                <a:solidFill>
                  <a:srgbClr val="0F2C47"/>
                </a:solidFill>
                <a:latin typeface="Arimo"/>
                <a:ea typeface="Arimo"/>
                <a:cs typeface="Arimo"/>
                <a:sym typeface="Arimo"/>
              </a:rPr>
              <a:t>Upravená konzistence nemusí znamenat šedou “kaši”.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68403" y="4235495"/>
            <a:ext cx="8661149" cy="1544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2"/>
              </a:lnSpc>
            </a:pPr>
            <a:r>
              <a:rPr lang="en-US" sz="2100">
                <a:solidFill>
                  <a:srgbClr val="0F2C47"/>
                </a:solidFill>
                <a:latin typeface="Inter"/>
                <a:ea typeface="Inter"/>
                <a:cs typeface="Inter"/>
                <a:sym typeface="Inter"/>
              </a:rPr>
              <a:t>Tvarovaná strava může i při měkčí nebo mixované konzistenci </a:t>
            </a:r>
            <a:r>
              <a:rPr lang="en-US" sz="2100" b="true">
                <a:solidFill>
                  <a:srgbClr val="0F2C47"/>
                </a:solidFill>
                <a:latin typeface="Inter Bold"/>
                <a:ea typeface="Inter Bold"/>
                <a:cs typeface="Inter Bold"/>
                <a:sym typeface="Inter Bold"/>
              </a:rPr>
              <a:t>vypadat jako původní jídlo</a:t>
            </a:r>
            <a:r>
              <a:rPr lang="en-US" sz="2100">
                <a:solidFill>
                  <a:srgbClr val="0F2C47"/>
                </a:solidFill>
                <a:latin typeface="Inter"/>
                <a:ea typeface="Inter"/>
                <a:cs typeface="Inter"/>
                <a:sym typeface="Inter"/>
              </a:rPr>
              <a:t>. Díky tomu zůstává lépe rozpoznatelná, může podporovat chuť k jídlu a zachovává jídlu jeho běžnou podobu a důstojnost.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68403" y="6170066"/>
            <a:ext cx="8978870" cy="1466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sz="1875">
                <a:solidFill>
                  <a:srgbClr val="4A6884"/>
                </a:solidFill>
                <a:latin typeface="Inter"/>
                <a:ea typeface="Inter"/>
                <a:cs typeface="Inter"/>
                <a:sym typeface="Inter"/>
              </a:rPr>
              <a:t>Modifikovaná strava ale bývá spojena s </a:t>
            </a:r>
            <a:r>
              <a:rPr lang="en-US" sz="1875" b="true">
                <a:solidFill>
                  <a:srgbClr val="4A6884"/>
                </a:solidFill>
                <a:latin typeface="Inter Bold"/>
                <a:ea typeface="Inter Bold"/>
                <a:cs typeface="Inter Bold"/>
                <a:sym typeface="Inter Bold"/>
              </a:rPr>
              <a:t>nižším příjmem energie a tekutin</a:t>
            </a:r>
            <a:r>
              <a:rPr lang="en-US" sz="1875">
                <a:solidFill>
                  <a:srgbClr val="4A6884"/>
                </a:solidFill>
                <a:latin typeface="Inter"/>
                <a:ea typeface="Inter"/>
                <a:cs typeface="Inter"/>
                <a:sym typeface="Inter"/>
              </a:rPr>
              <a:t>. </a:t>
            </a:r>
          </a:p>
          <a:p>
            <a:pPr algn="l">
              <a:lnSpc>
                <a:spcPts val="2925"/>
              </a:lnSpc>
            </a:pPr>
            <a:r>
              <a:rPr lang="en-US" sz="1875">
                <a:solidFill>
                  <a:srgbClr val="4A6884"/>
                </a:solidFill>
                <a:latin typeface="Inter"/>
                <a:ea typeface="Inter"/>
                <a:cs typeface="Inter"/>
                <a:sym typeface="Inter"/>
              </a:rPr>
              <a:t>Proto ji podle potřeby </a:t>
            </a:r>
            <a:r>
              <a:rPr lang="en-US" sz="1875">
                <a:solidFill>
                  <a:srgbClr val="4A6884"/>
                </a:solidFill>
                <a:latin typeface="Inter"/>
                <a:ea typeface="Inter"/>
                <a:cs typeface="Inter"/>
                <a:sym typeface="Inter"/>
              </a:rPr>
              <a:t>obohacujeme </a:t>
            </a:r>
            <a:r>
              <a:rPr lang="en-US" sz="1875">
                <a:solidFill>
                  <a:srgbClr val="4A6884"/>
                </a:solidFill>
                <a:latin typeface="Inter"/>
                <a:ea typeface="Inter"/>
                <a:cs typeface="Inter"/>
                <a:sym typeface="Inter"/>
              </a:rPr>
              <a:t>a sledujeme příjem i nutriční stav.</a:t>
            </a:r>
          </a:p>
          <a:p>
            <a:pPr algn="l">
              <a:lnSpc>
                <a:spcPts val="2925"/>
              </a:lnSpc>
            </a:pPr>
            <a:r>
              <a:rPr lang="en-US" sz="1875">
                <a:solidFill>
                  <a:srgbClr val="4A6884"/>
                </a:solidFill>
                <a:latin typeface="Inter"/>
                <a:ea typeface="Inter"/>
                <a:cs typeface="Inter"/>
                <a:sym typeface="Inter"/>
              </a:rPr>
              <a:t>Konzistenci upravujeme jen tolik, kolik je potřeba pro bezpečné polykání ne víc.</a:t>
            </a:r>
          </a:p>
          <a:p>
            <a:pPr algn="l">
              <a:lnSpc>
                <a:spcPts val="2925"/>
              </a:lnSpc>
            </a:pPr>
          </a:p>
        </p:txBody>
      </p:sp>
      <p:grpSp>
        <p:nvGrpSpPr>
          <p:cNvPr name="Group 29" id="29"/>
          <p:cNvGrpSpPr/>
          <p:nvPr/>
        </p:nvGrpSpPr>
        <p:grpSpPr>
          <a:xfrm rot="0">
            <a:off x="10858252" y="0"/>
            <a:ext cx="7447274" cy="10287000"/>
            <a:chOff x="0" y="0"/>
            <a:chExt cx="9929698" cy="137160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929699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929699">
                  <a:moveTo>
                    <a:pt x="0" y="0"/>
                  </a:moveTo>
                  <a:lnTo>
                    <a:pt x="9929699" y="0"/>
                  </a:lnTo>
                  <a:lnTo>
                    <a:pt x="9929699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5000">
                  <a:srgbClr val="FFFFFF">
                    <a:alpha val="100000"/>
                  </a:srgbClr>
                </a:gs>
                <a:gs pos="54000">
                  <a:srgbClr val="FFFFFF">
                    <a:alpha val="0"/>
                  </a:srgbClr>
                </a:gs>
              </a:gsLst>
              <a:lin ang="0"/>
            </a:gradFill>
          </p:spPr>
        </p:sp>
      </p:grp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049000" y="0"/>
            <a:ext cx="7239000" cy="10287000"/>
            <a:chOff x="0" y="0"/>
            <a:chExt cx="9652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652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652000">
                  <a:moveTo>
                    <a:pt x="0" y="0"/>
                  </a:moveTo>
                  <a:lnTo>
                    <a:pt x="9652000" y="0"/>
                  </a:lnTo>
                  <a:lnTo>
                    <a:pt x="9652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2F6F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049000" y="0"/>
            <a:ext cx="7239000" cy="10287000"/>
            <a:chOff x="0" y="0"/>
            <a:chExt cx="9652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652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652000">
                  <a:moveTo>
                    <a:pt x="0" y="0"/>
                  </a:moveTo>
                  <a:lnTo>
                    <a:pt x="9652000" y="0"/>
                  </a:lnTo>
                  <a:lnTo>
                    <a:pt x="9652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1052" t="0" r="-21052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5050423" y="3405972"/>
            <a:ext cx="7239000" cy="10287000"/>
            <a:chOff x="0" y="0"/>
            <a:chExt cx="9652000" cy="1371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652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652000">
                  <a:moveTo>
                    <a:pt x="0" y="0"/>
                  </a:moveTo>
                  <a:lnTo>
                    <a:pt x="9652000" y="0"/>
                  </a:lnTo>
                  <a:lnTo>
                    <a:pt x="9652000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5000">
                  <a:srgbClr val="FFFFFF">
                    <a:alpha val="100000"/>
                  </a:srgbClr>
                </a:gs>
                <a:gs pos="54000">
                  <a:srgbClr val="FFFFFF">
                    <a:alpha val="0"/>
                  </a:srgbClr>
                </a:gs>
              </a:gsLst>
              <a:lin ang="0"/>
            </a:gradFill>
          </p:spPr>
        </p:sp>
      </p:grpSp>
      <p:grpSp>
        <p:nvGrpSpPr>
          <p:cNvPr name="Group 8" id="8"/>
          <p:cNvGrpSpPr/>
          <p:nvPr/>
        </p:nvGrpSpPr>
        <p:grpSpPr>
          <a:xfrm rot="0">
            <a:off x="3147489" y="728662"/>
            <a:ext cx="209550" cy="28575"/>
            <a:chOff x="0" y="0"/>
            <a:chExt cx="279400" cy="381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1D5994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404664" y="728662"/>
            <a:ext cx="209550" cy="28575"/>
            <a:chOff x="0" y="0"/>
            <a:chExt cx="279400" cy="381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1D5994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3661839" y="728662"/>
            <a:ext cx="209550" cy="28575"/>
            <a:chOff x="0" y="0"/>
            <a:chExt cx="279400" cy="381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1D5994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3919014" y="728662"/>
            <a:ext cx="209550" cy="28575"/>
            <a:chOff x="0" y="0"/>
            <a:chExt cx="279400" cy="381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1D5994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4176189" y="728662"/>
            <a:ext cx="209550" cy="28575"/>
            <a:chOff x="0" y="0"/>
            <a:chExt cx="279400" cy="381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1D5994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4433364" y="728662"/>
            <a:ext cx="209550" cy="28575"/>
            <a:chOff x="0" y="0"/>
            <a:chExt cx="279400" cy="381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AFC4D6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138238" y="4544463"/>
            <a:ext cx="8467725" cy="3102988"/>
            <a:chOff x="0" y="0"/>
            <a:chExt cx="11290300" cy="413731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1290300" cy="4137279"/>
            </a:xfrm>
            <a:custGeom>
              <a:avLst/>
              <a:gdLst/>
              <a:ahLst/>
              <a:cxnLst/>
              <a:rect r="r" b="b" t="t" l="l"/>
              <a:pathLst>
                <a:path h="4137279" w="11290300">
                  <a:moveTo>
                    <a:pt x="0" y="203835"/>
                  </a:moveTo>
                  <a:cubicBezTo>
                    <a:pt x="0" y="91313"/>
                    <a:pt x="91313" y="0"/>
                    <a:pt x="203835" y="0"/>
                  </a:cubicBezTo>
                  <a:lnTo>
                    <a:pt x="11086465" y="0"/>
                  </a:lnTo>
                  <a:cubicBezTo>
                    <a:pt x="11198987" y="0"/>
                    <a:pt x="11290300" y="91313"/>
                    <a:pt x="11290300" y="203835"/>
                  </a:cubicBezTo>
                  <a:lnTo>
                    <a:pt x="11290300" y="3933444"/>
                  </a:lnTo>
                  <a:cubicBezTo>
                    <a:pt x="11290300" y="4045966"/>
                    <a:pt x="11198987" y="4137279"/>
                    <a:pt x="11086465" y="4137279"/>
                  </a:cubicBezTo>
                  <a:lnTo>
                    <a:pt x="203835" y="4137279"/>
                  </a:lnTo>
                  <a:cubicBezTo>
                    <a:pt x="91313" y="4137279"/>
                    <a:pt x="0" y="4046093"/>
                    <a:pt x="0" y="3933444"/>
                  </a:cubicBezTo>
                  <a:close/>
                </a:path>
              </a:pathLst>
            </a:custGeom>
            <a:solidFill>
              <a:srgbClr val="F2F6FA"/>
            </a:solidFill>
            <a:ln w="9525" cap="sq">
              <a:solidFill>
                <a:srgbClr val="AFC4D6"/>
              </a:solidFill>
              <a:prstDash val="solid"/>
              <a:miter/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1168403" y="564680"/>
            <a:ext cx="157563" cy="33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1425" spc="185">
                <a:solidFill>
                  <a:srgbClr val="1D5994"/>
                </a:solidFill>
                <a:latin typeface="Arimo"/>
                <a:ea typeface="Arimo"/>
                <a:cs typeface="Arimo"/>
                <a:sym typeface="Arimo"/>
              </a:rPr>
              <a:t>V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510113" y="564680"/>
            <a:ext cx="1742151" cy="268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1425" spc="185">
                <a:solidFill>
                  <a:srgbClr val="4A6884"/>
                </a:solidFill>
                <a:latin typeface="Arimo"/>
                <a:ea typeface="Arimo"/>
                <a:cs typeface="Arimo"/>
                <a:sym typeface="Arimo"/>
              </a:rPr>
              <a:t>ROZHODOVÁNÍ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701783" y="564680"/>
            <a:ext cx="950214" cy="33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1425" spc="185">
                <a:solidFill>
                  <a:srgbClr val="4A6884"/>
                </a:solidFill>
                <a:latin typeface="Arimo"/>
                <a:ea typeface="Arimo"/>
                <a:cs typeface="Arimo"/>
                <a:sym typeface="Arimo"/>
              </a:rPr>
              <a:t>27 / 42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68403" y="1406528"/>
            <a:ext cx="8661149" cy="1228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52"/>
              </a:lnSpc>
            </a:pPr>
            <a:r>
              <a:rPr lang="en-US" sz="4500" spc="-99">
                <a:solidFill>
                  <a:srgbClr val="0F2C47"/>
                </a:solidFill>
                <a:latin typeface="Arimo"/>
                <a:ea typeface="Arimo"/>
                <a:cs typeface="Arimo"/>
                <a:sym typeface="Arimo"/>
              </a:rPr>
              <a:t>Intervence v jeden moment přestanou být efektivní.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522252" y="5086350"/>
            <a:ext cx="7699696" cy="33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1425" spc="185">
                <a:solidFill>
                  <a:srgbClr val="1D5994"/>
                </a:solidFill>
                <a:latin typeface="Arimo"/>
                <a:ea typeface="Arimo"/>
                <a:cs typeface="Arimo"/>
                <a:sym typeface="Arimo"/>
              </a:rPr>
              <a:t>ALE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510113" y="5432874"/>
            <a:ext cx="7699696" cy="1695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250">
                <a:solidFill>
                  <a:srgbClr val="0F2C47"/>
                </a:solidFill>
                <a:latin typeface="Inter"/>
                <a:ea typeface="Inter"/>
                <a:cs typeface="Inter"/>
                <a:sym typeface="Inter"/>
              </a:rPr>
              <a:t>Pokud je pro klienta suplementace bezpečná, “užívá” si jí (byť malé množství), je na ni zvyklý, preferuje ji více než stravu a poskytuje alespoň minimální komfort pro rodinu, </a:t>
            </a:r>
            <a:r>
              <a:rPr lang="en-US" sz="2250" b="true">
                <a:solidFill>
                  <a:srgbClr val="0F2C47"/>
                </a:solidFill>
                <a:latin typeface="Inter Bold"/>
                <a:ea typeface="Inter Bold"/>
                <a:cs typeface="Inter Bold"/>
                <a:sym typeface="Inter Bold"/>
              </a:rPr>
              <a:t>nevysazujeme ji automaticky</a:t>
            </a:r>
            <a:r>
              <a:rPr lang="en-US" sz="2250">
                <a:solidFill>
                  <a:srgbClr val="0F2C47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0858252" y="0"/>
            <a:ext cx="7447274" cy="10287000"/>
            <a:chOff x="0" y="0"/>
            <a:chExt cx="9929698" cy="137160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929699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929699">
                  <a:moveTo>
                    <a:pt x="0" y="0"/>
                  </a:moveTo>
                  <a:lnTo>
                    <a:pt x="9929699" y="0"/>
                  </a:lnTo>
                  <a:lnTo>
                    <a:pt x="9929699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5000">
                  <a:srgbClr val="FFFFFF">
                    <a:alpha val="100000"/>
                  </a:srgbClr>
                </a:gs>
                <a:gs pos="54000">
                  <a:srgbClr val="FFFFFF">
                    <a:alpha val="0"/>
                  </a:srgbClr>
                </a:gs>
              </a:gsLst>
              <a:lin ang="0"/>
            </a:gradFill>
          </p:spPr>
        </p:sp>
      </p:grp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68403" y="564680"/>
            <a:ext cx="157563" cy="33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1425" spc="185">
                <a:solidFill>
                  <a:srgbClr val="1D5994"/>
                </a:solidFill>
                <a:latin typeface="Arimo"/>
                <a:ea typeface="Arimo"/>
                <a:cs typeface="Arimo"/>
                <a:sym typeface="Arimo"/>
              </a:rPr>
              <a:t>V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510113" y="564680"/>
            <a:ext cx="1846926" cy="268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1425" spc="185">
                <a:solidFill>
                  <a:srgbClr val="4A6884"/>
                </a:solidFill>
                <a:latin typeface="Arimo"/>
                <a:ea typeface="Arimo"/>
                <a:cs typeface="Arimo"/>
                <a:sym typeface="Arimo"/>
              </a:rPr>
              <a:t>ROZHODOVÁNÍ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3147489" y="728662"/>
            <a:ext cx="209550" cy="28575"/>
            <a:chOff x="0" y="0"/>
            <a:chExt cx="279400" cy="381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1D5994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404664" y="728662"/>
            <a:ext cx="209550" cy="28575"/>
            <a:chOff x="0" y="0"/>
            <a:chExt cx="279400" cy="381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1D5994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3661839" y="728662"/>
            <a:ext cx="209550" cy="28575"/>
            <a:chOff x="0" y="0"/>
            <a:chExt cx="279400" cy="381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1D5994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919014" y="728662"/>
            <a:ext cx="209550" cy="28575"/>
            <a:chOff x="0" y="0"/>
            <a:chExt cx="279400" cy="381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1D5994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4176189" y="728662"/>
            <a:ext cx="209550" cy="28575"/>
            <a:chOff x="0" y="0"/>
            <a:chExt cx="279400" cy="381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1D5994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4433364" y="728662"/>
            <a:ext cx="209550" cy="28575"/>
            <a:chOff x="0" y="0"/>
            <a:chExt cx="279400" cy="381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AFC4D6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6245583" y="564680"/>
            <a:ext cx="950214" cy="33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1425" spc="185">
                <a:solidFill>
                  <a:srgbClr val="4A6884"/>
                </a:solidFill>
                <a:latin typeface="Arimo"/>
                <a:ea typeface="Arimo"/>
                <a:cs typeface="Arimo"/>
                <a:sym typeface="Arimo"/>
              </a:rPr>
              <a:t>28 / 42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68403" y="1406528"/>
            <a:ext cx="16027394" cy="1214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08"/>
              </a:lnSpc>
            </a:pPr>
            <a:r>
              <a:rPr lang="en-US" sz="4500" spc="-108">
                <a:solidFill>
                  <a:srgbClr val="0F2C47"/>
                </a:solidFill>
                <a:latin typeface="Arimo"/>
                <a:ea typeface="Arimo"/>
                <a:cs typeface="Arimo"/>
                <a:sym typeface="Arimo"/>
              </a:rPr>
              <a:t>Sipping patří mezi nejlépe dložené nutriční intervence u demence.</a:t>
            </a:r>
          </a:p>
          <a:p>
            <a:pPr algn="l">
              <a:lnSpc>
                <a:spcPts val="4610"/>
              </a:lnSpc>
            </a:pPr>
            <a:r>
              <a:rPr lang="en-US" sz="4500" spc="-108">
                <a:solidFill>
                  <a:srgbClr val="0F2C47"/>
                </a:solidFill>
                <a:latin typeface="Arimo"/>
                <a:ea typeface="Arimo"/>
                <a:cs typeface="Arimo"/>
                <a:sym typeface="Arimo"/>
              </a:rPr>
              <a:t>Pro výživu, ne pro kognici.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68403" y="3334598"/>
            <a:ext cx="7719317" cy="1153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2"/>
              </a:lnSpc>
            </a:pPr>
            <a:r>
              <a:rPr lang="en-US" sz="2100">
                <a:solidFill>
                  <a:srgbClr val="0F2C47"/>
                </a:solidFill>
                <a:latin typeface="Inter"/>
                <a:ea typeface="Inter"/>
                <a:cs typeface="Inter"/>
                <a:sym typeface="Inter"/>
              </a:rPr>
              <a:t>Klientům s demencí a malnutricí či jejím rizikem </a:t>
            </a:r>
            <a:r>
              <a:rPr lang="en-US" sz="2100" b="true">
                <a:solidFill>
                  <a:srgbClr val="0F2C47"/>
                </a:solidFill>
                <a:latin typeface="Inter Bold"/>
                <a:ea typeface="Inter Bold"/>
                <a:cs typeface="Inter Bold"/>
                <a:sym typeface="Inter Bold"/>
              </a:rPr>
              <a:t>má být nabídnut sipping </a:t>
            </a:r>
            <a:r>
              <a:rPr lang="en-US" sz="2100">
                <a:solidFill>
                  <a:srgbClr val="0F2C47"/>
                </a:solidFill>
                <a:latin typeface="Inter"/>
                <a:ea typeface="Inter"/>
                <a:cs typeface="Inter"/>
                <a:sym typeface="Inter"/>
              </a:rPr>
              <a:t>, aby se zvýšil příjem energie a bílkovin </a:t>
            </a:r>
          </a:p>
          <a:p>
            <a:pPr algn="l">
              <a:lnSpc>
                <a:spcPts val="3112"/>
              </a:lnSpc>
            </a:pPr>
            <a:r>
              <a:rPr lang="en-US" sz="2100">
                <a:solidFill>
                  <a:srgbClr val="0F2C47"/>
                </a:solidFill>
                <a:latin typeface="Inter"/>
                <a:ea typeface="Inter"/>
                <a:cs typeface="Inter"/>
                <a:sym typeface="Inter"/>
              </a:rPr>
              <a:t>a udržel nutriční stav.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138238" y="4752232"/>
            <a:ext cx="3844528" cy="493138"/>
            <a:chOff x="0" y="0"/>
            <a:chExt cx="5126038" cy="65751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126101" cy="657606"/>
            </a:xfrm>
            <a:custGeom>
              <a:avLst/>
              <a:gdLst/>
              <a:ahLst/>
              <a:cxnLst/>
              <a:rect r="r" b="b" t="t" l="l"/>
              <a:pathLst>
                <a:path h="657606" w="5126101">
                  <a:moveTo>
                    <a:pt x="0" y="328803"/>
                  </a:moveTo>
                  <a:cubicBezTo>
                    <a:pt x="0" y="147193"/>
                    <a:pt x="147193" y="0"/>
                    <a:pt x="328803" y="0"/>
                  </a:cubicBezTo>
                  <a:lnTo>
                    <a:pt x="4797298" y="0"/>
                  </a:lnTo>
                  <a:cubicBezTo>
                    <a:pt x="4978908" y="0"/>
                    <a:pt x="5126101" y="147193"/>
                    <a:pt x="5126101" y="328803"/>
                  </a:cubicBezTo>
                  <a:cubicBezTo>
                    <a:pt x="5126101" y="510413"/>
                    <a:pt x="4978908" y="657606"/>
                    <a:pt x="4797298" y="657606"/>
                  </a:cubicBezTo>
                  <a:lnTo>
                    <a:pt x="328803" y="657606"/>
                  </a:lnTo>
                  <a:cubicBezTo>
                    <a:pt x="147193" y="657479"/>
                    <a:pt x="0" y="510286"/>
                    <a:pt x="0" y="328803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92" r="1" b="-101879"/>
              </a:stretch>
            </a:blipFill>
            <a:ln w="9525" cap="sq">
              <a:solidFill>
                <a:srgbClr val="AFC4D6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343025" y="4852245"/>
            <a:ext cx="3550006" cy="331213"/>
            <a:chOff x="0" y="0"/>
            <a:chExt cx="4733341" cy="44161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733337" cy="441623"/>
            </a:xfrm>
            <a:custGeom>
              <a:avLst/>
              <a:gdLst/>
              <a:ahLst/>
              <a:cxnLst/>
              <a:rect r="r" b="b" t="t" l="l"/>
              <a:pathLst>
                <a:path h="441623" w="4733337">
                  <a:moveTo>
                    <a:pt x="0" y="0"/>
                  </a:moveTo>
                  <a:lnTo>
                    <a:pt x="4733337" y="0"/>
                  </a:lnTo>
                  <a:lnTo>
                    <a:pt x="4733337" y="441623"/>
                  </a:lnTo>
                  <a:lnTo>
                    <a:pt x="0" y="44162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8842" r="0" b="-158841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57150"/>
              <a:ext cx="4733341" cy="4987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48"/>
                </a:lnSpc>
              </a:pPr>
              <a:r>
                <a:rPr lang="en-US" sz="1425" spc="185">
                  <a:solidFill>
                    <a:srgbClr val="1D5994"/>
                  </a:solidFill>
                  <a:latin typeface="Arimo"/>
                  <a:ea typeface="Arimo"/>
                  <a:cs typeface="Arimo"/>
                  <a:sym typeface="Arimo"/>
                </a:rPr>
                <a:t>STUPEŇ A · 100 % KONSENZUS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168403" y="5513661"/>
            <a:ext cx="7719317" cy="844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2"/>
              </a:lnSpc>
            </a:pPr>
            <a:r>
              <a:rPr lang="en-US" sz="2100">
                <a:solidFill>
                  <a:srgbClr val="4A6884"/>
                </a:solidFill>
                <a:latin typeface="Inter"/>
                <a:ea typeface="Inter"/>
                <a:cs typeface="Inter"/>
                <a:sym typeface="Inter"/>
              </a:rPr>
              <a:t>Sipping se </a:t>
            </a:r>
            <a:r>
              <a:rPr lang="en-US" sz="2100" b="true">
                <a:solidFill>
                  <a:srgbClr val="0F2C47"/>
                </a:solidFill>
                <a:latin typeface="Inter Bold"/>
                <a:ea typeface="Inter Bold"/>
                <a:cs typeface="Inter Bold"/>
                <a:sym typeface="Inter Bold"/>
              </a:rPr>
              <a:t>nemá používat k úpravě kognitivního deficitu </a:t>
            </a:r>
            <a:r>
              <a:rPr lang="en-US" sz="2100">
                <a:solidFill>
                  <a:srgbClr val="4A6884"/>
                </a:solidFill>
                <a:latin typeface="Inter"/>
                <a:ea typeface="Inter"/>
                <a:cs typeface="Inter"/>
                <a:sym typeface="Inter"/>
              </a:rPr>
              <a:t>ani k prevenci dalšího kognitivního a funkčního poklesu.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138238" y="6531245"/>
            <a:ext cx="3844528" cy="493138"/>
            <a:chOff x="0" y="0"/>
            <a:chExt cx="5126038" cy="657517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126101" cy="657606"/>
            </a:xfrm>
            <a:custGeom>
              <a:avLst/>
              <a:gdLst/>
              <a:ahLst/>
              <a:cxnLst/>
              <a:rect r="r" b="b" t="t" l="l"/>
              <a:pathLst>
                <a:path h="657606" w="5126101">
                  <a:moveTo>
                    <a:pt x="0" y="328803"/>
                  </a:moveTo>
                  <a:cubicBezTo>
                    <a:pt x="0" y="147193"/>
                    <a:pt x="147193" y="0"/>
                    <a:pt x="328803" y="0"/>
                  </a:cubicBezTo>
                  <a:lnTo>
                    <a:pt x="4797298" y="0"/>
                  </a:lnTo>
                  <a:cubicBezTo>
                    <a:pt x="4978908" y="0"/>
                    <a:pt x="5126101" y="147193"/>
                    <a:pt x="5126101" y="328803"/>
                  </a:cubicBezTo>
                  <a:cubicBezTo>
                    <a:pt x="5126101" y="510413"/>
                    <a:pt x="4978908" y="657606"/>
                    <a:pt x="4797298" y="657606"/>
                  </a:cubicBezTo>
                  <a:lnTo>
                    <a:pt x="328803" y="657606"/>
                  </a:lnTo>
                  <a:cubicBezTo>
                    <a:pt x="147193" y="657479"/>
                    <a:pt x="0" y="510286"/>
                    <a:pt x="0" y="328803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92" r="1" b="-101879"/>
              </a:stretch>
            </a:blipFill>
            <a:ln w="9525" cap="sq">
              <a:solidFill>
                <a:srgbClr val="AFC4D6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1343025" y="6631257"/>
            <a:ext cx="3550006" cy="331213"/>
            <a:chOff x="0" y="0"/>
            <a:chExt cx="4733341" cy="441617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733337" cy="441623"/>
            </a:xfrm>
            <a:custGeom>
              <a:avLst/>
              <a:gdLst/>
              <a:ahLst/>
              <a:cxnLst/>
              <a:rect r="r" b="b" t="t" l="l"/>
              <a:pathLst>
                <a:path h="441623" w="4733337">
                  <a:moveTo>
                    <a:pt x="0" y="0"/>
                  </a:moveTo>
                  <a:lnTo>
                    <a:pt x="4733337" y="0"/>
                  </a:lnTo>
                  <a:lnTo>
                    <a:pt x="4733337" y="441623"/>
                  </a:lnTo>
                  <a:lnTo>
                    <a:pt x="0" y="44162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8842" r="0" b="-158841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57150"/>
              <a:ext cx="4733341" cy="4987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48"/>
                </a:lnSpc>
              </a:pPr>
              <a:r>
                <a:rPr lang="en-US" sz="1425" spc="185">
                  <a:solidFill>
                    <a:srgbClr val="1D5994"/>
                  </a:solidFill>
                  <a:latin typeface="Arimo"/>
                  <a:ea typeface="Arimo"/>
                  <a:cs typeface="Arimo"/>
                  <a:sym typeface="Arimo"/>
                </a:rPr>
                <a:t>STUPEŇ B · 100 % KONSENZUS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9626603" y="3334598"/>
            <a:ext cx="7719317" cy="33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1425" spc="185">
                <a:solidFill>
                  <a:srgbClr val="1D5994"/>
                </a:solidFill>
                <a:latin typeface="Arimo"/>
                <a:ea typeface="Arimo"/>
                <a:cs typeface="Arimo"/>
                <a:sym typeface="Arimo"/>
              </a:rPr>
              <a:t>CO SE NEDOPORUČUJE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9601200" y="3849957"/>
            <a:ext cx="7543800" cy="9525"/>
            <a:chOff x="0" y="0"/>
            <a:chExt cx="10058400" cy="127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058400" cy="12700"/>
            </a:xfrm>
            <a:custGeom>
              <a:avLst/>
              <a:gdLst/>
              <a:ahLst/>
              <a:cxnLst/>
              <a:rect r="r" b="b" t="t" l="l"/>
              <a:pathLst>
                <a:path h="1270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AFC4D6"/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9626603" y="4018236"/>
            <a:ext cx="1454153" cy="356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7"/>
              </a:lnSpc>
            </a:pPr>
            <a:r>
              <a:rPr lang="en-US" sz="1500" spc="120">
                <a:solidFill>
                  <a:srgbClr val="1D5994"/>
                </a:solidFill>
                <a:latin typeface="Arimo"/>
                <a:ea typeface="Arimo"/>
                <a:cs typeface="Arimo"/>
                <a:sym typeface="Arimo"/>
              </a:rPr>
              <a:t>A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322053" y="4018236"/>
            <a:ext cx="6382388" cy="303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8"/>
              </a:lnSpc>
            </a:pPr>
            <a:r>
              <a:rPr lang="en-US" sz="1800">
                <a:solidFill>
                  <a:srgbClr val="0F2C47"/>
                </a:solidFill>
                <a:latin typeface="Inter"/>
                <a:ea typeface="Inter"/>
                <a:cs typeface="Inter"/>
                <a:sym typeface="Inter"/>
              </a:rPr>
              <a:t>Ω</a:t>
            </a:r>
            <a:r>
              <a:rPr lang="en-US" sz="1800">
                <a:solidFill>
                  <a:srgbClr val="0F2C47"/>
                </a:solidFill>
                <a:latin typeface="Inter"/>
                <a:ea typeface="Inter"/>
                <a:cs typeface="Inter"/>
                <a:sym typeface="Inter"/>
              </a:rPr>
              <a:t>-3 MK k úpravě kognice nebo prevenci jeho progrese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9601200" y="4533824"/>
            <a:ext cx="7543800" cy="9525"/>
            <a:chOff x="0" y="0"/>
            <a:chExt cx="10058400" cy="127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058400" cy="12700"/>
            </a:xfrm>
            <a:custGeom>
              <a:avLst/>
              <a:gdLst/>
              <a:ahLst/>
              <a:cxnLst/>
              <a:rect r="r" b="b" t="t" l="l"/>
              <a:pathLst>
                <a:path h="1270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AFC4D6"/>
            </a:solid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9626603" y="4702102"/>
            <a:ext cx="1454153" cy="688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7"/>
              </a:lnSpc>
            </a:pPr>
            <a:r>
              <a:rPr lang="en-US" sz="1500" spc="120">
                <a:solidFill>
                  <a:srgbClr val="1D5994"/>
                </a:solidFill>
                <a:latin typeface="Arimo"/>
                <a:ea typeface="Arimo"/>
                <a:cs typeface="Arimo"/>
                <a:sym typeface="Arimo"/>
              </a:rPr>
              <a:t>B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1322053" y="4702102"/>
            <a:ext cx="5973004" cy="617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7"/>
              </a:lnSpc>
            </a:pPr>
            <a:r>
              <a:rPr lang="en-US" sz="1800">
                <a:solidFill>
                  <a:srgbClr val="0F2C47"/>
                </a:solidFill>
                <a:latin typeface="Inter"/>
                <a:ea typeface="Inter"/>
                <a:cs typeface="Inter"/>
                <a:sym typeface="Inter"/>
              </a:rPr>
              <a:t>sipping určený speciálně pro demenci, </a:t>
            </a:r>
          </a:p>
          <a:p>
            <a:pPr algn="l">
              <a:lnSpc>
                <a:spcPts val="2548"/>
              </a:lnSpc>
            </a:pPr>
            <a:r>
              <a:rPr lang="en-US" sz="1800">
                <a:solidFill>
                  <a:srgbClr val="0F2C47"/>
                </a:solidFill>
                <a:latin typeface="Inter"/>
                <a:ea typeface="Inter"/>
                <a:cs typeface="Inter"/>
                <a:sym typeface="Inter"/>
              </a:rPr>
              <a:t>ketogenní intervence (malnutrice !), probiotika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9601200" y="5549132"/>
            <a:ext cx="7543800" cy="9525"/>
            <a:chOff x="0" y="0"/>
            <a:chExt cx="10058400" cy="127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058400" cy="12700"/>
            </a:xfrm>
            <a:custGeom>
              <a:avLst/>
              <a:gdLst/>
              <a:ahLst/>
              <a:cxnLst/>
              <a:rect r="r" b="b" t="t" l="l"/>
              <a:pathLst>
                <a:path h="1270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AFC4D6"/>
            </a:solidFill>
          </p:spPr>
        </p:sp>
      </p:grpSp>
      <p:sp>
        <p:nvSpPr>
          <p:cNvPr name="TextBox 41" id="41"/>
          <p:cNvSpPr txBox="true"/>
          <p:nvPr/>
        </p:nvSpPr>
        <p:spPr>
          <a:xfrm rot="0">
            <a:off x="9626603" y="5717410"/>
            <a:ext cx="1454153" cy="1019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7"/>
              </a:lnSpc>
            </a:pPr>
            <a:r>
              <a:rPr lang="en-US" sz="1500" spc="120">
                <a:solidFill>
                  <a:srgbClr val="1D5994"/>
                </a:solidFill>
                <a:latin typeface="Arimo"/>
                <a:ea typeface="Arimo"/>
                <a:cs typeface="Arimo"/>
                <a:sym typeface="Arimo"/>
              </a:rPr>
              <a:t>GPP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1322053" y="5717410"/>
            <a:ext cx="5973004" cy="931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7"/>
              </a:lnSpc>
            </a:pPr>
            <a:r>
              <a:rPr lang="en-US" sz="1800">
                <a:solidFill>
                  <a:srgbClr val="0F2C47"/>
                </a:solidFill>
                <a:latin typeface="Inter"/>
                <a:ea typeface="Inter"/>
                <a:cs typeface="Inter"/>
                <a:sym typeface="Inter"/>
              </a:rPr>
              <a:t>léky stimulující apetit (89 %), alkohol a bylinné </a:t>
            </a:r>
          </a:p>
          <a:p>
            <a:pPr algn="l">
              <a:lnSpc>
                <a:spcPts val="2548"/>
              </a:lnSpc>
            </a:pPr>
            <a:r>
              <a:rPr lang="en-US" sz="1800">
                <a:solidFill>
                  <a:srgbClr val="0F2C47"/>
                </a:solidFill>
                <a:latin typeface="Inter"/>
                <a:ea typeface="Inter"/>
                <a:cs typeface="Inter"/>
                <a:sym typeface="Inter"/>
              </a:rPr>
              <a:t>přípravky (87 %), mikronutrienty bez prokázaného deficitu (100 %)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9601200" y="6895881"/>
            <a:ext cx="7543800" cy="9525"/>
            <a:chOff x="0" y="0"/>
            <a:chExt cx="10058400" cy="127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0058400" cy="12700"/>
            </a:xfrm>
            <a:custGeom>
              <a:avLst/>
              <a:gdLst/>
              <a:ahLst/>
              <a:cxnLst/>
              <a:rect r="r" b="b" t="t" l="l"/>
              <a:pathLst>
                <a:path h="1270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AFC4D6"/>
            </a:solidFill>
          </p:spPr>
        </p:sp>
      </p:grpSp>
      <p:sp>
        <p:nvSpPr>
          <p:cNvPr name="TextBox 45" id="45"/>
          <p:cNvSpPr txBox="true"/>
          <p:nvPr/>
        </p:nvSpPr>
        <p:spPr>
          <a:xfrm rot="0">
            <a:off x="9626603" y="7064150"/>
            <a:ext cx="1454153" cy="688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7"/>
              </a:lnSpc>
            </a:pPr>
            <a:r>
              <a:rPr lang="en-US" sz="1500" spc="120">
                <a:solidFill>
                  <a:srgbClr val="1D5994"/>
                </a:solidFill>
                <a:latin typeface="Arimo"/>
                <a:ea typeface="Arimo"/>
                <a:cs typeface="Arimo"/>
                <a:sym typeface="Arimo"/>
              </a:rPr>
              <a:t>GPP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1322053" y="7064150"/>
            <a:ext cx="5973004" cy="688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8"/>
              </a:lnSpc>
            </a:pPr>
            <a:r>
              <a:rPr lang="en-US" sz="1800">
                <a:solidFill>
                  <a:srgbClr val="0F2C47"/>
                </a:solidFill>
                <a:latin typeface="Inter"/>
                <a:ea typeface="Inter"/>
                <a:cs typeface="Inter"/>
                <a:sym typeface="Inter"/>
              </a:rPr>
              <a:t>rutinní zvýrazňovače chuti (73 % konsenzus, tedy jen většinová shoda)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9626603" y="8117557"/>
            <a:ext cx="7719317" cy="653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5"/>
              </a:lnSpc>
            </a:pPr>
            <a:r>
              <a:rPr lang="en-US" sz="1800" i="true">
                <a:solidFill>
                  <a:srgbClr val="4A6884"/>
                </a:solidFill>
                <a:latin typeface="Inter Italics"/>
                <a:ea typeface="Inter Italics"/>
                <a:cs typeface="Inter Italics"/>
                <a:sym typeface="Inter Italics"/>
              </a:rPr>
              <a:t>Restrikce, které mohou snižovat příjem jídla nebo tekutin, jsou u lidí s demencí potenciálně škodlivé a mají se pokud možno vynechat.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68403" y="564680"/>
            <a:ext cx="157563" cy="33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1425" spc="185">
                <a:solidFill>
                  <a:srgbClr val="1D5994"/>
                </a:solidFill>
                <a:latin typeface="Arimo"/>
                <a:ea typeface="Arimo"/>
                <a:cs typeface="Arimo"/>
                <a:sym typeface="Arimo"/>
              </a:rPr>
              <a:t>V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510113" y="564680"/>
            <a:ext cx="1675938" cy="268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1425" spc="185">
                <a:solidFill>
                  <a:srgbClr val="4A6884"/>
                </a:solidFill>
                <a:latin typeface="Arimo"/>
                <a:ea typeface="Arimo"/>
                <a:cs typeface="Arimo"/>
                <a:sym typeface="Arimo"/>
              </a:rPr>
              <a:t>ROZHODOVÁNÍ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3147489" y="728662"/>
            <a:ext cx="209550" cy="28575"/>
            <a:chOff x="0" y="0"/>
            <a:chExt cx="279400" cy="381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1D5994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404664" y="728662"/>
            <a:ext cx="209550" cy="28575"/>
            <a:chOff x="0" y="0"/>
            <a:chExt cx="279400" cy="381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1D5994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3661839" y="728662"/>
            <a:ext cx="209550" cy="28575"/>
            <a:chOff x="0" y="0"/>
            <a:chExt cx="279400" cy="381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1D5994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919014" y="728662"/>
            <a:ext cx="209550" cy="28575"/>
            <a:chOff x="0" y="0"/>
            <a:chExt cx="279400" cy="381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1D5994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4176189" y="728662"/>
            <a:ext cx="209550" cy="28575"/>
            <a:chOff x="0" y="0"/>
            <a:chExt cx="279400" cy="381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1D5994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4433364" y="728662"/>
            <a:ext cx="209550" cy="28575"/>
            <a:chOff x="0" y="0"/>
            <a:chExt cx="279400" cy="381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AFC4D6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6245583" y="564680"/>
            <a:ext cx="950214" cy="33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1425" spc="185">
                <a:solidFill>
                  <a:srgbClr val="4A6884"/>
                </a:solidFill>
                <a:latin typeface="Arimo"/>
                <a:ea typeface="Arimo"/>
                <a:cs typeface="Arimo"/>
                <a:sym typeface="Arimo"/>
              </a:rPr>
              <a:t>29 / 42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68403" y="1425578"/>
            <a:ext cx="15253973" cy="1488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66"/>
              </a:lnSpc>
            </a:pPr>
            <a:r>
              <a:rPr lang="en-US" sz="5550" spc="-127">
                <a:solidFill>
                  <a:srgbClr val="0F2C47"/>
                </a:solidFill>
                <a:latin typeface="Arimo"/>
                <a:ea typeface="Arimo"/>
                <a:cs typeface="Arimo"/>
                <a:sym typeface="Arimo"/>
              </a:rPr>
              <a:t>Jak bude vypadat, </a:t>
            </a:r>
          </a:p>
          <a:p>
            <a:pPr algn="l">
              <a:lnSpc>
                <a:spcPts val="5668"/>
              </a:lnSpc>
            </a:pPr>
            <a:r>
              <a:rPr lang="en-US" sz="5550" spc="-133">
                <a:solidFill>
                  <a:srgbClr val="0F2C47"/>
                </a:solidFill>
                <a:latin typeface="Arimo"/>
                <a:ea typeface="Arimo"/>
                <a:cs typeface="Arimo"/>
                <a:sym typeface="Arimo"/>
              </a:rPr>
              <a:t>když bude zvolena sonda či stomie?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68403" y="3993604"/>
            <a:ext cx="7719317" cy="886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7"/>
              </a:lnSpc>
            </a:pPr>
            <a:r>
              <a:rPr lang="en-US" sz="2100">
                <a:solidFill>
                  <a:srgbClr val="4A6884"/>
                </a:solidFill>
                <a:latin typeface="Inter"/>
                <a:ea typeface="Inter"/>
                <a:cs typeface="Inter"/>
                <a:sym typeface="Inter"/>
              </a:rPr>
              <a:t>Vysvětlení principu zavedení, funkčnosti systému, podávání výživy a péče o výživový vstup.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68403" y="5054298"/>
            <a:ext cx="8247383" cy="312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5"/>
              </a:lnSpc>
            </a:pPr>
            <a:r>
              <a:rPr lang="en-US" sz="1650">
                <a:solidFill>
                  <a:srgbClr val="4A6884"/>
                </a:solidFill>
                <a:latin typeface="Arimo"/>
                <a:ea typeface="Arimo"/>
                <a:cs typeface="Arimo"/>
                <a:sym typeface="Arimo"/>
              </a:rPr>
              <a:t>peg.freseniuskabiforum.eu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68403" y="5608615"/>
            <a:ext cx="7719317" cy="1133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2"/>
              </a:lnSpc>
            </a:pPr>
            <a:r>
              <a:rPr lang="en-US" sz="1950">
                <a:solidFill>
                  <a:srgbClr val="0F2C47"/>
                </a:solidFill>
                <a:latin typeface="Inter"/>
                <a:ea typeface="Inter"/>
                <a:cs typeface="Inter"/>
                <a:sym typeface="Inter"/>
              </a:rPr>
              <a:t>Enterální výživa se </a:t>
            </a:r>
            <a:r>
              <a:rPr lang="en-US" sz="1950" b="true">
                <a:solidFill>
                  <a:srgbClr val="0F2C47"/>
                </a:solidFill>
                <a:latin typeface="Inter Bold"/>
                <a:ea typeface="Inter Bold"/>
                <a:cs typeface="Inter Bold"/>
                <a:sym typeface="Inter Bold"/>
              </a:rPr>
              <a:t>u těžké demence nezavádí</a:t>
            </a:r>
            <a:r>
              <a:rPr lang="en-US" sz="1950">
                <a:solidFill>
                  <a:srgbClr val="0F2C47"/>
                </a:solidFill>
                <a:latin typeface="Inter"/>
                <a:ea typeface="Inter"/>
                <a:cs typeface="Inter"/>
                <a:sym typeface="Inter"/>
              </a:rPr>
              <a:t>. Zavedení </a:t>
            </a:r>
          </a:p>
          <a:p>
            <a:pPr algn="l">
              <a:lnSpc>
                <a:spcPts val="3013"/>
              </a:lnSpc>
            </a:pPr>
            <a:r>
              <a:rPr lang="en-US" sz="1950">
                <a:solidFill>
                  <a:srgbClr val="0F2C47"/>
                </a:solidFill>
                <a:latin typeface="Inter"/>
                <a:ea typeface="Inter"/>
                <a:cs typeface="Inter"/>
                <a:sym typeface="Inter"/>
              </a:rPr>
              <a:t>v pokročilém stadiu má být velmi vzácnou výjimkou, které vždy předchází etická konzultace.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138238" y="7042099"/>
            <a:ext cx="3976611" cy="493138"/>
            <a:chOff x="0" y="0"/>
            <a:chExt cx="5302148" cy="65751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302250" cy="657479"/>
            </a:xfrm>
            <a:custGeom>
              <a:avLst/>
              <a:gdLst/>
              <a:ahLst/>
              <a:cxnLst/>
              <a:rect r="r" b="b" t="t" l="l"/>
              <a:pathLst>
                <a:path h="657479" w="5302250">
                  <a:moveTo>
                    <a:pt x="0" y="328803"/>
                  </a:moveTo>
                  <a:cubicBezTo>
                    <a:pt x="0" y="147193"/>
                    <a:pt x="147193" y="0"/>
                    <a:pt x="328803" y="0"/>
                  </a:cubicBezTo>
                  <a:lnTo>
                    <a:pt x="4973447" y="0"/>
                  </a:lnTo>
                  <a:cubicBezTo>
                    <a:pt x="5155057" y="0"/>
                    <a:pt x="5302250" y="147193"/>
                    <a:pt x="5302250" y="328803"/>
                  </a:cubicBezTo>
                  <a:cubicBezTo>
                    <a:pt x="5302250" y="510413"/>
                    <a:pt x="5154930" y="657479"/>
                    <a:pt x="4973447" y="657479"/>
                  </a:cubicBezTo>
                  <a:lnTo>
                    <a:pt x="328803" y="657479"/>
                  </a:lnTo>
                  <a:cubicBezTo>
                    <a:pt x="147193" y="657479"/>
                    <a:pt x="0" y="510286"/>
                    <a:pt x="0" y="328803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131" r="1" b="-107137"/>
              </a:stretch>
            </a:blipFill>
            <a:ln w="9525" cap="sq">
              <a:solidFill>
                <a:srgbClr val="AFC4D6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1343025" y="7142112"/>
            <a:ext cx="3686051" cy="331213"/>
            <a:chOff x="0" y="0"/>
            <a:chExt cx="4914735" cy="44161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914735" cy="441623"/>
            </a:xfrm>
            <a:custGeom>
              <a:avLst/>
              <a:gdLst/>
              <a:ahLst/>
              <a:cxnLst/>
              <a:rect r="r" b="b" t="t" l="l"/>
              <a:pathLst>
                <a:path h="441623" w="4914735">
                  <a:moveTo>
                    <a:pt x="0" y="0"/>
                  </a:moveTo>
                  <a:lnTo>
                    <a:pt x="4914735" y="0"/>
                  </a:lnTo>
                  <a:lnTo>
                    <a:pt x="4914735" y="441623"/>
                  </a:lnTo>
                  <a:lnTo>
                    <a:pt x="0" y="44162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6845" r="0" b="-166844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4914735" cy="4987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48"/>
                </a:lnSpc>
              </a:pPr>
              <a:r>
                <a:rPr lang="en-US" sz="1425" spc="185">
                  <a:solidFill>
                    <a:srgbClr val="1D5994"/>
                  </a:solidFill>
                  <a:latin typeface="Arimo"/>
                  <a:ea typeface="Arimo"/>
                  <a:cs typeface="Arimo"/>
                  <a:sym typeface="Arimo"/>
                </a:rPr>
                <a:t>DOPORUČENÍ 37 · GPP · 100 %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9626603" y="4003129"/>
            <a:ext cx="7719317" cy="33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1425" spc="185">
                <a:solidFill>
                  <a:srgbClr val="1D5994"/>
                </a:solidFill>
                <a:latin typeface="Arimo"/>
                <a:ea typeface="Arimo"/>
                <a:cs typeface="Arimo"/>
                <a:sym typeface="Arimo"/>
              </a:rPr>
              <a:t>OTÁZKY, KTERÉ PŘIJDOU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9601200" y="4518498"/>
            <a:ext cx="7543800" cy="9525"/>
            <a:chOff x="0" y="0"/>
            <a:chExt cx="10058400" cy="127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058400" cy="12700"/>
            </a:xfrm>
            <a:custGeom>
              <a:avLst/>
              <a:gdLst/>
              <a:ahLst/>
              <a:cxnLst/>
              <a:rect r="r" b="b" t="t" l="l"/>
              <a:pathLst>
                <a:path h="1270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AFC4D6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9626603" y="4667717"/>
            <a:ext cx="7719317" cy="415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7"/>
              </a:lnSpc>
            </a:pPr>
            <a:r>
              <a:rPr lang="en-US" sz="1950">
                <a:solidFill>
                  <a:srgbClr val="0F2C47"/>
                </a:solidFill>
                <a:latin typeface="Inter"/>
                <a:ea typeface="Inter"/>
                <a:cs typeface="Inter"/>
                <a:sym typeface="Inter"/>
              </a:rPr>
              <a:t>Musí být pacient upoutaný na lůžko po celý den?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9601200" y="5242398"/>
            <a:ext cx="7543800" cy="9525"/>
            <a:chOff x="0" y="0"/>
            <a:chExt cx="10058400" cy="127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058400" cy="12700"/>
            </a:xfrm>
            <a:custGeom>
              <a:avLst/>
              <a:gdLst/>
              <a:ahLst/>
              <a:cxnLst/>
              <a:rect r="r" b="b" t="t" l="l"/>
              <a:pathLst>
                <a:path h="1270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AFC4D6"/>
            </a:solid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9626603" y="5391617"/>
            <a:ext cx="7719317" cy="415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7"/>
              </a:lnSpc>
            </a:pPr>
            <a:r>
              <a:rPr lang="en-US" sz="1950">
                <a:solidFill>
                  <a:srgbClr val="0F2C47"/>
                </a:solidFill>
                <a:latin typeface="Inter"/>
                <a:ea typeface="Inter"/>
                <a:cs typeface="Inter"/>
                <a:sym typeface="Inter"/>
              </a:rPr>
              <a:t>Dá se sonda či stomie odstranit?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9601200" y="5966298"/>
            <a:ext cx="7543800" cy="9525"/>
            <a:chOff x="0" y="0"/>
            <a:chExt cx="10058400" cy="127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058400" cy="12700"/>
            </a:xfrm>
            <a:custGeom>
              <a:avLst/>
              <a:gdLst/>
              <a:ahLst/>
              <a:cxnLst/>
              <a:rect r="r" b="b" t="t" l="l"/>
              <a:pathLst>
                <a:path h="1270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AFC4D6"/>
            </a:solid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9626603" y="6115517"/>
            <a:ext cx="7719317" cy="787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7"/>
              </a:lnSpc>
            </a:pPr>
            <a:r>
              <a:rPr lang="en-US" sz="1950">
                <a:solidFill>
                  <a:srgbClr val="0F2C47"/>
                </a:solidFill>
                <a:latin typeface="Inter"/>
                <a:ea typeface="Inter"/>
                <a:cs typeface="Inter"/>
                <a:sym typeface="Inter"/>
              </a:rPr>
              <a:t>Bude můj příbuzný žít déle, pokud se rozhodnu pro tento způsob živení?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9601200" y="7061673"/>
            <a:ext cx="7543800" cy="9525"/>
            <a:chOff x="0" y="0"/>
            <a:chExt cx="10058400" cy="127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058400" cy="12700"/>
            </a:xfrm>
            <a:custGeom>
              <a:avLst/>
              <a:gdLst/>
              <a:ahLst/>
              <a:cxnLst/>
              <a:rect r="r" b="b" t="t" l="l"/>
              <a:pathLst>
                <a:path h="1270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AFC4D6"/>
            </a:solid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9626603" y="7210892"/>
            <a:ext cx="7719317" cy="787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7"/>
              </a:lnSpc>
            </a:pPr>
            <a:r>
              <a:rPr lang="en-US" sz="1950">
                <a:solidFill>
                  <a:srgbClr val="0F2C47"/>
                </a:solidFill>
                <a:latin typeface="Inter"/>
                <a:ea typeface="Inter"/>
                <a:cs typeface="Inter"/>
                <a:sym typeface="Inter"/>
              </a:rPr>
              <a:t>Bude mít se sondou či stomií menší pravděpodobnost, že bude aspirovat?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68403" y="564680"/>
            <a:ext cx="157563" cy="33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1425" spc="185">
                <a:solidFill>
                  <a:srgbClr val="1D5994"/>
                </a:solidFill>
                <a:latin typeface="Arimo"/>
                <a:ea typeface="Arimo"/>
                <a:cs typeface="Arimo"/>
                <a:sym typeface="Arimo"/>
              </a:rPr>
              <a:t>V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510113" y="564680"/>
            <a:ext cx="1637376" cy="268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1425" spc="185">
                <a:solidFill>
                  <a:srgbClr val="4A6884"/>
                </a:solidFill>
                <a:latin typeface="Arimo"/>
                <a:ea typeface="Arimo"/>
                <a:cs typeface="Arimo"/>
                <a:sym typeface="Arimo"/>
              </a:rPr>
              <a:t>ROZHODOVÁNÍ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3147489" y="728662"/>
            <a:ext cx="209550" cy="28575"/>
            <a:chOff x="0" y="0"/>
            <a:chExt cx="279400" cy="381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1D5994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404664" y="728662"/>
            <a:ext cx="209550" cy="28575"/>
            <a:chOff x="0" y="0"/>
            <a:chExt cx="279400" cy="381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1D5994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3661839" y="728662"/>
            <a:ext cx="209550" cy="28575"/>
            <a:chOff x="0" y="0"/>
            <a:chExt cx="279400" cy="381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1D5994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919014" y="728662"/>
            <a:ext cx="209550" cy="28575"/>
            <a:chOff x="0" y="0"/>
            <a:chExt cx="279400" cy="381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1D5994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4176189" y="728662"/>
            <a:ext cx="209550" cy="28575"/>
            <a:chOff x="0" y="0"/>
            <a:chExt cx="279400" cy="381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1D5994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4433364" y="728662"/>
            <a:ext cx="209550" cy="28575"/>
            <a:chOff x="0" y="0"/>
            <a:chExt cx="279400" cy="381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AFC4D6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6245583" y="564680"/>
            <a:ext cx="950214" cy="33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1425" spc="185">
                <a:solidFill>
                  <a:srgbClr val="4A6884"/>
                </a:solidFill>
                <a:latin typeface="Arimo"/>
                <a:ea typeface="Arimo"/>
                <a:cs typeface="Arimo"/>
                <a:sym typeface="Arimo"/>
              </a:rPr>
              <a:t>30 / 42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68403" y="1425578"/>
            <a:ext cx="16294103" cy="702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68"/>
              </a:lnSpc>
            </a:pPr>
            <a:r>
              <a:rPr lang="en-US" sz="5550" spc="-133">
                <a:solidFill>
                  <a:srgbClr val="0F2C47"/>
                </a:solidFill>
                <a:latin typeface="Arimo"/>
                <a:ea typeface="Arimo"/>
                <a:cs typeface="Arimo"/>
                <a:sym typeface="Arimo"/>
              </a:rPr>
              <a:t>Je zavádění NGS či PEG na místě?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68403" y="3354762"/>
            <a:ext cx="7719317" cy="268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1425" spc="185">
                <a:solidFill>
                  <a:srgbClr val="1D5994"/>
                </a:solidFill>
                <a:latin typeface="Arimo"/>
                <a:ea typeface="Arimo"/>
                <a:cs typeface="Arimo"/>
                <a:sym typeface="Arimo"/>
              </a:rPr>
              <a:t>ÚMRTNOST PO ZAVEDENÍ PEG (TĚŽKÁ DEMENCE)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143000" y="3908231"/>
            <a:ext cx="7543800" cy="9525"/>
            <a:chOff x="0" y="0"/>
            <a:chExt cx="10058400" cy="127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058400" cy="12700"/>
            </a:xfrm>
            <a:custGeom>
              <a:avLst/>
              <a:gdLst/>
              <a:ahLst/>
              <a:cxnLst/>
              <a:rect r="r" b="b" t="t" l="l"/>
              <a:pathLst>
                <a:path h="1270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AFC4D6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168403" y="4247950"/>
            <a:ext cx="3092453" cy="425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6"/>
              </a:lnSpc>
            </a:pPr>
            <a:r>
              <a:rPr lang="en-US" sz="4200" spc="-126">
                <a:solidFill>
                  <a:srgbClr val="1D5994"/>
                </a:solidFill>
                <a:latin typeface="Arimo"/>
                <a:ea typeface="Arimo"/>
                <a:cs typeface="Arimo"/>
                <a:sym typeface="Arimo"/>
              </a:rPr>
              <a:t>10–43 %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254503" y="4305100"/>
            <a:ext cx="4852673" cy="381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4"/>
              </a:lnSpc>
            </a:pPr>
            <a:r>
              <a:rPr lang="en-US" sz="1950">
                <a:solidFill>
                  <a:srgbClr val="4A6884"/>
                </a:solidFill>
                <a:latin typeface="Inter"/>
                <a:ea typeface="Inter"/>
                <a:cs typeface="Inter"/>
                <a:sym typeface="Inter"/>
              </a:rPr>
              <a:t>30denní úmrtnost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143000" y="4883572"/>
            <a:ext cx="7543800" cy="9525"/>
            <a:chOff x="0" y="0"/>
            <a:chExt cx="10058400" cy="127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058400" cy="12700"/>
            </a:xfrm>
            <a:custGeom>
              <a:avLst/>
              <a:gdLst/>
              <a:ahLst/>
              <a:cxnLst/>
              <a:rect r="r" b="b" t="t" l="l"/>
              <a:pathLst>
                <a:path h="1270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AFC4D6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168403" y="5223300"/>
            <a:ext cx="3092453" cy="425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6"/>
              </a:lnSpc>
            </a:pPr>
            <a:r>
              <a:rPr lang="en-US" sz="4200" spc="-126">
                <a:solidFill>
                  <a:srgbClr val="1D5994"/>
                </a:solidFill>
                <a:latin typeface="Arimo"/>
                <a:ea typeface="Arimo"/>
                <a:cs typeface="Arimo"/>
                <a:sym typeface="Arimo"/>
              </a:rPr>
              <a:t>60–65 %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254503" y="5280450"/>
            <a:ext cx="4852673" cy="381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4"/>
              </a:lnSpc>
            </a:pPr>
            <a:r>
              <a:rPr lang="en-US" sz="1950">
                <a:solidFill>
                  <a:srgbClr val="4A6884"/>
                </a:solidFill>
                <a:latin typeface="Inter"/>
                <a:ea typeface="Inter"/>
                <a:cs typeface="Inter"/>
                <a:sym typeface="Inter"/>
              </a:rPr>
              <a:t>v následujících 12–18 měsících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143000" y="5858913"/>
            <a:ext cx="7543800" cy="9525"/>
            <a:chOff x="0" y="0"/>
            <a:chExt cx="10058400" cy="127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058400" cy="12700"/>
            </a:xfrm>
            <a:custGeom>
              <a:avLst/>
              <a:gdLst/>
              <a:ahLst/>
              <a:cxnLst/>
              <a:rect r="r" b="b" t="t" l="l"/>
              <a:pathLst>
                <a:path h="1270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AFC4D6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1168403" y="6198641"/>
            <a:ext cx="3092453" cy="425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6"/>
              </a:lnSpc>
            </a:pPr>
            <a:r>
              <a:rPr lang="en-US" sz="4200" spc="-126">
                <a:solidFill>
                  <a:srgbClr val="1D5994"/>
                </a:solidFill>
                <a:latin typeface="Arimo"/>
                <a:ea typeface="Arimo"/>
                <a:cs typeface="Arimo"/>
                <a:sym typeface="Arimo"/>
              </a:rPr>
              <a:t>73–81 %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254503" y="6255791"/>
            <a:ext cx="4852673" cy="381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4"/>
              </a:lnSpc>
            </a:pPr>
            <a:r>
              <a:rPr lang="en-US" sz="1950">
                <a:solidFill>
                  <a:srgbClr val="4A6884"/>
                </a:solidFill>
                <a:latin typeface="Inter"/>
                <a:ea typeface="Inter"/>
                <a:cs typeface="Inter"/>
                <a:sym typeface="Inter"/>
              </a:rPr>
              <a:t>déle než 36–48 měsíců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626603" y="3354762"/>
            <a:ext cx="7719317" cy="33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1425" spc="185">
                <a:solidFill>
                  <a:srgbClr val="1D5994"/>
                </a:solidFill>
                <a:latin typeface="Arimo"/>
                <a:ea typeface="Arimo"/>
                <a:cs typeface="Arimo"/>
                <a:sym typeface="Arimo"/>
              </a:rPr>
              <a:t>BENEFITY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626603" y="3800275"/>
            <a:ext cx="7719317" cy="787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7"/>
              </a:lnSpc>
            </a:pPr>
            <a:r>
              <a:rPr lang="en-US" sz="1950">
                <a:solidFill>
                  <a:srgbClr val="0F2C47"/>
                </a:solidFill>
                <a:latin typeface="Inter"/>
                <a:ea typeface="Inter"/>
                <a:cs typeface="Inter"/>
                <a:sym typeface="Inter"/>
              </a:rPr>
              <a:t>Přístup pro hydrataci a medikaci (snížení bolesti pomocí vstupu).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626603" y="4848025"/>
            <a:ext cx="7719317" cy="33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1425" spc="185">
                <a:solidFill>
                  <a:srgbClr val="1D5994"/>
                </a:solidFill>
                <a:latin typeface="Arimo"/>
                <a:ea typeface="Arimo"/>
                <a:cs typeface="Arimo"/>
                <a:sym typeface="Arimo"/>
              </a:rPr>
              <a:t>RIZIKA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9601200" y="5249094"/>
            <a:ext cx="7543800" cy="9525"/>
            <a:chOff x="0" y="0"/>
            <a:chExt cx="10058400" cy="127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058400" cy="12700"/>
            </a:xfrm>
            <a:custGeom>
              <a:avLst/>
              <a:gdLst/>
              <a:ahLst/>
              <a:cxnLst/>
              <a:rect r="r" b="b" t="t" l="l"/>
              <a:pathLst>
                <a:path h="1270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AFC4D6"/>
            </a:solid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9626603" y="5331647"/>
            <a:ext cx="7719317" cy="688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8"/>
              </a:lnSpc>
            </a:pPr>
            <a:r>
              <a:rPr lang="en-US" sz="1800">
                <a:solidFill>
                  <a:srgbClr val="0F2C47"/>
                </a:solidFill>
                <a:latin typeface="Inter"/>
                <a:ea typeface="Inter"/>
                <a:cs typeface="Inter"/>
                <a:sym typeface="Inter"/>
              </a:rPr>
              <a:t>v případě přežití alespoň 60 dní u 70 % nezaznamenáno žádné funkční zlepšení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9601200" y="6092952"/>
            <a:ext cx="7543800" cy="9525"/>
            <a:chOff x="0" y="0"/>
            <a:chExt cx="10058400" cy="127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058400" cy="12700"/>
            </a:xfrm>
            <a:custGeom>
              <a:avLst/>
              <a:gdLst/>
              <a:ahLst/>
              <a:cxnLst/>
              <a:rect r="r" b="b" t="t" l="l"/>
              <a:pathLst>
                <a:path h="1270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AFC4D6"/>
            </a:solid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9626603" y="6175496"/>
            <a:ext cx="7719317" cy="356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8"/>
              </a:lnSpc>
            </a:pPr>
            <a:r>
              <a:rPr lang="en-US" sz="1800">
                <a:solidFill>
                  <a:srgbClr val="0F2C47"/>
                </a:solidFill>
                <a:latin typeface="Inter"/>
                <a:ea typeface="Inter"/>
                <a:cs typeface="Inter"/>
                <a:sym typeface="Inter"/>
              </a:rPr>
              <a:t>vyšší zátěž pro pečovatele a rodinu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9601200" y="6605368"/>
            <a:ext cx="7543800" cy="9525"/>
            <a:chOff x="0" y="0"/>
            <a:chExt cx="10058400" cy="127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058400" cy="12700"/>
            </a:xfrm>
            <a:custGeom>
              <a:avLst/>
              <a:gdLst/>
              <a:ahLst/>
              <a:cxnLst/>
              <a:rect r="r" b="b" t="t" l="l"/>
              <a:pathLst>
                <a:path h="1270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AFC4D6"/>
            </a:solidFill>
          </p:spPr>
        </p:sp>
      </p:grpSp>
      <p:sp>
        <p:nvSpPr>
          <p:cNvPr name="TextBox 42" id="42"/>
          <p:cNvSpPr txBox="true"/>
          <p:nvPr/>
        </p:nvSpPr>
        <p:spPr>
          <a:xfrm rot="0">
            <a:off x="9626603" y="6687912"/>
            <a:ext cx="7719317" cy="356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8"/>
              </a:lnSpc>
            </a:pPr>
            <a:r>
              <a:rPr lang="en-US" sz="1800">
                <a:solidFill>
                  <a:srgbClr val="0F2C47"/>
                </a:solidFill>
                <a:latin typeface="Inter"/>
                <a:ea typeface="Inter"/>
                <a:cs typeface="Inter"/>
                <a:sym typeface="Inter"/>
              </a:rPr>
              <a:t>zvýšené riziko dekubitů, pneumonie a dalších komplikací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9601200" y="7117775"/>
            <a:ext cx="7543800" cy="9525"/>
            <a:chOff x="0" y="0"/>
            <a:chExt cx="10058400" cy="127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0058400" cy="12700"/>
            </a:xfrm>
            <a:custGeom>
              <a:avLst/>
              <a:gdLst/>
              <a:ahLst/>
              <a:cxnLst/>
              <a:rect r="r" b="b" t="t" l="l"/>
              <a:pathLst>
                <a:path h="1270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AFC4D6"/>
            </a:solidFill>
          </p:spPr>
        </p:sp>
      </p:grpSp>
      <p:sp>
        <p:nvSpPr>
          <p:cNvPr name="TextBox 45" id="45"/>
          <p:cNvSpPr txBox="true"/>
          <p:nvPr/>
        </p:nvSpPr>
        <p:spPr>
          <a:xfrm rot="0">
            <a:off x="9626603" y="7200329"/>
            <a:ext cx="7719317" cy="688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8"/>
              </a:lnSpc>
            </a:pPr>
            <a:r>
              <a:rPr lang="en-US" sz="1800">
                <a:solidFill>
                  <a:srgbClr val="0F2C47"/>
                </a:solidFill>
                <a:latin typeface="Inter"/>
                <a:ea typeface="Inter"/>
                <a:cs typeface="Inter"/>
                <a:sym typeface="Inter"/>
              </a:rPr>
              <a:t>pneumonie OR 3,56 a dekubity OR 2,25 proti klientům bez sondy, bez rozdílu v přežití či stavu výživy </a:t>
            </a:r>
            <a:r>
              <a:rPr lang="en-US" sz="1800">
                <a:solidFill>
                  <a:srgbClr val="4A6884"/>
                </a:solidFill>
                <a:latin typeface="Inter"/>
                <a:ea typeface="Inter"/>
                <a:cs typeface="Inter"/>
                <a:sym typeface="Inter"/>
              </a:rPr>
              <a:t>Lee 2021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9601200" y="7961633"/>
            <a:ext cx="7543800" cy="9525"/>
            <a:chOff x="0" y="0"/>
            <a:chExt cx="10058400" cy="127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0058400" cy="12700"/>
            </a:xfrm>
            <a:custGeom>
              <a:avLst/>
              <a:gdLst/>
              <a:ahLst/>
              <a:cxnLst/>
              <a:rect r="r" b="b" t="t" l="l"/>
              <a:pathLst>
                <a:path h="1270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AFC4D6"/>
            </a:solidFill>
          </p:spPr>
        </p:sp>
      </p:grpSp>
      <p:sp>
        <p:nvSpPr>
          <p:cNvPr name="TextBox 48" id="48"/>
          <p:cNvSpPr txBox="true"/>
          <p:nvPr/>
        </p:nvSpPr>
        <p:spPr>
          <a:xfrm rot="0">
            <a:off x="9626603" y="8044186"/>
            <a:ext cx="7719317" cy="688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8"/>
              </a:lnSpc>
            </a:pPr>
            <a:r>
              <a:rPr lang="en-US" sz="1800">
                <a:solidFill>
                  <a:srgbClr val="0F2C47"/>
                </a:solidFill>
                <a:latin typeface="Inter"/>
                <a:ea typeface="Inter"/>
                <a:cs typeface="Inter"/>
                <a:sym typeface="Inter"/>
              </a:rPr>
              <a:t>u 36 492 klientů s pokročilou demencí nenalezen rozdíl v přežití </a:t>
            </a:r>
            <a:r>
              <a:rPr lang="en-US" sz="1800">
                <a:solidFill>
                  <a:srgbClr val="4A6884"/>
                </a:solidFill>
                <a:latin typeface="Inter"/>
                <a:ea typeface="Inter"/>
                <a:cs typeface="Inter"/>
                <a:sym typeface="Inter"/>
              </a:rPr>
              <a:t>Teno 2012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68403" y="564680"/>
            <a:ext cx="157563" cy="33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1425" spc="185">
                <a:solidFill>
                  <a:srgbClr val="1D5994"/>
                </a:solidFill>
                <a:latin typeface="Arimo"/>
                <a:ea typeface="Arimo"/>
                <a:cs typeface="Arimo"/>
                <a:sym typeface="Arimo"/>
              </a:rPr>
              <a:t>V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510113" y="564680"/>
            <a:ext cx="1742151" cy="268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1425" spc="185">
                <a:solidFill>
                  <a:srgbClr val="4A6884"/>
                </a:solidFill>
                <a:latin typeface="Arimo"/>
                <a:ea typeface="Arimo"/>
                <a:cs typeface="Arimo"/>
                <a:sym typeface="Arimo"/>
              </a:rPr>
              <a:t>ROZHODOVÁNÍ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3147489" y="728662"/>
            <a:ext cx="209550" cy="28575"/>
            <a:chOff x="0" y="0"/>
            <a:chExt cx="279400" cy="381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1D5994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404664" y="728662"/>
            <a:ext cx="209550" cy="28575"/>
            <a:chOff x="0" y="0"/>
            <a:chExt cx="279400" cy="381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1D5994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3661839" y="728662"/>
            <a:ext cx="209550" cy="28575"/>
            <a:chOff x="0" y="0"/>
            <a:chExt cx="279400" cy="381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1D5994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919014" y="728662"/>
            <a:ext cx="209550" cy="28575"/>
            <a:chOff x="0" y="0"/>
            <a:chExt cx="279400" cy="381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1D5994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4176189" y="728662"/>
            <a:ext cx="209550" cy="28575"/>
            <a:chOff x="0" y="0"/>
            <a:chExt cx="279400" cy="381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1D5994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4433364" y="728662"/>
            <a:ext cx="209550" cy="28575"/>
            <a:chOff x="0" y="0"/>
            <a:chExt cx="279400" cy="381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AFC4D6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6245583" y="564680"/>
            <a:ext cx="950214" cy="33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1425" spc="185">
                <a:solidFill>
                  <a:srgbClr val="4A6884"/>
                </a:solidFill>
                <a:latin typeface="Arimo"/>
                <a:ea typeface="Arimo"/>
                <a:cs typeface="Arimo"/>
                <a:sym typeface="Arimo"/>
              </a:rPr>
              <a:t>31 / 42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68403" y="1425578"/>
            <a:ext cx="15253973" cy="1485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68"/>
              </a:lnSpc>
            </a:pPr>
            <a:r>
              <a:rPr lang="en-US" sz="5550" spc="-133">
                <a:solidFill>
                  <a:srgbClr val="0F2C47"/>
                </a:solidFill>
                <a:latin typeface="Arimo"/>
                <a:ea typeface="Arimo"/>
                <a:cs typeface="Arimo"/>
                <a:sym typeface="Arimo"/>
              </a:rPr>
              <a:t>Co by si přál Váš příbuzný, kdyby mohl volit sám?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143000" y="3929062"/>
            <a:ext cx="7543800" cy="9525"/>
            <a:chOff x="0" y="0"/>
            <a:chExt cx="10058400" cy="127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058400" cy="12700"/>
            </a:xfrm>
            <a:custGeom>
              <a:avLst/>
              <a:gdLst/>
              <a:ahLst/>
              <a:cxnLst/>
              <a:rect r="r" b="b" t="t" l="l"/>
              <a:pathLst>
                <a:path h="1270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AFC4D6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168403" y="4049716"/>
            <a:ext cx="7719317" cy="758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875">
                <a:solidFill>
                  <a:srgbClr val="0F2C47"/>
                </a:solidFill>
                <a:latin typeface="Inter"/>
                <a:ea typeface="Inter"/>
                <a:cs typeface="Inter"/>
                <a:sym typeface="Inter"/>
              </a:rPr>
              <a:t>Sdělil Vám příbuzný někdy svá přání ohledně léčby pro případ vážné nemoci?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143000" y="4938712"/>
            <a:ext cx="7543800" cy="9525"/>
            <a:chOff x="0" y="0"/>
            <a:chExt cx="10058400" cy="127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058400" cy="12700"/>
            </a:xfrm>
            <a:custGeom>
              <a:avLst/>
              <a:gdLst/>
              <a:ahLst/>
              <a:cxnLst/>
              <a:rect r="r" b="b" t="t" l="l"/>
              <a:pathLst>
                <a:path h="1270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AFC4D6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168403" y="5059366"/>
            <a:ext cx="7719317" cy="401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875">
                <a:solidFill>
                  <a:srgbClr val="0F2C47"/>
                </a:solidFill>
                <a:latin typeface="Inter"/>
                <a:ea typeface="Inter"/>
                <a:cs typeface="Inter"/>
                <a:sym typeface="Inter"/>
              </a:rPr>
              <a:t>Má závěť, nebo vyslovil přání či preference ohledně umělé výživy?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143000" y="5591175"/>
            <a:ext cx="7543800" cy="9525"/>
            <a:chOff x="0" y="0"/>
            <a:chExt cx="10058400" cy="127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058400" cy="12700"/>
            </a:xfrm>
            <a:custGeom>
              <a:avLst/>
              <a:gdLst/>
              <a:ahLst/>
              <a:cxnLst/>
              <a:rect r="r" b="b" t="t" l="l"/>
              <a:pathLst>
                <a:path h="1270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AFC4D6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168403" y="5711828"/>
            <a:ext cx="7719317" cy="758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875">
                <a:solidFill>
                  <a:srgbClr val="0F2C47"/>
                </a:solidFill>
                <a:latin typeface="Inter"/>
                <a:ea typeface="Inter"/>
                <a:cs typeface="Inter"/>
                <a:sym typeface="Inter"/>
              </a:rPr>
              <a:t>Jaké jsou jeho přesvědčení a hodnoty ohledně péče při závažné a nevyléčitelné nemoci?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143000" y="6600825"/>
            <a:ext cx="7543800" cy="9525"/>
            <a:chOff x="0" y="0"/>
            <a:chExt cx="10058400" cy="127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058400" cy="12700"/>
            </a:xfrm>
            <a:custGeom>
              <a:avLst/>
              <a:gdLst/>
              <a:ahLst/>
              <a:cxnLst/>
              <a:rect r="r" b="b" t="t" l="l"/>
              <a:pathLst>
                <a:path h="1270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AFC4D6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1168403" y="6721478"/>
            <a:ext cx="7719317" cy="758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875">
                <a:solidFill>
                  <a:srgbClr val="0F2C47"/>
                </a:solidFill>
                <a:latin typeface="Inter"/>
                <a:ea typeface="Inter"/>
                <a:cs typeface="Inter"/>
                <a:sym typeface="Inter"/>
              </a:rPr>
              <a:t>Kdyby se mohl podívat na výhody a nevýhody, co by si přál nebo vybral?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143000" y="7610475"/>
            <a:ext cx="7543800" cy="9525"/>
            <a:chOff x="0" y="0"/>
            <a:chExt cx="10058400" cy="127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058400" cy="12700"/>
            </a:xfrm>
            <a:custGeom>
              <a:avLst/>
              <a:gdLst/>
              <a:ahLst/>
              <a:cxnLst/>
              <a:rect r="r" b="b" t="t" l="l"/>
              <a:pathLst>
                <a:path h="1270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AFC4D6"/>
            </a:solid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1168403" y="7731128"/>
            <a:ext cx="7719317" cy="401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875">
                <a:solidFill>
                  <a:srgbClr val="0F2C47"/>
                </a:solidFill>
                <a:latin typeface="Inter"/>
                <a:ea typeface="Inter"/>
                <a:cs typeface="Inter"/>
                <a:sym typeface="Inter"/>
              </a:rPr>
              <a:t>A konečně, co je podle Vás v jeho nejlepším zájmu?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9601200" y="3929062"/>
            <a:ext cx="7543800" cy="9525"/>
            <a:chOff x="0" y="0"/>
            <a:chExt cx="10058400" cy="127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058400" cy="12700"/>
            </a:xfrm>
            <a:custGeom>
              <a:avLst/>
              <a:gdLst/>
              <a:ahLst/>
              <a:cxnLst/>
              <a:rect r="r" b="b" t="t" l="l"/>
              <a:pathLst>
                <a:path h="1270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AFC4D6"/>
            </a:solid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9626603" y="4049716"/>
            <a:ext cx="7719317" cy="758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875">
                <a:solidFill>
                  <a:srgbClr val="0F2C47"/>
                </a:solidFill>
                <a:latin typeface="Inter"/>
                <a:ea typeface="Inter"/>
                <a:cs typeface="Inter"/>
                <a:sym typeface="Inter"/>
              </a:rPr>
              <a:t>Očekává lékař či specialista, že se příčina problémů s jídlem a pitím zlepší?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9601200" y="4938712"/>
            <a:ext cx="7543800" cy="9525"/>
            <a:chOff x="0" y="0"/>
            <a:chExt cx="10058400" cy="127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058400" cy="12700"/>
            </a:xfrm>
            <a:custGeom>
              <a:avLst/>
              <a:gdLst/>
              <a:ahLst/>
              <a:cxnLst/>
              <a:rect r="r" b="b" t="t" l="l"/>
              <a:pathLst>
                <a:path h="1270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AFC4D6"/>
            </a:solid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9626603" y="5059366"/>
            <a:ext cx="7719317" cy="1116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875">
                <a:solidFill>
                  <a:srgbClr val="0F2C47"/>
                </a:solidFill>
                <a:latin typeface="Inter"/>
                <a:ea typeface="Inter"/>
                <a:cs typeface="Inter"/>
                <a:sym typeface="Inter"/>
              </a:rPr>
              <a:t>Jak je pravděpodobné, že se příbuzný s demencí rozruší kvůli „hadičce“ a bude potřebovat omezovací prostředky nebo uklidňující léky?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9601200" y="6305550"/>
            <a:ext cx="7543800" cy="9525"/>
            <a:chOff x="0" y="0"/>
            <a:chExt cx="10058400" cy="127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058400" cy="12700"/>
            </a:xfrm>
            <a:custGeom>
              <a:avLst/>
              <a:gdLst/>
              <a:ahLst/>
              <a:cxnLst/>
              <a:rect r="r" b="b" t="t" l="l"/>
              <a:pathLst>
                <a:path h="1270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AFC4D6"/>
            </a:solidFill>
          </p:spPr>
        </p:sp>
      </p:grpSp>
      <p:sp>
        <p:nvSpPr>
          <p:cNvPr name="TextBox 41" id="41"/>
          <p:cNvSpPr txBox="true"/>
          <p:nvPr/>
        </p:nvSpPr>
        <p:spPr>
          <a:xfrm rot="0">
            <a:off x="9626603" y="6426203"/>
            <a:ext cx="7719317" cy="401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875">
                <a:solidFill>
                  <a:srgbClr val="0F2C47"/>
                </a:solidFill>
                <a:latin typeface="Inter"/>
                <a:ea typeface="Inter"/>
                <a:cs typeface="Inter"/>
                <a:sym typeface="Inter"/>
              </a:rPr>
              <a:t>Bude se sondou či stomií limitován v péči?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9601200" y="6958012"/>
            <a:ext cx="7543800" cy="9525"/>
            <a:chOff x="0" y="0"/>
            <a:chExt cx="10058400" cy="127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058400" cy="12700"/>
            </a:xfrm>
            <a:custGeom>
              <a:avLst/>
              <a:gdLst/>
              <a:ahLst/>
              <a:cxnLst/>
              <a:rect r="r" b="b" t="t" l="l"/>
              <a:pathLst>
                <a:path h="1270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AFC4D6"/>
            </a:solidFill>
          </p:spPr>
        </p:sp>
      </p:grpSp>
      <p:sp>
        <p:nvSpPr>
          <p:cNvPr name="TextBox 44" id="44"/>
          <p:cNvSpPr txBox="true"/>
          <p:nvPr/>
        </p:nvSpPr>
        <p:spPr>
          <a:xfrm rot="0">
            <a:off x="9626603" y="7078666"/>
            <a:ext cx="7719317" cy="401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875">
                <a:solidFill>
                  <a:srgbClr val="0F2C47"/>
                </a:solidFill>
                <a:latin typeface="Inter"/>
                <a:ea typeface="Inter"/>
                <a:cs typeface="Inter"/>
                <a:sym typeface="Inter"/>
              </a:rPr>
              <a:t>Má jiné onemocnění, které ovlivňuje rozhodnutí?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9601200" y="7610475"/>
            <a:ext cx="7543800" cy="9525"/>
            <a:chOff x="0" y="0"/>
            <a:chExt cx="10058400" cy="127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0058400" cy="12700"/>
            </a:xfrm>
            <a:custGeom>
              <a:avLst/>
              <a:gdLst/>
              <a:ahLst/>
              <a:cxnLst/>
              <a:rect r="r" b="b" t="t" l="l"/>
              <a:pathLst>
                <a:path h="1270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AFC4D6"/>
            </a:solidFill>
          </p:spPr>
        </p:sp>
      </p:grpSp>
      <p:sp>
        <p:nvSpPr>
          <p:cNvPr name="TextBox 47" id="47"/>
          <p:cNvSpPr txBox="true"/>
          <p:nvPr/>
        </p:nvSpPr>
        <p:spPr>
          <a:xfrm rot="0">
            <a:off x="9626603" y="7731128"/>
            <a:ext cx="7719317" cy="401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875">
                <a:solidFill>
                  <a:srgbClr val="0F2C47"/>
                </a:solidFill>
                <a:latin typeface="Inter"/>
                <a:ea typeface="Inter"/>
                <a:cs typeface="Inter"/>
                <a:sym typeface="Inter"/>
              </a:rPr>
              <a:t>Zdá se, že preferuje příjem potravy ústy?</a:t>
            </a: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049000" y="0"/>
            <a:ext cx="7239000" cy="10287000"/>
            <a:chOff x="0" y="0"/>
            <a:chExt cx="9652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9652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652000">
                  <a:moveTo>
                    <a:pt x="0" y="0"/>
                  </a:moveTo>
                  <a:lnTo>
                    <a:pt x="9652000" y="0"/>
                  </a:lnTo>
                  <a:lnTo>
                    <a:pt x="9652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6578" t="0" r="-56579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763002" y="0"/>
            <a:ext cx="7524998" cy="10287000"/>
            <a:chOff x="0" y="0"/>
            <a:chExt cx="1003333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03333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0033330">
                  <a:moveTo>
                    <a:pt x="0" y="0"/>
                  </a:moveTo>
                  <a:lnTo>
                    <a:pt x="10033330" y="0"/>
                  </a:lnTo>
                  <a:lnTo>
                    <a:pt x="10033330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5000">
                  <a:srgbClr val="FFFFFF">
                    <a:alpha val="100000"/>
                  </a:srgbClr>
                </a:gs>
                <a:gs pos="54000">
                  <a:srgbClr val="FFFFFF">
                    <a:alpha val="0"/>
                  </a:srgbClr>
                </a:gs>
              </a:gsLst>
              <a:lin ang="0"/>
            </a:gra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168403" y="564680"/>
            <a:ext cx="157563" cy="33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1425" spc="185">
                <a:solidFill>
                  <a:srgbClr val="1D5994"/>
                </a:solidFill>
                <a:latin typeface="Arimo"/>
                <a:ea typeface="Arimo"/>
                <a:cs typeface="Arimo"/>
                <a:sym typeface="Arimo"/>
              </a:rPr>
              <a:t>V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10113" y="564680"/>
            <a:ext cx="1589751" cy="534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1425" spc="185">
                <a:solidFill>
                  <a:srgbClr val="4A6884"/>
                </a:solidFill>
                <a:latin typeface="Arimo"/>
                <a:ea typeface="Arimo"/>
                <a:cs typeface="Arimo"/>
                <a:sym typeface="Arimo"/>
              </a:rPr>
              <a:t>ROZHODOVÁNÍ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3147489" y="728662"/>
            <a:ext cx="209550" cy="28575"/>
            <a:chOff x="0" y="0"/>
            <a:chExt cx="279400" cy="381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1D5994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404664" y="728662"/>
            <a:ext cx="209550" cy="28575"/>
            <a:chOff x="0" y="0"/>
            <a:chExt cx="279400" cy="381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1D5994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3661839" y="728662"/>
            <a:ext cx="209550" cy="28575"/>
            <a:chOff x="0" y="0"/>
            <a:chExt cx="279400" cy="381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1D5994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3919014" y="728662"/>
            <a:ext cx="209550" cy="28575"/>
            <a:chOff x="0" y="0"/>
            <a:chExt cx="279400" cy="381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1D5994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4176189" y="728662"/>
            <a:ext cx="209550" cy="28575"/>
            <a:chOff x="0" y="0"/>
            <a:chExt cx="279400" cy="381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1D5994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4433364" y="728662"/>
            <a:ext cx="209550" cy="28575"/>
            <a:chOff x="0" y="0"/>
            <a:chExt cx="279400" cy="381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AFC4D6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8701783" y="564680"/>
            <a:ext cx="950214" cy="33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1425" spc="185">
                <a:solidFill>
                  <a:srgbClr val="4A6884"/>
                </a:solidFill>
                <a:latin typeface="Arimo"/>
                <a:ea typeface="Arimo"/>
                <a:cs typeface="Arimo"/>
                <a:sym typeface="Arimo"/>
              </a:rPr>
              <a:t>32 / 42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68403" y="1406528"/>
            <a:ext cx="8661149" cy="1219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52"/>
              </a:lnSpc>
            </a:pPr>
            <a:r>
              <a:rPr lang="en-US" sz="4500" spc="-99">
                <a:solidFill>
                  <a:srgbClr val="0F2C47"/>
                </a:solidFill>
                <a:latin typeface="Arimo"/>
                <a:ea typeface="Arimo"/>
                <a:cs typeface="Arimo"/>
                <a:sym typeface="Arimo"/>
              </a:rPr>
              <a:t>Empatie je v komunikaci nezbytná.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143000" y="4193381"/>
            <a:ext cx="8458200" cy="9525"/>
            <a:chOff x="0" y="0"/>
            <a:chExt cx="11277600" cy="127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1277600" cy="12700"/>
            </a:xfrm>
            <a:custGeom>
              <a:avLst/>
              <a:gdLst/>
              <a:ahLst/>
              <a:cxnLst/>
              <a:rect r="r" b="b" t="t" l="l"/>
              <a:pathLst>
                <a:path h="12700" w="11277600">
                  <a:moveTo>
                    <a:pt x="0" y="0"/>
                  </a:moveTo>
                  <a:lnTo>
                    <a:pt x="11277600" y="0"/>
                  </a:lnTo>
                  <a:lnTo>
                    <a:pt x="112776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AFC4D6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168403" y="4323559"/>
            <a:ext cx="8661149" cy="356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8"/>
              </a:lnSpc>
            </a:pPr>
            <a:r>
              <a:rPr lang="en-US" sz="1800">
                <a:solidFill>
                  <a:srgbClr val="0F2C47"/>
                </a:solidFill>
                <a:latin typeface="Inter"/>
                <a:ea typeface="Inter"/>
                <a:cs typeface="Inter"/>
                <a:sym typeface="Inter"/>
              </a:rPr>
              <a:t>Cítíte se pod tlakem ostatních?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143000" y="4801048"/>
            <a:ext cx="8458200" cy="9525"/>
            <a:chOff x="0" y="0"/>
            <a:chExt cx="11277600" cy="127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1277600" cy="12700"/>
            </a:xfrm>
            <a:custGeom>
              <a:avLst/>
              <a:gdLst/>
              <a:ahLst/>
              <a:cxnLst/>
              <a:rect r="r" b="b" t="t" l="l"/>
              <a:pathLst>
                <a:path h="12700" w="11277600">
                  <a:moveTo>
                    <a:pt x="0" y="0"/>
                  </a:moveTo>
                  <a:lnTo>
                    <a:pt x="11277600" y="0"/>
                  </a:lnTo>
                  <a:lnTo>
                    <a:pt x="112776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AFC4D6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168403" y="4931216"/>
            <a:ext cx="8661149" cy="356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8"/>
              </a:lnSpc>
            </a:pPr>
            <a:r>
              <a:rPr lang="en-US" sz="1800">
                <a:solidFill>
                  <a:srgbClr val="0F2C47"/>
                </a:solidFill>
                <a:latin typeface="Inter"/>
                <a:ea typeface="Inter"/>
                <a:cs typeface="Inter"/>
                <a:sym typeface="Inter"/>
              </a:rPr>
              <a:t>Cítíte se rozpolceni mezi vlastním přesvědčením a přesvědčením pacienta?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143000" y="5408714"/>
            <a:ext cx="8458200" cy="9525"/>
            <a:chOff x="0" y="0"/>
            <a:chExt cx="11277600" cy="127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1277600" cy="12700"/>
            </a:xfrm>
            <a:custGeom>
              <a:avLst/>
              <a:gdLst/>
              <a:ahLst/>
              <a:cxnLst/>
              <a:rect r="r" b="b" t="t" l="l"/>
              <a:pathLst>
                <a:path h="12700" w="11277600">
                  <a:moveTo>
                    <a:pt x="0" y="0"/>
                  </a:moveTo>
                  <a:lnTo>
                    <a:pt x="11277600" y="0"/>
                  </a:lnTo>
                  <a:lnTo>
                    <a:pt x="112776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AFC4D6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1168403" y="5538883"/>
            <a:ext cx="8661149" cy="356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8"/>
              </a:lnSpc>
            </a:pPr>
            <a:r>
              <a:rPr lang="en-US" sz="1800">
                <a:solidFill>
                  <a:srgbClr val="0F2C47"/>
                </a:solidFill>
                <a:latin typeface="Inter"/>
                <a:ea typeface="Inter"/>
                <a:cs typeface="Inter"/>
                <a:sym typeface="Inter"/>
              </a:rPr>
              <a:t>Máte nezodpovězené otázky a potřebujete více informací, než se rozhodnete?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143000" y="6016381"/>
            <a:ext cx="8458200" cy="9525"/>
            <a:chOff x="0" y="0"/>
            <a:chExt cx="11277600" cy="127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1277600" cy="12700"/>
            </a:xfrm>
            <a:custGeom>
              <a:avLst/>
              <a:gdLst/>
              <a:ahLst/>
              <a:cxnLst/>
              <a:rect r="r" b="b" t="t" l="l"/>
              <a:pathLst>
                <a:path h="12700" w="11277600">
                  <a:moveTo>
                    <a:pt x="0" y="0"/>
                  </a:moveTo>
                  <a:lnTo>
                    <a:pt x="11277600" y="0"/>
                  </a:lnTo>
                  <a:lnTo>
                    <a:pt x="112776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AFC4D6"/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1168403" y="6146549"/>
            <a:ext cx="8661149" cy="356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8"/>
              </a:lnSpc>
            </a:pPr>
            <a:r>
              <a:rPr lang="en-US" sz="1800">
                <a:solidFill>
                  <a:srgbClr val="0F2C47"/>
                </a:solidFill>
                <a:latin typeface="Inter"/>
                <a:ea typeface="Inter"/>
                <a:cs typeface="Inter"/>
                <a:sym typeface="Inter"/>
              </a:rPr>
              <a:t>Jaký je Váš celkový pocit ze správné volby?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68403" y="6897091"/>
            <a:ext cx="8661149" cy="1114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1"/>
              </a:lnSpc>
            </a:pPr>
            <a:r>
              <a:rPr lang="en-US" sz="1800">
                <a:solidFill>
                  <a:srgbClr val="4A6884"/>
                </a:solidFill>
                <a:latin typeface="Inter"/>
                <a:ea typeface="Inter"/>
                <a:cs typeface="Inter"/>
                <a:sym typeface="Inter"/>
              </a:rPr>
              <a:t>Rozhodující osoba by měla vědět, že může sdílet své obavy a pocity, může se informovat i své rozhodnutí v čase změnit. Měla by znát veškerá rizika i benefity obou možností a </a:t>
            </a:r>
            <a:r>
              <a:rPr lang="en-US" sz="1800" b="true">
                <a:solidFill>
                  <a:srgbClr val="0F2C47"/>
                </a:solidFill>
                <a:latin typeface="Inter Bold"/>
                <a:ea typeface="Inter Bold"/>
                <a:cs typeface="Inter Bold"/>
                <a:sym typeface="Inter Bold"/>
              </a:rPr>
              <a:t>zůstat v plném zapojení plánu péče</a:t>
            </a:r>
            <a:r>
              <a:rPr lang="en-US" sz="1800">
                <a:solidFill>
                  <a:srgbClr val="4A6884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68403" y="564680"/>
            <a:ext cx="157563" cy="33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1425" spc="185">
                <a:solidFill>
                  <a:srgbClr val="1D5994"/>
                </a:solidFill>
                <a:latin typeface="Arimo"/>
                <a:ea typeface="Arimo"/>
                <a:cs typeface="Arimo"/>
                <a:sym typeface="Arimo"/>
              </a:rPr>
              <a:t>V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510113" y="564680"/>
            <a:ext cx="1742151" cy="268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1425" spc="185">
                <a:solidFill>
                  <a:srgbClr val="4A6884"/>
                </a:solidFill>
                <a:latin typeface="Arimo"/>
                <a:ea typeface="Arimo"/>
                <a:cs typeface="Arimo"/>
                <a:sym typeface="Arimo"/>
              </a:rPr>
              <a:t>ROZHODOVÁNÍ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3147489" y="728662"/>
            <a:ext cx="209550" cy="28575"/>
            <a:chOff x="0" y="0"/>
            <a:chExt cx="279400" cy="381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1D5994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404664" y="728662"/>
            <a:ext cx="209550" cy="28575"/>
            <a:chOff x="0" y="0"/>
            <a:chExt cx="279400" cy="381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1D5994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3661839" y="728662"/>
            <a:ext cx="209550" cy="28575"/>
            <a:chOff x="0" y="0"/>
            <a:chExt cx="279400" cy="381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1D5994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919014" y="728662"/>
            <a:ext cx="209550" cy="28575"/>
            <a:chOff x="0" y="0"/>
            <a:chExt cx="279400" cy="381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1D5994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4176189" y="728662"/>
            <a:ext cx="209550" cy="28575"/>
            <a:chOff x="0" y="0"/>
            <a:chExt cx="279400" cy="381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1D5994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4433364" y="728662"/>
            <a:ext cx="209550" cy="28575"/>
            <a:chOff x="0" y="0"/>
            <a:chExt cx="279400" cy="381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AFC4D6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6245583" y="564680"/>
            <a:ext cx="950214" cy="33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1425" spc="185">
                <a:solidFill>
                  <a:srgbClr val="4A6884"/>
                </a:solidFill>
                <a:latin typeface="Arimo"/>
                <a:ea typeface="Arimo"/>
                <a:cs typeface="Arimo"/>
                <a:sym typeface="Arimo"/>
              </a:rPr>
              <a:t>33 / 42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68403" y="2825010"/>
            <a:ext cx="16431263" cy="3471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7"/>
              </a:lnSpc>
            </a:pPr>
            <a:r>
              <a:rPr lang="en-US" sz="2850" spc="-28">
                <a:solidFill>
                  <a:srgbClr val="0F2C47"/>
                </a:solidFill>
                <a:latin typeface="Arimo"/>
                <a:ea typeface="Arimo"/>
                <a:cs typeface="Arimo"/>
                <a:sym typeface="Arimo"/>
              </a:rPr>
              <a:t>„Nenašli jsme žádné důkazy o tom, že by živení sondou či stomií zlepšovalo přežití, zlepšovalo kvalitu života, snižovalo bolest, snižovalo úmrtnost, snižovalo behaviorální a psychologické příznaky demence, vedlo k lepší výživě, zlepšovalo psychologické symptomy rodiny nebo pečovatelů, jako jsou deprese, úzkost, zátěž pečovatelů nebo spokojenost s péčí, a žádné náznaky škodlivosti. Našli jsme určité důkazy o tom, že existuje klinicky významné riziko vzniku dekubitů při enterálním živení. Budoucí výzkum by se měl zaměřit na hodnotnější výzkum a porovnávání kontrolních a intervenčních skupin a na jasně definované intervence a měření všech zde uvedených výsledků.“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68403" y="6623171"/>
            <a:ext cx="16431263" cy="312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5"/>
              </a:lnSpc>
            </a:pPr>
            <a:r>
              <a:rPr lang="en-US" sz="1650">
                <a:solidFill>
                  <a:srgbClr val="4A6884"/>
                </a:solidFill>
                <a:latin typeface="Arimo"/>
                <a:ea typeface="Arimo"/>
                <a:cs typeface="Arimo"/>
                <a:sym typeface="Arimo"/>
              </a:rPr>
              <a:t>Davies N, Barrado-Martín Y, Vickerstaff V, et al. Enteral tube feeding for people with severe dementia. Cochrane Database Syst Rev 2021;8:CD013503.</a:t>
            </a:r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68403" y="564680"/>
            <a:ext cx="157563" cy="33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1425" spc="185">
                <a:solidFill>
                  <a:srgbClr val="1D5994"/>
                </a:solidFill>
                <a:latin typeface="Arimo"/>
                <a:ea typeface="Arimo"/>
                <a:cs typeface="Arimo"/>
                <a:sym typeface="Arimo"/>
              </a:rPr>
              <a:t>V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510113" y="564680"/>
            <a:ext cx="1589751" cy="534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1425" spc="185">
                <a:solidFill>
                  <a:srgbClr val="4A6884"/>
                </a:solidFill>
                <a:latin typeface="Arimo"/>
                <a:ea typeface="Arimo"/>
                <a:cs typeface="Arimo"/>
                <a:sym typeface="Arimo"/>
              </a:rPr>
              <a:t>ROZHODOVÁNÍ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3147489" y="728662"/>
            <a:ext cx="209550" cy="28575"/>
            <a:chOff x="0" y="0"/>
            <a:chExt cx="279400" cy="381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1D5994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404664" y="728662"/>
            <a:ext cx="209550" cy="28575"/>
            <a:chOff x="0" y="0"/>
            <a:chExt cx="279400" cy="381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1D5994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3661839" y="728662"/>
            <a:ext cx="209550" cy="28575"/>
            <a:chOff x="0" y="0"/>
            <a:chExt cx="279400" cy="381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1D5994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919014" y="728662"/>
            <a:ext cx="209550" cy="28575"/>
            <a:chOff x="0" y="0"/>
            <a:chExt cx="279400" cy="381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1D5994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4176189" y="728662"/>
            <a:ext cx="209550" cy="28575"/>
            <a:chOff x="0" y="0"/>
            <a:chExt cx="279400" cy="381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1D5994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4433364" y="728662"/>
            <a:ext cx="209550" cy="28575"/>
            <a:chOff x="0" y="0"/>
            <a:chExt cx="279400" cy="381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AFC4D6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6245583" y="564680"/>
            <a:ext cx="950214" cy="33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1425" spc="185">
                <a:solidFill>
                  <a:srgbClr val="4A6884"/>
                </a:solidFill>
                <a:latin typeface="Arimo"/>
                <a:ea typeface="Arimo"/>
                <a:cs typeface="Arimo"/>
                <a:sym typeface="Arimo"/>
              </a:rPr>
              <a:t>34 / 42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68403" y="1425578"/>
            <a:ext cx="15253973" cy="1485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68"/>
              </a:lnSpc>
            </a:pPr>
            <a:r>
              <a:rPr lang="en-US" sz="5550" spc="-133">
                <a:solidFill>
                  <a:srgbClr val="0F2C47"/>
                </a:solidFill>
                <a:latin typeface="Arimo"/>
                <a:ea typeface="Arimo"/>
                <a:cs typeface="Arimo"/>
                <a:sym typeface="Arimo"/>
              </a:rPr>
              <a:t>Jak budeme postupovat u pana Jaroslava v péči?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143000" y="4217194"/>
            <a:ext cx="7543800" cy="9525"/>
            <a:chOff x="0" y="0"/>
            <a:chExt cx="10058400" cy="127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058400" cy="12700"/>
            </a:xfrm>
            <a:custGeom>
              <a:avLst/>
              <a:gdLst/>
              <a:ahLst/>
              <a:cxnLst/>
              <a:rect r="r" b="b" t="t" l="l"/>
              <a:pathLst>
                <a:path h="1270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AFC4D6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168403" y="4347372"/>
            <a:ext cx="558803" cy="401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6"/>
              </a:lnSpc>
            </a:pPr>
            <a:r>
              <a:rPr lang="en-US" sz="1875">
                <a:solidFill>
                  <a:srgbClr val="1D5994"/>
                </a:solidFill>
                <a:latin typeface="Arimo"/>
                <a:ea typeface="Arimo"/>
                <a:cs typeface="Arimo"/>
                <a:sym typeface="Arimo"/>
              </a:rPr>
              <a:t>01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854203" y="4347372"/>
            <a:ext cx="7493003" cy="401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875">
                <a:solidFill>
                  <a:srgbClr val="0F2C47"/>
                </a:solidFill>
                <a:latin typeface="Inter"/>
                <a:ea typeface="Inter"/>
                <a:cs typeface="Inter"/>
                <a:sym typeface="Inter"/>
              </a:rPr>
              <a:t>Informujeme ošetřujícího lékaře o stávající situaci.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143000" y="4888706"/>
            <a:ext cx="7543800" cy="9525"/>
            <a:chOff x="0" y="0"/>
            <a:chExt cx="10058400" cy="127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058400" cy="12700"/>
            </a:xfrm>
            <a:custGeom>
              <a:avLst/>
              <a:gdLst/>
              <a:ahLst/>
              <a:cxnLst/>
              <a:rect r="r" b="b" t="t" l="l"/>
              <a:pathLst>
                <a:path h="1270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AFC4D6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168403" y="5018884"/>
            <a:ext cx="558803" cy="758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6"/>
              </a:lnSpc>
            </a:pPr>
            <a:r>
              <a:rPr lang="en-US" sz="1875">
                <a:solidFill>
                  <a:srgbClr val="1D5994"/>
                </a:solidFill>
                <a:latin typeface="Arimo"/>
                <a:ea typeface="Arimo"/>
                <a:cs typeface="Arimo"/>
                <a:sym typeface="Arimo"/>
              </a:rPr>
              <a:t>02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854203" y="5018884"/>
            <a:ext cx="7012943" cy="758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875">
                <a:solidFill>
                  <a:srgbClr val="0F2C47"/>
                </a:solidFill>
                <a:latin typeface="Inter"/>
                <a:ea typeface="Inter"/>
                <a:cs typeface="Inter"/>
                <a:sym typeface="Inter"/>
              </a:rPr>
              <a:t>Zavoláme zákonnému zástupci a vysvětlíme, co se v příjmu stravy u klienta změnilo.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143000" y="5917406"/>
            <a:ext cx="7543800" cy="9525"/>
            <a:chOff x="0" y="0"/>
            <a:chExt cx="10058400" cy="127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058400" cy="12700"/>
            </a:xfrm>
            <a:custGeom>
              <a:avLst/>
              <a:gdLst/>
              <a:ahLst/>
              <a:cxnLst/>
              <a:rect r="r" b="b" t="t" l="l"/>
              <a:pathLst>
                <a:path h="1270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AFC4D6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168403" y="6047584"/>
            <a:ext cx="558803" cy="758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6"/>
              </a:lnSpc>
            </a:pPr>
            <a:r>
              <a:rPr lang="en-US" sz="1875">
                <a:solidFill>
                  <a:srgbClr val="1D5994"/>
                </a:solidFill>
                <a:latin typeface="Arimo"/>
                <a:ea typeface="Arimo"/>
                <a:cs typeface="Arimo"/>
                <a:sym typeface="Arimo"/>
              </a:rPr>
              <a:t>03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854203" y="6047584"/>
            <a:ext cx="7012943" cy="758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875">
                <a:solidFill>
                  <a:srgbClr val="0F2C47"/>
                </a:solidFill>
                <a:latin typeface="Inter"/>
                <a:ea typeface="Inter"/>
                <a:cs typeface="Inter"/>
                <a:sym typeface="Inter"/>
              </a:rPr>
              <a:t>Vysvětlíme, že změny v příjmu stravy napovídají progresi demence a jsou očekávané.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143000" y="6946106"/>
            <a:ext cx="7543800" cy="9525"/>
            <a:chOff x="0" y="0"/>
            <a:chExt cx="10058400" cy="127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058400" cy="12700"/>
            </a:xfrm>
            <a:custGeom>
              <a:avLst/>
              <a:gdLst/>
              <a:ahLst/>
              <a:cxnLst/>
              <a:rect r="r" b="b" t="t" l="l"/>
              <a:pathLst>
                <a:path h="1270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AFC4D6"/>
            </a:solid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1168403" y="7076284"/>
            <a:ext cx="558803" cy="758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6"/>
              </a:lnSpc>
            </a:pPr>
            <a:r>
              <a:rPr lang="en-US" sz="1875">
                <a:solidFill>
                  <a:srgbClr val="1D5994"/>
                </a:solidFill>
                <a:latin typeface="Arimo"/>
                <a:ea typeface="Arimo"/>
                <a:cs typeface="Arimo"/>
                <a:sym typeface="Arimo"/>
              </a:rPr>
              <a:t>04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854203" y="7076284"/>
            <a:ext cx="7012943" cy="758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875">
                <a:solidFill>
                  <a:srgbClr val="0F2C47"/>
                </a:solidFill>
                <a:latin typeface="Inter"/>
                <a:ea typeface="Inter"/>
                <a:cs typeface="Inter"/>
                <a:sym typeface="Inter"/>
              </a:rPr>
              <a:t>Vysvětlíme rodině i pečujícím zdravotníkům koncept „comfort feeding“.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9601200" y="4217194"/>
            <a:ext cx="7543800" cy="9525"/>
            <a:chOff x="0" y="0"/>
            <a:chExt cx="10058400" cy="127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058400" cy="12700"/>
            </a:xfrm>
            <a:custGeom>
              <a:avLst/>
              <a:gdLst/>
              <a:ahLst/>
              <a:cxnLst/>
              <a:rect r="r" b="b" t="t" l="l"/>
              <a:pathLst>
                <a:path h="1270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AFC4D6"/>
            </a:solid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9626603" y="4347372"/>
            <a:ext cx="558803" cy="1116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6"/>
              </a:lnSpc>
            </a:pPr>
            <a:r>
              <a:rPr lang="en-US" sz="1875">
                <a:solidFill>
                  <a:srgbClr val="1D5994"/>
                </a:solidFill>
                <a:latin typeface="Arimo"/>
                <a:ea typeface="Arimo"/>
                <a:cs typeface="Arimo"/>
                <a:sym typeface="Arimo"/>
              </a:rPr>
              <a:t>05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0312403" y="4347372"/>
            <a:ext cx="7012943" cy="1116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875">
                <a:solidFill>
                  <a:srgbClr val="0F2C47"/>
                </a:solidFill>
                <a:latin typeface="Inter"/>
                <a:ea typeface="Inter"/>
                <a:cs typeface="Inter"/>
                <a:sym typeface="Inter"/>
              </a:rPr>
              <a:t>Ujistíme se, že rodina i pečující chápou, že tento koncept nezajistí nutriční nároky (energetické ani v příjmu makro- a mikronutrientů).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9601200" y="5603081"/>
            <a:ext cx="7543800" cy="9525"/>
            <a:chOff x="0" y="0"/>
            <a:chExt cx="10058400" cy="127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058400" cy="12700"/>
            </a:xfrm>
            <a:custGeom>
              <a:avLst/>
              <a:gdLst/>
              <a:ahLst/>
              <a:cxnLst/>
              <a:rect r="r" b="b" t="t" l="l"/>
              <a:pathLst>
                <a:path h="1270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AFC4D6"/>
            </a:solidFill>
          </p:spPr>
        </p:sp>
      </p:grpSp>
      <p:sp>
        <p:nvSpPr>
          <p:cNvPr name="TextBox 40" id="40"/>
          <p:cNvSpPr txBox="true"/>
          <p:nvPr/>
        </p:nvSpPr>
        <p:spPr>
          <a:xfrm rot="0">
            <a:off x="9626603" y="5733259"/>
            <a:ext cx="558803" cy="401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6"/>
              </a:lnSpc>
            </a:pPr>
            <a:r>
              <a:rPr lang="en-US" sz="1875">
                <a:solidFill>
                  <a:srgbClr val="1D5994"/>
                </a:solidFill>
                <a:latin typeface="Arimo"/>
                <a:ea typeface="Arimo"/>
                <a:cs typeface="Arimo"/>
                <a:sym typeface="Arimo"/>
              </a:rPr>
              <a:t>06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0312403" y="5733259"/>
            <a:ext cx="7493003" cy="401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875">
                <a:solidFill>
                  <a:srgbClr val="0F2C47"/>
                </a:solidFill>
                <a:latin typeface="Inter"/>
                <a:ea typeface="Inter"/>
                <a:cs typeface="Inter"/>
                <a:sym typeface="Inter"/>
              </a:rPr>
              <a:t>Odpovíme rodině na otázky, které mají.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9601200" y="6274594"/>
            <a:ext cx="7543800" cy="9525"/>
            <a:chOff x="0" y="0"/>
            <a:chExt cx="10058400" cy="127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058400" cy="12700"/>
            </a:xfrm>
            <a:custGeom>
              <a:avLst/>
              <a:gdLst/>
              <a:ahLst/>
              <a:cxnLst/>
              <a:rect r="r" b="b" t="t" l="l"/>
              <a:pathLst>
                <a:path h="1270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AFC4D6"/>
            </a:solidFill>
          </p:spPr>
        </p:sp>
      </p:grpSp>
      <p:sp>
        <p:nvSpPr>
          <p:cNvPr name="TextBox 44" id="44"/>
          <p:cNvSpPr txBox="true"/>
          <p:nvPr/>
        </p:nvSpPr>
        <p:spPr>
          <a:xfrm rot="0">
            <a:off x="9626603" y="6404772"/>
            <a:ext cx="558803" cy="401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6"/>
              </a:lnSpc>
            </a:pPr>
            <a:r>
              <a:rPr lang="en-US" sz="1875">
                <a:solidFill>
                  <a:srgbClr val="1D5994"/>
                </a:solidFill>
                <a:latin typeface="Arimo"/>
                <a:ea typeface="Arimo"/>
                <a:cs typeface="Arimo"/>
                <a:sym typeface="Arimo"/>
              </a:rPr>
              <a:t>07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0312403" y="6404772"/>
            <a:ext cx="7493003" cy="401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875">
                <a:solidFill>
                  <a:srgbClr val="0F2C47"/>
                </a:solidFill>
                <a:latin typeface="Inter"/>
                <a:ea typeface="Inter"/>
                <a:cs typeface="Inter"/>
                <a:sym typeface="Inter"/>
              </a:rPr>
              <a:t>Nabídneme jim možnost informování o změně hmotnosti.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9601200" y="6946106"/>
            <a:ext cx="7543800" cy="9525"/>
            <a:chOff x="0" y="0"/>
            <a:chExt cx="10058400" cy="127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0058400" cy="12700"/>
            </a:xfrm>
            <a:custGeom>
              <a:avLst/>
              <a:gdLst/>
              <a:ahLst/>
              <a:cxnLst/>
              <a:rect r="r" b="b" t="t" l="l"/>
              <a:pathLst>
                <a:path h="1270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AFC4D6"/>
            </a:solidFill>
          </p:spPr>
        </p:sp>
      </p:grpSp>
      <p:sp>
        <p:nvSpPr>
          <p:cNvPr name="TextBox 48" id="48"/>
          <p:cNvSpPr txBox="true"/>
          <p:nvPr/>
        </p:nvSpPr>
        <p:spPr>
          <a:xfrm rot="0">
            <a:off x="9626603" y="7076284"/>
            <a:ext cx="558803" cy="758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6"/>
              </a:lnSpc>
            </a:pPr>
            <a:r>
              <a:rPr lang="en-US" sz="1875">
                <a:solidFill>
                  <a:srgbClr val="1D5994"/>
                </a:solidFill>
                <a:latin typeface="Arimo"/>
                <a:ea typeface="Arimo"/>
                <a:cs typeface="Arimo"/>
                <a:sym typeface="Arimo"/>
              </a:rPr>
              <a:t>08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0312403" y="7076284"/>
            <a:ext cx="7012943" cy="758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875">
                <a:solidFill>
                  <a:srgbClr val="0F2C47"/>
                </a:solidFill>
                <a:latin typeface="Inter"/>
                <a:ea typeface="Inter"/>
                <a:cs typeface="Inter"/>
                <a:sym typeface="Inter"/>
              </a:rPr>
              <a:t>Informujeme pečující tým, že EOL lze očekávat v blízké budoucnosti.</a:t>
            </a:r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68403" y="564680"/>
            <a:ext cx="157563" cy="33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1425" spc="185">
                <a:solidFill>
                  <a:srgbClr val="1D5994"/>
                </a:solidFill>
                <a:latin typeface="Arimo"/>
                <a:ea typeface="Arimo"/>
                <a:cs typeface="Arimo"/>
                <a:sym typeface="Arimo"/>
              </a:rPr>
              <a:t>V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510113" y="564680"/>
            <a:ext cx="1742151" cy="268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1425" spc="185">
                <a:solidFill>
                  <a:srgbClr val="4A6884"/>
                </a:solidFill>
                <a:latin typeface="Arimo"/>
                <a:ea typeface="Arimo"/>
                <a:cs typeface="Arimo"/>
                <a:sym typeface="Arimo"/>
              </a:rPr>
              <a:t>ROZHODOVÁNÍ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3147489" y="728662"/>
            <a:ext cx="209550" cy="28575"/>
            <a:chOff x="0" y="0"/>
            <a:chExt cx="279400" cy="381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1D5994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404664" y="728662"/>
            <a:ext cx="209550" cy="28575"/>
            <a:chOff x="0" y="0"/>
            <a:chExt cx="279400" cy="381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1D5994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3661839" y="728662"/>
            <a:ext cx="209550" cy="28575"/>
            <a:chOff x="0" y="0"/>
            <a:chExt cx="279400" cy="381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1D5994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919014" y="728662"/>
            <a:ext cx="209550" cy="28575"/>
            <a:chOff x="0" y="0"/>
            <a:chExt cx="279400" cy="381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1D5994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4176189" y="728662"/>
            <a:ext cx="209550" cy="28575"/>
            <a:chOff x="0" y="0"/>
            <a:chExt cx="279400" cy="381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1D5994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4433364" y="728662"/>
            <a:ext cx="209550" cy="28575"/>
            <a:chOff x="0" y="0"/>
            <a:chExt cx="279400" cy="381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AFC4D6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6245583" y="564680"/>
            <a:ext cx="950214" cy="33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1425" spc="185">
                <a:solidFill>
                  <a:srgbClr val="4A6884"/>
                </a:solidFill>
                <a:latin typeface="Arimo"/>
                <a:ea typeface="Arimo"/>
                <a:cs typeface="Arimo"/>
                <a:sym typeface="Arimo"/>
              </a:rPr>
              <a:t>36 / 42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68403" y="3683146"/>
            <a:ext cx="16431263" cy="33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1425" spc="185">
                <a:solidFill>
                  <a:srgbClr val="1D5994"/>
                </a:solidFill>
                <a:latin typeface="Arimo"/>
                <a:ea typeface="Arimo"/>
                <a:cs typeface="Arimo"/>
                <a:sym typeface="Arimo"/>
              </a:rPr>
              <a:t>NA KONEC NĚCO K NAHLÉDNUTÍ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68403" y="4519193"/>
            <a:ext cx="14617703" cy="674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88"/>
              </a:lnSpc>
            </a:pPr>
            <a:r>
              <a:rPr lang="en-US" sz="5400" spc="-130">
                <a:solidFill>
                  <a:srgbClr val="0F2C47"/>
                </a:solidFill>
                <a:latin typeface="Arimo"/>
                <a:ea typeface="Arimo"/>
                <a:cs typeface="Arimo"/>
                <a:sym typeface="Arimo"/>
              </a:rPr>
              <a:t>A Man on the Inside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68403" y="5559276"/>
            <a:ext cx="11722103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250">
                <a:solidFill>
                  <a:srgbClr val="4A6884"/>
                </a:solidFill>
                <a:latin typeface="Inter"/>
                <a:ea typeface="Inter"/>
                <a:cs typeface="Inter"/>
                <a:sym typeface="Inter"/>
              </a:rPr>
              <a:t>Komediální série o životě v rezidenčním zařízení. Užitečná jako obraz toho, </a:t>
            </a:r>
          </a:p>
          <a:p>
            <a:pPr algn="l">
              <a:lnSpc>
                <a:spcPts val="3375"/>
              </a:lnSpc>
            </a:pPr>
            <a:r>
              <a:rPr lang="en-US" sz="2250">
                <a:solidFill>
                  <a:srgbClr val="4A6884"/>
                </a:solidFill>
                <a:latin typeface="Inter"/>
                <a:ea typeface="Inter"/>
                <a:cs typeface="Inter"/>
                <a:sym typeface="Inter"/>
              </a:rPr>
              <a:t>jak prostředí, vztahy a všední den vypadají očima klienta, ne systému.</a:t>
            </a:r>
          </a:p>
        </p:txBody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68403" y="564680"/>
            <a:ext cx="289646" cy="33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1425" spc="185">
                <a:solidFill>
                  <a:srgbClr val="1D5994"/>
                </a:solidFill>
                <a:latin typeface="Arimo"/>
                <a:ea typeface="Arimo"/>
                <a:cs typeface="Arimo"/>
                <a:sym typeface="Arimo"/>
              </a:rPr>
              <a:t>VI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642196" y="564680"/>
            <a:ext cx="1108967" cy="268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1425" spc="185">
                <a:solidFill>
                  <a:srgbClr val="4A6884"/>
                </a:solidFill>
                <a:latin typeface="Arimo"/>
                <a:ea typeface="Arimo"/>
                <a:cs typeface="Arimo"/>
                <a:sym typeface="Arimo"/>
              </a:rPr>
              <a:t>PŘÍLOHA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2751163" y="728662"/>
            <a:ext cx="209550" cy="28575"/>
            <a:chOff x="0" y="0"/>
            <a:chExt cx="279400" cy="381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1D5994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008338" y="728662"/>
            <a:ext cx="209550" cy="28575"/>
            <a:chOff x="0" y="0"/>
            <a:chExt cx="279400" cy="381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1D5994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3265513" y="728662"/>
            <a:ext cx="209550" cy="28575"/>
            <a:chOff x="0" y="0"/>
            <a:chExt cx="279400" cy="381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1D5994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522688" y="728662"/>
            <a:ext cx="209550" cy="28575"/>
            <a:chOff x="0" y="0"/>
            <a:chExt cx="279400" cy="381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1D5994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3779863" y="728662"/>
            <a:ext cx="209550" cy="28575"/>
            <a:chOff x="0" y="0"/>
            <a:chExt cx="279400" cy="381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1D5994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4037038" y="728662"/>
            <a:ext cx="209550" cy="28575"/>
            <a:chOff x="0" y="0"/>
            <a:chExt cx="279400" cy="381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1D5994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6245583" y="564680"/>
            <a:ext cx="950214" cy="33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1425" spc="185">
                <a:solidFill>
                  <a:srgbClr val="4A6884"/>
                </a:solidFill>
                <a:latin typeface="Arimo"/>
                <a:ea typeface="Arimo"/>
                <a:cs typeface="Arimo"/>
                <a:sym typeface="Arimo"/>
              </a:rPr>
              <a:t>38 / 42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68403" y="1416053"/>
            <a:ext cx="15253973" cy="1510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16"/>
              </a:lnSpc>
            </a:pPr>
            <a:r>
              <a:rPr lang="en-US" sz="5550" spc="-116">
                <a:solidFill>
                  <a:srgbClr val="0F2C47"/>
                </a:solidFill>
                <a:latin typeface="Arimo"/>
                <a:ea typeface="Arimo"/>
                <a:cs typeface="Arimo"/>
                <a:sym typeface="Arimo"/>
              </a:rPr>
              <a:t>Přednáška stojí na osmi </a:t>
            </a:r>
          </a:p>
          <a:p>
            <a:pPr algn="l">
              <a:lnSpc>
                <a:spcPts val="5719"/>
              </a:lnSpc>
            </a:pPr>
            <a:r>
              <a:rPr lang="en-US" sz="5550" spc="-122">
                <a:solidFill>
                  <a:srgbClr val="0F2C47"/>
                </a:solidFill>
                <a:latin typeface="Arimo"/>
                <a:ea typeface="Arimo"/>
                <a:cs typeface="Arimo"/>
                <a:sym typeface="Arimo"/>
              </a:rPr>
              <a:t>doporučených postupech ESPEN.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68403" y="3938835"/>
            <a:ext cx="8247383" cy="314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2"/>
              </a:lnSpc>
            </a:pPr>
            <a:r>
              <a:rPr lang="en-US" sz="1800">
                <a:solidFill>
                  <a:srgbClr val="0F2C47"/>
                </a:solidFill>
                <a:latin typeface="Inter"/>
                <a:ea typeface="Inter"/>
                <a:cs typeface="Inter"/>
                <a:sym typeface="Inter"/>
              </a:rPr>
              <a:t>Výživa a hydratace u demence, aktualizace 2024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68403" y="4342686"/>
            <a:ext cx="8247383" cy="287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2"/>
              </a:lnSpc>
            </a:pPr>
            <a:r>
              <a:rPr lang="en-US" sz="1425">
                <a:solidFill>
                  <a:srgbClr val="4A6884"/>
                </a:solidFill>
                <a:latin typeface="Arimo"/>
                <a:ea typeface="Arimo"/>
                <a:cs typeface="Arimo"/>
                <a:sym typeface="Arimo"/>
              </a:rPr>
              <a:t>Volkert D, et al. Clin Nutr 2024;43(6):1599–1626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626603" y="3938835"/>
            <a:ext cx="8247383" cy="314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2"/>
              </a:lnSpc>
            </a:pPr>
            <a:r>
              <a:rPr lang="en-US" sz="1800">
                <a:solidFill>
                  <a:srgbClr val="0F2C47"/>
                </a:solidFill>
                <a:latin typeface="Inter"/>
                <a:ea typeface="Inter"/>
                <a:cs typeface="Inter"/>
                <a:sym typeface="Inter"/>
              </a:rPr>
              <a:t>Klinická výživa a hydratace v geriatrii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626603" y="4342686"/>
            <a:ext cx="8247383" cy="287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2"/>
              </a:lnSpc>
            </a:pPr>
            <a:r>
              <a:rPr lang="en-US" sz="1425">
                <a:solidFill>
                  <a:srgbClr val="4A6884"/>
                </a:solidFill>
                <a:latin typeface="Arimo"/>
                <a:ea typeface="Arimo"/>
                <a:cs typeface="Arimo"/>
                <a:sym typeface="Arimo"/>
              </a:rPr>
              <a:t>Volkert D, et al. Clin Nutr 2019;38:10–47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68403" y="4947961"/>
            <a:ext cx="8247383" cy="314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2"/>
              </a:lnSpc>
            </a:pPr>
            <a:r>
              <a:rPr lang="en-US" sz="1800">
                <a:solidFill>
                  <a:srgbClr val="0F2C47"/>
                </a:solidFill>
                <a:latin typeface="Inter"/>
                <a:ea typeface="Inter"/>
                <a:cs typeface="Inter"/>
                <a:sym typeface="Inter"/>
              </a:rPr>
              <a:t>Praktické doporučení: klinická výživa a hydratace v geriatrii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68403" y="5351812"/>
            <a:ext cx="8247383" cy="287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2"/>
              </a:lnSpc>
            </a:pPr>
            <a:r>
              <a:rPr lang="en-US" sz="1425">
                <a:solidFill>
                  <a:srgbClr val="4A6884"/>
                </a:solidFill>
                <a:latin typeface="Arimo"/>
                <a:ea typeface="Arimo"/>
                <a:cs typeface="Arimo"/>
                <a:sym typeface="Arimo"/>
              </a:rPr>
              <a:t>Volkert D, et al. Clin Nutr 2022;41:958–989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626603" y="4947961"/>
            <a:ext cx="8247383" cy="314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2"/>
              </a:lnSpc>
            </a:pPr>
            <a:r>
              <a:rPr lang="en-US" sz="1800">
                <a:solidFill>
                  <a:srgbClr val="0F2C47"/>
                </a:solidFill>
                <a:latin typeface="Inter"/>
                <a:ea typeface="Inter"/>
                <a:cs typeface="Inter"/>
                <a:sym typeface="Inter"/>
              </a:rPr>
              <a:t>Klinická výživa v neurologii, včetně dysfagie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626603" y="5351812"/>
            <a:ext cx="8247383" cy="287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2"/>
              </a:lnSpc>
            </a:pPr>
            <a:r>
              <a:rPr lang="en-US" sz="1425">
                <a:solidFill>
                  <a:srgbClr val="4A6884"/>
                </a:solidFill>
                <a:latin typeface="Arimo"/>
                <a:ea typeface="Arimo"/>
                <a:cs typeface="Arimo"/>
                <a:sym typeface="Arimo"/>
              </a:rPr>
              <a:t>Burgos R, et al. Clin Nutr 2018;37:354–396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68403" y="5957097"/>
            <a:ext cx="8247383" cy="314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2"/>
              </a:lnSpc>
            </a:pPr>
            <a:r>
              <a:rPr lang="en-US" sz="1800">
                <a:solidFill>
                  <a:srgbClr val="0F2C47"/>
                </a:solidFill>
                <a:latin typeface="Inter"/>
                <a:ea typeface="Inter"/>
                <a:cs typeface="Inter"/>
                <a:sym typeface="Inter"/>
              </a:rPr>
              <a:t>Etické aspekty nutriční terapie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68403" y="6360938"/>
            <a:ext cx="8247383" cy="287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2"/>
              </a:lnSpc>
            </a:pPr>
            <a:r>
              <a:rPr lang="en-US" sz="1425">
                <a:solidFill>
                  <a:srgbClr val="4A6884"/>
                </a:solidFill>
                <a:latin typeface="Arimo"/>
                <a:ea typeface="Arimo"/>
                <a:cs typeface="Arimo"/>
                <a:sym typeface="Arimo"/>
              </a:rPr>
              <a:t>Cardenas D, et al. Clin Nutr 2026;60:106622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626603" y="5957097"/>
            <a:ext cx="8247383" cy="314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2"/>
              </a:lnSpc>
            </a:pPr>
            <a:r>
              <a:rPr lang="en-US" sz="1800">
                <a:solidFill>
                  <a:srgbClr val="0F2C47"/>
                </a:solidFill>
                <a:latin typeface="Inter"/>
                <a:ea typeface="Inter"/>
                <a:cs typeface="Inter"/>
                <a:sym typeface="Inter"/>
              </a:rPr>
              <a:t>Nutriční péče v nemocnici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626603" y="6360938"/>
            <a:ext cx="8247383" cy="287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2"/>
              </a:lnSpc>
            </a:pPr>
            <a:r>
              <a:rPr lang="en-US" sz="1425">
                <a:solidFill>
                  <a:srgbClr val="4A6884"/>
                </a:solidFill>
                <a:latin typeface="Arimo"/>
                <a:ea typeface="Arimo"/>
                <a:cs typeface="Arimo"/>
                <a:sym typeface="Arimo"/>
              </a:rPr>
              <a:t>Thibault R, et al. Clin Nutr 2021;40:5684–5709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68403" y="6966223"/>
            <a:ext cx="8247383" cy="314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2"/>
              </a:lnSpc>
            </a:pPr>
            <a:r>
              <a:rPr lang="en-US" sz="1800">
                <a:solidFill>
                  <a:srgbClr val="0F2C47"/>
                </a:solidFill>
                <a:latin typeface="Inter"/>
                <a:ea typeface="Inter"/>
                <a:cs typeface="Inter"/>
                <a:sym typeface="Inter"/>
              </a:rPr>
              <a:t>Mikronutrienty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68403" y="7370064"/>
            <a:ext cx="8247383" cy="287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2"/>
              </a:lnSpc>
            </a:pPr>
            <a:r>
              <a:rPr lang="en-US" sz="1425">
                <a:solidFill>
                  <a:srgbClr val="4A6884"/>
                </a:solidFill>
                <a:latin typeface="Arimo"/>
                <a:ea typeface="Arimo"/>
                <a:cs typeface="Arimo"/>
                <a:sym typeface="Arimo"/>
              </a:rPr>
              <a:t>Berger MM, et al. Clin Nutr 2022;41:1357–1424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626603" y="6966223"/>
            <a:ext cx="8247383" cy="314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2"/>
              </a:lnSpc>
            </a:pPr>
            <a:r>
              <a:rPr lang="en-US" sz="1800">
                <a:solidFill>
                  <a:srgbClr val="0F2C47"/>
                </a:solidFill>
                <a:latin typeface="Inter"/>
                <a:ea typeface="Inter"/>
                <a:cs typeface="Inter"/>
                <a:sym typeface="Inter"/>
              </a:rPr>
              <a:t>Definice a terminologie klinické výživy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626603" y="7370064"/>
            <a:ext cx="8247383" cy="287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2"/>
              </a:lnSpc>
            </a:pPr>
            <a:r>
              <a:rPr lang="en-US" sz="1425">
                <a:solidFill>
                  <a:srgbClr val="4A6884"/>
                </a:solidFill>
                <a:latin typeface="Arimo"/>
                <a:ea typeface="Arimo"/>
                <a:cs typeface="Arimo"/>
                <a:sym typeface="Arimo"/>
              </a:rPr>
              <a:t>Cederholm T, et al. Clin Nutr 2017;36:149–164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68403" y="7975349"/>
            <a:ext cx="17551403" cy="296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9"/>
              </a:lnSpc>
            </a:pPr>
            <a:r>
              <a:rPr lang="en-US" sz="1425">
                <a:solidFill>
                  <a:srgbClr val="4A6884"/>
                </a:solidFill>
                <a:latin typeface="Arimo"/>
                <a:ea typeface="Arimo"/>
                <a:cs typeface="Arimo"/>
                <a:sym typeface="Arimo"/>
              </a:rPr>
              <a:t>Kritéria GLIM: Cederholm T, et al. Clin Nutr 2019;38:1–9 · úplný katalog ESPEN na následujících třech stranách</a:t>
            </a:r>
          </a:p>
        </p:txBody>
      </p: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68403" y="564680"/>
            <a:ext cx="289646" cy="33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1425" spc="185">
                <a:solidFill>
                  <a:srgbClr val="1D5994"/>
                </a:solidFill>
                <a:latin typeface="Arimo"/>
                <a:ea typeface="Arimo"/>
                <a:cs typeface="Arimo"/>
                <a:sym typeface="Arimo"/>
              </a:rPr>
              <a:t>VI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642196" y="564680"/>
            <a:ext cx="1061342" cy="268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1425" spc="185">
                <a:solidFill>
                  <a:srgbClr val="4A6884"/>
                </a:solidFill>
                <a:latin typeface="Arimo"/>
                <a:ea typeface="Arimo"/>
                <a:cs typeface="Arimo"/>
                <a:sym typeface="Arimo"/>
              </a:rPr>
              <a:t>PŘÍLOHA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2751163" y="728662"/>
            <a:ext cx="209550" cy="28575"/>
            <a:chOff x="0" y="0"/>
            <a:chExt cx="279400" cy="381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1D5994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008338" y="728662"/>
            <a:ext cx="209550" cy="28575"/>
            <a:chOff x="0" y="0"/>
            <a:chExt cx="279400" cy="381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1D5994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3265513" y="728662"/>
            <a:ext cx="209550" cy="28575"/>
            <a:chOff x="0" y="0"/>
            <a:chExt cx="279400" cy="381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1D5994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522688" y="728662"/>
            <a:ext cx="209550" cy="28575"/>
            <a:chOff x="0" y="0"/>
            <a:chExt cx="279400" cy="381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1D5994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3779863" y="728662"/>
            <a:ext cx="209550" cy="28575"/>
            <a:chOff x="0" y="0"/>
            <a:chExt cx="279400" cy="381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1D5994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4037038" y="728662"/>
            <a:ext cx="209550" cy="28575"/>
            <a:chOff x="0" y="0"/>
            <a:chExt cx="279400" cy="381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1D5994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6245583" y="564680"/>
            <a:ext cx="950214" cy="33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1425" spc="185">
                <a:solidFill>
                  <a:srgbClr val="4A6884"/>
                </a:solidFill>
                <a:latin typeface="Arimo"/>
                <a:ea typeface="Arimo"/>
                <a:cs typeface="Arimo"/>
                <a:sym typeface="Arimo"/>
              </a:rPr>
              <a:t>39 / 42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68403" y="1406528"/>
            <a:ext cx="15253973" cy="1219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52"/>
              </a:lnSpc>
            </a:pPr>
            <a:r>
              <a:rPr lang="en-US" sz="4500" spc="-99">
                <a:solidFill>
                  <a:srgbClr val="0F2C47"/>
                </a:solidFill>
                <a:latin typeface="Arimo"/>
                <a:ea typeface="Arimo"/>
                <a:cs typeface="Arimo"/>
                <a:sym typeface="Arimo"/>
              </a:rPr>
              <a:t>Katalog ESPEN má dvacet jedna doporučených postupů. Sedm platí napříč péčí.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68403" y="3955132"/>
            <a:ext cx="8247383" cy="293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4"/>
              </a:lnSpc>
            </a:pPr>
            <a:r>
              <a:rPr lang="en-US" sz="1800">
                <a:solidFill>
                  <a:srgbClr val="0F2C47"/>
                </a:solidFill>
                <a:latin typeface="Inter"/>
                <a:ea typeface="Inter"/>
                <a:cs typeface="Inter"/>
                <a:sym typeface="Inter"/>
              </a:rPr>
              <a:t>Etické aspekty nutriční terapie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68403" y="4328465"/>
            <a:ext cx="8247383" cy="269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6"/>
              </a:lnSpc>
            </a:pPr>
            <a:r>
              <a:rPr lang="en-US" sz="1425">
                <a:solidFill>
                  <a:srgbClr val="4A6884"/>
                </a:solidFill>
                <a:latin typeface="Arimo"/>
                <a:ea typeface="Arimo"/>
                <a:cs typeface="Arimo"/>
                <a:sym typeface="Arimo"/>
              </a:rPr>
              <a:t>Cardenas D, et al. Clin Nutr 2026;60:106622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626603" y="3955132"/>
            <a:ext cx="8247383" cy="293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4"/>
              </a:lnSpc>
            </a:pPr>
            <a:r>
              <a:rPr lang="en-US" sz="1800">
                <a:solidFill>
                  <a:srgbClr val="0F2C47"/>
                </a:solidFill>
                <a:latin typeface="Inter"/>
                <a:ea typeface="Inter"/>
                <a:cs typeface="Inter"/>
                <a:sym typeface="Inter"/>
              </a:rPr>
              <a:t>Definice a terminologie klinické výživy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626603" y="4328465"/>
            <a:ext cx="8247383" cy="269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6"/>
              </a:lnSpc>
            </a:pPr>
            <a:r>
              <a:rPr lang="en-US" sz="1425">
                <a:solidFill>
                  <a:srgbClr val="4A6884"/>
                </a:solidFill>
                <a:latin typeface="Arimo"/>
                <a:ea typeface="Arimo"/>
                <a:cs typeface="Arimo"/>
                <a:sym typeface="Arimo"/>
              </a:rPr>
              <a:t>Cederholm T, et al. Clin Nutr 2017;36:149–164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68403" y="4886573"/>
            <a:ext cx="8247383" cy="293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4"/>
              </a:lnSpc>
            </a:pPr>
            <a:r>
              <a:rPr lang="en-US" sz="1800">
                <a:solidFill>
                  <a:srgbClr val="0F2C47"/>
                </a:solidFill>
                <a:latin typeface="Inter"/>
                <a:ea typeface="Inter"/>
                <a:cs typeface="Inter"/>
                <a:sym typeface="Inter"/>
              </a:rPr>
              <a:t>Mikronutrienty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68403" y="5259905"/>
            <a:ext cx="8247383" cy="269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6"/>
              </a:lnSpc>
            </a:pPr>
            <a:r>
              <a:rPr lang="en-US" sz="1425">
                <a:solidFill>
                  <a:srgbClr val="4A6884"/>
                </a:solidFill>
                <a:latin typeface="Arimo"/>
                <a:ea typeface="Arimo"/>
                <a:cs typeface="Arimo"/>
                <a:sym typeface="Arimo"/>
              </a:rPr>
              <a:t>Berger MM, et al. Clin Nutr 2022;41:1357–1424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626603" y="4886573"/>
            <a:ext cx="8247383" cy="293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4"/>
              </a:lnSpc>
            </a:pPr>
            <a:r>
              <a:rPr lang="en-US" sz="1800">
                <a:solidFill>
                  <a:srgbClr val="0F2C47"/>
                </a:solidFill>
                <a:latin typeface="Inter"/>
                <a:ea typeface="Inter"/>
                <a:cs typeface="Inter"/>
                <a:sym typeface="Inter"/>
              </a:rPr>
              <a:t>Nutriční péče v nemocnici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626603" y="5259905"/>
            <a:ext cx="8247383" cy="269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6"/>
              </a:lnSpc>
            </a:pPr>
            <a:r>
              <a:rPr lang="en-US" sz="1425">
                <a:solidFill>
                  <a:srgbClr val="4A6884"/>
                </a:solidFill>
                <a:latin typeface="Arimo"/>
                <a:ea typeface="Arimo"/>
                <a:cs typeface="Arimo"/>
                <a:sym typeface="Arimo"/>
              </a:rPr>
              <a:t>Thibault R, et al. Clin Nutr 2021;40:5684–5709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68403" y="5818013"/>
            <a:ext cx="8247383" cy="293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4"/>
              </a:lnSpc>
            </a:pPr>
            <a:r>
              <a:rPr lang="en-US" sz="1800">
                <a:solidFill>
                  <a:srgbClr val="0F2C47"/>
                </a:solidFill>
                <a:latin typeface="Inter"/>
                <a:ea typeface="Inter"/>
                <a:cs typeface="Inter"/>
                <a:sym typeface="Inter"/>
              </a:rPr>
              <a:t>Domácí enterální výživa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68403" y="6191345"/>
            <a:ext cx="8247383" cy="269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6"/>
              </a:lnSpc>
            </a:pPr>
            <a:r>
              <a:rPr lang="en-US" sz="1425">
                <a:solidFill>
                  <a:srgbClr val="4A6884"/>
                </a:solidFill>
                <a:latin typeface="Arimo"/>
                <a:ea typeface="Arimo"/>
                <a:cs typeface="Arimo"/>
                <a:sym typeface="Arimo"/>
              </a:rPr>
              <a:t>Bischoff SC, et al. Clin Nutr 2020;39:5–22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626603" y="5818013"/>
            <a:ext cx="8247383" cy="293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4"/>
              </a:lnSpc>
            </a:pPr>
            <a:r>
              <a:rPr lang="en-US" sz="1800">
                <a:solidFill>
                  <a:srgbClr val="0F2C47"/>
                </a:solidFill>
                <a:latin typeface="Inter"/>
                <a:ea typeface="Inter"/>
                <a:cs typeface="Inter"/>
                <a:sym typeface="Inter"/>
              </a:rPr>
              <a:t>Domácí parenterální výživa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626603" y="6191345"/>
            <a:ext cx="8247383" cy="269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6"/>
              </a:lnSpc>
            </a:pPr>
            <a:r>
              <a:rPr lang="en-US" sz="1425">
                <a:solidFill>
                  <a:srgbClr val="4A6884"/>
                </a:solidFill>
                <a:latin typeface="Arimo"/>
                <a:ea typeface="Arimo"/>
                <a:cs typeface="Arimo"/>
                <a:sym typeface="Arimo"/>
              </a:rPr>
              <a:t>Pironi L, et al. Clin Nutr 2020;39:1645–1666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68403" y="6749453"/>
            <a:ext cx="7719317" cy="591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4"/>
              </a:lnSpc>
            </a:pPr>
            <a:r>
              <a:rPr lang="en-US" sz="1800">
                <a:solidFill>
                  <a:srgbClr val="0F2C47"/>
                </a:solidFill>
                <a:latin typeface="Inter"/>
                <a:ea typeface="Inter"/>
                <a:cs typeface="Inter"/>
                <a:sym typeface="Inter"/>
              </a:rPr>
              <a:t>Nutriční podpora u polymorbidních hospitalizovaných, aktualizace 2023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68403" y="7419927"/>
            <a:ext cx="8247383" cy="269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6"/>
              </a:lnSpc>
            </a:pPr>
            <a:r>
              <a:rPr lang="en-US" sz="1425">
                <a:solidFill>
                  <a:srgbClr val="4A6884"/>
                </a:solidFill>
                <a:latin typeface="Arimo"/>
                <a:ea typeface="Arimo"/>
                <a:cs typeface="Arimo"/>
                <a:sym typeface="Arimo"/>
              </a:rPr>
              <a:t>Wunderle C, et al. Clin Nutr 2023;42:1545–1568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68403" y="7968510"/>
            <a:ext cx="17551403" cy="296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9"/>
              </a:lnSpc>
            </a:pPr>
            <a:r>
              <a:rPr lang="en-US" sz="1425">
                <a:solidFill>
                  <a:srgbClr val="4A6884"/>
                </a:solidFill>
                <a:latin typeface="Arimo"/>
                <a:ea typeface="Arimo"/>
                <a:cs typeface="Arimo"/>
                <a:sym typeface="Arimo"/>
              </a:rPr>
              <a:t>Stav k 30. 8. 2026 · espen.org/guidelines · praktické verze a position papers vycházejí zvlášť</a:t>
            </a:r>
          </a:p>
        </p:txBody>
      </p: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68403" y="564680"/>
            <a:ext cx="289646" cy="33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1425" spc="185">
                <a:solidFill>
                  <a:srgbClr val="1D5994"/>
                </a:solidFill>
                <a:latin typeface="Arimo"/>
                <a:ea typeface="Arimo"/>
                <a:cs typeface="Arimo"/>
                <a:sym typeface="Arimo"/>
              </a:rPr>
              <a:t>VI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642196" y="564680"/>
            <a:ext cx="1108967" cy="268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1425" spc="185">
                <a:solidFill>
                  <a:srgbClr val="4A6884"/>
                </a:solidFill>
                <a:latin typeface="Arimo"/>
                <a:ea typeface="Arimo"/>
                <a:cs typeface="Arimo"/>
                <a:sym typeface="Arimo"/>
              </a:rPr>
              <a:t>PŘÍLOHA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2751163" y="728662"/>
            <a:ext cx="209550" cy="28575"/>
            <a:chOff x="0" y="0"/>
            <a:chExt cx="279400" cy="381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1D5994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008338" y="728662"/>
            <a:ext cx="209550" cy="28575"/>
            <a:chOff x="0" y="0"/>
            <a:chExt cx="279400" cy="381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1D5994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3265513" y="728662"/>
            <a:ext cx="209550" cy="28575"/>
            <a:chOff x="0" y="0"/>
            <a:chExt cx="279400" cy="381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1D5994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522688" y="728662"/>
            <a:ext cx="209550" cy="28575"/>
            <a:chOff x="0" y="0"/>
            <a:chExt cx="279400" cy="381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1D5994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3779863" y="728662"/>
            <a:ext cx="209550" cy="28575"/>
            <a:chOff x="0" y="0"/>
            <a:chExt cx="279400" cy="381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1D5994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4037038" y="728662"/>
            <a:ext cx="209550" cy="28575"/>
            <a:chOff x="0" y="0"/>
            <a:chExt cx="279400" cy="381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1D5994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6245583" y="564680"/>
            <a:ext cx="950214" cy="33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1425" spc="185">
                <a:solidFill>
                  <a:srgbClr val="4A6884"/>
                </a:solidFill>
                <a:latin typeface="Arimo"/>
                <a:ea typeface="Arimo"/>
                <a:cs typeface="Arimo"/>
                <a:sym typeface="Arimo"/>
              </a:rPr>
              <a:t>40 / 42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68403" y="1406528"/>
            <a:ext cx="15253973" cy="1219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48"/>
              </a:lnSpc>
            </a:pPr>
            <a:r>
              <a:rPr lang="en-US" sz="4500" spc="-99">
                <a:solidFill>
                  <a:srgbClr val="0F2C47"/>
                </a:solidFill>
                <a:latin typeface="Arimo"/>
                <a:ea typeface="Arimo"/>
                <a:cs typeface="Arimo"/>
                <a:sym typeface="Arimo"/>
              </a:rPr>
              <a:t>Sedm postupů míří na věk, neurologii, </a:t>
            </a:r>
          </a:p>
          <a:p>
            <a:pPr algn="l">
              <a:lnSpc>
                <a:spcPts val="4652"/>
              </a:lnSpc>
            </a:pPr>
            <a:r>
              <a:rPr lang="en-US" sz="4500" spc="-99">
                <a:solidFill>
                  <a:srgbClr val="0F2C47"/>
                </a:solidFill>
                <a:latin typeface="Arimo"/>
                <a:ea typeface="Arimo"/>
                <a:cs typeface="Arimo"/>
                <a:sym typeface="Arimo"/>
              </a:rPr>
              <a:t>intenzivní a chirurgickou péči.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68403" y="4243264"/>
            <a:ext cx="8247383" cy="293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4"/>
              </a:lnSpc>
            </a:pPr>
            <a:r>
              <a:rPr lang="en-US" sz="1800">
                <a:solidFill>
                  <a:srgbClr val="0F2C47"/>
                </a:solidFill>
                <a:latin typeface="Inter"/>
                <a:ea typeface="Inter"/>
                <a:cs typeface="Inter"/>
                <a:sym typeface="Inter"/>
              </a:rPr>
              <a:t>Výživa a hydratace u demence, aktualizace 2024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68403" y="4616596"/>
            <a:ext cx="8247383" cy="269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6"/>
              </a:lnSpc>
            </a:pPr>
            <a:r>
              <a:rPr lang="en-US" sz="1425">
                <a:solidFill>
                  <a:srgbClr val="4A6884"/>
                </a:solidFill>
                <a:latin typeface="Arimo"/>
                <a:ea typeface="Arimo"/>
                <a:cs typeface="Arimo"/>
                <a:sym typeface="Arimo"/>
              </a:rPr>
              <a:t>Volkert D, et al. Clin Nutr 2024;43:1599–1626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626603" y="4243264"/>
            <a:ext cx="8247383" cy="293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4"/>
              </a:lnSpc>
            </a:pPr>
            <a:r>
              <a:rPr lang="en-US" sz="1800">
                <a:solidFill>
                  <a:srgbClr val="0F2C47"/>
                </a:solidFill>
                <a:latin typeface="Inter"/>
                <a:ea typeface="Inter"/>
                <a:cs typeface="Inter"/>
                <a:sym typeface="Inter"/>
              </a:rPr>
              <a:t>Klinická výživa a hydratace v geriatrii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626603" y="4616596"/>
            <a:ext cx="8247383" cy="269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6"/>
              </a:lnSpc>
            </a:pPr>
            <a:r>
              <a:rPr lang="en-US" sz="1425">
                <a:solidFill>
                  <a:srgbClr val="4A6884"/>
                </a:solidFill>
                <a:latin typeface="Arimo"/>
                <a:ea typeface="Arimo"/>
                <a:cs typeface="Arimo"/>
                <a:sym typeface="Arimo"/>
              </a:rPr>
              <a:t>Volkert D, et al. Clin Nutr 2019;38:10–47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68403" y="5174704"/>
            <a:ext cx="8247383" cy="293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4"/>
              </a:lnSpc>
            </a:pPr>
            <a:r>
              <a:rPr lang="en-US" sz="1800">
                <a:solidFill>
                  <a:srgbClr val="0F2C47"/>
                </a:solidFill>
                <a:latin typeface="Inter"/>
                <a:ea typeface="Inter"/>
                <a:cs typeface="Inter"/>
                <a:sym typeface="Inter"/>
              </a:rPr>
              <a:t>Klinická výživa v neurologii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68403" y="5548036"/>
            <a:ext cx="8247383" cy="269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6"/>
              </a:lnSpc>
            </a:pPr>
            <a:r>
              <a:rPr lang="en-US" sz="1425">
                <a:solidFill>
                  <a:srgbClr val="4A6884"/>
                </a:solidFill>
                <a:latin typeface="Arimo"/>
                <a:ea typeface="Arimo"/>
                <a:cs typeface="Arimo"/>
                <a:sym typeface="Arimo"/>
              </a:rPr>
              <a:t>Burgos R, et al. Clin Nutr 2018;37:354–396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626603" y="5174704"/>
            <a:ext cx="8247383" cy="293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4"/>
              </a:lnSpc>
            </a:pPr>
            <a:r>
              <a:rPr lang="en-US" sz="1800">
                <a:solidFill>
                  <a:srgbClr val="0F2C47"/>
                </a:solidFill>
                <a:latin typeface="Inter"/>
                <a:ea typeface="Inter"/>
                <a:cs typeface="Inter"/>
                <a:sym typeface="Inter"/>
              </a:rPr>
              <a:t>Klinická výživa na jednotce intenzivní péče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626603" y="5548036"/>
            <a:ext cx="8247383" cy="269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6"/>
              </a:lnSpc>
            </a:pPr>
            <a:r>
              <a:rPr lang="en-US" sz="1425">
                <a:solidFill>
                  <a:srgbClr val="4A6884"/>
                </a:solidFill>
                <a:latin typeface="Arimo"/>
                <a:ea typeface="Arimo"/>
                <a:cs typeface="Arimo"/>
                <a:sym typeface="Arimo"/>
              </a:rPr>
              <a:t>Singer P, et al. Clin Nutr 2019;38:48–79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68403" y="6106144"/>
            <a:ext cx="8247383" cy="293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4"/>
              </a:lnSpc>
            </a:pPr>
            <a:r>
              <a:rPr lang="en-US" sz="1800">
                <a:solidFill>
                  <a:srgbClr val="0F2C47"/>
                </a:solidFill>
                <a:latin typeface="Inter"/>
                <a:ea typeface="Inter"/>
                <a:cs typeface="Inter"/>
                <a:sym typeface="Inter"/>
              </a:rPr>
              <a:t>Klinická výživa v chirurgii, aktualizace 2025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68403" y="6479476"/>
            <a:ext cx="8247383" cy="269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6"/>
              </a:lnSpc>
            </a:pPr>
            <a:r>
              <a:rPr lang="en-US" sz="1425">
                <a:solidFill>
                  <a:srgbClr val="4A6884"/>
                </a:solidFill>
                <a:latin typeface="Arimo"/>
                <a:ea typeface="Arimo"/>
                <a:cs typeface="Arimo"/>
                <a:sym typeface="Arimo"/>
              </a:rPr>
              <a:t>Weimann A, et al. Clin Nutr 2025;53:222–261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626603" y="6106144"/>
            <a:ext cx="8247383" cy="293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4"/>
              </a:lnSpc>
            </a:pPr>
            <a:r>
              <a:rPr lang="en-US" sz="1800">
                <a:solidFill>
                  <a:srgbClr val="0F2C47"/>
                </a:solidFill>
                <a:latin typeface="Inter"/>
                <a:ea typeface="Inter"/>
                <a:cs typeface="Inter"/>
                <a:sym typeface="Inter"/>
              </a:rPr>
              <a:t>Parenterální výživa u dětí, společně s ESPGHAN, ESPR a CSPEN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626603" y="6479476"/>
            <a:ext cx="8247383" cy="269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6"/>
              </a:lnSpc>
            </a:pPr>
            <a:r>
              <a:rPr lang="en-US" sz="1425">
                <a:solidFill>
                  <a:srgbClr val="4A6884"/>
                </a:solidFill>
                <a:latin typeface="Arimo"/>
                <a:ea typeface="Arimo"/>
                <a:cs typeface="Arimo"/>
                <a:sym typeface="Arimo"/>
              </a:rPr>
              <a:t>Clin Nutr 2018;37:2306–2459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68403" y="7037584"/>
            <a:ext cx="7719317" cy="591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4"/>
              </a:lnSpc>
            </a:pPr>
            <a:r>
              <a:rPr lang="en-US" sz="1800">
                <a:solidFill>
                  <a:srgbClr val="0F2C47"/>
                </a:solidFill>
                <a:latin typeface="Inter"/>
                <a:ea typeface="Inter"/>
                <a:cs typeface="Inter"/>
                <a:sym typeface="Inter"/>
              </a:rPr>
              <a:t>Nutriční péče u cystické fibrózy, aktualizace 2024, s ESPGHAN a ECFS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68403" y="7708059"/>
            <a:ext cx="8247383" cy="269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6"/>
              </a:lnSpc>
            </a:pPr>
            <a:r>
              <a:rPr lang="en-US" sz="1425">
                <a:solidFill>
                  <a:srgbClr val="4A6884"/>
                </a:solidFill>
                <a:latin typeface="Arimo"/>
                <a:ea typeface="Arimo"/>
                <a:cs typeface="Arimo"/>
                <a:sym typeface="Arimo"/>
              </a:rPr>
              <a:t>Wilschanski M, et al. Clin Nutr 2024;43:413–445</a:t>
            </a:r>
          </a:p>
        </p:txBody>
      </p:sp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68403" y="564680"/>
            <a:ext cx="289646" cy="33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1425" spc="185">
                <a:solidFill>
                  <a:srgbClr val="1D5994"/>
                </a:solidFill>
                <a:latin typeface="Arimo"/>
                <a:ea typeface="Arimo"/>
                <a:cs typeface="Arimo"/>
                <a:sym typeface="Arimo"/>
              </a:rPr>
              <a:t>VI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642196" y="564680"/>
            <a:ext cx="1108967" cy="268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1425" spc="185">
                <a:solidFill>
                  <a:srgbClr val="4A6884"/>
                </a:solidFill>
                <a:latin typeface="Arimo"/>
                <a:ea typeface="Arimo"/>
                <a:cs typeface="Arimo"/>
                <a:sym typeface="Arimo"/>
              </a:rPr>
              <a:t>PŘÍLOHA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2751163" y="728662"/>
            <a:ext cx="209550" cy="28575"/>
            <a:chOff x="0" y="0"/>
            <a:chExt cx="279400" cy="381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1D5994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008338" y="728662"/>
            <a:ext cx="209550" cy="28575"/>
            <a:chOff x="0" y="0"/>
            <a:chExt cx="279400" cy="381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1D5994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3265513" y="728662"/>
            <a:ext cx="209550" cy="28575"/>
            <a:chOff x="0" y="0"/>
            <a:chExt cx="279400" cy="381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1D5994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522688" y="728662"/>
            <a:ext cx="209550" cy="28575"/>
            <a:chOff x="0" y="0"/>
            <a:chExt cx="279400" cy="381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1D5994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3779863" y="728662"/>
            <a:ext cx="209550" cy="28575"/>
            <a:chOff x="0" y="0"/>
            <a:chExt cx="279400" cy="381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1D5994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4037038" y="728662"/>
            <a:ext cx="209550" cy="28575"/>
            <a:chOff x="0" y="0"/>
            <a:chExt cx="279400" cy="381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1D5994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6245583" y="564680"/>
            <a:ext cx="950214" cy="33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1425" spc="185">
                <a:solidFill>
                  <a:srgbClr val="4A6884"/>
                </a:solidFill>
                <a:latin typeface="Arimo"/>
                <a:ea typeface="Arimo"/>
                <a:cs typeface="Arimo"/>
                <a:sym typeface="Arimo"/>
              </a:rPr>
              <a:t>41 / 42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68403" y="1416053"/>
            <a:ext cx="16294103" cy="719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19"/>
              </a:lnSpc>
            </a:pPr>
            <a:r>
              <a:rPr lang="en-US" sz="5550" spc="-122">
                <a:solidFill>
                  <a:srgbClr val="0F2C47"/>
                </a:solidFill>
                <a:latin typeface="Arimo"/>
                <a:ea typeface="Arimo"/>
                <a:cs typeface="Arimo"/>
                <a:sym typeface="Arimo"/>
              </a:rPr>
              <a:t>Sedm postupů míří na jednotlivá onemocnění.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68403" y="4391873"/>
            <a:ext cx="8247383" cy="293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4"/>
              </a:lnSpc>
            </a:pPr>
            <a:r>
              <a:rPr lang="en-US" sz="1800">
                <a:solidFill>
                  <a:srgbClr val="0F2C47"/>
                </a:solidFill>
                <a:latin typeface="Inter"/>
                <a:ea typeface="Inter"/>
                <a:cs typeface="Inter"/>
                <a:sym typeface="Inter"/>
              </a:rPr>
              <a:t>Výživa u onkologických pacientů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68403" y="4765205"/>
            <a:ext cx="8247383" cy="269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6"/>
              </a:lnSpc>
            </a:pPr>
            <a:r>
              <a:rPr lang="en-US" sz="1425">
                <a:solidFill>
                  <a:srgbClr val="4A6884"/>
                </a:solidFill>
                <a:latin typeface="Arimo"/>
                <a:ea typeface="Arimo"/>
                <a:cs typeface="Arimo"/>
                <a:sym typeface="Arimo"/>
              </a:rPr>
              <a:t>Arends J, et al. Clin Nutr 2017;36:11–48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626603" y="4391873"/>
            <a:ext cx="8247383" cy="293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4"/>
              </a:lnSpc>
            </a:pPr>
            <a:r>
              <a:rPr lang="en-US" sz="1800">
                <a:solidFill>
                  <a:srgbClr val="0F2C47"/>
                </a:solidFill>
                <a:latin typeface="Inter"/>
                <a:ea typeface="Inter"/>
                <a:cs typeface="Inter"/>
                <a:sym typeface="Inter"/>
              </a:rPr>
              <a:t>Nespecifické střevní zánětlivé onemocnění, aktualizace 2023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626603" y="4765205"/>
            <a:ext cx="8247383" cy="269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6"/>
              </a:lnSpc>
            </a:pPr>
            <a:r>
              <a:rPr lang="en-US" sz="1425">
                <a:solidFill>
                  <a:srgbClr val="4A6884"/>
                </a:solidFill>
                <a:latin typeface="Arimo"/>
                <a:ea typeface="Arimo"/>
                <a:cs typeface="Arimo"/>
                <a:sym typeface="Arimo"/>
              </a:rPr>
              <a:t>Bischoff SC, et al. Clin Nutr 2023;42:352–379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68403" y="5323313"/>
            <a:ext cx="8247383" cy="293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4"/>
              </a:lnSpc>
            </a:pPr>
            <a:r>
              <a:rPr lang="en-US" sz="1800">
                <a:solidFill>
                  <a:srgbClr val="0F2C47"/>
                </a:solidFill>
                <a:latin typeface="Inter"/>
                <a:ea typeface="Inter"/>
                <a:cs typeface="Inter"/>
                <a:sym typeface="Inter"/>
              </a:rPr>
              <a:t>Chronické intestinální selhání u dospělých, aktualizace 2023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68403" y="5696645"/>
            <a:ext cx="8247383" cy="269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6"/>
              </a:lnSpc>
            </a:pPr>
            <a:r>
              <a:rPr lang="en-US" sz="1425">
                <a:solidFill>
                  <a:srgbClr val="4A6884"/>
                </a:solidFill>
                <a:latin typeface="Arimo"/>
                <a:ea typeface="Arimo"/>
                <a:cs typeface="Arimo"/>
                <a:sym typeface="Arimo"/>
              </a:rPr>
              <a:t>Pironi L, et al. Clin Nutr 2023;42:1940–2021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626603" y="5323313"/>
            <a:ext cx="8247383" cy="293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4"/>
              </a:lnSpc>
            </a:pPr>
            <a:r>
              <a:rPr lang="en-US" sz="1800">
                <a:solidFill>
                  <a:srgbClr val="0F2C47"/>
                </a:solidFill>
                <a:latin typeface="Inter"/>
                <a:ea typeface="Inter"/>
                <a:cs typeface="Inter"/>
                <a:sym typeface="Inter"/>
              </a:rPr>
              <a:t>Onemocnění jater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626603" y="5696645"/>
            <a:ext cx="8247383" cy="269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6"/>
              </a:lnSpc>
            </a:pPr>
            <a:r>
              <a:rPr lang="en-US" sz="1425">
                <a:solidFill>
                  <a:srgbClr val="4A6884"/>
                </a:solidFill>
                <a:latin typeface="Arimo"/>
                <a:ea typeface="Arimo"/>
                <a:cs typeface="Arimo"/>
                <a:sym typeface="Arimo"/>
              </a:rPr>
              <a:t>Plauth M, et al. Clin Nutr 2019;38:485–521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68403" y="6254753"/>
            <a:ext cx="8247383" cy="293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4"/>
              </a:lnSpc>
            </a:pPr>
            <a:r>
              <a:rPr lang="en-US" sz="1800">
                <a:solidFill>
                  <a:srgbClr val="0F2C47"/>
                </a:solidFill>
                <a:latin typeface="Inter"/>
                <a:ea typeface="Inter"/>
                <a:cs typeface="Inter"/>
                <a:sym typeface="Inter"/>
              </a:rPr>
              <a:t>Akutní a chronická pankreatitida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68403" y="6628086"/>
            <a:ext cx="8247383" cy="269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6"/>
              </a:lnSpc>
            </a:pPr>
            <a:r>
              <a:rPr lang="en-US" sz="1425">
                <a:solidFill>
                  <a:srgbClr val="4A6884"/>
                </a:solidFill>
                <a:latin typeface="Arimo"/>
                <a:ea typeface="Arimo"/>
                <a:cs typeface="Arimo"/>
                <a:sym typeface="Arimo"/>
              </a:rPr>
              <a:t>Arvanitakis M, et al. Clin Nutr 2020;39:612–631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626603" y="6254753"/>
            <a:ext cx="8247383" cy="293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4"/>
              </a:lnSpc>
            </a:pPr>
            <a:r>
              <a:rPr lang="en-US" sz="1800">
                <a:solidFill>
                  <a:srgbClr val="0F2C47"/>
                </a:solidFill>
                <a:latin typeface="Inter"/>
                <a:ea typeface="Inter"/>
                <a:cs typeface="Inter"/>
                <a:sym typeface="Inter"/>
              </a:rPr>
              <a:t>Akutní a chronické onemocnění ledvin u hospitalizovaných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626603" y="6628086"/>
            <a:ext cx="8247383" cy="269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6"/>
              </a:lnSpc>
            </a:pPr>
            <a:r>
              <a:rPr lang="en-US" sz="1425">
                <a:solidFill>
                  <a:srgbClr val="4A6884"/>
                </a:solidFill>
                <a:latin typeface="Arimo"/>
                <a:ea typeface="Arimo"/>
                <a:cs typeface="Arimo"/>
                <a:sym typeface="Arimo"/>
              </a:rPr>
              <a:t>Fiaccadori E, et al. Clin Nutr 2021;40:1644–1668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68403" y="7186193"/>
            <a:ext cx="8247383" cy="293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4"/>
              </a:lnSpc>
            </a:pPr>
            <a:r>
              <a:rPr lang="en-US" sz="1800">
                <a:solidFill>
                  <a:srgbClr val="0F2C47"/>
                </a:solidFill>
                <a:latin typeface="Inter"/>
                <a:ea typeface="Inter"/>
                <a:cs typeface="Inter"/>
                <a:sym typeface="Inter"/>
              </a:rPr>
              <a:t>Obezita u gastrointestinálních a jaterních onemocnění, s UEG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68403" y="7559526"/>
            <a:ext cx="8247383" cy="269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6"/>
              </a:lnSpc>
            </a:pPr>
            <a:r>
              <a:rPr lang="en-US" sz="1425">
                <a:solidFill>
                  <a:srgbClr val="4A6884"/>
                </a:solidFill>
                <a:latin typeface="Arimo"/>
                <a:ea typeface="Arimo"/>
                <a:cs typeface="Arimo"/>
                <a:sym typeface="Arimo"/>
              </a:rPr>
              <a:t>Bischoff SC, et al. Clin Nutr 2022;41:2364–2405</a:t>
            </a:r>
          </a:p>
        </p:txBody>
      </p:sp>
    </p:spTree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68403" y="564680"/>
            <a:ext cx="289646" cy="33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1425" spc="185">
                <a:solidFill>
                  <a:srgbClr val="1D5994"/>
                </a:solidFill>
                <a:latin typeface="Arimo"/>
                <a:ea typeface="Arimo"/>
                <a:cs typeface="Arimo"/>
                <a:sym typeface="Arimo"/>
              </a:rPr>
              <a:t>VI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642196" y="564680"/>
            <a:ext cx="950214" cy="33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1425" spc="185">
                <a:solidFill>
                  <a:srgbClr val="4A6884"/>
                </a:solidFill>
                <a:latin typeface="Arimo"/>
                <a:ea typeface="Arimo"/>
                <a:cs typeface="Arimo"/>
                <a:sym typeface="Arimo"/>
              </a:rPr>
              <a:t>PŘÍLOHA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2751163" y="728662"/>
            <a:ext cx="209550" cy="28575"/>
            <a:chOff x="0" y="0"/>
            <a:chExt cx="279400" cy="381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1D5994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008338" y="728662"/>
            <a:ext cx="209550" cy="28575"/>
            <a:chOff x="0" y="0"/>
            <a:chExt cx="279400" cy="381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1D5994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3265513" y="728662"/>
            <a:ext cx="209550" cy="28575"/>
            <a:chOff x="0" y="0"/>
            <a:chExt cx="279400" cy="381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1D5994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522688" y="728662"/>
            <a:ext cx="209550" cy="28575"/>
            <a:chOff x="0" y="0"/>
            <a:chExt cx="279400" cy="381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1D5994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3779863" y="728662"/>
            <a:ext cx="209550" cy="28575"/>
            <a:chOff x="0" y="0"/>
            <a:chExt cx="279400" cy="381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1D5994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4037038" y="728662"/>
            <a:ext cx="209550" cy="28575"/>
            <a:chOff x="0" y="0"/>
            <a:chExt cx="279400" cy="381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1D5994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6245583" y="564680"/>
            <a:ext cx="950214" cy="33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1425" spc="185">
                <a:solidFill>
                  <a:srgbClr val="4A6884"/>
                </a:solidFill>
                <a:latin typeface="Arimo"/>
                <a:ea typeface="Arimo"/>
                <a:cs typeface="Arimo"/>
                <a:sym typeface="Arimo"/>
              </a:rPr>
              <a:t>42 / 42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68403" y="1406528"/>
            <a:ext cx="15253973" cy="1219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48"/>
              </a:lnSpc>
            </a:pPr>
            <a:r>
              <a:rPr lang="en-US" sz="4500" spc="-99">
                <a:solidFill>
                  <a:srgbClr val="0F2C47"/>
                </a:solidFill>
                <a:latin typeface="Arimo"/>
                <a:ea typeface="Arimo"/>
                <a:cs typeface="Arimo"/>
                <a:sym typeface="Arimo"/>
              </a:rPr>
              <a:t>EFAD nevydává klinická doporučení pro paliativní péči. </a:t>
            </a:r>
          </a:p>
          <a:p>
            <a:pPr algn="l">
              <a:lnSpc>
                <a:spcPts val="4652"/>
              </a:lnSpc>
            </a:pPr>
            <a:r>
              <a:rPr lang="en-US" sz="4500" spc="-99">
                <a:solidFill>
                  <a:srgbClr val="0F2C47"/>
                </a:solidFill>
                <a:latin typeface="Arimo"/>
                <a:ea typeface="Arimo"/>
                <a:cs typeface="Arimo"/>
                <a:sym typeface="Arimo"/>
              </a:rPr>
              <a:t>Vydává stanoviska k roli nutričního terapeuta.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68403" y="4615339"/>
            <a:ext cx="7719317" cy="623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2"/>
              </a:lnSpc>
            </a:pPr>
            <a:r>
              <a:rPr lang="en-US" sz="1800">
                <a:solidFill>
                  <a:srgbClr val="0F2C47"/>
                </a:solidFill>
                <a:latin typeface="Inter"/>
                <a:ea typeface="Inter"/>
                <a:cs typeface="Inter"/>
                <a:sym typeface="Inter"/>
              </a:rPr>
              <a:t>ESDN Older Adults: Role of the Dietitian in the Prevention and Management of Nutrition-related Disorders in Older Adults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68403" y="5327771"/>
            <a:ext cx="8247383" cy="287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2"/>
              </a:lnSpc>
            </a:pPr>
            <a:r>
              <a:rPr lang="en-US" sz="1425">
                <a:solidFill>
                  <a:srgbClr val="4A6884"/>
                </a:solidFill>
                <a:latin typeface="Arimo"/>
                <a:ea typeface="Arimo"/>
                <a:cs typeface="Arimo"/>
                <a:sym typeface="Arimo"/>
              </a:rPr>
              <a:t>Stanovisko, 2017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68403" y="5914006"/>
            <a:ext cx="8247383" cy="314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2"/>
              </a:lnSpc>
            </a:pPr>
            <a:r>
              <a:rPr lang="en-US" sz="1800">
                <a:solidFill>
                  <a:srgbClr val="0F2C47"/>
                </a:solidFill>
                <a:latin typeface="Inter"/>
                <a:ea typeface="Inter"/>
                <a:cs typeface="Inter"/>
                <a:sym typeface="Inter"/>
              </a:rPr>
              <a:t>Briefing paper k roli nutričního terapeuta u starších dospělých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68403" y="6317856"/>
            <a:ext cx="8247383" cy="287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2"/>
              </a:lnSpc>
            </a:pPr>
            <a:r>
              <a:rPr lang="en-US" sz="1425">
                <a:solidFill>
                  <a:srgbClr val="4A6884"/>
                </a:solidFill>
                <a:latin typeface="Arimo"/>
                <a:ea typeface="Arimo"/>
                <a:cs typeface="Arimo"/>
                <a:sym typeface="Arimo"/>
              </a:rPr>
              <a:t>EFAD briefing papers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68403" y="6904091"/>
            <a:ext cx="8247383" cy="314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2"/>
              </a:lnSpc>
            </a:pPr>
            <a:r>
              <a:rPr lang="en-US" sz="1800">
                <a:solidFill>
                  <a:srgbClr val="0F2C47"/>
                </a:solidFill>
                <a:latin typeface="Inter"/>
                <a:ea typeface="Inter"/>
                <a:cs typeface="Inter"/>
                <a:sym typeface="Inter"/>
              </a:rPr>
              <a:t>EASO a EFAD: dietetická léčba nadváhy a obezity u dospělých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68403" y="7307932"/>
            <a:ext cx="8247383" cy="287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2"/>
              </a:lnSpc>
            </a:pPr>
            <a:r>
              <a:rPr lang="en-US" sz="1425">
                <a:solidFill>
                  <a:srgbClr val="4A6884"/>
                </a:solidFill>
                <a:latin typeface="Arimo"/>
                <a:ea typeface="Arimo"/>
                <a:cs typeface="Arimo"/>
                <a:sym typeface="Arimo"/>
              </a:rPr>
              <a:t>2025 · podrobnou citaci doplnit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626603" y="4577239"/>
            <a:ext cx="7719317" cy="115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7"/>
              </a:lnSpc>
            </a:pPr>
            <a:r>
              <a:rPr lang="en-US" sz="1950">
                <a:solidFill>
                  <a:srgbClr val="4A6884"/>
                </a:solidFill>
                <a:latin typeface="Inter"/>
                <a:ea typeface="Inter"/>
                <a:cs typeface="Inter"/>
                <a:sym typeface="Inter"/>
              </a:rPr>
              <a:t>Stanovisko ESDN Older Adults výslovně uvádí, že nutriční terapeut </a:t>
            </a:r>
            <a:r>
              <a:rPr lang="en-US" sz="1950" b="true">
                <a:solidFill>
                  <a:srgbClr val="0F2C47"/>
                </a:solidFill>
                <a:latin typeface="Inter Bold"/>
                <a:ea typeface="Inter Bold"/>
                <a:cs typeface="Inter Bold"/>
                <a:sym typeface="Inter Bold"/>
              </a:rPr>
              <a:t>si má být vědom etických aspektů </a:t>
            </a:r>
            <a:r>
              <a:rPr lang="en-US" sz="1950">
                <a:solidFill>
                  <a:srgbClr val="4A6884"/>
                </a:solidFill>
                <a:latin typeface="Inter"/>
                <a:ea typeface="Inter"/>
                <a:cs typeface="Inter"/>
                <a:sym typeface="Inter"/>
              </a:rPr>
              <a:t>nutriční péče o starší dospělé.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626603" y="5958364"/>
            <a:ext cx="7719317" cy="787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7"/>
              </a:lnSpc>
            </a:pPr>
            <a:r>
              <a:rPr lang="en-US" sz="1950">
                <a:solidFill>
                  <a:srgbClr val="4A6884"/>
                </a:solidFill>
                <a:latin typeface="Inter"/>
                <a:ea typeface="Inter"/>
                <a:cs typeface="Inter"/>
                <a:sym typeface="Inter"/>
              </a:rPr>
              <a:t>Zdroje sítě ESDN Older Adults odkazují v otázce demence na doporučení ESPEN. Klinickou oporu tedy hledáme tam.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626603" y="6987064"/>
            <a:ext cx="7719317" cy="568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9"/>
              </a:lnSpc>
            </a:pPr>
            <a:r>
              <a:rPr lang="en-US" sz="1425">
                <a:solidFill>
                  <a:srgbClr val="4A6884"/>
                </a:solidFill>
                <a:latin typeface="Arimo"/>
                <a:ea typeface="Arimo"/>
                <a:cs typeface="Arimo"/>
                <a:sym typeface="Arimo"/>
              </a:rPr>
              <a:t>efad.org · EFAD spolupracuje s iniciativou ONCA, Optimal Nutritional Care for All</a:t>
            </a:r>
          </a:p>
        </p:txBody>
      </p:sp>
    </p:spTree>
  </p:cSld>
  <p:clrMapOvr>
    <a:masterClrMapping/>
  </p:clrMapOvr>
</p:sld>
</file>

<file path=ppt/slides/slide4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68403" y="564680"/>
            <a:ext cx="157563" cy="33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1425" spc="185">
                <a:solidFill>
                  <a:srgbClr val="8FC9F5"/>
                </a:solidFill>
                <a:latin typeface="Arimo"/>
                <a:ea typeface="Arimo"/>
                <a:cs typeface="Arimo"/>
                <a:sym typeface="Arimo"/>
              </a:rPr>
              <a:t>V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510113" y="564680"/>
            <a:ext cx="1742151" cy="268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1425" spc="185">
                <a:solidFill>
                  <a:srgbClr val="A6C2DB"/>
                </a:solidFill>
                <a:latin typeface="Arimo"/>
                <a:ea typeface="Arimo"/>
                <a:cs typeface="Arimo"/>
                <a:sym typeface="Arimo"/>
              </a:rPr>
              <a:t>ROZHODOVÁNÍ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3147489" y="728662"/>
            <a:ext cx="209550" cy="28575"/>
            <a:chOff x="0" y="0"/>
            <a:chExt cx="279400" cy="381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8FC9F5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404664" y="728662"/>
            <a:ext cx="209550" cy="28575"/>
            <a:chOff x="0" y="0"/>
            <a:chExt cx="279400" cy="381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8FC9F5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3661839" y="728662"/>
            <a:ext cx="209550" cy="28575"/>
            <a:chOff x="0" y="0"/>
            <a:chExt cx="279400" cy="381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8FC9F5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919014" y="728662"/>
            <a:ext cx="209550" cy="28575"/>
            <a:chOff x="0" y="0"/>
            <a:chExt cx="279400" cy="381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8FC9F5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4176189" y="728662"/>
            <a:ext cx="209550" cy="28575"/>
            <a:chOff x="0" y="0"/>
            <a:chExt cx="279400" cy="381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8FC9F5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4433364" y="728662"/>
            <a:ext cx="209550" cy="28575"/>
            <a:chOff x="0" y="0"/>
            <a:chExt cx="279400" cy="381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79400" cy="38100"/>
            </a:xfrm>
            <a:custGeom>
              <a:avLst/>
              <a:gdLst/>
              <a:ahLst/>
              <a:cxnLst/>
              <a:rect r="r" b="b" t="t" l="l"/>
              <a:pathLst>
                <a:path h="38100" w="279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60350" y="0"/>
                  </a:lnTo>
                  <a:cubicBezTo>
                    <a:pt x="270891" y="0"/>
                    <a:pt x="279400" y="8509"/>
                    <a:pt x="279400" y="19050"/>
                  </a:cubicBezTo>
                  <a:cubicBezTo>
                    <a:pt x="279400" y="29591"/>
                    <a:pt x="270891" y="38100"/>
                    <a:pt x="260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2A5480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6245583" y="564680"/>
            <a:ext cx="950214" cy="33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1425" spc="185">
                <a:solidFill>
                  <a:srgbClr val="A6C2DB"/>
                </a:solidFill>
                <a:latin typeface="Arimo"/>
                <a:ea typeface="Arimo"/>
                <a:cs typeface="Arimo"/>
                <a:sym typeface="Arimo"/>
              </a:rPr>
              <a:t>37 / 42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143000" y="914400"/>
            <a:ext cx="1866900" cy="878977"/>
            <a:chOff x="0" y="0"/>
            <a:chExt cx="2489200" cy="1171969"/>
          </a:xfrm>
        </p:grpSpPr>
        <p:sp>
          <p:nvSpPr>
            <p:cNvPr name="Freeform 18" id="18" descr="preencoded.png"/>
            <p:cNvSpPr/>
            <p:nvPr/>
          </p:nvSpPr>
          <p:spPr>
            <a:xfrm flipH="false" flipV="false" rot="0">
              <a:off x="0" y="0"/>
              <a:ext cx="2489200" cy="1171956"/>
            </a:xfrm>
            <a:custGeom>
              <a:avLst/>
              <a:gdLst/>
              <a:ahLst/>
              <a:cxnLst/>
              <a:rect r="r" b="b" t="t" l="l"/>
              <a:pathLst>
                <a:path h="1171956" w="2489200">
                  <a:moveTo>
                    <a:pt x="0" y="0"/>
                  </a:moveTo>
                  <a:lnTo>
                    <a:pt x="2489200" y="0"/>
                  </a:lnTo>
                  <a:lnTo>
                    <a:pt x="2489200" y="1171956"/>
                  </a:lnTo>
                  <a:lnTo>
                    <a:pt x="0" y="11719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" r="0" b="-5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168403" y="3992337"/>
            <a:ext cx="12703178" cy="1466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88"/>
              </a:lnSpc>
            </a:pPr>
            <a:r>
              <a:rPr lang="en-US" sz="5400" spc="-13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Rozhodování o výživě vyžaduje transdisciplinární přístup.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68403" y="5776046"/>
            <a:ext cx="13569953" cy="549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6"/>
              </a:lnSpc>
            </a:pPr>
            <a:r>
              <a:rPr lang="en-US" sz="2550">
                <a:solidFill>
                  <a:srgbClr val="A6C2DB"/>
                </a:solidFill>
                <a:latin typeface="Inter"/>
                <a:ea typeface="Inter"/>
                <a:cs typeface="Inter"/>
                <a:sym typeface="Inter"/>
              </a:rPr>
              <a:t>Základní principy musí vždy zůstat zachovány.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68403" y="6699971"/>
            <a:ext cx="12703178" cy="33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1425" spc="185">
                <a:solidFill>
                  <a:srgbClr val="8FC9F5"/>
                </a:solidFill>
                <a:latin typeface="Arimo"/>
                <a:ea typeface="Arimo"/>
                <a:cs typeface="Arimo"/>
                <a:sym typeface="Arimo"/>
              </a:rPr>
              <a:t>AUTONOMIE · ČINIT DOBRO · NEŠKODIT · ROZHODOVAT SPRAVEDLIVĚ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68403" y="7450284"/>
            <a:ext cx="12703178" cy="762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2"/>
              </a:lnSpc>
            </a:pPr>
            <a:r>
              <a:rPr lang="en-US" sz="2100">
                <a:solidFill>
                  <a:srgbClr val="A6C2DB"/>
                </a:solidFill>
                <a:latin typeface="Inter"/>
                <a:ea typeface="Inter"/>
                <a:cs typeface="Inter"/>
                <a:sym typeface="Inter"/>
              </a:rPr>
              <a:t>Děkuji za pozornost. </a:t>
            </a:r>
          </a:p>
          <a:p>
            <a:pPr algn="l">
              <a:lnSpc>
                <a:spcPts val="3112"/>
              </a:lnSpc>
            </a:pPr>
            <a:r>
              <a:rPr lang="en-US" sz="2100">
                <a:solidFill>
                  <a:srgbClr val="A6C2DB"/>
                </a:solidFill>
                <a:latin typeface="Inter"/>
                <a:ea typeface="Inter"/>
                <a:cs typeface="Inter"/>
                <a:sym typeface="Inter"/>
              </a:rPr>
              <a:t>Mgr. Ing. Tereza Vágnerová, Ph.D. · tereza.vagnerova@lf1.cuni.cz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DAHVS35NgJY</dc:identifier>
  <dcterms:modified xsi:type="dcterms:W3CDTF">2011-08-01T06:04:30Z</dcterms:modified>
  <cp:revision>1</cp:revision>
  <dc:title>PaliativnPece.pptx</dc:title>
</cp:coreProperties>
</file>